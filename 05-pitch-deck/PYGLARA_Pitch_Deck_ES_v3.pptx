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jpg" ContentType="image/jpg"/>
  <Override PartName="/ppt/media/image-11-1.jpg" ContentType="image/jpg"/>
  <Override PartName="/ppt/media/image-12-1.jpg" ContentType="image/jpg"/>
  <Override PartName="/ppt/media/image-15-1.jpg" ContentType="image/jpg"/>
  <Override PartName="/ppt/media/image-5-6.jpg" ContentType="image/jpg"/>
  <Override PartName="/ppt/media/image-8-1.jpg" ContentType="image/jpg"/>
  <Override PartName="/ppt/media/image-8-2.jpg" ContentType="image/jpg"/>
  <Override PartName="/ppt/media/image-8-3.jpg" ContentType="image/jpg"/>
  <Override PartName="/ppt/media/image-8-4.jpg" ContentType="image/jpg"/>
  <Override PartName="/ppt/media/image-9-5.jpg" ContentType="image/jpg"/>
  <Override PartName="/ppt/media/image-9-6.jpg" ContentType="image/jpg"/>
  <Override PartName="/ppt/media/image-9-7.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83" r:id="rId34"/>
    <p:sldId id="284" r:id="rId35"/>
    <p:sldId id="285" r:id="rId36"/>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7.xml"/><Relationship Id="rId6" Type="http://schemas.openxmlformats.org/officeDocument/2006/relationships/slide" Target="slides/slide8.xml"/><Relationship Id="rId7" Type="http://schemas.openxmlformats.org/officeDocument/2006/relationships/slide" Target="slides/slide9.xml"/><Relationship Id="rId8" Type="http://schemas.openxmlformats.org/officeDocument/2006/relationships/slide" Target="slides/slide10.xml"/><Relationship Id="rId9" Type="http://schemas.openxmlformats.org/officeDocument/2006/relationships/slide" Target="slides/slide11.xml"/><Relationship Id="rId10" Type="http://schemas.openxmlformats.org/officeDocument/2006/relationships/slide" Target="slides/slide12.xml"/><Relationship Id="rId11" Type="http://schemas.openxmlformats.org/officeDocument/2006/relationships/slide" Target="slides/slide13.xml"/><Relationship Id="rId12" Type="http://schemas.openxmlformats.org/officeDocument/2006/relationships/slide" Target="slides/slide14.xml"/><Relationship Id="rId13" Type="http://schemas.openxmlformats.org/officeDocument/2006/relationships/slide" Target="slides/slide15.xml"/><Relationship Id="rId14" Type="http://schemas.openxmlformats.org/officeDocument/2006/relationships/slide" Target="slides/slide16.xml"/><Relationship Id="rId15" Type="http://schemas.openxmlformats.org/officeDocument/2006/relationships/slide" Target="slides/slide17.xml"/><Relationship Id="rId16" Type="http://schemas.openxmlformats.org/officeDocument/2006/relationships/slide" Target="slides/slide18.xml"/><Relationship Id="rId17" Type="http://schemas.openxmlformats.org/officeDocument/2006/relationships/slide" Target="slides/slide19.xml"/><Relationship Id="rId18" Type="http://schemas.openxmlformats.org/officeDocument/2006/relationships/slide" Target="slides/slide20.xml"/><Relationship Id="rId19" Type="http://schemas.openxmlformats.org/officeDocument/2006/relationships/slide" Target="slides/slide21.xml"/><Relationship Id="rId20" Type="http://schemas.openxmlformats.org/officeDocument/2006/relationships/slide" Target="slides/slide22.xml"/><Relationship Id="rId21" Type="http://schemas.openxmlformats.org/officeDocument/2006/relationships/slide" Target="slides/slide23.xml"/><Relationship Id="rId22" Type="http://schemas.openxmlformats.org/officeDocument/2006/relationships/slide" Target="slides/slide24.xml"/><Relationship Id="rId23" Type="http://schemas.openxmlformats.org/officeDocument/2006/relationships/slide" Target="slides/slide25.xml"/><Relationship Id="rId24" Type="http://schemas.openxmlformats.org/officeDocument/2006/relationships/slide" Target="slides/slide26.xml"/><Relationship Id="rId25" Type="http://schemas.openxmlformats.org/officeDocument/2006/relationships/slide" Target="slides/slide27.xml"/><Relationship Id="rId26" Type="http://schemas.openxmlformats.org/officeDocument/2006/relationships/slide" Target="slides/slide28.xml"/><Relationship Id="rId27" Type="http://schemas.openxmlformats.org/officeDocument/2006/relationships/slide" Target="slides/slide29.xml"/><Relationship Id="rId28" Type="http://schemas.openxmlformats.org/officeDocument/2006/relationships/slide" Target="slides/slide30.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34" Type="http://schemas.openxmlformats.org/officeDocument/2006/relationships/slide" Target="slides/slide4.xml"/><Relationship Id="rId35" Type="http://schemas.openxmlformats.org/officeDocument/2006/relationships/slide" Target="slides/slide5.xml"/><Relationship Id="rId36"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dias. Mi nombre es Andres Montbrun, representante comercial de PYGLARA. Les voy a presentar una oportunidad unica en el sector industrial venezolano.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Construir esta planta desde cero hoy costaria entre $2.2 y $3 millones. Tiene equipos Pilling alemanes, 300 toneladas mensuales comprobadas, y una linea de cobre UNICA en Venezuela.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El sector petrolero de Venezuela necesita acero galvanizado para TODO lo que rodea las tuberias. Solo existen 2 proveedores comerciales de galvanizado por inmersion en caliente en todo el pais: ALF Galvanizados en Valencia (~9,000 TM/ano) y PYGLARA. Las tuberias de transmision de PDVSA usan recubrimientos especializados (FBE/3LPE), no galvanizado. Sin embargo, TODO el acero estructural que rodea esas tuberias — soportes, bandejas portacables, plataformas, barandas, rejillas y escaleras — se galvaniza por inmersion en caliente segun ASTM A123. Ese acero estructural es nuestro mercado.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galvanizado por inmersion en caliente crea una union metalurgica entre el zinc y el acero. A diferencia de la pintura, el zinc se auto-repara: si se raya, el zinc circundante protege catodicamente el acero expuesto. La vida util es de 50-100 anos vs 3-5 de la pintura, y el costo de ciclo de vida es ~70% menor.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planta esta en el corazon de la Zona Industrial I de Barquisimeto. Titulo limpio, contrato de gas con PDVSA activo, todo listo para operar.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Mapa de Venezuela mostrando Barquisimeto (PYGLARA), Puerto Cabello (2.5h), Caracas (3h) y Maracaibo (petroleo). Cobertura de 8 estados del occidente.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ventajas geograficas: Puerto Cabello 2.5h, Caracas 3h, Zulia petroleo 4h, cobertura 8 estados, clientes en el mismo complejo, precios industriales de gas/energia.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Cubas Pilling del fabricante lider mundial desde 1873. Produccion comprobada: 300 TM/mes con la cuba de 7 metros.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 Pilling Riepe GmbH es el fabricante lider mundial de cubas de galvanizado desde 1873. Sus cubas usan soldadura por electroescoria con paredes de hasta 80mm. Duran decadas. Solo las cubas de PYGLARA valen mas de $1.1 millones a precio de reposicion.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PYGLARA puede galvanizar cualquier pieza de acero. Sectores principales: electrico, petrolero, construccion, energia renovable, infraestructura y agricultura. Nota: Las tuberias de petroleo y gas usan recubrimientos especializados (FBE/3LPE), no galvanizado. Nuestro mercado O&amp;G es el acero estructural que rodea las tuberias — soportes, bandejas, plataformas, rejillas y barandas. Tierra armada es un sistema de muros de contencion usando flejes de acero galvanizado — Freyssinet/Geoquest es cliente historico.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 existe otro fabricante de barras de tierra cobreadas en Venezuela. Todo se importa. ENELVEN (ahora CORPOELEC) compro 20,000 unidades en 2004-2005. El mercado global vale $2.5 mil millones (2025) y crece 7% anual. Los drivers de crecimiento son exactamente nuestros sectores: telecomunicaciones (torres 5G), energia renovable (instalaciones solares), y rehabilitacion de infraestructura electrica.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PYGLARA opera bajo COVENIN 1212-81, ASTM A123 y ASTM A153. En el certificado mostrado, el espesor obtenido fue 101 um — 55% sobre la especificacion minima de 65 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fundador Ing. Francisco Ballesteros lidero PYGLARA 50+ anos a traves de contracciones de 70%+. Ing. Miriam Armas: 36+ anos de experiencia tecnica. Obreros trabajan a destajo — la nomina escala con la produccion.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datos financieros fueron declarados a SENIAT y son verificables. Los 3 mejores anos superaron $1.7M en ventas. CORPOELEC, SASGO, Marullo, Freyssinet, INDUESCA y DISMACA son clientes historicos. 34 clientes documentados, 6 interesados en reactivar.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planta tiene inventario de materia prima: 2 toneladas de zinc, 4.6 toneladas de HCl, 500 kg de NH4Cl. Tres montacargas, dos gruas, bascula. La centrifuga de 65cm esta activa produciendo clavos.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Verificamos esto mediante investigacion web en abril 2026. El unico otro proveedor comercial de galvanizado por inmersion en caliente es ALF Galvanizados en Valencia (~9,000 TM/ano, Grupo SUGACA). SIGALCA/MAPLOCA galvaniza sus propios productos laminados — no es servicio a terceros. DISMACA tiene galvanizado interno para sus propios proyectos EPC pero no lo ofrece comercialmente. No se encontro ningun otro proveedor comercial en todo el pais.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Costos variables: $540/TM. Fijos: $5,600-$13,100/mes. Margen neto: $529-$916/TM dependiendo de volumen y precios. Zinc y precio de venta son las variables principales.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escenarios basados en volumen. Conservador: 100 TM/mes → $53K-$90K ganancia. Moderado: 200 TM → $119K-$186K. Mejor historico: 300 TM → $178K-$275K. Break-even: 10-20 TM/mes.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Break-even: 10-20 TM/mes dependiendo de precios y costos. Menos del 7% de la produccion comprobada de 300 TM/mes.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$336K de arranque. Potencial: $90K-$275K/mes dependiendo de volumen. Cada fase se financia con la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Solo las cubas Pilling cuestan mas de un millon. El terreno con galpones vale entre $700K y un millon.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inversionista obtiene TODO: planta, equipos, marca, clientes, permisos, 50 anos de reputacion.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unico que falta es zinc en la cuba.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PYGLARA is a private Venezuelan company with zero government ownership. Industrial galvanizing is not a sanctioned sector.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Revenue is priced in USD-equivalent terms. Conversion through casa de cambio at ~1.5% fee.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investment has risks. PYGLARA is an infrastructure play. Break-even is only 4.5% of capacity.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Estas no son proyecciones — son acuerdos firmados y anuncios publicos con fechas. Las empresas que invierten miles de millones necesitaran acero estructural galvanizado para cada plataforma, soporte de tuberia, bandeja, baranda y rejilla que construyan. Fuentes: Rystad Energy (6 ene 2026), CNBC/Chevron Q4 (30 ene 2026), Reuters/Repsol (9-10 ene 2026), Telefonica (4 feb 2025), CONATEL (sep 2025), OilPrice.com (25 mar 2026), Bloomberg (12 feb 2026), Reuters (11 mar 2026).</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error comun es pensar que el galvanizado sirve para la tuberia en si. En realidad, las tuberias de petroleo y gas usan recubrimientos especializados como FBE o 3LPE. Pero cada refineria, estacion de bombeo, terminal y plataforma necesita miles de toneladas de acero estructural galvanizado para la infraestructura que soporta esas tuberias. Soportes, bandejas, rejillas, barandas, plataformas — todo galvanizado segun ASTM A123. Son piezas de 3-12 metros que encajan perfectamente en nuestras cubas Pilling de 7m y 9m.</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Telefonica anuncio $500 millones para Venezuela el 4 de febrero de 2025. El Plan Nacional de Telecomunicaciones CONATEL 2025-2031 establece 1,500 nuevas estaciones 4G, 500 5G, reforzamiento de 3,000 existentes, y 36,000 km de fibra optica. Cada una necesita torre galvanizada y aterramiento de cobre. PYGLARA es la unica empresa que puede suministrar ambos productos domesticamente.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jp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image" Target="../media/image-8-3.jpg"/><Relationship Id="rId4" Type="http://schemas.openxmlformats.org/officeDocument/2006/relationships/image" Target="../media/image-8-4.jp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jpg"/><Relationship Id="rId6" Type="http://schemas.openxmlformats.org/officeDocument/2006/relationships/image" Target="../media/image-9-6.jpg"/><Relationship Id="rId7" Type="http://schemas.openxmlformats.org/officeDocument/2006/relationships/image" Target="../media/image-9-7.jpg"/><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image" Target="../media/image-22-9.png"/><Relationship Id="rId10" Type="http://schemas.openxmlformats.org/officeDocument/2006/relationships/slideLayout" Target="../slideLayouts/slideLayout1.xml"/><Relationship Id="rId11"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slideLayout" Target="../slideLayouts/slideLayout1.xml"/><Relationship Id="rId7"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slideLayout" Target="../slideLayouts/slideLayout1.xml"/><Relationship Id="rId8"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1F10"/>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731520" y="914400"/>
            <a:ext cx="7680960" cy="1005840"/>
          </a:xfrm>
          <a:prstGeom prst="rect">
            <a:avLst/>
          </a:prstGeom>
          <a:noFill/>
          <a:ln/>
        </p:spPr>
        <p:txBody>
          <a:bodyPr wrap="square" lIns="0" tIns="0" rIns="0" bIns="0" rtlCol="0" anchor="ctr"/>
          <a:lstStyle/>
          <a:p>
            <a:pPr algn="l" indent="0" marL="0">
              <a:buNone/>
            </a:pPr>
            <a:r>
              <a:rPr lang="en-US" sz="5600" b="1" spc="600" kern="0" dirty="0">
                <a:solidFill>
                  <a:srgbClr val="FFFFFF"/>
                </a:solidFill>
                <a:latin typeface="Georgia" pitchFamily="34" charset="0"/>
                <a:ea typeface="Georgia" pitchFamily="34" charset="-122"/>
                <a:cs typeface="Georgia" pitchFamily="34" charset="-120"/>
              </a:rPr>
              <a:t>PYGLARA</a:t>
            </a:r>
            <a:endParaRPr lang="en-US" sz="5600" dirty="0"/>
          </a:p>
        </p:txBody>
      </p:sp>
      <p:sp>
        <p:nvSpPr>
          <p:cNvPr id="4" name="Text 2"/>
          <p:cNvSpPr/>
          <p:nvPr/>
        </p:nvSpPr>
        <p:spPr>
          <a:xfrm>
            <a:off x="731520" y="1874520"/>
            <a:ext cx="7680960" cy="411480"/>
          </a:xfrm>
          <a:prstGeom prst="rect">
            <a:avLst/>
          </a:prstGeom>
          <a:noFill/>
          <a:ln/>
        </p:spPr>
        <p:txBody>
          <a:bodyPr wrap="square" lIns="0" tIns="0" rIns="0" bIns="0" rtlCol="0" anchor="ctr"/>
          <a:lstStyle/>
          <a:p>
            <a:pPr algn="l" indent="0" marL="0">
              <a:buNone/>
            </a:pPr>
            <a:r>
              <a:rPr lang="en-US" sz="1800" dirty="0">
                <a:solidFill>
                  <a:srgbClr val="D4954A"/>
                </a:solidFill>
                <a:latin typeface="Calibri" pitchFamily="34" charset="0"/>
                <a:ea typeface="Calibri" pitchFamily="34" charset="-122"/>
                <a:cs typeface="Calibri" pitchFamily="34" charset="-120"/>
              </a:rPr>
              <a:t>Prensados y Galvanizados de Lara, S.A.</a:t>
            </a:r>
            <a:endParaRPr lang="en-US" sz="1800" dirty="0"/>
          </a:p>
        </p:txBody>
      </p:sp>
      <p:sp>
        <p:nvSpPr>
          <p:cNvPr id="5" name="Text 3"/>
          <p:cNvSpPr/>
          <p:nvPr/>
        </p:nvSpPr>
        <p:spPr>
          <a:xfrm>
            <a:off x="731520" y="2423160"/>
            <a:ext cx="5943600" cy="411480"/>
          </a:xfrm>
          <a:prstGeom prst="rect">
            <a:avLst/>
          </a:prstGeom>
          <a:noFill/>
          <a:ln/>
        </p:spPr>
        <p:txBody>
          <a:bodyPr wrap="square" lIns="0" tIns="0" rIns="0" bIns="0" rtlCol="0" anchor="ctr"/>
          <a:lstStyle/>
          <a:p>
            <a:pPr algn="l" indent="0" marL="0">
              <a:buNone/>
            </a:pPr>
            <a:r>
              <a:rPr lang="en-US" sz="1300" i="1" dirty="0">
                <a:solidFill>
                  <a:srgbClr val="C0B0A0"/>
                </a:solidFill>
                <a:latin typeface="Calibri" pitchFamily="34" charset="0"/>
                <a:ea typeface="Calibri" pitchFamily="34" charset="-122"/>
                <a:cs typeface="Calibri" pitchFamily="34" charset="-120"/>
              </a:rPr>
              <a:t>La planta de galvanizado mas grande del centro-occidente de Venezuela</a:t>
            </a:r>
            <a:endParaRPr lang="en-US" sz="1300" dirty="0"/>
          </a:p>
        </p:txBody>
      </p:sp>
      <p:pic>
        <p:nvPicPr>
          <p:cNvPr id="6" name="Image 0" descr="/sessions/sweet-gallant-wright/pyglara-deck/images/cuba9m.jpg"/>
          <p:cNvPicPr>
            <a:picLocks noChangeAspect="1"/>
          </p:cNvPicPr>
          <p:nvPr/>
        </p:nvPicPr>
        <p:blipFill>
          <a:blip r:embed="rId1"/>
          <a:srcRect l="0" r="0" t="0" b="0"/>
          <a:stretch/>
        </p:blipFill>
        <p:spPr>
          <a:xfrm>
            <a:off x="5303520" y="914400"/>
            <a:ext cx="3291840" cy="2286000"/>
          </a:xfrm>
          <a:prstGeom prst="rect">
            <a:avLst/>
          </a:prstGeom>
        </p:spPr>
      </p:pic>
      <p:sp>
        <p:nvSpPr>
          <p:cNvPr id="7" name="Shape 4"/>
          <p:cNvSpPr/>
          <p:nvPr/>
        </p:nvSpPr>
        <p:spPr>
          <a:xfrm>
            <a:off x="5303520" y="914400"/>
            <a:ext cx="3291840" cy="2286000"/>
          </a:xfrm>
          <a:prstGeom prst="rect">
            <a:avLst/>
          </a:prstGeom>
          <a:ln w="19050">
            <a:solidFill>
              <a:srgbClr val="B87333"/>
            </a:solidFill>
            <a:prstDash val="solid"/>
          </a:ln>
        </p:spPr>
        <p:txBody>
          <a:bodyPr/>
          <a:p/>
        </p:txBody>
      </p:sp>
      <p:sp>
        <p:nvSpPr>
          <p:cNvPr id="8" name="Shape 5"/>
          <p:cNvSpPr/>
          <p:nvPr/>
        </p:nvSpPr>
        <p:spPr>
          <a:xfrm>
            <a:off x="0" y="4023360"/>
            <a:ext cx="9144000" cy="1120140"/>
          </a:xfrm>
          <a:prstGeom prst="rect">
            <a:avLst/>
          </a:prstGeom>
          <a:solidFill>
            <a:srgbClr val="1E1508"/>
          </a:solidFill>
          <a:ln/>
        </p:spPr>
        <p:txBody>
          <a:bodyPr/>
          <a:p/>
        </p:txBody>
      </p:sp>
      <p:sp>
        <p:nvSpPr>
          <p:cNvPr id="9" name="Shape 6"/>
          <p:cNvSpPr/>
          <p:nvPr/>
        </p:nvSpPr>
        <p:spPr>
          <a:xfrm>
            <a:off x="0" y="4023360"/>
            <a:ext cx="9144000" cy="22860"/>
          </a:xfrm>
          <a:prstGeom prst="rect">
            <a:avLst/>
          </a:prstGeom>
          <a:solidFill>
            <a:srgbClr val="B87333"/>
          </a:solidFill>
          <a:ln/>
        </p:spPr>
        <p:txBody>
          <a:bodyPr/>
          <a:p/>
        </p:txBody>
      </p:sp>
      <p:sp>
        <p:nvSpPr>
          <p:cNvPr id="10" name="Text 7"/>
          <p:cNvSpPr/>
          <p:nvPr/>
        </p:nvSpPr>
        <p:spPr>
          <a:xfrm>
            <a:off x="731520" y="4160520"/>
            <a:ext cx="4572000" cy="320040"/>
          </a:xfrm>
          <a:prstGeom prst="rect">
            <a:avLst/>
          </a:prstGeom>
          <a:noFill/>
          <a:ln/>
        </p:spPr>
        <p:txBody>
          <a:bodyPr wrap="square" lIns="0" tIns="0" rIns="0" bIns="0" rtlCol="0" anchor="ctr"/>
          <a:lstStyle/>
          <a:p>
            <a:pPr algn="l" indent="0" marL="0">
              <a:buNone/>
            </a:pPr>
            <a:r>
              <a:rPr lang="en-US" sz="1200" dirty="0">
                <a:solidFill>
                  <a:srgbClr val="A09080"/>
                </a:solidFill>
                <a:latin typeface="Calibri" pitchFamily="34" charset="0"/>
                <a:ea typeface="Calibri" pitchFamily="34" charset="-122"/>
                <a:cs typeface="Calibri" pitchFamily="34" charset="-120"/>
              </a:rPr>
              <a:t>Oportunidad de Inversion  |  Abril 2026</a:t>
            </a:r>
            <a:endParaRPr lang="en-US" sz="1200" dirty="0"/>
          </a:p>
        </p:txBody>
      </p:sp>
      <p:sp>
        <p:nvSpPr>
          <p:cNvPr id="11" name="Text 8"/>
          <p:cNvSpPr/>
          <p:nvPr/>
        </p:nvSpPr>
        <p:spPr>
          <a:xfrm>
            <a:off x="5486400" y="4160520"/>
            <a:ext cx="2926080" cy="320040"/>
          </a:xfrm>
          <a:prstGeom prst="rect">
            <a:avLst/>
          </a:prstGeom>
          <a:noFill/>
          <a:ln/>
        </p:spPr>
        <p:txBody>
          <a:bodyPr wrap="square" lIns="0" tIns="0" rIns="0" bIns="0" rtlCol="0" anchor="ctr"/>
          <a:lstStyle/>
          <a:p>
            <a:pPr algn="r" indent="0" marL="0">
              <a:buNone/>
            </a:pPr>
            <a:r>
              <a:rPr lang="en-US" sz="1100" b="1" spc="400" kern="0" dirty="0">
                <a:solidFill>
                  <a:srgbClr val="B87333"/>
                </a:solidFill>
                <a:latin typeface="Calibri" pitchFamily="34" charset="0"/>
                <a:ea typeface="Calibri" pitchFamily="34" charset="-122"/>
                <a:cs typeface="Calibri" pitchFamily="34" charset="-120"/>
              </a:rPr>
              <a:t>CONFIDENCIAL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2 / 30</a:t>
            </a:r>
            <a:endParaRPr lang="en-US" sz="800" dirty="0"/>
          </a:p>
        </p:txBody>
      </p:sp>
      <p:sp>
        <p:nvSpPr>
          <p:cNvPr id="4" name="Text 2"/>
          <p:cNvSpPr/>
          <p:nvPr/>
        </p:nvSpPr>
        <p:spPr>
          <a:xfrm>
            <a:off x="548640" y="274320"/>
            <a:ext cx="8046720" cy="594360"/>
          </a:xfrm>
          <a:prstGeom prst="rect">
            <a:avLst/>
          </a:prstGeom>
          <a:noFill/>
          <a:ln/>
        </p:spPr>
        <p:txBody>
          <a:bodyPr wrap="square" lIns="0" tIns="0" rIns="0" bIns="0" rtlCol="0" anchor="ctr"/>
          <a:lstStyle/>
          <a:p>
            <a:pPr indent="0" marL="0">
              <a:buNone/>
            </a:pPr>
            <a:r>
              <a:rPr lang="en-US" sz="3400" b="1" dirty="0">
                <a:solidFill>
                  <a:srgbClr val="3E2C1C"/>
                </a:solidFill>
                <a:latin typeface="Georgia" pitchFamily="34" charset="0"/>
                <a:ea typeface="Georgia" pitchFamily="34" charset="-122"/>
                <a:cs typeface="Georgia" pitchFamily="34" charset="-120"/>
              </a:rPr>
              <a:t>LA OPORTUNIDAD</a:t>
            </a:r>
            <a:endParaRPr lang="en-US" sz="3400" dirty="0"/>
          </a:p>
        </p:txBody>
      </p:sp>
      <p:sp>
        <p:nvSpPr>
          <p:cNvPr id="5" name="Text 3"/>
          <p:cNvSpPr/>
          <p:nvPr/>
        </p:nvSpPr>
        <p:spPr>
          <a:xfrm>
            <a:off x="548640" y="868680"/>
            <a:ext cx="8046720" cy="365760"/>
          </a:xfrm>
          <a:prstGeom prst="rect">
            <a:avLst/>
          </a:prstGeom>
          <a:noFill/>
          <a:ln/>
        </p:spPr>
        <p:txBody>
          <a:bodyPr wrap="square" lIns="0" tIns="0" rIns="0" bIns="0" rtlCol="0" anchor="ctr"/>
          <a:lstStyle/>
          <a:p>
            <a:pPr indent="0" marL="0">
              <a:buNone/>
            </a:pPr>
            <a:r>
              <a:rPr lang="en-US" sz="1300" i="1" dirty="0">
                <a:solidFill>
                  <a:srgbClr val="8B5A2B"/>
                </a:solidFill>
                <a:latin typeface="Calibri" pitchFamily="34" charset="0"/>
                <a:ea typeface="Calibri" pitchFamily="34" charset="-122"/>
                <a:cs typeface="Calibri" pitchFamily="34" charset="-120"/>
              </a:rPr>
              <a:t>Una planta industrial de 50 anos con equipos alemanes de clase mundial</a:t>
            </a:r>
            <a:endParaRPr lang="en-US" sz="1300" dirty="0"/>
          </a:p>
        </p:txBody>
      </p:sp>
      <p:sp>
        <p:nvSpPr>
          <p:cNvPr id="6" name="Shape 4"/>
          <p:cNvSpPr/>
          <p:nvPr/>
        </p:nvSpPr>
        <p:spPr>
          <a:xfrm>
            <a:off x="548640" y="1463040"/>
            <a:ext cx="3749040" cy="1417320"/>
          </a:xfrm>
          <a:prstGeom prst="rect">
            <a:avLst/>
          </a:prstGeom>
          <a:solidFill>
            <a:srgbClr val="FFFFFF"/>
          </a:solidFill>
          <a:ln w="12700">
            <a:solidFill>
              <a:srgbClr val="D4C5B2"/>
            </a:solidFill>
            <a:prstDash val="solid"/>
          </a:ln>
          <a:effectLst>
            <a:outerShdw sx="100000" sy="100000" kx="0" ky="0" algn="bl" rotWithShape="0" blurRad="50800" dist="25400" dir="8100000">
              <a:srgbClr val="000000">
                <a:alpha val="8000"/>
              </a:srgbClr>
            </a:outerShdw>
          </a:effectLst>
        </p:spPr>
        <p:txBody>
          <a:bodyPr/>
          <a:p/>
        </p:txBody>
      </p:sp>
      <p:sp>
        <p:nvSpPr>
          <p:cNvPr id="7" name="Shape 5"/>
          <p:cNvSpPr/>
          <p:nvPr/>
        </p:nvSpPr>
        <p:spPr>
          <a:xfrm>
            <a:off x="548640" y="1463040"/>
            <a:ext cx="3749040" cy="36576"/>
          </a:xfrm>
          <a:prstGeom prst="rect">
            <a:avLst/>
          </a:prstGeom>
          <a:solidFill>
            <a:srgbClr val="B87333"/>
          </a:solidFill>
          <a:ln/>
        </p:spPr>
        <p:txBody>
          <a:bodyPr/>
          <a:p/>
        </p:txBody>
      </p:sp>
      <p:sp>
        <p:nvSpPr>
          <p:cNvPr id="8" name="Text 6"/>
          <p:cNvSpPr/>
          <p:nvPr/>
        </p:nvSpPr>
        <p:spPr>
          <a:xfrm>
            <a:off x="548640" y="1645920"/>
            <a:ext cx="3749040" cy="637794"/>
          </a:xfrm>
          <a:prstGeom prst="rect">
            <a:avLst/>
          </a:prstGeom>
          <a:noFill/>
          <a:ln/>
        </p:spPr>
        <p:txBody>
          <a:bodyPr wrap="square" lIns="0" tIns="0" rIns="0" bIns="0" rtlCol="0" anchor="ctr"/>
          <a:lstStyle/>
          <a:p>
            <a:pPr algn="ctr" indent="0" marL="0">
              <a:buNone/>
            </a:pPr>
            <a:r>
              <a:rPr lang="en-US" sz="2800" b="1" dirty="0">
                <a:solidFill>
                  <a:srgbClr val="8B5A2B"/>
                </a:solidFill>
                <a:latin typeface="Georgia" pitchFamily="34" charset="0"/>
                <a:ea typeface="Georgia" pitchFamily="34" charset="-122"/>
                <a:cs typeface="Georgia" pitchFamily="34" charset="-120"/>
              </a:rPr>
              <a:t>$2.2M-$3.0M</a:t>
            </a:r>
            <a:endParaRPr lang="en-US" sz="2800" dirty="0"/>
          </a:p>
        </p:txBody>
      </p:sp>
      <p:sp>
        <p:nvSpPr>
          <p:cNvPr id="9" name="Text 7"/>
          <p:cNvSpPr/>
          <p:nvPr/>
        </p:nvSpPr>
        <p:spPr>
          <a:xfrm>
            <a:off x="685800" y="2242566"/>
            <a:ext cx="3474720" cy="538582"/>
          </a:xfrm>
          <a:prstGeom prst="rect">
            <a:avLst/>
          </a:prstGeom>
          <a:noFill/>
          <a:ln/>
        </p:spPr>
        <p:txBody>
          <a:bodyPr wrap="square" lIns="0" tIns="0" rIns="0" bIns="0" rtlCol="0" anchor="t"/>
          <a:lstStyle/>
          <a:p>
            <a:pPr algn="ctr" indent="0" marL="0">
              <a:buNone/>
            </a:pPr>
            <a:r>
              <a:rPr lang="en-US" sz="1000" dirty="0">
                <a:solidFill>
                  <a:srgbClr val="7A6555"/>
                </a:solidFill>
                <a:latin typeface="Calibri" pitchFamily="34" charset="0"/>
                <a:ea typeface="Calibri" pitchFamily="34" charset="-122"/>
                <a:cs typeface="Calibri" pitchFamily="34" charset="-120"/>
              </a:rPr>
              <a:t>Costo de reposicion</a:t>
            </a:r>
            <a:endParaRPr lang="en-US" sz="1000" dirty="0"/>
          </a:p>
          <a:p>
            <a:pPr algn="ctr" indent="0" marL="0">
              <a:buNone/>
            </a:pPr>
            <a:r>
              <a:rPr lang="en-US" sz="1000" dirty="0">
                <a:solidFill>
                  <a:srgbClr val="7A6555"/>
                </a:solidFill>
                <a:latin typeface="Calibri" pitchFamily="34" charset="0"/>
                <a:ea typeface="Calibri" pitchFamily="34" charset="-122"/>
                <a:cs typeface="Calibri" pitchFamily="34" charset="-120"/>
              </a:rPr>
              <a:t>(construir desde cero)</a:t>
            </a:r>
            <a:endParaRPr lang="en-US" sz="1000" dirty="0"/>
          </a:p>
        </p:txBody>
      </p:sp>
      <p:sp>
        <p:nvSpPr>
          <p:cNvPr id="10" name="Shape 8"/>
          <p:cNvSpPr/>
          <p:nvPr/>
        </p:nvSpPr>
        <p:spPr>
          <a:xfrm>
            <a:off x="4663440" y="1463040"/>
            <a:ext cx="3749040" cy="1417320"/>
          </a:xfrm>
          <a:prstGeom prst="rect">
            <a:avLst/>
          </a:prstGeom>
          <a:solidFill>
            <a:srgbClr val="FFFFFF"/>
          </a:solidFill>
          <a:ln w="12700">
            <a:solidFill>
              <a:srgbClr val="D4C5B2"/>
            </a:solidFill>
            <a:prstDash val="solid"/>
          </a:ln>
          <a:effectLst>
            <a:outerShdw sx="100000" sy="100000" kx="0" ky="0" algn="bl" rotWithShape="0" blurRad="50800" dist="25400" dir="8100000">
              <a:srgbClr val="000000">
                <a:alpha val="8000"/>
              </a:srgbClr>
            </a:outerShdw>
          </a:effectLst>
        </p:spPr>
        <p:txBody>
          <a:bodyPr/>
          <a:p/>
        </p:txBody>
      </p:sp>
      <p:sp>
        <p:nvSpPr>
          <p:cNvPr id="11" name="Shape 9"/>
          <p:cNvSpPr/>
          <p:nvPr/>
        </p:nvSpPr>
        <p:spPr>
          <a:xfrm>
            <a:off x="4663440" y="1463040"/>
            <a:ext cx="3749040" cy="36576"/>
          </a:xfrm>
          <a:prstGeom prst="rect">
            <a:avLst/>
          </a:prstGeom>
          <a:solidFill>
            <a:srgbClr val="B87333"/>
          </a:solidFill>
          <a:ln/>
        </p:spPr>
        <p:txBody>
          <a:bodyPr/>
          <a:p/>
        </p:txBody>
      </p:sp>
      <p:sp>
        <p:nvSpPr>
          <p:cNvPr id="12" name="Text 10"/>
          <p:cNvSpPr/>
          <p:nvPr/>
        </p:nvSpPr>
        <p:spPr>
          <a:xfrm>
            <a:off x="4663440" y="1645920"/>
            <a:ext cx="3749040" cy="637794"/>
          </a:xfrm>
          <a:prstGeom prst="rect">
            <a:avLst/>
          </a:prstGeom>
          <a:noFill/>
          <a:ln/>
        </p:spPr>
        <p:txBody>
          <a:bodyPr wrap="square" lIns="0" tIns="0" rIns="0" bIns="0" rtlCol="0" anchor="ctr"/>
          <a:lstStyle/>
          <a:p>
            <a:pPr algn="ctr" indent="0" marL="0">
              <a:buNone/>
            </a:pPr>
            <a:r>
              <a:rPr lang="en-US" sz="2800" b="1" dirty="0">
                <a:solidFill>
                  <a:srgbClr val="8B5A2B"/>
                </a:solidFill>
                <a:latin typeface="Georgia" pitchFamily="34" charset="0"/>
                <a:ea typeface="Georgia" pitchFamily="34" charset="-122"/>
                <a:cs typeface="Georgia" pitchFamily="34" charset="-120"/>
              </a:rPr>
              <a:t>300 TM/mes</a:t>
            </a:r>
            <a:endParaRPr lang="en-US" sz="2800" dirty="0"/>
          </a:p>
        </p:txBody>
      </p:sp>
      <p:sp>
        <p:nvSpPr>
          <p:cNvPr id="13" name="Text 11"/>
          <p:cNvSpPr/>
          <p:nvPr/>
        </p:nvSpPr>
        <p:spPr>
          <a:xfrm>
            <a:off x="4800600" y="2242566"/>
            <a:ext cx="3474720" cy="538582"/>
          </a:xfrm>
          <a:prstGeom prst="rect">
            <a:avLst/>
          </a:prstGeom>
          <a:noFill/>
          <a:ln/>
        </p:spPr>
        <p:txBody>
          <a:bodyPr wrap="square" lIns="0" tIns="0" rIns="0" bIns="0" rtlCol="0" anchor="t"/>
          <a:lstStyle/>
          <a:p>
            <a:pPr algn="ctr" indent="0" marL="0">
              <a:buNone/>
            </a:pPr>
            <a:r>
              <a:rPr lang="en-US" sz="1000" dirty="0">
                <a:solidFill>
                  <a:srgbClr val="7A6555"/>
                </a:solidFill>
                <a:latin typeface="Calibri" pitchFamily="34" charset="0"/>
                <a:ea typeface="Calibri" pitchFamily="34" charset="-122"/>
                <a:cs typeface="Calibri" pitchFamily="34" charset="-120"/>
              </a:rPr>
              <a:t>Produccion comprobada</a:t>
            </a:r>
            <a:endParaRPr lang="en-US" sz="1000" dirty="0"/>
          </a:p>
          <a:p>
            <a:pPr algn="ctr" indent="0" marL="0">
              <a:buNone/>
            </a:pPr>
            <a:r>
              <a:rPr lang="en-US" sz="1000" dirty="0">
                <a:solidFill>
                  <a:srgbClr val="7A6555"/>
                </a:solidFill>
                <a:latin typeface="Calibri" pitchFamily="34" charset="0"/>
                <a:ea typeface="Calibri" pitchFamily="34" charset="-122"/>
                <a:cs typeface="Calibri" pitchFamily="34" charset="-120"/>
              </a:rPr>
              <a:t>(mejor mes historico)</a:t>
            </a:r>
            <a:endParaRPr lang="en-US" sz="1000" dirty="0"/>
          </a:p>
        </p:txBody>
      </p:sp>
      <p:sp>
        <p:nvSpPr>
          <p:cNvPr id="14" name="Shape 12"/>
          <p:cNvSpPr/>
          <p:nvPr/>
        </p:nvSpPr>
        <p:spPr>
          <a:xfrm>
            <a:off x="548640" y="3154680"/>
            <a:ext cx="3749040" cy="1417320"/>
          </a:xfrm>
          <a:prstGeom prst="rect">
            <a:avLst/>
          </a:prstGeom>
          <a:solidFill>
            <a:srgbClr val="FFFFFF"/>
          </a:solidFill>
          <a:ln w="12700">
            <a:solidFill>
              <a:srgbClr val="D4C5B2"/>
            </a:solidFill>
            <a:prstDash val="solid"/>
          </a:ln>
          <a:effectLst>
            <a:outerShdw sx="100000" sy="100000" kx="0" ky="0" algn="bl" rotWithShape="0" blurRad="50800" dist="25400" dir="8100000">
              <a:srgbClr val="000000">
                <a:alpha val="8000"/>
              </a:srgbClr>
            </a:outerShdw>
          </a:effectLst>
        </p:spPr>
        <p:txBody>
          <a:bodyPr/>
          <a:p/>
        </p:txBody>
      </p:sp>
      <p:sp>
        <p:nvSpPr>
          <p:cNvPr id="15" name="Shape 13"/>
          <p:cNvSpPr/>
          <p:nvPr/>
        </p:nvSpPr>
        <p:spPr>
          <a:xfrm>
            <a:off x="548640" y="3154680"/>
            <a:ext cx="3749040" cy="36576"/>
          </a:xfrm>
          <a:prstGeom prst="rect">
            <a:avLst/>
          </a:prstGeom>
          <a:solidFill>
            <a:srgbClr val="B87333"/>
          </a:solidFill>
          <a:ln/>
        </p:spPr>
        <p:txBody>
          <a:bodyPr/>
          <a:p/>
        </p:txBody>
      </p:sp>
      <p:sp>
        <p:nvSpPr>
          <p:cNvPr id="16" name="Text 14"/>
          <p:cNvSpPr/>
          <p:nvPr/>
        </p:nvSpPr>
        <p:spPr>
          <a:xfrm>
            <a:off x="548640" y="3337560"/>
            <a:ext cx="3749040" cy="637794"/>
          </a:xfrm>
          <a:prstGeom prst="rect">
            <a:avLst/>
          </a:prstGeom>
          <a:noFill/>
          <a:ln/>
        </p:spPr>
        <p:txBody>
          <a:bodyPr wrap="square" lIns="0" tIns="0" rIns="0" bIns="0" rtlCol="0" anchor="ctr"/>
          <a:lstStyle/>
          <a:p>
            <a:pPr algn="ctr" indent="0" marL="0">
              <a:buNone/>
            </a:pPr>
            <a:r>
              <a:rPr lang="en-US" sz="2800" b="1" dirty="0">
                <a:solidFill>
                  <a:srgbClr val="8B5A2B"/>
                </a:solidFill>
                <a:latin typeface="Georgia" pitchFamily="34" charset="0"/>
                <a:ea typeface="Georgia" pitchFamily="34" charset="-122"/>
                <a:cs typeface="Georgia" pitchFamily="34" charset="-120"/>
              </a:rPr>
              <a:t>936 varillas/dia</a:t>
            </a:r>
            <a:endParaRPr lang="en-US" sz="2800" dirty="0"/>
          </a:p>
        </p:txBody>
      </p:sp>
      <p:sp>
        <p:nvSpPr>
          <p:cNvPr id="17" name="Text 15"/>
          <p:cNvSpPr/>
          <p:nvPr/>
        </p:nvSpPr>
        <p:spPr>
          <a:xfrm>
            <a:off x="685800" y="3934206"/>
            <a:ext cx="3474720" cy="538582"/>
          </a:xfrm>
          <a:prstGeom prst="rect">
            <a:avLst/>
          </a:prstGeom>
          <a:noFill/>
          <a:ln/>
        </p:spPr>
        <p:txBody>
          <a:bodyPr wrap="square" lIns="0" tIns="0" rIns="0" bIns="0" rtlCol="0" anchor="t"/>
          <a:lstStyle/>
          <a:p>
            <a:pPr algn="ctr" indent="0" marL="0">
              <a:buNone/>
            </a:pPr>
            <a:r>
              <a:rPr lang="en-US" sz="1000" dirty="0">
                <a:solidFill>
                  <a:srgbClr val="7A6555"/>
                </a:solidFill>
                <a:latin typeface="Calibri" pitchFamily="34" charset="0"/>
                <a:ea typeface="Calibri" pitchFamily="34" charset="-122"/>
                <a:cs typeface="Calibri" pitchFamily="34" charset="-120"/>
              </a:rPr>
              <a:t>Linea de cobre sin</a:t>
            </a:r>
            <a:endParaRPr lang="en-US" sz="1000" dirty="0"/>
          </a:p>
          <a:p>
            <a:pPr algn="ctr" indent="0" marL="0">
              <a:buNone/>
            </a:pPr>
            <a:r>
              <a:rPr lang="en-US" sz="1000" dirty="0">
                <a:solidFill>
                  <a:srgbClr val="7A6555"/>
                </a:solidFill>
                <a:latin typeface="Calibri" pitchFamily="34" charset="0"/>
                <a:ea typeface="Calibri" pitchFamily="34" charset="-122"/>
                <a:cs typeface="Calibri" pitchFamily="34" charset="-120"/>
              </a:rPr>
              <a:t>competidor domestico</a:t>
            </a:r>
            <a:endParaRPr lang="en-US" sz="1000" dirty="0"/>
          </a:p>
        </p:txBody>
      </p:sp>
      <p:sp>
        <p:nvSpPr>
          <p:cNvPr id="18" name="Shape 16"/>
          <p:cNvSpPr/>
          <p:nvPr/>
        </p:nvSpPr>
        <p:spPr>
          <a:xfrm>
            <a:off x="4663440" y="3154680"/>
            <a:ext cx="3749040" cy="1417320"/>
          </a:xfrm>
          <a:prstGeom prst="rect">
            <a:avLst/>
          </a:prstGeom>
          <a:solidFill>
            <a:srgbClr val="FFFFFF"/>
          </a:solidFill>
          <a:ln w="12700">
            <a:solidFill>
              <a:srgbClr val="D4C5B2"/>
            </a:solidFill>
            <a:prstDash val="solid"/>
          </a:ln>
          <a:effectLst>
            <a:outerShdw sx="100000" sy="100000" kx="0" ky="0" algn="bl" rotWithShape="0" blurRad="50800" dist="25400" dir="8100000">
              <a:srgbClr val="000000">
                <a:alpha val="8000"/>
              </a:srgbClr>
            </a:outerShdw>
          </a:effectLst>
        </p:spPr>
        <p:txBody>
          <a:bodyPr/>
          <a:p/>
        </p:txBody>
      </p:sp>
      <p:sp>
        <p:nvSpPr>
          <p:cNvPr id="19" name="Shape 17"/>
          <p:cNvSpPr/>
          <p:nvPr/>
        </p:nvSpPr>
        <p:spPr>
          <a:xfrm>
            <a:off x="4663440" y="3154680"/>
            <a:ext cx="3749040" cy="36576"/>
          </a:xfrm>
          <a:prstGeom prst="rect">
            <a:avLst/>
          </a:prstGeom>
          <a:solidFill>
            <a:srgbClr val="B87333"/>
          </a:solidFill>
          <a:ln/>
        </p:spPr>
        <p:txBody>
          <a:bodyPr/>
          <a:p/>
        </p:txBody>
      </p:sp>
      <p:sp>
        <p:nvSpPr>
          <p:cNvPr id="20" name="Text 18"/>
          <p:cNvSpPr/>
          <p:nvPr/>
        </p:nvSpPr>
        <p:spPr>
          <a:xfrm>
            <a:off x="4663440" y="3337560"/>
            <a:ext cx="3749040" cy="637794"/>
          </a:xfrm>
          <a:prstGeom prst="rect">
            <a:avLst/>
          </a:prstGeom>
          <a:noFill/>
          <a:ln/>
        </p:spPr>
        <p:txBody>
          <a:bodyPr wrap="square" lIns="0" tIns="0" rIns="0" bIns="0" rtlCol="0" anchor="ctr"/>
          <a:lstStyle/>
          <a:p>
            <a:pPr algn="ctr" indent="0" marL="0">
              <a:buNone/>
            </a:pPr>
            <a:r>
              <a:rPr lang="en-US" sz="2800" b="1" dirty="0">
                <a:solidFill>
                  <a:srgbClr val="8B5A2B"/>
                </a:solidFill>
                <a:latin typeface="Georgia" pitchFamily="34" charset="0"/>
                <a:ea typeface="Georgia" pitchFamily="34" charset="-122"/>
                <a:cs typeface="Georgia" pitchFamily="34" charset="-120"/>
              </a:rPr>
              <a:t>3 meses</a:t>
            </a:r>
            <a:endParaRPr lang="en-US" sz="2800" dirty="0"/>
          </a:p>
        </p:txBody>
      </p:sp>
      <p:sp>
        <p:nvSpPr>
          <p:cNvPr id="21" name="Text 19"/>
          <p:cNvSpPr/>
          <p:nvPr/>
        </p:nvSpPr>
        <p:spPr>
          <a:xfrm>
            <a:off x="4800600" y="3934206"/>
            <a:ext cx="3474720" cy="538582"/>
          </a:xfrm>
          <a:prstGeom prst="rect">
            <a:avLst/>
          </a:prstGeom>
          <a:noFill/>
          <a:ln/>
        </p:spPr>
        <p:txBody>
          <a:bodyPr wrap="square" lIns="0" tIns="0" rIns="0" bIns="0" rtlCol="0" anchor="t"/>
          <a:lstStyle/>
          <a:p>
            <a:pPr algn="ctr" indent="0" marL="0">
              <a:buNone/>
            </a:pPr>
            <a:r>
              <a:rPr lang="en-US" sz="1000" dirty="0">
                <a:solidFill>
                  <a:srgbClr val="7A6555"/>
                </a:solidFill>
                <a:latin typeface="Calibri" pitchFamily="34" charset="0"/>
                <a:ea typeface="Calibri" pitchFamily="34" charset="-122"/>
                <a:cs typeface="Calibri" pitchFamily="34" charset="-120"/>
              </a:rPr>
              <a:t>De la inversion a</a:t>
            </a:r>
            <a:endParaRPr lang="en-US" sz="1000" dirty="0"/>
          </a:p>
          <a:p>
            <a:pPr algn="ctr" indent="0" marL="0">
              <a:buNone/>
            </a:pPr>
            <a:r>
              <a:rPr lang="en-US" sz="1000" dirty="0">
                <a:solidFill>
                  <a:srgbClr val="7A6555"/>
                </a:solidFill>
                <a:latin typeface="Calibri" pitchFamily="34" charset="0"/>
                <a:ea typeface="Calibri" pitchFamily="34" charset="-122"/>
                <a:cs typeface="Calibri" pitchFamily="34" charset="-120"/>
              </a:rPr>
              <a:t>generar ingresos</a:t>
            </a:r>
            <a:endParaRPr lang="en-US" sz="1000" dirty="0"/>
          </a:p>
        </p:txBody>
      </p:sp>
      <p:sp>
        <p:nvSpPr>
          <p:cNvPr id="22" name="Text 20"/>
          <p:cNvSpPr/>
          <p:nvPr/>
        </p:nvSpPr>
        <p:spPr>
          <a:xfrm>
            <a:off x="548640" y="4754880"/>
            <a:ext cx="8046720" cy="228600"/>
          </a:xfrm>
          <a:prstGeom prst="rect">
            <a:avLst/>
          </a:prstGeom>
          <a:noFill/>
          <a:ln/>
        </p:spPr>
        <p:txBody>
          <a:bodyPr wrap="square" lIns="0" tIns="0" rIns="0" bIns="0" rtlCol="0" anchor="ctr"/>
          <a:lstStyle/>
          <a:p>
            <a:pPr algn="ctr" indent="0" marL="0">
              <a:buNone/>
            </a:pPr>
            <a:r>
              <a:rPr lang="en-US" sz="1100" i="1" dirty="0">
                <a:solidFill>
                  <a:srgbClr val="7A6555"/>
                </a:solidFill>
                <a:latin typeface="Calibri" pitchFamily="34" charset="0"/>
                <a:ea typeface="Calibri" pitchFamily="34" charset="-122"/>
                <a:cs typeface="Calibri" pitchFamily="34" charset="-120"/>
              </a:rPr>
              <a:t>Activos valorados en millones. Operativa en un trimestre.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EDE6"/>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3 / 30</a:t>
            </a:r>
            <a:endParaRPr lang="en-US" sz="800" dirty="0"/>
          </a:p>
        </p:txBody>
      </p:sp>
      <p:sp>
        <p:nvSpPr>
          <p:cNvPr id="4" name="Text 2"/>
          <p:cNvSpPr/>
          <p:nvPr/>
        </p:nvSpPr>
        <p:spPr>
          <a:xfrm>
            <a:off x="548640" y="274320"/>
            <a:ext cx="8046720" cy="594360"/>
          </a:xfrm>
          <a:prstGeom prst="rect">
            <a:avLst/>
          </a:prstGeom>
          <a:noFill/>
          <a:ln/>
        </p:spPr>
        <p:txBody>
          <a:bodyPr wrap="square" lIns="0" tIns="0" rIns="0" bIns="0" rtlCol="0" anchor="ctr"/>
          <a:lstStyle/>
          <a:p>
            <a:pPr indent="0" marL="0">
              <a:buNone/>
            </a:pPr>
            <a:r>
              <a:rPr lang="en-US" sz="3400" b="1" dirty="0">
                <a:solidFill>
                  <a:srgbClr val="3E2C1C"/>
                </a:solidFill>
                <a:latin typeface="Georgia" pitchFamily="34" charset="0"/>
                <a:ea typeface="Georgia" pitchFamily="34" charset="-122"/>
                <a:cs typeface="Georgia" pitchFamily="34" charset="-120"/>
              </a:rPr>
              <a:t>POR QUE AHORA</a:t>
            </a:r>
            <a:endParaRPr lang="en-US" sz="3400" dirty="0"/>
          </a:p>
        </p:txBody>
      </p:sp>
      <p:sp>
        <p:nvSpPr>
          <p:cNvPr id="5" name="Text 3"/>
          <p:cNvSpPr/>
          <p:nvPr/>
        </p:nvSpPr>
        <p:spPr>
          <a:xfrm>
            <a:off x="548640" y="868680"/>
            <a:ext cx="8046720" cy="365760"/>
          </a:xfrm>
          <a:prstGeom prst="rect">
            <a:avLst/>
          </a:prstGeom>
          <a:noFill/>
          <a:ln/>
        </p:spPr>
        <p:txBody>
          <a:bodyPr wrap="square" lIns="0" tIns="0" rIns="0" bIns="0" rtlCol="0" anchor="ctr"/>
          <a:lstStyle/>
          <a:p>
            <a:pPr indent="0" marL="0">
              <a:buNone/>
            </a:pPr>
            <a:r>
              <a:rPr lang="en-US" sz="1200" i="1" dirty="0">
                <a:solidFill>
                  <a:srgbClr val="8B5A2B"/>
                </a:solidFill>
                <a:latin typeface="Calibri" pitchFamily="34" charset="0"/>
                <a:ea typeface="Calibri" pitchFamily="34" charset="-122"/>
                <a:cs typeface="Calibri" pitchFamily="34" charset="-120"/>
              </a:rPr>
              <a:t>Venezuela reabre su sector petrolero — la demanda de acero galvanizado explota</a:t>
            </a:r>
            <a:endParaRPr lang="en-US" sz="1200" dirty="0"/>
          </a:p>
        </p:txBody>
      </p:sp>
      <p:sp>
        <p:nvSpPr>
          <p:cNvPr id="6" name="Shape 4"/>
          <p:cNvSpPr/>
          <p:nvPr/>
        </p:nvSpPr>
        <p:spPr>
          <a:xfrm>
            <a:off x="548640" y="1463040"/>
            <a:ext cx="3749040" cy="1417320"/>
          </a:xfrm>
          <a:prstGeom prst="rect">
            <a:avLst/>
          </a:prstGeom>
          <a:solidFill>
            <a:srgbClr val="FFFFFF"/>
          </a:solidFill>
          <a:ln w="12700">
            <a:solidFill>
              <a:srgbClr val="D4C5B2"/>
            </a:solidFill>
            <a:prstDash val="solid"/>
          </a:ln>
          <a:effectLst>
            <a:outerShdw sx="100000" sy="100000" kx="0" ky="0" algn="bl" rotWithShape="0" blurRad="50800" dist="25400" dir="8100000">
              <a:srgbClr val="000000">
                <a:alpha val="8000"/>
              </a:srgbClr>
            </a:outerShdw>
          </a:effectLst>
        </p:spPr>
        <p:txBody>
          <a:bodyPr/>
          <a:p/>
        </p:txBody>
      </p:sp>
      <p:sp>
        <p:nvSpPr>
          <p:cNvPr id="7" name="Shape 5"/>
          <p:cNvSpPr/>
          <p:nvPr/>
        </p:nvSpPr>
        <p:spPr>
          <a:xfrm>
            <a:off x="548640" y="1463040"/>
            <a:ext cx="54864" cy="1417320"/>
          </a:xfrm>
          <a:prstGeom prst="rect">
            <a:avLst/>
          </a:prstGeom>
          <a:solidFill>
            <a:srgbClr val="B87333"/>
          </a:solidFill>
          <a:ln/>
        </p:spPr>
        <p:txBody>
          <a:bodyPr/>
          <a:p/>
        </p:txBody>
      </p:sp>
      <p:sp>
        <p:nvSpPr>
          <p:cNvPr id="8" name="Text 6"/>
          <p:cNvSpPr/>
          <p:nvPr/>
        </p:nvSpPr>
        <p:spPr>
          <a:xfrm>
            <a:off x="685800" y="1600200"/>
            <a:ext cx="3474720" cy="680314"/>
          </a:xfrm>
          <a:prstGeom prst="rect">
            <a:avLst/>
          </a:prstGeom>
          <a:noFill/>
          <a:ln/>
        </p:spPr>
        <p:txBody>
          <a:bodyPr wrap="square" lIns="0" tIns="0" rIns="0" bIns="0" rtlCol="0" anchor="ctr"/>
          <a:lstStyle/>
          <a:p>
            <a:pPr algn="ctr" indent="0" marL="0">
              <a:buNone/>
            </a:pPr>
            <a:r>
              <a:rPr lang="en-US" sz="2600" b="1" dirty="0">
                <a:solidFill>
                  <a:srgbClr val="8B5A2B"/>
                </a:solidFill>
                <a:latin typeface="Georgia" pitchFamily="34" charset="0"/>
                <a:ea typeface="Georgia" pitchFamily="34" charset="-122"/>
                <a:cs typeface="Georgia" pitchFamily="34" charset="-120"/>
              </a:rPr>
              <a:t>$183 MIL MM</a:t>
            </a:r>
            <a:endParaRPr lang="en-US" sz="2600" dirty="0"/>
          </a:p>
        </p:txBody>
      </p:sp>
      <p:sp>
        <p:nvSpPr>
          <p:cNvPr id="9" name="Text 7"/>
          <p:cNvSpPr/>
          <p:nvPr/>
        </p:nvSpPr>
        <p:spPr>
          <a:xfrm>
            <a:off x="685800" y="2242566"/>
            <a:ext cx="3474720" cy="538582"/>
          </a:xfrm>
          <a:prstGeom prst="rect">
            <a:avLst/>
          </a:prstGeom>
          <a:noFill/>
          <a:ln/>
        </p:spPr>
        <p:txBody>
          <a:bodyPr wrap="square" lIns="0" tIns="0" rIns="0" bIns="0" rtlCol="0" anchor="t"/>
          <a:lstStyle/>
          <a:p>
            <a:pPr algn="ctr" indent="0" marL="0">
              <a:buNone/>
            </a:pPr>
            <a:r>
              <a:rPr lang="en-US" sz="1000" dirty="0">
                <a:solidFill>
                  <a:srgbClr val="7A6555"/>
                </a:solidFill>
                <a:latin typeface="Calibri" pitchFamily="34" charset="0"/>
                <a:ea typeface="Calibri" pitchFamily="34" charset="-122"/>
                <a:cs typeface="Calibri" pitchFamily="34" charset="-120"/>
              </a:rPr>
              <a:t>Capex petrolero proyectado</a:t>
            </a:r>
            <a:endParaRPr lang="en-US" sz="1000" dirty="0"/>
          </a:p>
          <a:p>
            <a:pPr algn="ctr" indent="0" marL="0">
              <a:buNone/>
            </a:pPr>
            <a:r>
              <a:rPr lang="en-US" sz="1000" dirty="0">
                <a:solidFill>
                  <a:srgbClr val="7A6555"/>
                </a:solidFill>
                <a:latin typeface="Calibri" pitchFamily="34" charset="0"/>
                <a:ea typeface="Calibri" pitchFamily="34" charset="-122"/>
                <a:cs typeface="Calibri" pitchFamily="34" charset="-120"/>
              </a:rPr>
              <a:t>hasta 2040 (Rystad Energy)</a:t>
            </a:r>
            <a:endParaRPr lang="en-US" sz="1000" dirty="0"/>
          </a:p>
        </p:txBody>
      </p:sp>
      <p:sp>
        <p:nvSpPr>
          <p:cNvPr id="10" name="Shape 8"/>
          <p:cNvSpPr/>
          <p:nvPr/>
        </p:nvSpPr>
        <p:spPr>
          <a:xfrm>
            <a:off x="4663440" y="1463040"/>
            <a:ext cx="3749040" cy="1417320"/>
          </a:xfrm>
          <a:prstGeom prst="rect">
            <a:avLst/>
          </a:prstGeom>
          <a:solidFill>
            <a:srgbClr val="FFFFFF"/>
          </a:solidFill>
          <a:ln w="12700">
            <a:solidFill>
              <a:srgbClr val="D4C5B2"/>
            </a:solidFill>
            <a:prstDash val="solid"/>
          </a:ln>
          <a:effectLst>
            <a:outerShdw sx="100000" sy="100000" kx="0" ky="0" algn="bl" rotWithShape="0" blurRad="50800" dist="25400" dir="8100000">
              <a:srgbClr val="000000">
                <a:alpha val="8000"/>
              </a:srgbClr>
            </a:outerShdw>
          </a:effectLst>
        </p:spPr>
        <p:txBody>
          <a:bodyPr/>
          <a:p/>
        </p:txBody>
      </p:sp>
      <p:sp>
        <p:nvSpPr>
          <p:cNvPr id="11" name="Shape 9"/>
          <p:cNvSpPr/>
          <p:nvPr/>
        </p:nvSpPr>
        <p:spPr>
          <a:xfrm>
            <a:off x="4663440" y="1463040"/>
            <a:ext cx="54864" cy="1417320"/>
          </a:xfrm>
          <a:prstGeom prst="rect">
            <a:avLst/>
          </a:prstGeom>
          <a:solidFill>
            <a:srgbClr val="B87333"/>
          </a:solidFill>
          <a:ln/>
        </p:spPr>
        <p:txBody>
          <a:bodyPr/>
          <a:p/>
        </p:txBody>
      </p:sp>
      <p:sp>
        <p:nvSpPr>
          <p:cNvPr id="12" name="Text 10"/>
          <p:cNvSpPr/>
          <p:nvPr/>
        </p:nvSpPr>
        <p:spPr>
          <a:xfrm>
            <a:off x="4800600" y="1600200"/>
            <a:ext cx="3474720" cy="680314"/>
          </a:xfrm>
          <a:prstGeom prst="rect">
            <a:avLst/>
          </a:prstGeom>
          <a:noFill/>
          <a:ln/>
        </p:spPr>
        <p:txBody>
          <a:bodyPr wrap="square" lIns="0" tIns="0" rIns="0" bIns="0" rtlCol="0" anchor="ctr"/>
          <a:lstStyle/>
          <a:p>
            <a:pPr algn="ctr" indent="0" marL="0">
              <a:buNone/>
            </a:pPr>
            <a:r>
              <a:rPr lang="en-US" sz="2600" b="1" dirty="0">
                <a:solidFill>
                  <a:srgbClr val="8B5A2B"/>
                </a:solidFill>
                <a:latin typeface="Georgia" pitchFamily="34" charset="0"/>
                <a:ea typeface="Georgia" pitchFamily="34" charset="-122"/>
                <a:cs typeface="Georgia" pitchFamily="34" charset="-120"/>
              </a:rPr>
              <a:t>$41 MIL MM</a:t>
            </a:r>
            <a:endParaRPr lang="en-US" sz="2600" dirty="0"/>
          </a:p>
        </p:txBody>
      </p:sp>
      <p:sp>
        <p:nvSpPr>
          <p:cNvPr id="13" name="Text 11"/>
          <p:cNvSpPr/>
          <p:nvPr/>
        </p:nvSpPr>
        <p:spPr>
          <a:xfrm>
            <a:off x="4800600" y="2242566"/>
            <a:ext cx="3474720" cy="538582"/>
          </a:xfrm>
          <a:prstGeom prst="rect">
            <a:avLst/>
          </a:prstGeom>
          <a:noFill/>
          <a:ln/>
        </p:spPr>
        <p:txBody>
          <a:bodyPr wrap="square" lIns="0" tIns="0" rIns="0" bIns="0" rtlCol="0" anchor="t"/>
          <a:lstStyle/>
          <a:p>
            <a:pPr algn="ctr" indent="0" marL="0">
              <a:buNone/>
            </a:pPr>
            <a:r>
              <a:rPr lang="en-US" sz="1000" dirty="0">
                <a:solidFill>
                  <a:srgbClr val="7A6555"/>
                </a:solidFill>
                <a:latin typeface="Calibri" pitchFamily="34" charset="0"/>
                <a:ea typeface="Calibri" pitchFamily="34" charset="-122"/>
                <a:cs typeface="Calibri" pitchFamily="34" charset="-120"/>
              </a:rPr>
              <a:t>Fabricacion y construccion</a:t>
            </a:r>
            <a:endParaRPr lang="en-US" sz="1000" dirty="0"/>
          </a:p>
          <a:p>
            <a:pPr algn="ctr" indent="0" marL="0">
              <a:buNone/>
            </a:pPr>
            <a:r>
              <a:rPr lang="en-US" sz="1000" dirty="0">
                <a:solidFill>
                  <a:srgbClr val="7A6555"/>
                </a:solidFill>
                <a:latin typeface="Calibri" pitchFamily="34" charset="0"/>
                <a:ea typeface="Calibri" pitchFamily="34" charset="-122"/>
                <a:cs typeface="Calibri" pitchFamily="34" charset="-120"/>
              </a:rPr>
              <a:t>#1 segmento de servicios</a:t>
            </a:r>
            <a:endParaRPr lang="en-US" sz="1000" dirty="0"/>
          </a:p>
        </p:txBody>
      </p:sp>
      <p:sp>
        <p:nvSpPr>
          <p:cNvPr id="14" name="Shape 12"/>
          <p:cNvSpPr/>
          <p:nvPr/>
        </p:nvSpPr>
        <p:spPr>
          <a:xfrm>
            <a:off x="548640" y="3154680"/>
            <a:ext cx="3749040" cy="1417320"/>
          </a:xfrm>
          <a:prstGeom prst="rect">
            <a:avLst/>
          </a:prstGeom>
          <a:solidFill>
            <a:srgbClr val="FFFFFF"/>
          </a:solidFill>
          <a:ln w="12700">
            <a:solidFill>
              <a:srgbClr val="D4C5B2"/>
            </a:solidFill>
            <a:prstDash val="solid"/>
          </a:ln>
          <a:effectLst>
            <a:outerShdw sx="100000" sy="100000" kx="0" ky="0" algn="bl" rotWithShape="0" blurRad="50800" dist="25400" dir="8100000">
              <a:srgbClr val="000000">
                <a:alpha val="8000"/>
              </a:srgbClr>
            </a:outerShdw>
          </a:effectLst>
        </p:spPr>
        <p:txBody>
          <a:bodyPr/>
          <a:p/>
        </p:txBody>
      </p:sp>
      <p:sp>
        <p:nvSpPr>
          <p:cNvPr id="15" name="Shape 13"/>
          <p:cNvSpPr/>
          <p:nvPr/>
        </p:nvSpPr>
        <p:spPr>
          <a:xfrm>
            <a:off x="548640" y="3154680"/>
            <a:ext cx="54864" cy="1417320"/>
          </a:xfrm>
          <a:prstGeom prst="rect">
            <a:avLst/>
          </a:prstGeom>
          <a:solidFill>
            <a:srgbClr val="B87333"/>
          </a:solidFill>
          <a:ln/>
        </p:spPr>
        <p:txBody>
          <a:bodyPr/>
          <a:p/>
        </p:txBody>
      </p:sp>
      <p:sp>
        <p:nvSpPr>
          <p:cNvPr id="16" name="Text 14"/>
          <p:cNvSpPr/>
          <p:nvPr/>
        </p:nvSpPr>
        <p:spPr>
          <a:xfrm>
            <a:off x="685800" y="3291840"/>
            <a:ext cx="3474720" cy="680314"/>
          </a:xfrm>
          <a:prstGeom prst="rect">
            <a:avLst/>
          </a:prstGeom>
          <a:noFill/>
          <a:ln/>
        </p:spPr>
        <p:txBody>
          <a:bodyPr wrap="square" lIns="0" tIns="0" rIns="0" bIns="0" rtlCol="0" anchor="ctr"/>
          <a:lstStyle/>
          <a:p>
            <a:pPr algn="ctr" indent="0" marL="0">
              <a:buNone/>
            </a:pPr>
            <a:r>
              <a:rPr lang="en-US" sz="2600" b="1" dirty="0">
                <a:solidFill>
                  <a:srgbClr val="8B5A2B"/>
                </a:solidFill>
                <a:latin typeface="Georgia" pitchFamily="34" charset="0"/>
                <a:ea typeface="Georgia" pitchFamily="34" charset="-122"/>
                <a:cs typeface="Georgia" pitchFamily="34" charset="-120"/>
              </a:rPr>
              <a:t>50 ANOS</a:t>
            </a:r>
            <a:endParaRPr lang="en-US" sz="2600" dirty="0"/>
          </a:p>
        </p:txBody>
      </p:sp>
      <p:sp>
        <p:nvSpPr>
          <p:cNvPr id="17" name="Text 15"/>
          <p:cNvSpPr/>
          <p:nvPr/>
        </p:nvSpPr>
        <p:spPr>
          <a:xfrm>
            <a:off x="685800" y="3934206"/>
            <a:ext cx="3474720" cy="538582"/>
          </a:xfrm>
          <a:prstGeom prst="rect">
            <a:avLst/>
          </a:prstGeom>
          <a:noFill/>
          <a:ln/>
        </p:spPr>
        <p:txBody>
          <a:bodyPr wrap="square" lIns="0" tIns="0" rIns="0" bIns="0" rtlCol="0" anchor="t"/>
          <a:lstStyle/>
          <a:p>
            <a:pPr algn="ctr" indent="0" marL="0">
              <a:buNone/>
            </a:pPr>
            <a:r>
              <a:rPr lang="en-US" sz="1000" dirty="0">
                <a:solidFill>
                  <a:srgbClr val="7A6555"/>
                </a:solidFill>
                <a:latin typeface="Calibri" pitchFamily="34" charset="0"/>
                <a:ea typeface="Calibri" pitchFamily="34" charset="-122"/>
                <a:cs typeface="Calibri" pitchFamily="34" charset="-120"/>
              </a:rPr>
              <a:t>Sin actualizar las</a:t>
            </a:r>
            <a:endParaRPr lang="en-US" sz="1000" dirty="0"/>
          </a:p>
          <a:p>
            <a:pPr algn="ctr" indent="0" marL="0">
              <a:buNone/>
            </a:pPr>
            <a:r>
              <a:rPr lang="en-US" sz="1000" dirty="0">
                <a:solidFill>
                  <a:srgbClr val="7A6555"/>
                </a:solidFill>
                <a:latin typeface="Calibri" pitchFamily="34" charset="0"/>
                <a:ea typeface="Calibri" pitchFamily="34" charset="-122"/>
                <a:cs typeface="Calibri" pitchFamily="34" charset="-120"/>
              </a:rPr>
              <a:t>infraestructura de PDVSA</a:t>
            </a:r>
            <a:endParaRPr lang="en-US" sz="1000" dirty="0"/>
          </a:p>
        </p:txBody>
      </p:sp>
      <p:sp>
        <p:nvSpPr>
          <p:cNvPr id="18" name="Shape 16"/>
          <p:cNvSpPr/>
          <p:nvPr/>
        </p:nvSpPr>
        <p:spPr>
          <a:xfrm>
            <a:off x="4663440" y="3154680"/>
            <a:ext cx="3749040" cy="1417320"/>
          </a:xfrm>
          <a:prstGeom prst="rect">
            <a:avLst/>
          </a:prstGeom>
          <a:solidFill>
            <a:srgbClr val="FFFFFF"/>
          </a:solidFill>
          <a:ln w="12700">
            <a:solidFill>
              <a:srgbClr val="D4C5B2"/>
            </a:solidFill>
            <a:prstDash val="solid"/>
          </a:ln>
          <a:effectLst>
            <a:outerShdw sx="100000" sy="100000" kx="0" ky="0" algn="bl" rotWithShape="0" blurRad="50800" dist="25400" dir="8100000">
              <a:srgbClr val="000000">
                <a:alpha val="8000"/>
              </a:srgbClr>
            </a:outerShdw>
          </a:effectLst>
        </p:spPr>
        <p:txBody>
          <a:bodyPr/>
          <a:p/>
        </p:txBody>
      </p:sp>
      <p:sp>
        <p:nvSpPr>
          <p:cNvPr id="19" name="Shape 17"/>
          <p:cNvSpPr/>
          <p:nvPr/>
        </p:nvSpPr>
        <p:spPr>
          <a:xfrm>
            <a:off x="4663440" y="3154680"/>
            <a:ext cx="54864" cy="1417320"/>
          </a:xfrm>
          <a:prstGeom prst="rect">
            <a:avLst/>
          </a:prstGeom>
          <a:solidFill>
            <a:srgbClr val="B87333"/>
          </a:solidFill>
          <a:ln/>
        </p:spPr>
        <p:txBody>
          <a:bodyPr/>
          <a:p/>
        </p:txBody>
      </p:sp>
      <p:sp>
        <p:nvSpPr>
          <p:cNvPr id="20" name="Text 18"/>
          <p:cNvSpPr/>
          <p:nvPr/>
        </p:nvSpPr>
        <p:spPr>
          <a:xfrm>
            <a:off x="4800600" y="3291840"/>
            <a:ext cx="3474720" cy="680314"/>
          </a:xfrm>
          <a:prstGeom prst="rect">
            <a:avLst/>
          </a:prstGeom>
          <a:noFill/>
          <a:ln/>
        </p:spPr>
        <p:txBody>
          <a:bodyPr wrap="square" lIns="0" tIns="0" rIns="0" bIns="0" rtlCol="0" anchor="ctr"/>
          <a:lstStyle/>
          <a:p>
            <a:pPr algn="ctr" indent="0" marL="0">
              <a:buNone/>
            </a:pPr>
            <a:r>
              <a:rPr lang="en-US" sz="2600" b="1" dirty="0">
                <a:solidFill>
                  <a:srgbClr val="8B5A2B"/>
                </a:solidFill>
                <a:latin typeface="Georgia" pitchFamily="34" charset="0"/>
                <a:ea typeface="Georgia" pitchFamily="34" charset="-122"/>
                <a:cs typeface="Georgia" pitchFamily="34" charset="-120"/>
              </a:rPr>
              <a:t>SOLO 2</a:t>
            </a:r>
            <a:endParaRPr lang="en-US" sz="2600" dirty="0"/>
          </a:p>
        </p:txBody>
      </p:sp>
      <p:sp>
        <p:nvSpPr>
          <p:cNvPr id="21" name="Text 19"/>
          <p:cNvSpPr/>
          <p:nvPr/>
        </p:nvSpPr>
        <p:spPr>
          <a:xfrm>
            <a:off x="4800600" y="3934206"/>
            <a:ext cx="3474720" cy="538582"/>
          </a:xfrm>
          <a:prstGeom prst="rect">
            <a:avLst/>
          </a:prstGeom>
          <a:noFill/>
          <a:ln/>
        </p:spPr>
        <p:txBody>
          <a:bodyPr wrap="square" lIns="0" tIns="0" rIns="0" bIns="0" rtlCol="0" anchor="t"/>
          <a:lstStyle/>
          <a:p>
            <a:pPr algn="ctr" indent="0" marL="0">
              <a:buNone/>
            </a:pPr>
            <a:r>
              <a:rPr lang="en-US" sz="1000" dirty="0">
                <a:solidFill>
                  <a:srgbClr val="7A6555"/>
                </a:solidFill>
                <a:latin typeface="Calibri" pitchFamily="34" charset="0"/>
                <a:ea typeface="Calibri" pitchFamily="34" charset="-122"/>
                <a:cs typeface="Calibri" pitchFamily="34" charset="-120"/>
              </a:rPr>
              <a:t>Proveedores comerciales de</a:t>
            </a:r>
            <a:endParaRPr lang="en-US" sz="1000" dirty="0"/>
          </a:p>
          <a:p>
            <a:pPr algn="ctr" indent="0" marL="0">
              <a:buNone/>
            </a:pPr>
            <a:r>
              <a:rPr lang="en-US" sz="1000" dirty="0">
                <a:solidFill>
                  <a:srgbClr val="7A6555"/>
                </a:solidFill>
                <a:latin typeface="Calibri" pitchFamily="34" charset="0"/>
                <a:ea typeface="Calibri" pitchFamily="34" charset="-122"/>
                <a:cs typeface="Calibri" pitchFamily="34" charset="-120"/>
              </a:rPr>
              <a:t>galvanizado en todo Venezuela</a:t>
            </a:r>
            <a:endParaRPr lang="en-US" sz="1000" dirty="0"/>
          </a:p>
        </p:txBody>
      </p:sp>
      <p:sp>
        <p:nvSpPr>
          <p:cNvPr id="22" name="Text 20"/>
          <p:cNvSpPr/>
          <p:nvPr/>
        </p:nvSpPr>
        <p:spPr>
          <a:xfrm>
            <a:off x="548640" y="4754880"/>
            <a:ext cx="8046720" cy="228600"/>
          </a:xfrm>
          <a:prstGeom prst="rect">
            <a:avLst/>
          </a:prstGeom>
          <a:noFill/>
          <a:ln/>
        </p:spPr>
        <p:txBody>
          <a:bodyPr wrap="square" lIns="0" tIns="0" rIns="0" bIns="0" rtlCol="0" anchor="ctr"/>
          <a:lstStyle/>
          <a:p>
            <a:pPr algn="r" indent="0" marL="0">
              <a:buNone/>
            </a:pPr>
            <a:r>
              <a:rPr lang="en-US" sz="900" i="1" dirty="0">
                <a:solidFill>
                  <a:srgbClr val="8C8C8C"/>
                </a:solidFill>
                <a:latin typeface="Calibri" pitchFamily="34" charset="0"/>
                <a:ea typeface="Calibri" pitchFamily="34" charset="-122"/>
                <a:cs typeface="Calibri" pitchFamily="34" charset="-120"/>
              </a:rPr>
              <a:t>Fuente: Rystad Energy, Oil &amp; Gas Capex Outlook</a:t>
            </a:r>
            <a:endParaRPr lang="en-US" sz="900"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2EDE6"/>
        </a:solidFill>
        <a:effectLst/>
      </p:bgPr>
    </p:bg>
    <p:spTree>
      <p:nvGrpSpPr>
        <p:cNvPr id="1" name=""/>
        <p:cNvGrpSpPr/>
        <p:nvPr/>
      </p:nvGrpSpPr>
      <p:grpSpPr/>
      <p:sp>
        <p:nvSpPr>
          <p:cNvPr id="2" name="Rectangle 1"/>
          <p:cNvSpPr/>
          <p:nvPr/>
        </p:nvSpPr>
        <p:spPr>
          <a:xfrm>
            <a:off x="0" y="0"/>
            <a:ext cx="9144000" cy="45720"/>
          </a:xfrm>
          <a:prstGeom prst="rect">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7315200" cy="502920"/>
          </a:xfrm>
          <a:prstGeom prst="rect">
            <a:avLst/>
          </a:prstGeom>
          <a:noFill/>
        </p:spPr>
        <p:txBody>
          <a:bodyPr wrap="square">
            <a:spAutoFit/>
          </a:bodyPr>
          <a:lstStyle/>
          <a:p>
            <a:pPr algn="l"/>
            <a:r>
              <a:rPr sz="2800" b="1">
                <a:solidFill>
                  <a:srgbClr val="2A1F10"/>
                </a:solidFill>
                <a:latin typeface="Georgia"/>
              </a:rPr>
              <a:t>LA DEMANDA YA ESTA AQUI</a:t>
            </a:r>
          </a:p>
        </p:txBody>
      </p:sp>
      <p:sp>
        <p:nvSpPr>
          <p:cNvPr id="4" name="TextBox 3"/>
          <p:cNvSpPr txBox="1"/>
          <p:nvPr/>
        </p:nvSpPr>
        <p:spPr>
          <a:xfrm>
            <a:off x="548640" y="685800"/>
            <a:ext cx="7315200" cy="320040"/>
          </a:xfrm>
          <a:prstGeom prst="rect">
            <a:avLst/>
          </a:prstGeom>
          <a:noFill/>
        </p:spPr>
        <p:txBody>
          <a:bodyPr wrap="square">
            <a:spAutoFit/>
          </a:bodyPr>
          <a:lstStyle/>
          <a:p>
            <a:pPr algn="l"/>
            <a:r>
              <a:rPr sz="1200" b="0">
                <a:solidFill>
                  <a:srgbClr val="B87333"/>
                </a:solidFill>
                <a:latin typeface="Calibri"/>
              </a:rPr>
              <a:t>Inversiones concretas anunciadas desde enero 2026</a:t>
            </a:r>
          </a:p>
        </p:txBody>
      </p:sp>
      <p:sp>
        <p:nvSpPr>
          <p:cNvPr id="5" name="Rectangle 4"/>
          <p:cNvSpPr/>
          <p:nvPr/>
        </p:nvSpPr>
        <p:spPr>
          <a:xfrm>
            <a:off x="1858139" y="1278125"/>
            <a:ext cx="32760" cy="2971875"/>
          </a:xfrm>
          <a:prstGeom prst="rect">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810511" y="1214117"/>
            <a:ext cx="128016" cy="128016"/>
          </a:xfrm>
          <a:prstGeom prst="ellipse">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172969"/>
            <a:ext cx="1143000" cy="210312"/>
          </a:xfrm>
          <a:prstGeom prst="rect">
            <a:avLst/>
          </a:prstGeom>
          <a:noFill/>
        </p:spPr>
        <p:txBody>
          <a:bodyPr wrap="square">
            <a:spAutoFit/>
          </a:bodyPr>
          <a:lstStyle/>
          <a:p>
            <a:pPr algn="r"/>
            <a:r>
              <a:rPr sz="750" b="0" i="0">
                <a:solidFill>
                  <a:srgbClr val="8B5A2B"/>
                </a:solidFill>
              </a:rPr>
              <a:t>3 ene 2026</a:t>
            </a:r>
          </a:p>
        </p:txBody>
      </p:sp>
      <p:sp>
        <p:nvSpPr>
          <p:cNvPr id="8" name="TextBox 7"/>
          <p:cNvSpPr txBox="1"/>
          <p:nvPr/>
        </p:nvSpPr>
        <p:spPr>
          <a:xfrm>
            <a:off x="2039111" y="1159253"/>
            <a:ext cx="6876289" cy="246888"/>
          </a:xfrm>
          <a:prstGeom prst="rect">
            <a:avLst/>
          </a:prstGeom>
          <a:noFill/>
        </p:spPr>
        <p:txBody>
          <a:bodyPr wrap="square">
            <a:spAutoFit/>
          </a:bodyPr>
          <a:lstStyle/>
          <a:p>
            <a:pPr algn="l"/>
            <a:r>
              <a:rPr sz="950" b="1" i="0">
                <a:solidFill>
                  <a:srgbClr val="B87333"/>
                </a:solidFill>
              </a:rPr>
              <a:t>El sector petrolero reabre a inversion privada</a:t>
            </a:r>
          </a:p>
        </p:txBody>
      </p:sp>
      <p:sp>
        <p:nvSpPr>
          <p:cNvPr id="9" name="Oval 8"/>
          <p:cNvSpPr/>
          <p:nvPr/>
        </p:nvSpPr>
        <p:spPr>
          <a:xfrm>
            <a:off x="1810511" y="1610367"/>
            <a:ext cx="128016" cy="128016"/>
          </a:xfrm>
          <a:prstGeom prst="ellipse">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569219"/>
            <a:ext cx="1143000" cy="210312"/>
          </a:xfrm>
          <a:prstGeom prst="rect">
            <a:avLst/>
          </a:prstGeom>
          <a:noFill/>
        </p:spPr>
        <p:txBody>
          <a:bodyPr wrap="square">
            <a:spAutoFit/>
          </a:bodyPr>
          <a:lstStyle/>
          <a:p>
            <a:pPr algn="r"/>
            <a:r>
              <a:rPr sz="750" b="0" i="0">
                <a:solidFill>
                  <a:srgbClr val="8B5A2B"/>
                </a:solidFill>
              </a:rPr>
              <a:t>6 ene 2026</a:t>
            </a:r>
          </a:p>
        </p:txBody>
      </p:sp>
      <p:sp>
        <p:nvSpPr>
          <p:cNvPr id="11" name="TextBox 10"/>
          <p:cNvSpPr txBox="1"/>
          <p:nvPr/>
        </p:nvSpPr>
        <p:spPr>
          <a:xfrm>
            <a:off x="2039111" y="1491495"/>
            <a:ext cx="6876289" cy="182880"/>
          </a:xfrm>
          <a:prstGeom prst="rect">
            <a:avLst/>
          </a:prstGeom>
          <a:noFill/>
        </p:spPr>
        <p:txBody>
          <a:bodyPr wrap="square">
            <a:spAutoFit/>
          </a:bodyPr>
          <a:lstStyle/>
          <a:p>
            <a:pPr algn="l"/>
            <a:r>
              <a:rPr sz="900" b="1" i="0">
                <a:solidFill>
                  <a:srgbClr val="2A1F10"/>
                </a:solidFill>
              </a:rPr>
              <a:t>Rystad Energy: US$183MM capex petrolero 2026-2040</a:t>
            </a:r>
          </a:p>
        </p:txBody>
      </p:sp>
      <p:sp>
        <p:nvSpPr>
          <p:cNvPr id="12" name="TextBox 11"/>
          <p:cNvSpPr txBox="1"/>
          <p:nvPr/>
        </p:nvSpPr>
        <p:spPr>
          <a:xfrm>
            <a:off x="2039111" y="1683519"/>
            <a:ext cx="6876289" cy="155448"/>
          </a:xfrm>
          <a:prstGeom prst="rect">
            <a:avLst/>
          </a:prstGeom>
          <a:noFill/>
        </p:spPr>
        <p:txBody>
          <a:bodyPr wrap="square">
            <a:spAutoFit/>
          </a:bodyPr>
          <a:lstStyle/>
          <a:p>
            <a:pPr algn="l"/>
            <a:r>
              <a:rPr sz="800" b="0" i="1">
                <a:solidFill>
                  <a:srgbClr val="8B5A2B"/>
                </a:solidFill>
              </a:rPr>
              <a:t>US$41MM en fabricacion y construccion</a:t>
            </a:r>
          </a:p>
        </p:txBody>
      </p:sp>
      <p:sp>
        <p:nvSpPr>
          <p:cNvPr id="13" name="Oval 12"/>
          <p:cNvSpPr/>
          <p:nvPr/>
        </p:nvSpPr>
        <p:spPr>
          <a:xfrm>
            <a:off x="1810511" y="2006617"/>
            <a:ext cx="128016" cy="128016"/>
          </a:xfrm>
          <a:prstGeom prst="ellipse">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1965469"/>
            <a:ext cx="1143000" cy="210312"/>
          </a:xfrm>
          <a:prstGeom prst="rect">
            <a:avLst/>
          </a:prstGeom>
          <a:noFill/>
        </p:spPr>
        <p:txBody>
          <a:bodyPr wrap="square">
            <a:spAutoFit/>
          </a:bodyPr>
          <a:lstStyle/>
          <a:p>
            <a:pPr algn="r"/>
            <a:r>
              <a:rPr sz="750" b="0" i="0">
                <a:solidFill>
                  <a:srgbClr val="8B5A2B"/>
                </a:solidFill>
              </a:rPr>
              <a:t>9-10 ene 2026</a:t>
            </a:r>
          </a:p>
        </p:txBody>
      </p:sp>
      <p:sp>
        <p:nvSpPr>
          <p:cNvPr id="15" name="TextBox 14"/>
          <p:cNvSpPr txBox="1"/>
          <p:nvPr/>
        </p:nvSpPr>
        <p:spPr>
          <a:xfrm>
            <a:off x="2039111" y="1887745"/>
            <a:ext cx="6876289" cy="182880"/>
          </a:xfrm>
          <a:prstGeom prst="rect">
            <a:avLst/>
          </a:prstGeom>
          <a:noFill/>
        </p:spPr>
        <p:txBody>
          <a:bodyPr wrap="square">
            <a:spAutoFit/>
          </a:bodyPr>
          <a:lstStyle/>
          <a:p>
            <a:pPr algn="l"/>
            <a:r>
              <a:rPr sz="900" b="1" i="0">
                <a:solidFill>
                  <a:srgbClr val="2A1F10"/>
                </a:solidFill>
              </a:rPr>
              <a:t>Repsol: triplicar produccion a 135.000 bpd</a:t>
            </a:r>
          </a:p>
        </p:txBody>
      </p:sp>
      <p:sp>
        <p:nvSpPr>
          <p:cNvPr id="16" name="TextBox 15"/>
          <p:cNvSpPr txBox="1"/>
          <p:nvPr/>
        </p:nvSpPr>
        <p:spPr>
          <a:xfrm>
            <a:off x="2039111" y="2079769"/>
            <a:ext cx="6876289" cy="155448"/>
          </a:xfrm>
          <a:prstGeom prst="rect">
            <a:avLst/>
          </a:prstGeom>
          <a:noFill/>
        </p:spPr>
        <p:txBody>
          <a:bodyPr wrap="square">
            <a:spAutoFit/>
          </a:bodyPr>
          <a:lstStyle/>
          <a:p>
            <a:pPr algn="l"/>
            <a:r>
              <a:rPr sz="800" b="0" i="1">
                <a:solidFill>
                  <a:srgbClr val="8B5A2B"/>
                </a:solidFill>
              </a:rPr>
              <a:t>Nuevos bloques en la Faja del Orinoco</a:t>
            </a:r>
          </a:p>
        </p:txBody>
      </p:sp>
      <p:sp>
        <p:nvSpPr>
          <p:cNvPr id="17" name="Oval 16"/>
          <p:cNvSpPr/>
          <p:nvPr/>
        </p:nvSpPr>
        <p:spPr>
          <a:xfrm>
            <a:off x="1810511" y="2402867"/>
            <a:ext cx="128016" cy="128016"/>
          </a:xfrm>
          <a:prstGeom prst="ellipse">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2361719"/>
            <a:ext cx="1143000" cy="210312"/>
          </a:xfrm>
          <a:prstGeom prst="rect">
            <a:avLst/>
          </a:prstGeom>
          <a:noFill/>
        </p:spPr>
        <p:txBody>
          <a:bodyPr wrap="square">
            <a:spAutoFit/>
          </a:bodyPr>
          <a:lstStyle/>
          <a:p>
            <a:pPr algn="r"/>
            <a:r>
              <a:rPr sz="750" b="0" i="0">
                <a:solidFill>
                  <a:srgbClr val="8B5A2B"/>
                </a:solidFill>
              </a:rPr>
              <a:t>30 ene 2026</a:t>
            </a:r>
          </a:p>
        </p:txBody>
      </p:sp>
      <p:sp>
        <p:nvSpPr>
          <p:cNvPr id="19" name="TextBox 18"/>
          <p:cNvSpPr txBox="1"/>
          <p:nvPr/>
        </p:nvSpPr>
        <p:spPr>
          <a:xfrm>
            <a:off x="2039111" y="2283995"/>
            <a:ext cx="6876289" cy="182880"/>
          </a:xfrm>
          <a:prstGeom prst="rect">
            <a:avLst/>
          </a:prstGeom>
          <a:noFill/>
        </p:spPr>
        <p:txBody>
          <a:bodyPr wrap="square">
            <a:spAutoFit/>
          </a:bodyPr>
          <a:lstStyle/>
          <a:p>
            <a:pPr algn="l"/>
            <a:r>
              <a:rPr sz="900" b="1" i="0">
                <a:solidFill>
                  <a:srgbClr val="2A1F10"/>
                </a:solidFill>
              </a:rPr>
              <a:t>Chevron Q4: 240.000 bpd, +50% en 18 meses</a:t>
            </a:r>
          </a:p>
        </p:txBody>
      </p:sp>
      <p:sp>
        <p:nvSpPr>
          <p:cNvPr id="20" name="TextBox 19"/>
          <p:cNvSpPr txBox="1"/>
          <p:nvPr/>
        </p:nvSpPr>
        <p:spPr>
          <a:xfrm>
            <a:off x="2039111" y="2476019"/>
            <a:ext cx="6876289" cy="155448"/>
          </a:xfrm>
          <a:prstGeom prst="rect">
            <a:avLst/>
          </a:prstGeom>
          <a:noFill/>
        </p:spPr>
        <p:txBody>
          <a:bodyPr wrap="square">
            <a:spAutoFit/>
          </a:bodyPr>
          <a:lstStyle/>
          <a:p>
            <a:pPr algn="l"/>
            <a:r>
              <a:rPr sz="800" b="0" i="1">
                <a:solidFill>
                  <a:srgbClr val="8B5A2B"/>
                </a:solidFill>
              </a:rPr>
              <a:t>Expansion de instalaciones existentes</a:t>
            </a:r>
          </a:p>
        </p:txBody>
      </p:sp>
      <p:sp>
        <p:nvSpPr>
          <p:cNvPr id="21" name="Oval 20"/>
          <p:cNvSpPr/>
          <p:nvPr/>
        </p:nvSpPr>
        <p:spPr>
          <a:xfrm>
            <a:off x="1810511" y="2799117"/>
            <a:ext cx="128016" cy="128016"/>
          </a:xfrm>
          <a:prstGeom prst="ellipse">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2757969"/>
            <a:ext cx="1143000" cy="210312"/>
          </a:xfrm>
          <a:prstGeom prst="rect">
            <a:avLst/>
          </a:prstGeom>
          <a:noFill/>
        </p:spPr>
        <p:txBody>
          <a:bodyPr wrap="square">
            <a:spAutoFit/>
          </a:bodyPr>
          <a:lstStyle/>
          <a:p>
            <a:pPr algn="r"/>
            <a:r>
              <a:rPr sz="750" b="0" i="0">
                <a:solidFill>
                  <a:srgbClr val="8B5A2B"/>
                </a:solidFill>
              </a:rPr>
              <a:t>4 feb 2025</a:t>
            </a:r>
          </a:p>
        </p:txBody>
      </p:sp>
      <p:sp>
        <p:nvSpPr>
          <p:cNvPr id="23" name="TextBox 22"/>
          <p:cNvSpPr txBox="1"/>
          <p:nvPr/>
        </p:nvSpPr>
        <p:spPr>
          <a:xfrm>
            <a:off x="2039111" y="2680245"/>
            <a:ext cx="6876289" cy="182880"/>
          </a:xfrm>
          <a:prstGeom prst="rect">
            <a:avLst/>
          </a:prstGeom>
          <a:noFill/>
        </p:spPr>
        <p:txBody>
          <a:bodyPr wrap="square">
            <a:spAutoFit/>
          </a:bodyPr>
          <a:lstStyle/>
          <a:p>
            <a:pPr algn="l"/>
            <a:r>
              <a:rPr sz="900" b="1" i="0">
                <a:solidFill>
                  <a:srgbClr val="2A1F10"/>
                </a:solidFill>
              </a:rPr>
              <a:t>Movistar/Telefonica: inversion de $500M</a:t>
            </a:r>
          </a:p>
        </p:txBody>
      </p:sp>
      <p:sp>
        <p:nvSpPr>
          <p:cNvPr id="24" name="TextBox 23"/>
          <p:cNvSpPr txBox="1"/>
          <p:nvPr/>
        </p:nvSpPr>
        <p:spPr>
          <a:xfrm>
            <a:off x="2039111" y="2872269"/>
            <a:ext cx="6876289" cy="155448"/>
          </a:xfrm>
          <a:prstGeom prst="rect">
            <a:avLst/>
          </a:prstGeom>
          <a:noFill/>
        </p:spPr>
        <p:txBody>
          <a:bodyPr wrap="square">
            <a:spAutoFit/>
          </a:bodyPr>
          <a:lstStyle/>
          <a:p>
            <a:pPr algn="l"/>
            <a:r>
              <a:rPr sz="800" b="0" i="1">
                <a:solidFill>
                  <a:srgbClr val="8B5A2B"/>
                </a:solidFill>
              </a:rPr>
              <a:t>805 nodos 5G + 500 estaciones = torres galvanizadas</a:t>
            </a:r>
          </a:p>
        </p:txBody>
      </p:sp>
      <p:sp>
        <p:nvSpPr>
          <p:cNvPr id="25" name="Oval 24"/>
          <p:cNvSpPr/>
          <p:nvPr/>
        </p:nvSpPr>
        <p:spPr>
          <a:xfrm>
            <a:off x="1810511" y="3195367"/>
            <a:ext cx="128016" cy="128016"/>
          </a:xfrm>
          <a:prstGeom prst="ellipse">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3154219"/>
            <a:ext cx="1143000" cy="210312"/>
          </a:xfrm>
          <a:prstGeom prst="rect">
            <a:avLst/>
          </a:prstGeom>
          <a:noFill/>
        </p:spPr>
        <p:txBody>
          <a:bodyPr wrap="square">
            <a:spAutoFit/>
          </a:bodyPr>
          <a:lstStyle/>
          <a:p>
            <a:pPr algn="r"/>
            <a:r>
              <a:rPr sz="750" b="0" i="0">
                <a:solidFill>
                  <a:srgbClr val="8B5A2B"/>
                </a:solidFill>
              </a:rPr>
              <a:t>11 mar 2026</a:t>
            </a:r>
          </a:p>
        </p:txBody>
      </p:sp>
      <p:sp>
        <p:nvSpPr>
          <p:cNvPr id="27" name="TextBox 26"/>
          <p:cNvSpPr txBox="1"/>
          <p:nvPr/>
        </p:nvSpPr>
        <p:spPr>
          <a:xfrm>
            <a:off x="2039111" y="3076495"/>
            <a:ext cx="6876289" cy="182880"/>
          </a:xfrm>
          <a:prstGeom prst="rect">
            <a:avLst/>
          </a:prstGeom>
          <a:noFill/>
        </p:spPr>
        <p:txBody>
          <a:bodyPr wrap="square">
            <a:spAutoFit/>
          </a:bodyPr>
          <a:lstStyle/>
          <a:p>
            <a:pPr algn="l"/>
            <a:r>
              <a:rPr sz="900" b="1" i="0">
                <a:solidFill>
                  <a:srgbClr val="2A1F10"/>
                </a:solidFill>
              </a:rPr>
              <a:t>Reuters: Chevron y Shell cierran primeros contratos</a:t>
            </a:r>
          </a:p>
        </p:txBody>
      </p:sp>
      <p:sp>
        <p:nvSpPr>
          <p:cNvPr id="28" name="TextBox 27"/>
          <p:cNvSpPr txBox="1"/>
          <p:nvPr/>
        </p:nvSpPr>
        <p:spPr>
          <a:xfrm>
            <a:off x="2039111" y="3268519"/>
            <a:ext cx="6876289" cy="155448"/>
          </a:xfrm>
          <a:prstGeom prst="rect">
            <a:avLst/>
          </a:prstGeom>
          <a:noFill/>
        </p:spPr>
        <p:txBody>
          <a:bodyPr wrap="square">
            <a:spAutoFit/>
          </a:bodyPr>
          <a:lstStyle/>
          <a:p>
            <a:pPr algn="l"/>
            <a:r>
              <a:rPr sz="800" b="0" i="1">
                <a:solidFill>
                  <a:srgbClr val="8B5A2B"/>
                </a:solidFill>
              </a:rPr>
              <a:t>Contratos de produccion = demanda inmediata de acero</a:t>
            </a:r>
          </a:p>
        </p:txBody>
      </p:sp>
      <p:sp>
        <p:nvSpPr>
          <p:cNvPr id="29" name="Oval 28"/>
          <p:cNvSpPr/>
          <p:nvPr/>
        </p:nvSpPr>
        <p:spPr>
          <a:xfrm>
            <a:off x="1810511" y="3591617"/>
            <a:ext cx="128016" cy="128016"/>
          </a:xfrm>
          <a:prstGeom prst="ellipse">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8640" y="3550469"/>
            <a:ext cx="1143000" cy="210312"/>
          </a:xfrm>
          <a:prstGeom prst="rect">
            <a:avLst/>
          </a:prstGeom>
          <a:noFill/>
        </p:spPr>
        <p:txBody>
          <a:bodyPr wrap="square">
            <a:spAutoFit/>
          </a:bodyPr>
          <a:lstStyle/>
          <a:p>
            <a:pPr algn="r"/>
            <a:r>
              <a:rPr sz="750" b="0" i="0">
                <a:solidFill>
                  <a:srgbClr val="8B5A2B"/>
                </a:solidFill>
              </a:rPr>
              <a:t>sep 2025</a:t>
            </a:r>
          </a:p>
        </p:txBody>
      </p:sp>
      <p:sp>
        <p:nvSpPr>
          <p:cNvPr id="31" name="TextBox 30"/>
          <p:cNvSpPr txBox="1"/>
          <p:nvPr/>
        </p:nvSpPr>
        <p:spPr>
          <a:xfrm>
            <a:off x="2039111" y="3472745"/>
            <a:ext cx="6876289" cy="182880"/>
          </a:xfrm>
          <a:prstGeom prst="rect">
            <a:avLst/>
          </a:prstGeom>
          <a:noFill/>
        </p:spPr>
        <p:txBody>
          <a:bodyPr wrap="square">
            <a:spAutoFit/>
          </a:bodyPr>
          <a:lstStyle/>
          <a:p>
            <a:pPr algn="l"/>
            <a:r>
              <a:rPr sz="900" b="1" i="0">
                <a:solidFill>
                  <a:srgbClr val="2A1F10"/>
                </a:solidFill>
              </a:rPr>
              <a:t>CONATEL: Plan Nacional de Telecom 2025-2031</a:t>
            </a:r>
          </a:p>
        </p:txBody>
      </p:sp>
      <p:sp>
        <p:nvSpPr>
          <p:cNvPr id="32" name="TextBox 31"/>
          <p:cNvSpPr txBox="1"/>
          <p:nvPr/>
        </p:nvSpPr>
        <p:spPr>
          <a:xfrm>
            <a:off x="2039111" y="3664769"/>
            <a:ext cx="6876289" cy="155448"/>
          </a:xfrm>
          <a:prstGeom prst="rect">
            <a:avLst/>
          </a:prstGeom>
          <a:noFill/>
        </p:spPr>
        <p:txBody>
          <a:bodyPr wrap="square">
            <a:spAutoFit/>
          </a:bodyPr>
          <a:lstStyle/>
          <a:p>
            <a:pPr algn="l"/>
            <a:r>
              <a:rPr sz="800" b="0" i="1">
                <a:solidFill>
                  <a:srgbClr val="8B5A2B"/>
                </a:solidFill>
              </a:rPr>
              <a:t>1.500 4G + 500 5G + 36.000 km de fibra optica</a:t>
            </a:r>
          </a:p>
        </p:txBody>
      </p:sp>
      <p:sp>
        <p:nvSpPr>
          <p:cNvPr id="33" name="Oval 32"/>
          <p:cNvSpPr/>
          <p:nvPr/>
        </p:nvSpPr>
        <p:spPr>
          <a:xfrm>
            <a:off x="1810511" y="3987867"/>
            <a:ext cx="128016" cy="128016"/>
          </a:xfrm>
          <a:prstGeom prst="ellipse">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8640" y="3946719"/>
            <a:ext cx="1143000" cy="210312"/>
          </a:xfrm>
          <a:prstGeom prst="rect">
            <a:avLst/>
          </a:prstGeom>
          <a:noFill/>
        </p:spPr>
        <p:txBody>
          <a:bodyPr wrap="square">
            <a:spAutoFit/>
          </a:bodyPr>
          <a:lstStyle/>
          <a:p>
            <a:pPr algn="r"/>
            <a:r>
              <a:rPr sz="750" b="0" i="0">
                <a:solidFill>
                  <a:srgbClr val="8B5A2B"/>
                </a:solidFill>
              </a:rPr>
              <a:t>mar 2026</a:t>
            </a:r>
          </a:p>
        </p:txBody>
      </p:sp>
      <p:sp>
        <p:nvSpPr>
          <p:cNvPr id="35" name="TextBox 34"/>
          <p:cNvSpPr txBox="1"/>
          <p:nvPr/>
        </p:nvSpPr>
        <p:spPr>
          <a:xfrm>
            <a:off x="2039111" y="3868995"/>
            <a:ext cx="6876289" cy="182880"/>
          </a:xfrm>
          <a:prstGeom prst="rect">
            <a:avLst/>
          </a:prstGeom>
          <a:noFill/>
        </p:spPr>
        <p:txBody>
          <a:bodyPr wrap="square">
            <a:spAutoFit/>
          </a:bodyPr>
          <a:lstStyle/>
          <a:p>
            <a:pPr algn="l"/>
            <a:r>
              <a:rPr sz="900" b="1" i="0">
                <a:solidFill>
                  <a:srgbClr val="2A1F10"/>
                </a:solidFill>
              </a:rPr>
              <a:t>Venezuela alcanza 1,1MM bpd de produccion</a:t>
            </a:r>
          </a:p>
        </p:txBody>
      </p:sp>
      <p:sp>
        <p:nvSpPr>
          <p:cNvPr id="36" name="TextBox 35"/>
          <p:cNvSpPr txBox="1"/>
          <p:nvPr/>
        </p:nvSpPr>
        <p:spPr>
          <a:xfrm>
            <a:off x="2039111" y="4061019"/>
            <a:ext cx="6876289" cy="155448"/>
          </a:xfrm>
          <a:prstGeom prst="rect">
            <a:avLst/>
          </a:prstGeom>
          <a:noFill/>
        </p:spPr>
        <p:txBody>
          <a:bodyPr wrap="square">
            <a:spAutoFit/>
          </a:bodyPr>
          <a:lstStyle/>
          <a:p>
            <a:pPr algn="l"/>
            <a:r>
              <a:rPr sz="800" b="0" i="1">
                <a:solidFill>
                  <a:srgbClr val="8B5A2B"/>
                </a:solidFill>
              </a:rPr>
              <a:t>Recuperacion petrolera en marcha</a:t>
            </a:r>
          </a:p>
        </p:txBody>
      </p:sp>
      <p:sp>
        <p:nvSpPr>
          <p:cNvPr id="37" name="TextBox 36"/>
          <p:cNvSpPr txBox="1"/>
          <p:nvPr/>
        </p:nvSpPr>
        <p:spPr>
          <a:xfrm>
            <a:off x="548640" y="4297680"/>
            <a:ext cx="8046720" cy="365760"/>
          </a:xfrm>
          <a:prstGeom prst="rect">
            <a:avLst/>
          </a:prstGeom>
          <a:noFill/>
        </p:spPr>
        <p:txBody>
          <a:bodyPr wrap="square">
            <a:spAutoFit/>
          </a:bodyPr>
          <a:lstStyle/>
          <a:p>
            <a:pPr algn="l"/>
            <a:r>
              <a:rPr sz="800" b="0" i="1">
                <a:solidFill>
                  <a:srgbClr val="9E978E"/>
                </a:solidFill>
              </a:rPr>
              <a:t>Estas no son proyecciones — son contratos firmados y anuncios publicos con fechas verificadas.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6F1"/>
        </a:solidFill>
        <a:effectLst/>
      </p:bgPr>
    </p:bg>
    <p:spTree>
      <p:nvGrpSpPr>
        <p:cNvPr id="1" name=""/>
        <p:cNvGrpSpPr/>
        <p:nvPr/>
      </p:nvGrpSpPr>
      <p:grpSpPr/>
      <p:sp>
        <p:nvSpPr>
          <p:cNvPr id="2" name="Rectangle 1"/>
          <p:cNvSpPr/>
          <p:nvPr/>
        </p:nvSpPr>
        <p:spPr>
          <a:xfrm>
            <a:off x="0" y="0"/>
            <a:ext cx="9144000" cy="45720"/>
          </a:xfrm>
          <a:prstGeom prst="rect">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7315200" cy="457200"/>
          </a:xfrm>
          <a:prstGeom prst="rect">
            <a:avLst/>
          </a:prstGeom>
          <a:noFill/>
        </p:spPr>
        <p:txBody>
          <a:bodyPr wrap="square">
            <a:spAutoFit/>
          </a:bodyPr>
          <a:lstStyle/>
          <a:p>
            <a:pPr algn="l"/>
            <a:r>
              <a:rPr sz="2400" b="1">
                <a:solidFill>
                  <a:srgbClr val="2C2C2C"/>
                </a:solidFill>
                <a:latin typeface="Georgia"/>
              </a:rPr>
              <a:t>QUE GALVANIZA REALMENTE EL SECTOR PETROLERO</a:t>
            </a:r>
          </a:p>
        </p:txBody>
      </p:sp>
      <p:sp>
        <p:nvSpPr>
          <p:cNvPr id="4" name="TextBox 3"/>
          <p:cNvSpPr txBox="1"/>
          <p:nvPr/>
        </p:nvSpPr>
        <p:spPr>
          <a:xfrm>
            <a:off x="548640" y="914400"/>
            <a:ext cx="7315200" cy="274320"/>
          </a:xfrm>
          <a:prstGeom prst="rect">
            <a:avLst/>
          </a:prstGeom>
          <a:noFill/>
        </p:spPr>
        <p:txBody>
          <a:bodyPr wrap="square">
            <a:spAutoFit/>
          </a:bodyPr>
          <a:lstStyle/>
          <a:p>
            <a:pPr algn="l"/>
            <a:r>
              <a:rPr sz="1200" b="0">
                <a:solidFill>
                  <a:srgbClr val="7A6555"/>
                </a:solidFill>
                <a:latin typeface="Calibri"/>
              </a:rPr>
              <a:t>No las tuberias — todo lo que las rodea</a:t>
            </a:r>
          </a:p>
        </p:txBody>
      </p:sp>
      <p:sp>
        <p:nvSpPr>
          <p:cNvPr id="5" name="Oval 4"/>
          <p:cNvSpPr/>
          <p:nvPr/>
        </p:nvSpPr>
        <p:spPr>
          <a:xfrm>
            <a:off x="548640" y="1399032"/>
            <a:ext cx="109728" cy="109728"/>
          </a:xfrm>
          <a:prstGeom prst="ellipse">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1828800" cy="438912"/>
          </a:xfrm>
          <a:prstGeom prst="rect">
            <a:avLst/>
          </a:prstGeom>
          <a:noFill/>
        </p:spPr>
        <p:txBody>
          <a:bodyPr wrap="square">
            <a:spAutoFit/>
          </a:bodyPr>
          <a:lstStyle/>
          <a:p>
            <a:pPr algn="l"/>
            <a:r>
              <a:rPr sz="1100" b="1">
                <a:solidFill>
                  <a:srgbClr val="2C2C2C"/>
                </a:solidFill>
                <a:latin typeface="Calibri"/>
              </a:rPr>
              <a:t>Soportes de tuberia</a:t>
            </a:r>
          </a:p>
        </p:txBody>
      </p:sp>
      <p:sp>
        <p:nvSpPr>
          <p:cNvPr id="7" name="TextBox 6"/>
          <p:cNvSpPr txBox="1"/>
          <p:nvPr/>
        </p:nvSpPr>
        <p:spPr>
          <a:xfrm>
            <a:off x="2651760" y="1325880"/>
            <a:ext cx="1371600" cy="438912"/>
          </a:xfrm>
          <a:prstGeom prst="rect">
            <a:avLst/>
          </a:prstGeom>
          <a:noFill/>
        </p:spPr>
        <p:txBody>
          <a:bodyPr wrap="square">
            <a:spAutoFit/>
          </a:bodyPr>
          <a:lstStyle/>
          <a:p>
            <a:pPr algn="l"/>
            <a:r>
              <a:rPr sz="900" b="0">
                <a:solidFill>
                  <a:srgbClr val="7A6555"/>
                </a:solidFill>
                <a:latin typeface="Calibri"/>
              </a:rPr>
              <a:t>Piezas de 3m-12m</a:t>
            </a:r>
          </a:p>
        </p:txBody>
      </p:sp>
      <p:sp>
        <p:nvSpPr>
          <p:cNvPr id="8" name="TextBox 7"/>
          <p:cNvSpPr txBox="1"/>
          <p:nvPr/>
        </p:nvSpPr>
        <p:spPr>
          <a:xfrm>
            <a:off x="3931920" y="1325880"/>
            <a:ext cx="1371600" cy="438912"/>
          </a:xfrm>
          <a:prstGeom prst="rect">
            <a:avLst/>
          </a:prstGeom>
          <a:noFill/>
        </p:spPr>
        <p:txBody>
          <a:bodyPr wrap="square">
            <a:spAutoFit/>
          </a:bodyPr>
          <a:lstStyle/>
          <a:p>
            <a:pPr algn="l"/>
            <a:r>
              <a:rPr sz="900" b="1">
                <a:solidFill>
                  <a:srgbClr val="B87333"/>
                </a:solidFill>
                <a:latin typeface="Calibri"/>
              </a:rPr>
              <a:t>→ Cuba 7m / 9m</a:t>
            </a:r>
          </a:p>
        </p:txBody>
      </p:sp>
      <p:sp>
        <p:nvSpPr>
          <p:cNvPr id="9" name="Oval 8"/>
          <p:cNvSpPr/>
          <p:nvPr/>
        </p:nvSpPr>
        <p:spPr>
          <a:xfrm>
            <a:off x="548640" y="1837944"/>
            <a:ext cx="109728" cy="109728"/>
          </a:xfrm>
          <a:prstGeom prst="ellipse">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764792"/>
            <a:ext cx="1828800" cy="438912"/>
          </a:xfrm>
          <a:prstGeom prst="rect">
            <a:avLst/>
          </a:prstGeom>
          <a:noFill/>
        </p:spPr>
        <p:txBody>
          <a:bodyPr wrap="square">
            <a:spAutoFit/>
          </a:bodyPr>
          <a:lstStyle/>
          <a:p>
            <a:pPr algn="l"/>
            <a:r>
              <a:rPr sz="1100" b="1">
                <a:solidFill>
                  <a:srgbClr val="2C2C2C"/>
                </a:solidFill>
                <a:latin typeface="Calibri"/>
              </a:rPr>
              <a:t>Bandejas portacables</a:t>
            </a:r>
          </a:p>
        </p:txBody>
      </p:sp>
      <p:sp>
        <p:nvSpPr>
          <p:cNvPr id="11" name="TextBox 10"/>
          <p:cNvSpPr txBox="1"/>
          <p:nvPr/>
        </p:nvSpPr>
        <p:spPr>
          <a:xfrm>
            <a:off x="2651760" y="1764792"/>
            <a:ext cx="1371600" cy="438912"/>
          </a:xfrm>
          <a:prstGeom prst="rect">
            <a:avLst/>
          </a:prstGeom>
          <a:noFill/>
        </p:spPr>
        <p:txBody>
          <a:bodyPr wrap="square">
            <a:spAutoFit/>
          </a:bodyPr>
          <a:lstStyle/>
          <a:p>
            <a:pPr algn="l"/>
            <a:r>
              <a:rPr sz="900" b="0">
                <a:solidFill>
                  <a:srgbClr val="7A6555"/>
                </a:solidFill>
                <a:latin typeface="Calibri"/>
              </a:rPr>
              <a:t>Secciones de 2.4m-6m</a:t>
            </a:r>
          </a:p>
        </p:txBody>
      </p:sp>
      <p:sp>
        <p:nvSpPr>
          <p:cNvPr id="12" name="TextBox 11"/>
          <p:cNvSpPr txBox="1"/>
          <p:nvPr/>
        </p:nvSpPr>
        <p:spPr>
          <a:xfrm>
            <a:off x="3931920" y="1764792"/>
            <a:ext cx="1371600" cy="438912"/>
          </a:xfrm>
          <a:prstGeom prst="rect">
            <a:avLst/>
          </a:prstGeom>
          <a:noFill/>
        </p:spPr>
        <p:txBody>
          <a:bodyPr wrap="square">
            <a:spAutoFit/>
          </a:bodyPr>
          <a:lstStyle/>
          <a:p>
            <a:pPr algn="l"/>
            <a:r>
              <a:rPr sz="900" b="1">
                <a:solidFill>
                  <a:srgbClr val="B87333"/>
                </a:solidFill>
                <a:latin typeface="Calibri"/>
              </a:rPr>
              <a:t>→ Cuba 3.5m / 7m</a:t>
            </a:r>
          </a:p>
        </p:txBody>
      </p:sp>
      <p:sp>
        <p:nvSpPr>
          <p:cNvPr id="13" name="Oval 12"/>
          <p:cNvSpPr/>
          <p:nvPr/>
        </p:nvSpPr>
        <p:spPr>
          <a:xfrm>
            <a:off x="548640" y="2276856"/>
            <a:ext cx="109728" cy="109728"/>
          </a:xfrm>
          <a:prstGeom prst="ellipse">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3704"/>
            <a:ext cx="1828800" cy="438912"/>
          </a:xfrm>
          <a:prstGeom prst="rect">
            <a:avLst/>
          </a:prstGeom>
          <a:noFill/>
        </p:spPr>
        <p:txBody>
          <a:bodyPr wrap="square">
            <a:spAutoFit/>
          </a:bodyPr>
          <a:lstStyle/>
          <a:p>
            <a:pPr algn="l"/>
            <a:r>
              <a:rPr sz="1100" b="1">
                <a:solidFill>
                  <a:srgbClr val="2C2C2C"/>
                </a:solidFill>
                <a:latin typeface="Calibri"/>
              </a:rPr>
              <a:t>Plataformas y pasarelas</a:t>
            </a:r>
          </a:p>
        </p:txBody>
      </p:sp>
      <p:sp>
        <p:nvSpPr>
          <p:cNvPr id="15" name="TextBox 14"/>
          <p:cNvSpPr txBox="1"/>
          <p:nvPr/>
        </p:nvSpPr>
        <p:spPr>
          <a:xfrm>
            <a:off x="2651760" y="2203704"/>
            <a:ext cx="1371600" cy="438912"/>
          </a:xfrm>
          <a:prstGeom prst="rect">
            <a:avLst/>
          </a:prstGeom>
          <a:noFill/>
        </p:spPr>
        <p:txBody>
          <a:bodyPr wrap="square">
            <a:spAutoFit/>
          </a:bodyPr>
          <a:lstStyle/>
          <a:p>
            <a:pPr algn="l"/>
            <a:r>
              <a:rPr sz="900" b="0">
                <a:solidFill>
                  <a:srgbClr val="7A6555"/>
                </a:solidFill>
                <a:latin typeface="Calibri"/>
              </a:rPr>
              <a:t>Paneles hasta 6m</a:t>
            </a:r>
          </a:p>
        </p:txBody>
      </p:sp>
      <p:sp>
        <p:nvSpPr>
          <p:cNvPr id="16" name="TextBox 15"/>
          <p:cNvSpPr txBox="1"/>
          <p:nvPr/>
        </p:nvSpPr>
        <p:spPr>
          <a:xfrm>
            <a:off x="3931920" y="2203704"/>
            <a:ext cx="1371600" cy="438912"/>
          </a:xfrm>
          <a:prstGeom prst="rect">
            <a:avLst/>
          </a:prstGeom>
          <a:noFill/>
        </p:spPr>
        <p:txBody>
          <a:bodyPr wrap="square">
            <a:spAutoFit/>
          </a:bodyPr>
          <a:lstStyle/>
          <a:p>
            <a:pPr algn="l"/>
            <a:r>
              <a:rPr sz="900" b="1">
                <a:solidFill>
                  <a:srgbClr val="B87333"/>
                </a:solidFill>
                <a:latin typeface="Calibri"/>
              </a:rPr>
              <a:t>→ Cuba 7m</a:t>
            </a:r>
          </a:p>
        </p:txBody>
      </p:sp>
      <p:sp>
        <p:nvSpPr>
          <p:cNvPr id="17" name="Oval 16"/>
          <p:cNvSpPr/>
          <p:nvPr/>
        </p:nvSpPr>
        <p:spPr>
          <a:xfrm>
            <a:off x="548640" y="2715768"/>
            <a:ext cx="109728" cy="109728"/>
          </a:xfrm>
          <a:prstGeom prst="ellipse">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2642616"/>
            <a:ext cx="1828800" cy="438912"/>
          </a:xfrm>
          <a:prstGeom prst="rect">
            <a:avLst/>
          </a:prstGeom>
          <a:noFill/>
        </p:spPr>
        <p:txBody>
          <a:bodyPr wrap="square">
            <a:spAutoFit/>
          </a:bodyPr>
          <a:lstStyle/>
          <a:p>
            <a:pPr algn="l"/>
            <a:r>
              <a:rPr sz="1100" b="1">
                <a:solidFill>
                  <a:srgbClr val="2C2C2C"/>
                </a:solidFill>
                <a:latin typeface="Calibri"/>
              </a:rPr>
              <a:t>Barandas y escaleras</a:t>
            </a:r>
          </a:p>
        </p:txBody>
      </p:sp>
      <p:sp>
        <p:nvSpPr>
          <p:cNvPr id="19" name="TextBox 18"/>
          <p:cNvSpPr txBox="1"/>
          <p:nvPr/>
        </p:nvSpPr>
        <p:spPr>
          <a:xfrm>
            <a:off x="2651760" y="2642616"/>
            <a:ext cx="1371600" cy="438912"/>
          </a:xfrm>
          <a:prstGeom prst="rect">
            <a:avLst/>
          </a:prstGeom>
          <a:noFill/>
        </p:spPr>
        <p:txBody>
          <a:bodyPr wrap="square">
            <a:spAutoFit/>
          </a:bodyPr>
          <a:lstStyle/>
          <a:p>
            <a:pPr algn="l"/>
            <a:r>
              <a:rPr sz="900" b="0">
                <a:solidFill>
                  <a:srgbClr val="7A6555"/>
                </a:solidFill>
                <a:latin typeface="Calibri"/>
              </a:rPr>
              <a:t>Tramos de 3m-6m</a:t>
            </a:r>
          </a:p>
        </p:txBody>
      </p:sp>
      <p:sp>
        <p:nvSpPr>
          <p:cNvPr id="20" name="TextBox 19"/>
          <p:cNvSpPr txBox="1"/>
          <p:nvPr/>
        </p:nvSpPr>
        <p:spPr>
          <a:xfrm>
            <a:off x="3931920" y="2642616"/>
            <a:ext cx="1371600" cy="438912"/>
          </a:xfrm>
          <a:prstGeom prst="rect">
            <a:avLst/>
          </a:prstGeom>
          <a:noFill/>
        </p:spPr>
        <p:txBody>
          <a:bodyPr wrap="square">
            <a:spAutoFit/>
          </a:bodyPr>
          <a:lstStyle/>
          <a:p>
            <a:pPr algn="l"/>
            <a:r>
              <a:rPr sz="900" b="1">
                <a:solidFill>
                  <a:srgbClr val="B87333"/>
                </a:solidFill>
                <a:latin typeface="Calibri"/>
              </a:rPr>
              <a:t>→ Cuba 7m</a:t>
            </a:r>
          </a:p>
        </p:txBody>
      </p:sp>
      <p:sp>
        <p:nvSpPr>
          <p:cNvPr id="21" name="Oval 20"/>
          <p:cNvSpPr/>
          <p:nvPr/>
        </p:nvSpPr>
        <p:spPr>
          <a:xfrm>
            <a:off x="548640" y="3154680"/>
            <a:ext cx="109728" cy="109728"/>
          </a:xfrm>
          <a:prstGeom prst="ellipse">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3081528"/>
            <a:ext cx="1828800" cy="438912"/>
          </a:xfrm>
          <a:prstGeom prst="rect">
            <a:avLst/>
          </a:prstGeom>
          <a:noFill/>
        </p:spPr>
        <p:txBody>
          <a:bodyPr wrap="square">
            <a:spAutoFit/>
          </a:bodyPr>
          <a:lstStyle/>
          <a:p>
            <a:pPr algn="l"/>
            <a:r>
              <a:rPr sz="1100" b="1">
                <a:solidFill>
                  <a:srgbClr val="2C2C2C"/>
                </a:solidFill>
                <a:latin typeface="Calibri"/>
              </a:rPr>
              <a:t>Rejillas de piso</a:t>
            </a:r>
          </a:p>
        </p:txBody>
      </p:sp>
      <p:sp>
        <p:nvSpPr>
          <p:cNvPr id="23" name="TextBox 22"/>
          <p:cNvSpPr txBox="1"/>
          <p:nvPr/>
        </p:nvSpPr>
        <p:spPr>
          <a:xfrm>
            <a:off x="2651760" y="3081528"/>
            <a:ext cx="1371600" cy="438912"/>
          </a:xfrm>
          <a:prstGeom prst="rect">
            <a:avLst/>
          </a:prstGeom>
          <a:noFill/>
        </p:spPr>
        <p:txBody>
          <a:bodyPr wrap="square">
            <a:spAutoFit/>
          </a:bodyPr>
          <a:lstStyle/>
          <a:p>
            <a:pPr algn="l"/>
            <a:r>
              <a:rPr sz="900" b="0">
                <a:solidFill>
                  <a:srgbClr val="7A6555"/>
                </a:solidFill>
                <a:latin typeface="Calibri"/>
              </a:rPr>
              <a:t>Paneles estandar</a:t>
            </a:r>
          </a:p>
        </p:txBody>
      </p:sp>
      <p:sp>
        <p:nvSpPr>
          <p:cNvPr id="24" name="TextBox 23"/>
          <p:cNvSpPr txBox="1"/>
          <p:nvPr/>
        </p:nvSpPr>
        <p:spPr>
          <a:xfrm>
            <a:off x="3931920" y="3081528"/>
            <a:ext cx="1371600" cy="438912"/>
          </a:xfrm>
          <a:prstGeom prst="rect">
            <a:avLst/>
          </a:prstGeom>
          <a:noFill/>
        </p:spPr>
        <p:txBody>
          <a:bodyPr wrap="square">
            <a:spAutoFit/>
          </a:bodyPr>
          <a:lstStyle/>
          <a:p>
            <a:pPr algn="l"/>
            <a:r>
              <a:rPr sz="900" b="1">
                <a:solidFill>
                  <a:srgbClr val="B87333"/>
                </a:solidFill>
                <a:latin typeface="Calibri"/>
              </a:rPr>
              <a:t>→ Cuba 7m</a:t>
            </a:r>
          </a:p>
        </p:txBody>
      </p:sp>
      <p:sp>
        <p:nvSpPr>
          <p:cNvPr id="25" name="Oval 24"/>
          <p:cNvSpPr/>
          <p:nvPr/>
        </p:nvSpPr>
        <p:spPr>
          <a:xfrm>
            <a:off x="548640" y="3593592"/>
            <a:ext cx="109728" cy="109728"/>
          </a:xfrm>
          <a:prstGeom prst="ellipse">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3520440"/>
            <a:ext cx="1828800" cy="438912"/>
          </a:xfrm>
          <a:prstGeom prst="rect">
            <a:avLst/>
          </a:prstGeom>
          <a:noFill/>
        </p:spPr>
        <p:txBody>
          <a:bodyPr wrap="square">
            <a:spAutoFit/>
          </a:bodyPr>
          <a:lstStyle/>
          <a:p>
            <a:pPr algn="l"/>
            <a:r>
              <a:rPr sz="1100" b="1">
                <a:solidFill>
                  <a:srgbClr val="2C2C2C"/>
                </a:solidFill>
                <a:latin typeface="Calibri"/>
              </a:rPr>
              <a:t>Tornillos y herrajes</a:t>
            </a:r>
          </a:p>
        </p:txBody>
      </p:sp>
      <p:sp>
        <p:nvSpPr>
          <p:cNvPr id="27" name="TextBox 26"/>
          <p:cNvSpPr txBox="1"/>
          <p:nvPr/>
        </p:nvSpPr>
        <p:spPr>
          <a:xfrm>
            <a:off x="2651760" y="3520440"/>
            <a:ext cx="1371600" cy="438912"/>
          </a:xfrm>
          <a:prstGeom prst="rect">
            <a:avLst/>
          </a:prstGeom>
          <a:noFill/>
        </p:spPr>
        <p:txBody>
          <a:bodyPr wrap="square">
            <a:spAutoFit/>
          </a:bodyPr>
          <a:lstStyle/>
          <a:p>
            <a:pPr algn="l"/>
            <a:r>
              <a:rPr sz="900" b="0">
                <a:solidFill>
                  <a:srgbClr val="7A6555"/>
                </a:solidFill>
                <a:latin typeface="Calibri"/>
              </a:rPr>
              <a:t>Segun ASTM A153</a:t>
            </a:r>
          </a:p>
        </p:txBody>
      </p:sp>
      <p:sp>
        <p:nvSpPr>
          <p:cNvPr id="28" name="TextBox 27"/>
          <p:cNvSpPr txBox="1"/>
          <p:nvPr/>
        </p:nvSpPr>
        <p:spPr>
          <a:xfrm>
            <a:off x="3931920" y="3520440"/>
            <a:ext cx="1371600" cy="438912"/>
          </a:xfrm>
          <a:prstGeom prst="rect">
            <a:avLst/>
          </a:prstGeom>
          <a:noFill/>
        </p:spPr>
        <p:txBody>
          <a:bodyPr wrap="square">
            <a:spAutoFit/>
          </a:bodyPr>
          <a:lstStyle/>
          <a:p>
            <a:pPr algn="l"/>
            <a:r>
              <a:rPr sz="900" b="1">
                <a:solidFill>
                  <a:srgbClr val="B87333"/>
                </a:solidFill>
                <a:latin typeface="Calibri"/>
              </a:rPr>
              <a:t>→ Centrifuga 65cm</a:t>
            </a:r>
          </a:p>
        </p:txBody>
      </p:sp>
      <p:sp>
        <p:nvSpPr>
          <p:cNvPr id="29" name="TextBox 28"/>
          <p:cNvSpPr txBox="1"/>
          <p:nvPr/>
        </p:nvSpPr>
        <p:spPr>
          <a:xfrm>
            <a:off x="5669280" y="1417320"/>
            <a:ext cx="2286000" cy="548640"/>
          </a:xfrm>
          <a:prstGeom prst="rect">
            <a:avLst/>
          </a:prstGeom>
          <a:noFill/>
        </p:spPr>
        <p:txBody>
          <a:bodyPr wrap="square">
            <a:spAutoFit/>
          </a:bodyPr>
          <a:lstStyle/>
          <a:p>
            <a:pPr algn="ctr"/>
            <a:r>
              <a:rPr sz="3600" b="1">
                <a:solidFill>
                  <a:srgbClr val="B87333"/>
                </a:solidFill>
                <a:latin typeface="Georgia"/>
              </a:rPr>
              <a:t>$41B</a:t>
            </a:r>
          </a:p>
        </p:txBody>
      </p:sp>
      <p:sp>
        <p:nvSpPr>
          <p:cNvPr id="30" name="TextBox 29"/>
          <p:cNvSpPr txBox="1"/>
          <p:nvPr/>
        </p:nvSpPr>
        <p:spPr>
          <a:xfrm>
            <a:off x="5669280" y="1920240"/>
            <a:ext cx="2286000" cy="457200"/>
          </a:xfrm>
          <a:prstGeom prst="rect">
            <a:avLst/>
          </a:prstGeom>
          <a:noFill/>
        </p:spPr>
        <p:txBody>
          <a:bodyPr wrap="square">
            <a:spAutoFit/>
          </a:bodyPr>
          <a:lstStyle/>
          <a:p>
            <a:pPr algn="ctr"/>
            <a:r>
              <a:rPr sz="900" b="0">
                <a:solidFill>
                  <a:srgbClr val="5A4A3A"/>
                </a:solidFill>
                <a:latin typeface="Calibri"/>
              </a:rPr>
              <a:t>Fabricacion y construccion
(Rystad Energy, ene 2026)</a:t>
            </a:r>
          </a:p>
        </p:txBody>
      </p:sp>
      <p:sp>
        <p:nvSpPr>
          <p:cNvPr id="31" name="TextBox 30"/>
          <p:cNvSpPr txBox="1"/>
          <p:nvPr/>
        </p:nvSpPr>
        <p:spPr>
          <a:xfrm>
            <a:off x="5669280" y="2514600"/>
            <a:ext cx="2286000" cy="548640"/>
          </a:xfrm>
          <a:prstGeom prst="rect">
            <a:avLst/>
          </a:prstGeom>
          <a:noFill/>
        </p:spPr>
        <p:txBody>
          <a:bodyPr wrap="square">
            <a:spAutoFit/>
          </a:bodyPr>
          <a:lstStyle/>
          <a:p>
            <a:pPr algn="ctr"/>
            <a:r>
              <a:rPr sz="2800" b="1">
                <a:solidFill>
                  <a:srgbClr val="5A4A3A"/>
                </a:solidFill>
                <a:latin typeface="Georgia"/>
              </a:rPr>
              <a:t>$10B+</a:t>
            </a:r>
          </a:p>
        </p:txBody>
      </p:sp>
      <p:sp>
        <p:nvSpPr>
          <p:cNvPr id="32" name="TextBox 31"/>
          <p:cNvSpPr txBox="1"/>
          <p:nvPr/>
        </p:nvSpPr>
        <p:spPr>
          <a:xfrm>
            <a:off x="5669280" y="3063240"/>
            <a:ext cx="2286000" cy="457200"/>
          </a:xfrm>
          <a:prstGeom prst="rect">
            <a:avLst/>
          </a:prstGeom>
          <a:noFill/>
        </p:spPr>
        <p:txBody>
          <a:bodyPr wrap="square">
            <a:spAutoFit/>
          </a:bodyPr>
          <a:lstStyle/>
          <a:p>
            <a:pPr algn="ctr"/>
            <a:r>
              <a:rPr sz="900" b="0">
                <a:solidFill>
                  <a:srgbClr val="7A6555"/>
                </a:solidFill>
                <a:latin typeface="Calibri"/>
              </a:rPr>
              <a:t>Materiales y metales</a:t>
            </a:r>
          </a:p>
        </p:txBody>
      </p:sp>
      <p:sp>
        <p:nvSpPr>
          <p:cNvPr id="33" name="TextBox 32"/>
          <p:cNvSpPr txBox="1"/>
          <p:nvPr/>
        </p:nvSpPr>
        <p:spPr>
          <a:xfrm>
            <a:off x="5669280" y="3520440"/>
            <a:ext cx="2286000" cy="548640"/>
          </a:xfrm>
          <a:prstGeom prst="rect">
            <a:avLst/>
          </a:prstGeom>
          <a:noFill/>
        </p:spPr>
        <p:txBody>
          <a:bodyPr wrap="square">
            <a:spAutoFit/>
          </a:bodyPr>
          <a:lstStyle/>
          <a:p>
            <a:pPr algn="ctr"/>
            <a:r>
              <a:rPr sz="2800" b="1">
                <a:solidFill>
                  <a:srgbClr val="5A4A3A"/>
                </a:solidFill>
                <a:latin typeface="Georgia"/>
              </a:rPr>
              <a:t>$10B+</a:t>
            </a:r>
          </a:p>
        </p:txBody>
      </p:sp>
      <p:sp>
        <p:nvSpPr>
          <p:cNvPr id="34" name="TextBox 33"/>
          <p:cNvSpPr txBox="1"/>
          <p:nvPr/>
        </p:nvSpPr>
        <p:spPr>
          <a:xfrm>
            <a:off x="5669280" y="4069080"/>
            <a:ext cx="2286000" cy="457200"/>
          </a:xfrm>
          <a:prstGeom prst="rect">
            <a:avLst/>
          </a:prstGeom>
          <a:noFill/>
        </p:spPr>
        <p:txBody>
          <a:bodyPr wrap="square">
            <a:spAutoFit/>
          </a:bodyPr>
          <a:lstStyle/>
          <a:p>
            <a:pPr algn="ctr"/>
            <a:r>
              <a:rPr sz="900" b="0">
                <a:solidFill>
                  <a:srgbClr val="7A6555"/>
                </a:solidFill>
                <a:latin typeface="Calibri"/>
              </a:rPr>
              <a:t>Electrica e instrumentacion</a:t>
            </a:r>
          </a:p>
        </p:txBody>
      </p:sp>
      <p:sp>
        <p:nvSpPr>
          <p:cNvPr id="35" name="Rectangle 34"/>
          <p:cNvSpPr/>
          <p:nvPr/>
        </p:nvSpPr>
        <p:spPr>
          <a:xfrm>
            <a:off x="502920" y="4315968"/>
            <a:ext cx="8138160" cy="548640"/>
          </a:xfrm>
          <a:prstGeom prst="rect">
            <a:avLst/>
          </a:prstGeom>
          <a:solidFill>
            <a:srgbClr val="F0E4D0"/>
          </a:solidFill>
          <a:ln w="12700">
            <a:solidFill>
              <a:srgbClr val="B87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080" y="4352544"/>
            <a:ext cx="7863840" cy="475488"/>
          </a:xfrm>
          <a:prstGeom prst="rect">
            <a:avLst/>
          </a:prstGeom>
          <a:noFill/>
        </p:spPr>
        <p:txBody>
          <a:bodyPr wrap="square">
            <a:spAutoFit/>
          </a:bodyPr>
          <a:lstStyle/>
          <a:p>
            <a:pPr algn="ctr"/>
            <a:r>
              <a:rPr sz="800" b="0" i="1">
                <a:solidFill>
                  <a:srgbClr val="2A1F10"/>
                </a:solidFill>
              </a:rPr>
              <a:t>Las cubas de PYGLARA cubren todas las categorias de este slide. Con 300 TM/mes, necesitamos captar menos del 3% de la demanda anual de galvanizado del sector petrolero para operar al 100% de la capacidad comprobada. Solo 2 galvanizadores activos en toda Venezuela.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C2C2C"/>
        </a:solidFill>
        <a:effectLst/>
      </p:bgPr>
    </p:bg>
    <p:spTree>
      <p:nvGrpSpPr>
        <p:cNvPr id="1" name=""/>
        <p:cNvGrpSpPr/>
        <p:nvPr/>
      </p:nvGrpSpPr>
      <p:grpSpPr/>
      <p:sp>
        <p:nvSpPr>
          <p:cNvPr id="2" name="Rectangle 1"/>
          <p:cNvSpPr/>
          <p:nvPr/>
        </p:nvSpPr>
        <p:spPr>
          <a:xfrm>
            <a:off x="0" y="0"/>
            <a:ext cx="9144000" cy="45720"/>
          </a:xfrm>
          <a:prstGeom prst="rect">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7315200" cy="502920"/>
          </a:xfrm>
          <a:prstGeom prst="rect">
            <a:avLst/>
          </a:prstGeom>
          <a:noFill/>
        </p:spPr>
        <p:txBody>
          <a:bodyPr wrap="square">
            <a:spAutoFit/>
          </a:bodyPr>
          <a:lstStyle/>
          <a:p>
            <a:pPr algn="l"/>
            <a:r>
              <a:rPr sz="2600" b="1">
                <a:solidFill>
                  <a:srgbClr val="B87333"/>
                </a:solidFill>
                <a:latin typeface="Georgia"/>
              </a:rPr>
              <a:t>TELECOMUNICACIONES: 2,000+ TORRES NUEVAS</a:t>
            </a:r>
          </a:p>
        </p:txBody>
      </p:sp>
      <p:sp>
        <p:nvSpPr>
          <p:cNvPr id="10" name="TextBox 9"/>
          <p:cNvSpPr txBox="1"/>
          <p:nvPr/>
        </p:nvSpPr>
        <p:spPr>
          <a:xfrm>
            <a:off x="548640" y="4617720"/>
            <a:ext cx="8046720" cy="457200"/>
          </a:xfrm>
          <a:prstGeom prst="rect">
            <a:avLst/>
          </a:prstGeom>
          <a:noFill/>
        </p:spPr>
        <p:txBody>
          <a:bodyPr wrap="square">
            <a:spAutoFit/>
          </a:bodyPr>
          <a:lstStyle/>
          <a:p>
            <a:pPr algn="ctr"/>
            <a:r>
              <a:rPr sz="850" b="0" i="1">
                <a:solidFill>
                  <a:srgbClr val="CCC5BA"/>
                </a:solidFill>
                <a:latin typeface="Calibri"/>
              </a:rPr>
              <a:t>Cada torre celular requiere estructura de acero galvanizado. Cada estacion base necesita barras de tierra cobreadas. PYGLARA atiende AMBAS necesidades — la unica empresa en Venezuela que puede.</a:t>
            </a:r>
          </a:p>
        </p:txBody>
      </p:sp>
      <p:sp>
        <p:nvSpPr>
          <p:cNvPr id="11" name="Rectangle 10"/>
          <p:cNvSpPr/>
          <p:nvPr/>
        </p:nvSpPr>
        <p:spPr>
          <a:xfrm>
            <a:off x="685800" y="777240"/>
            <a:ext cx="18288" cy="3246120"/>
          </a:xfrm>
          <a:prstGeom prst="rect">
            <a:avLst/>
          </a:prstGeom>
          <a:solidFill>
            <a:srgbClr val="9E97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4005072"/>
            <a:ext cx="4069080" cy="18288"/>
          </a:xfrm>
          <a:prstGeom prst="rect">
            <a:avLst/>
          </a:prstGeom>
          <a:solidFill>
            <a:srgbClr val="9E97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 y="3482340"/>
            <a:ext cx="3977640" cy="9144"/>
          </a:xfrm>
          <a:prstGeom prst="rect">
            <a:avLst/>
          </a:prstGeom>
          <a:solidFill>
            <a:srgbClr val="554A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3390900"/>
            <a:ext cx="292608" cy="182880"/>
          </a:xfrm>
          <a:prstGeom prst="rect">
            <a:avLst/>
          </a:prstGeom>
          <a:noFill/>
        </p:spPr>
        <p:txBody>
          <a:bodyPr wrap="square">
            <a:spAutoFit/>
          </a:bodyPr>
          <a:lstStyle/>
          <a:p>
            <a:pPr algn="r"/>
            <a:r>
              <a:rPr sz="700" b="0" i="0">
                <a:solidFill>
                  <a:srgbClr val="CCC5BA"/>
                </a:solidFill>
              </a:rPr>
              <a:t>1K</a:t>
            </a:r>
          </a:p>
        </p:txBody>
      </p:sp>
      <p:sp>
        <p:nvSpPr>
          <p:cNvPr id="15" name="Rectangle 14"/>
          <p:cNvSpPr/>
          <p:nvPr/>
        </p:nvSpPr>
        <p:spPr>
          <a:xfrm>
            <a:off x="685800" y="2941320"/>
            <a:ext cx="3977640" cy="9144"/>
          </a:xfrm>
          <a:prstGeom prst="rect">
            <a:avLst/>
          </a:prstGeom>
          <a:solidFill>
            <a:srgbClr val="554A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2849880"/>
            <a:ext cx="292608" cy="182880"/>
          </a:xfrm>
          <a:prstGeom prst="rect">
            <a:avLst/>
          </a:prstGeom>
          <a:noFill/>
        </p:spPr>
        <p:txBody>
          <a:bodyPr wrap="square">
            <a:spAutoFit/>
          </a:bodyPr>
          <a:lstStyle/>
          <a:p>
            <a:pPr algn="r"/>
            <a:r>
              <a:rPr sz="700" b="0" i="0">
                <a:solidFill>
                  <a:srgbClr val="CCC5BA"/>
                </a:solidFill>
              </a:rPr>
              <a:t>2K</a:t>
            </a:r>
          </a:p>
        </p:txBody>
      </p:sp>
      <p:sp>
        <p:nvSpPr>
          <p:cNvPr id="17" name="Rectangle 16"/>
          <p:cNvSpPr/>
          <p:nvPr/>
        </p:nvSpPr>
        <p:spPr>
          <a:xfrm>
            <a:off x="685800" y="2400300"/>
            <a:ext cx="3977640" cy="9144"/>
          </a:xfrm>
          <a:prstGeom prst="rect">
            <a:avLst/>
          </a:prstGeom>
          <a:solidFill>
            <a:srgbClr val="554A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760" y="2308860"/>
            <a:ext cx="292608" cy="182880"/>
          </a:xfrm>
          <a:prstGeom prst="rect">
            <a:avLst/>
          </a:prstGeom>
          <a:noFill/>
        </p:spPr>
        <p:txBody>
          <a:bodyPr wrap="square">
            <a:spAutoFit/>
          </a:bodyPr>
          <a:lstStyle/>
          <a:p>
            <a:pPr algn="r"/>
            <a:r>
              <a:rPr sz="700" b="0" i="0">
                <a:solidFill>
                  <a:srgbClr val="CCC5BA"/>
                </a:solidFill>
              </a:rPr>
              <a:t>3K</a:t>
            </a:r>
          </a:p>
        </p:txBody>
      </p:sp>
      <p:sp>
        <p:nvSpPr>
          <p:cNvPr id="19" name="Rectangle 18"/>
          <p:cNvSpPr/>
          <p:nvPr/>
        </p:nvSpPr>
        <p:spPr>
          <a:xfrm>
            <a:off x="685800" y="1859280"/>
            <a:ext cx="3977640" cy="9144"/>
          </a:xfrm>
          <a:prstGeom prst="rect">
            <a:avLst/>
          </a:prstGeom>
          <a:solidFill>
            <a:srgbClr val="554A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1767840"/>
            <a:ext cx="292608" cy="182880"/>
          </a:xfrm>
          <a:prstGeom prst="rect">
            <a:avLst/>
          </a:prstGeom>
          <a:noFill/>
        </p:spPr>
        <p:txBody>
          <a:bodyPr wrap="square">
            <a:spAutoFit/>
          </a:bodyPr>
          <a:lstStyle/>
          <a:p>
            <a:pPr algn="r"/>
            <a:r>
              <a:rPr sz="700" b="0" i="0">
                <a:solidFill>
                  <a:srgbClr val="CCC5BA"/>
                </a:solidFill>
              </a:rPr>
              <a:t>4K</a:t>
            </a:r>
          </a:p>
        </p:txBody>
      </p:sp>
      <p:sp>
        <p:nvSpPr>
          <p:cNvPr id="21" name="Rectangle 20"/>
          <p:cNvSpPr/>
          <p:nvPr/>
        </p:nvSpPr>
        <p:spPr>
          <a:xfrm>
            <a:off x="685800" y="1318260"/>
            <a:ext cx="3977640" cy="9144"/>
          </a:xfrm>
          <a:prstGeom prst="rect">
            <a:avLst/>
          </a:prstGeom>
          <a:solidFill>
            <a:srgbClr val="554A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760" y="1226820"/>
            <a:ext cx="292608" cy="182880"/>
          </a:xfrm>
          <a:prstGeom prst="rect">
            <a:avLst/>
          </a:prstGeom>
          <a:noFill/>
        </p:spPr>
        <p:txBody>
          <a:bodyPr wrap="square">
            <a:spAutoFit/>
          </a:bodyPr>
          <a:lstStyle/>
          <a:p>
            <a:pPr algn="r"/>
            <a:r>
              <a:rPr sz="700" b="0" i="0">
                <a:solidFill>
                  <a:srgbClr val="CCC5BA"/>
                </a:solidFill>
              </a:rPr>
              <a:t>5K</a:t>
            </a:r>
          </a:p>
        </p:txBody>
      </p:sp>
      <p:sp>
        <p:nvSpPr>
          <p:cNvPr id="23" name="TextBox 22"/>
          <p:cNvSpPr txBox="1"/>
          <p:nvPr/>
        </p:nvSpPr>
        <p:spPr>
          <a:xfrm>
            <a:off x="713232" y="576072"/>
            <a:ext cx="1828800" cy="182880"/>
          </a:xfrm>
          <a:prstGeom prst="rect">
            <a:avLst/>
          </a:prstGeom>
          <a:noFill/>
        </p:spPr>
        <p:txBody>
          <a:bodyPr wrap="square">
            <a:spAutoFit/>
          </a:bodyPr>
          <a:lstStyle/>
          <a:p>
            <a:pPr algn="l"/>
            <a:r>
              <a:rPr sz="750" b="0" i="1">
                <a:solidFill>
                  <a:srgbClr val="CCC5BA"/>
                </a:solidFill>
              </a:rPr>
              <a:t>Estaciones</a:t>
            </a:r>
          </a:p>
        </p:txBody>
      </p:sp>
      <p:sp>
        <p:nvSpPr>
          <p:cNvPr id="24" name="Rectangle 23"/>
          <p:cNvSpPr/>
          <p:nvPr/>
        </p:nvSpPr>
        <p:spPr>
          <a:xfrm>
            <a:off x="960120" y="2400300"/>
            <a:ext cx="1143000" cy="1623060"/>
          </a:xfrm>
          <a:prstGeom prst="rect">
            <a:avLst/>
          </a:prstGeom>
          <a:solidFill>
            <a:srgbClr val="9E97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0120" y="2171700"/>
            <a:ext cx="1143000" cy="201168"/>
          </a:xfrm>
          <a:prstGeom prst="rect">
            <a:avLst/>
          </a:prstGeom>
          <a:noFill/>
        </p:spPr>
        <p:txBody>
          <a:bodyPr wrap="square">
            <a:spAutoFit/>
          </a:bodyPr>
          <a:lstStyle/>
          <a:p>
            <a:pPr algn="ctr"/>
            <a:r>
              <a:rPr sz="1300" b="1" i="0">
                <a:solidFill>
                  <a:srgbClr val="CCC5BA"/>
                </a:solidFill>
              </a:rPr>
              <a:t>3,000</a:t>
            </a:r>
          </a:p>
        </p:txBody>
      </p:sp>
      <p:sp>
        <p:nvSpPr>
          <p:cNvPr id="26" name="TextBox 25"/>
          <p:cNvSpPr txBox="1"/>
          <p:nvPr/>
        </p:nvSpPr>
        <p:spPr>
          <a:xfrm>
            <a:off x="960120" y="4087368"/>
            <a:ext cx="1143000" cy="365760"/>
          </a:xfrm>
          <a:prstGeom prst="rect">
            <a:avLst/>
          </a:prstGeom>
          <a:noFill/>
        </p:spPr>
        <p:txBody>
          <a:bodyPr wrap="square">
            <a:spAutoFit/>
          </a:bodyPr>
          <a:lstStyle/>
          <a:p>
            <a:pPr algn="ctr"/>
            <a:r>
              <a:rPr sz="850" b="0" i="0">
                <a:solidFill>
                  <a:srgbClr val="CCC5BA"/>
                </a:solidFill>
              </a:rPr>
              <a:t>2024
Existentes</a:t>
            </a:r>
          </a:p>
        </p:txBody>
      </p:sp>
      <p:sp>
        <p:nvSpPr>
          <p:cNvPr id="27" name="Rectangle 26"/>
          <p:cNvSpPr/>
          <p:nvPr/>
        </p:nvSpPr>
        <p:spPr>
          <a:xfrm>
            <a:off x="2697480" y="1318260"/>
            <a:ext cx="1143000" cy="2705100"/>
          </a:xfrm>
          <a:prstGeom prst="rect">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697480" y="1089660"/>
            <a:ext cx="1143000" cy="201168"/>
          </a:xfrm>
          <a:prstGeom prst="rect">
            <a:avLst/>
          </a:prstGeom>
          <a:noFill/>
        </p:spPr>
        <p:txBody>
          <a:bodyPr wrap="square">
            <a:spAutoFit/>
          </a:bodyPr>
          <a:lstStyle/>
          <a:p>
            <a:pPr algn="ctr"/>
            <a:r>
              <a:rPr sz="1300" b="1" i="0">
                <a:solidFill>
                  <a:srgbClr val="B87333"/>
                </a:solidFill>
              </a:rPr>
              <a:t>5,000</a:t>
            </a:r>
          </a:p>
        </p:txBody>
      </p:sp>
      <p:sp>
        <p:nvSpPr>
          <p:cNvPr id="29" name="TextBox 28"/>
          <p:cNvSpPr txBox="1"/>
          <p:nvPr/>
        </p:nvSpPr>
        <p:spPr>
          <a:xfrm>
            <a:off x="2697480" y="4087368"/>
            <a:ext cx="1143000" cy="365760"/>
          </a:xfrm>
          <a:prstGeom prst="rect">
            <a:avLst/>
          </a:prstGeom>
          <a:noFill/>
        </p:spPr>
        <p:txBody>
          <a:bodyPr wrap="square">
            <a:spAutoFit/>
          </a:bodyPr>
          <a:lstStyle/>
          <a:p>
            <a:pPr algn="ctr"/>
            <a:r>
              <a:rPr sz="850" b="0" i="0">
                <a:solidFill>
                  <a:srgbClr val="FFFFFF"/>
                </a:solidFill>
              </a:rPr>
              <a:t>2031
Plan</a:t>
            </a:r>
          </a:p>
        </p:txBody>
      </p:sp>
      <p:sp>
        <p:nvSpPr>
          <p:cNvPr id="30" name="TextBox 29"/>
          <p:cNvSpPr txBox="1"/>
          <p:nvPr/>
        </p:nvSpPr>
        <p:spPr>
          <a:xfrm>
            <a:off x="2148840" y="1299972"/>
            <a:ext cx="502920" cy="365760"/>
          </a:xfrm>
          <a:prstGeom prst="rect">
            <a:avLst/>
          </a:prstGeom>
          <a:noFill/>
        </p:spPr>
        <p:txBody>
          <a:bodyPr wrap="square">
            <a:spAutoFit/>
          </a:bodyPr>
          <a:lstStyle/>
          <a:p>
            <a:pPr algn="ctr"/>
            <a:r>
              <a:rPr sz="800" b="1" i="0">
                <a:solidFill>
                  <a:srgbClr val="B87333"/>
                </a:solidFill>
              </a:rPr>
              <a:t>+2.000 nuevas estaciones</a:t>
            </a:r>
          </a:p>
        </p:txBody>
      </p:sp>
      <p:sp>
        <p:nvSpPr>
          <p:cNvPr id="31" name="Rectangle 30"/>
          <p:cNvSpPr/>
          <p:nvPr/>
        </p:nvSpPr>
        <p:spPr>
          <a:xfrm>
            <a:off x="4846320" y="731520"/>
            <a:ext cx="3977639" cy="3337560"/>
          </a:xfrm>
          <a:prstGeom prst="rect">
            <a:avLst/>
          </a:prstGeom>
          <a:solidFill>
            <a:srgbClr val="3A2A10"/>
          </a:solidFill>
          <a:ln w="19050">
            <a:solidFill>
              <a:srgbClr val="B87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983480" y="822960"/>
            <a:ext cx="3703319" cy="320040"/>
          </a:xfrm>
          <a:prstGeom prst="rect">
            <a:avLst/>
          </a:prstGeom>
          <a:noFill/>
        </p:spPr>
        <p:txBody>
          <a:bodyPr wrap="square">
            <a:spAutoFit/>
          </a:bodyPr>
          <a:lstStyle/>
          <a:p>
            <a:pPr algn="l"/>
            <a:r>
              <a:rPr sz="950" b="1" i="0">
                <a:solidFill>
                  <a:srgbClr val="B87333"/>
                </a:solidFill>
              </a:rPr>
              <a:t>PYGLARA ATIENDE AMBAS DEMANDAS</a:t>
            </a:r>
          </a:p>
        </p:txBody>
      </p:sp>
      <p:sp>
        <p:nvSpPr>
          <p:cNvPr id="33" name="Rectangle 32"/>
          <p:cNvSpPr/>
          <p:nvPr/>
        </p:nvSpPr>
        <p:spPr>
          <a:xfrm>
            <a:off x="4983480" y="1188720"/>
            <a:ext cx="3703319" cy="13716"/>
          </a:xfrm>
          <a:prstGeom prst="rect">
            <a:avLst/>
          </a:prstGeom>
          <a:solidFill>
            <a:srgbClr val="8B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5047488" y="1307592"/>
            <a:ext cx="73152" cy="73152"/>
          </a:xfrm>
          <a:prstGeom prst="ellipse">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193792" y="1261872"/>
            <a:ext cx="3493007" cy="475487"/>
          </a:xfrm>
          <a:prstGeom prst="rect">
            <a:avLst/>
          </a:prstGeom>
          <a:noFill/>
        </p:spPr>
        <p:txBody>
          <a:bodyPr wrap="square">
            <a:spAutoFit/>
          </a:bodyPr>
          <a:lstStyle/>
          <a:p>
            <a:pPr algn="l"/>
            <a:r>
              <a:rPr sz="850" b="0" i="0">
                <a:solidFill>
                  <a:srgbClr val="FFFFFF"/>
                </a:solidFill>
              </a:rPr>
              <a:t>Demanda de acero estructural: ~10.000 TM (2025-2031)</a:t>
            </a:r>
          </a:p>
        </p:txBody>
      </p:sp>
      <p:sp>
        <p:nvSpPr>
          <p:cNvPr id="36" name="Oval 35"/>
          <p:cNvSpPr/>
          <p:nvPr/>
        </p:nvSpPr>
        <p:spPr>
          <a:xfrm>
            <a:off x="5047488" y="1828799"/>
            <a:ext cx="73152" cy="73152"/>
          </a:xfrm>
          <a:prstGeom prst="ellipse">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93792" y="1783079"/>
            <a:ext cx="3493007" cy="475487"/>
          </a:xfrm>
          <a:prstGeom prst="rect">
            <a:avLst/>
          </a:prstGeom>
          <a:noFill/>
        </p:spPr>
        <p:txBody>
          <a:bodyPr wrap="square">
            <a:spAutoFit/>
          </a:bodyPr>
          <a:lstStyle/>
          <a:p>
            <a:pPr algn="l"/>
            <a:r>
              <a:rPr sz="850" b="0" i="0">
                <a:solidFill>
                  <a:srgbClr val="FFFFFF"/>
                </a:solidFill>
              </a:rPr>
              <a:t>Demanda de varillas de cobre: ~18.000 unidades</a:t>
            </a:r>
          </a:p>
        </p:txBody>
      </p:sp>
      <p:sp>
        <p:nvSpPr>
          <p:cNvPr id="38" name="Oval 37"/>
          <p:cNvSpPr/>
          <p:nvPr/>
        </p:nvSpPr>
        <p:spPr>
          <a:xfrm>
            <a:off x="5047488" y="2350006"/>
            <a:ext cx="73152" cy="73152"/>
          </a:xfrm>
          <a:prstGeom prst="ellipse">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193792" y="2304286"/>
            <a:ext cx="3493007" cy="475487"/>
          </a:xfrm>
          <a:prstGeom prst="rect">
            <a:avLst/>
          </a:prstGeom>
          <a:noFill/>
        </p:spPr>
        <p:txBody>
          <a:bodyPr wrap="square">
            <a:spAutoFit/>
          </a:bodyPr>
          <a:lstStyle/>
          <a:p>
            <a:pPr algn="l"/>
            <a:r>
              <a:rPr sz="850" b="0" i="0">
                <a:solidFill>
                  <a:srgbClr val="FFFFFF"/>
                </a:solidFill>
              </a:rPr>
              <a:t>Con 300 TM/mes: toda la demanda de acero cubierta en 3 meses</a:t>
            </a:r>
          </a:p>
        </p:txBody>
      </p:sp>
      <p:sp>
        <p:nvSpPr>
          <p:cNvPr id="40" name="Oval 39"/>
          <p:cNvSpPr/>
          <p:nvPr/>
        </p:nvSpPr>
        <p:spPr>
          <a:xfrm>
            <a:off x="5047488" y="2871213"/>
            <a:ext cx="73152" cy="73152"/>
          </a:xfrm>
          <a:prstGeom prst="ellipse">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193792" y="2825493"/>
            <a:ext cx="3493007" cy="475487"/>
          </a:xfrm>
          <a:prstGeom prst="rect">
            <a:avLst/>
          </a:prstGeom>
          <a:noFill/>
        </p:spPr>
        <p:txBody>
          <a:bodyPr wrap="square">
            <a:spAutoFit/>
          </a:bodyPr>
          <a:lstStyle/>
          <a:p>
            <a:pPr algn="l"/>
            <a:r>
              <a:rPr sz="850" b="0" i="0">
                <a:solidFill>
                  <a:srgbClr val="FFFFFF"/>
                </a:solidFill>
              </a:rPr>
              <a:t>Con 936 varillas/dia: toda la demanda en menos de 20 dias</a:t>
            </a:r>
          </a:p>
        </p:txBody>
      </p:sp>
      <p:sp>
        <p:nvSpPr>
          <p:cNvPr id="42" name="Oval 41"/>
          <p:cNvSpPr/>
          <p:nvPr/>
        </p:nvSpPr>
        <p:spPr>
          <a:xfrm>
            <a:off x="5047488" y="3392420"/>
            <a:ext cx="73152" cy="73152"/>
          </a:xfrm>
          <a:prstGeom prst="ellipse">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193792" y="3346700"/>
            <a:ext cx="3493007" cy="475487"/>
          </a:xfrm>
          <a:prstGeom prst="rect">
            <a:avLst/>
          </a:prstGeom>
          <a:noFill/>
        </p:spPr>
        <p:txBody>
          <a:bodyPr wrap="square">
            <a:spAutoFit/>
          </a:bodyPr>
          <a:lstStyle/>
          <a:p>
            <a:pPr algn="l"/>
            <a:r>
              <a:rPr sz="850" b="0" i="0">
                <a:solidFill>
                  <a:srgbClr val="FFFFFF"/>
                </a:solidFill>
              </a:rPr>
              <a:t>Unica empresa en Venezuela que provee ambos: acero + cobre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7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3000" b="1" dirty="0">
                <a:solidFill>
                  <a:srgbClr val="3E2C1C"/>
                </a:solidFill>
                <a:latin typeface="Georgia" pitchFamily="34" charset="0"/>
                <a:ea typeface="Georgia" pitchFamily="34" charset="-122"/>
                <a:cs typeface="Georgia" pitchFamily="34" charset="-120"/>
              </a:rPr>
              <a:t>POR QUE GALVANIZADO</a:t>
            </a:r>
            <a:endParaRPr lang="en-US" sz="3000" dirty="0"/>
          </a:p>
        </p:txBody>
      </p:sp>
      <p:sp>
        <p:nvSpPr>
          <p:cNvPr id="5" name="Text 3"/>
          <p:cNvSpPr/>
          <p:nvPr/>
        </p:nvSpPr>
        <p:spPr>
          <a:xfrm>
            <a:off x="548640" y="731520"/>
            <a:ext cx="8046720" cy="274320"/>
          </a:xfrm>
          <a:prstGeom prst="rect">
            <a:avLst/>
          </a:prstGeom>
          <a:noFill/>
          <a:ln/>
        </p:spPr>
        <p:txBody>
          <a:bodyPr wrap="square" lIns="0" tIns="0" rIns="0" bIns="0" rtlCol="0" anchor="ctr"/>
          <a:lstStyle/>
          <a:p>
            <a:pPr indent="0" marL="0">
              <a:buNone/>
            </a:pPr>
            <a:r>
              <a:rPr lang="en-US" sz="1200" i="1" dirty="0">
                <a:solidFill>
                  <a:srgbClr val="8B5A2B"/>
                </a:solidFill>
                <a:latin typeface="Calibri" pitchFamily="34" charset="0"/>
                <a:ea typeface="Calibri" pitchFamily="34" charset="-122"/>
                <a:cs typeface="Calibri" pitchFamily="34" charset="-120"/>
              </a:rPr>
              <a:t>El galvanizado por inmersion en caliente supera a la pintura en todos los aspectos</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8046720" cy="914400"/>
        </p:xfrm>
        <a:graphic>
          <a:graphicData uri="http://schemas.openxmlformats.org/drawingml/2006/table">
            <a:tbl>
              <a:tblPr/>
              <a:tblGrid>
                <a:gridCol w="2377440"/>
                <a:gridCol w="2834640"/>
                <a:gridCol w="2834640"/>
              </a:tblGrid>
              <a:tr h="32004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CARACTERISTICA</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GALVANIZADO</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2D7D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PINTURA</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B83B3B"/>
                    </a:solidFill>
                  </a:tcPr>
                </a:tc>
              </a:tr>
              <a:tr h="384048">
                <a:tc>
                  <a:txBody>
                    <a:bodyPr/>
                    <a:lstStyle/>
                    <a:p>
                      <a:pPr algn="l" indent="0" marL="0">
                        <a:buNone/>
                      </a:pPr>
                      <a:r>
                        <a:rPr lang="en-US" sz="1000" b="1" dirty="0">
                          <a:solidFill>
                            <a:srgbClr val="5C4033"/>
                          </a:solidFill>
                          <a:latin typeface="Calibri" pitchFamily="34" charset="0"/>
                          <a:ea typeface="Calibri" pitchFamily="34" charset="-122"/>
                          <a:cs typeface="Calibri" pitchFamily="34" charset="-120"/>
                        </a:rPr>
                        <a:t>Vida util</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D7D46"/>
                          </a:solidFill>
                          <a:latin typeface="Calibri" pitchFamily="34" charset="0"/>
                          <a:ea typeface="Calibri" pitchFamily="34" charset="-122"/>
                          <a:cs typeface="Calibri" pitchFamily="34" charset="-120"/>
                        </a:rPr>
                        <a:t>50-100 anos</a:t>
                      </a:r>
                      <a:endParaRPr lang="en-US" sz="95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B83B3B"/>
                          </a:solidFill>
                          <a:latin typeface="Calibri" pitchFamily="34" charset="0"/>
                          <a:ea typeface="Calibri" pitchFamily="34" charset="-122"/>
                          <a:cs typeface="Calibri" pitchFamily="34" charset="-120"/>
                        </a:rPr>
                        <a:t>3-5 anos (requiere repintado)</a:t>
                      </a:r>
                      <a:endParaRPr lang="en-US" sz="95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384048">
                <a:tc>
                  <a:txBody>
                    <a:bodyPr/>
                    <a:lstStyle/>
                    <a:p>
                      <a:pPr algn="l" indent="0" marL="0">
                        <a:buNone/>
                      </a:pPr>
                      <a:r>
                        <a:rPr lang="en-US" sz="1000" b="1" dirty="0">
                          <a:solidFill>
                            <a:srgbClr val="5C4033"/>
                          </a:solidFill>
                          <a:latin typeface="Calibri" pitchFamily="34" charset="0"/>
                          <a:ea typeface="Calibri" pitchFamily="34" charset="-122"/>
                          <a:cs typeface="Calibri" pitchFamily="34" charset="-120"/>
                        </a:rPr>
                        <a:t>Tipo de adhesion</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950" b="1" dirty="0">
                          <a:solidFill>
                            <a:srgbClr val="2D7D46"/>
                          </a:solidFill>
                          <a:latin typeface="Calibri" pitchFamily="34" charset="0"/>
                          <a:ea typeface="Calibri" pitchFamily="34" charset="-122"/>
                          <a:cs typeface="Calibri" pitchFamily="34" charset="-120"/>
                        </a:rPr>
                        <a:t>Union metalurgica (zinc-hierro)</a:t>
                      </a:r>
                      <a:endParaRPr lang="en-US" sz="95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950" dirty="0">
                          <a:solidFill>
                            <a:srgbClr val="B83B3B"/>
                          </a:solidFill>
                          <a:latin typeface="Calibri" pitchFamily="34" charset="0"/>
                          <a:ea typeface="Calibri" pitchFamily="34" charset="-122"/>
                          <a:cs typeface="Calibri" pitchFamily="34" charset="-120"/>
                        </a:rPr>
                        <a:t>Adhesion superficial (se pela)</a:t>
                      </a:r>
                      <a:endParaRPr lang="en-US" sz="95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r h="384048">
                <a:tc>
                  <a:txBody>
                    <a:bodyPr/>
                    <a:lstStyle/>
                    <a:p>
                      <a:pPr algn="l" indent="0" marL="0">
                        <a:buNone/>
                      </a:pPr>
                      <a:r>
                        <a:rPr lang="en-US" sz="1000" b="1" dirty="0">
                          <a:solidFill>
                            <a:srgbClr val="5C4033"/>
                          </a:solidFill>
                          <a:latin typeface="Calibri" pitchFamily="34" charset="0"/>
                          <a:ea typeface="Calibri" pitchFamily="34" charset="-122"/>
                          <a:cs typeface="Calibri" pitchFamily="34" charset="-120"/>
                        </a:rPr>
                        <a:t>Auto-reparacion</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D7D46"/>
                          </a:solidFill>
                          <a:latin typeface="Calibri" pitchFamily="34" charset="0"/>
                          <a:ea typeface="Calibri" pitchFamily="34" charset="-122"/>
                          <a:cs typeface="Calibri" pitchFamily="34" charset="-120"/>
                        </a:rPr>
                        <a:t>SI — el zinc protege cortes y rayaduras</a:t>
                      </a:r>
                      <a:endParaRPr lang="en-US" sz="95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B83B3B"/>
                          </a:solidFill>
                          <a:latin typeface="Calibri" pitchFamily="34" charset="0"/>
                          <a:ea typeface="Calibri" pitchFamily="34" charset="-122"/>
                          <a:cs typeface="Calibri" pitchFamily="34" charset="-120"/>
                        </a:rPr>
                        <a:t>NO — cualquier dano expone el acero</a:t>
                      </a:r>
                      <a:endParaRPr lang="en-US" sz="95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384048">
                <a:tc>
                  <a:txBody>
                    <a:bodyPr/>
                    <a:lstStyle/>
                    <a:p>
                      <a:pPr algn="l" indent="0" marL="0">
                        <a:buNone/>
                      </a:pPr>
                      <a:r>
                        <a:rPr lang="en-US" sz="1000" b="1" dirty="0">
                          <a:solidFill>
                            <a:srgbClr val="5C4033"/>
                          </a:solidFill>
                          <a:latin typeface="Calibri" pitchFamily="34" charset="0"/>
                          <a:ea typeface="Calibri" pitchFamily="34" charset="-122"/>
                          <a:cs typeface="Calibri" pitchFamily="34" charset="-120"/>
                        </a:rPr>
                        <a:t>Costo de ciclo de vida</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950" b="1" dirty="0">
                          <a:solidFill>
                            <a:srgbClr val="2D7D46"/>
                          </a:solidFill>
                          <a:latin typeface="Calibri" pitchFamily="34" charset="0"/>
                          <a:ea typeface="Calibri" pitchFamily="34" charset="-122"/>
                          <a:cs typeface="Calibri" pitchFamily="34" charset="-120"/>
                        </a:rPr>
                        <a:t>~70% mas barato a largo plazo</a:t>
                      </a:r>
                      <a:endParaRPr lang="en-US" sz="95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950" dirty="0">
                          <a:solidFill>
                            <a:srgbClr val="B83B3B"/>
                          </a:solidFill>
                          <a:latin typeface="Calibri" pitchFamily="34" charset="0"/>
                          <a:ea typeface="Calibri" pitchFamily="34" charset="-122"/>
                          <a:cs typeface="Calibri" pitchFamily="34" charset="-120"/>
                        </a:rPr>
                        <a:t>Repintado cada 3-5 anos acumula costos</a:t>
                      </a:r>
                      <a:endParaRPr lang="en-US" sz="95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r h="384048">
                <a:tc>
                  <a:txBody>
                    <a:bodyPr/>
                    <a:lstStyle/>
                    <a:p>
                      <a:pPr algn="l" indent="0" marL="0">
                        <a:buNone/>
                      </a:pPr>
                      <a:r>
                        <a:rPr lang="en-US" sz="1000" b="1" dirty="0">
                          <a:solidFill>
                            <a:srgbClr val="5C4033"/>
                          </a:solidFill>
                          <a:latin typeface="Calibri" pitchFamily="34" charset="0"/>
                          <a:ea typeface="Calibri" pitchFamily="34" charset="-122"/>
                          <a:cs typeface="Calibri" pitchFamily="34" charset="-120"/>
                        </a:rPr>
                        <a:t>Resistencia a impacto</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D7D46"/>
                          </a:solidFill>
                          <a:latin typeface="Calibri" pitchFamily="34" charset="0"/>
                          <a:ea typeface="Calibri" pitchFamily="34" charset="-122"/>
                          <a:cs typeface="Calibri" pitchFamily="34" charset="-120"/>
                        </a:rPr>
                        <a:t>Excelente — no hay burbujas, escamas</a:t>
                      </a:r>
                      <a:endParaRPr lang="en-US" sz="95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B83B3B"/>
                          </a:solidFill>
                          <a:latin typeface="Calibri" pitchFamily="34" charset="0"/>
                          <a:ea typeface="Calibri" pitchFamily="34" charset="-122"/>
                          <a:cs typeface="Calibri" pitchFamily="34" charset="-120"/>
                        </a:rPr>
                        <a:t>Se agrieta, ampolla y descascara</a:t>
                      </a:r>
                      <a:endParaRPr lang="en-US" sz="95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384048">
                <a:tc>
                  <a:txBody>
                    <a:bodyPr/>
                    <a:lstStyle/>
                    <a:p>
                      <a:pPr algn="l" indent="0" marL="0">
                        <a:buNone/>
                      </a:pPr>
                      <a:r>
                        <a:rPr lang="en-US" sz="1000" b="1" dirty="0">
                          <a:solidFill>
                            <a:srgbClr val="5C4033"/>
                          </a:solidFill>
                          <a:latin typeface="Calibri" pitchFamily="34" charset="0"/>
                          <a:ea typeface="Calibri" pitchFamily="34" charset="-122"/>
                          <a:cs typeface="Calibri" pitchFamily="34" charset="-120"/>
                        </a:rPr>
                        <a:t>Proteccion en esquinas</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950" b="1" dirty="0">
                          <a:solidFill>
                            <a:srgbClr val="2D7D46"/>
                          </a:solidFill>
                          <a:latin typeface="Calibri" pitchFamily="34" charset="0"/>
                          <a:ea typeface="Calibri" pitchFamily="34" charset="-122"/>
                          <a:cs typeface="Calibri" pitchFamily="34" charset="-120"/>
                        </a:rPr>
                        <a:t>Las esquinas reciben MAS zinc (galvanica)</a:t>
                      </a:r>
                      <a:endParaRPr lang="en-US" sz="95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950" dirty="0">
                          <a:solidFill>
                            <a:srgbClr val="B83B3B"/>
                          </a:solidFill>
                          <a:latin typeface="Calibri" pitchFamily="34" charset="0"/>
                          <a:ea typeface="Calibri" pitchFamily="34" charset="-122"/>
                          <a:cs typeface="Calibri" pitchFamily="34" charset="-120"/>
                        </a:rPr>
                        <a:t>Las esquinas reciben MENOS pintura</a:t>
                      </a:r>
                      <a:endParaRPr lang="en-US" sz="95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r h="384048">
                <a:tc>
                  <a:txBody>
                    <a:bodyPr/>
                    <a:lstStyle/>
                    <a:p>
                      <a:pPr algn="l" indent="0" marL="0">
                        <a:buNone/>
                      </a:pPr>
                      <a:r>
                        <a:rPr lang="en-US" sz="1000" b="1" dirty="0">
                          <a:solidFill>
                            <a:srgbClr val="5C4033"/>
                          </a:solidFill>
                          <a:latin typeface="Calibri" pitchFamily="34" charset="0"/>
                          <a:ea typeface="Calibri" pitchFamily="34" charset="-122"/>
                          <a:cs typeface="Calibri" pitchFamily="34" charset="-120"/>
                        </a:rPr>
                        <a:t>Mantenimiento</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D7D46"/>
                          </a:solidFill>
                          <a:latin typeface="Calibri" pitchFamily="34" charset="0"/>
                          <a:ea typeface="Calibri" pitchFamily="34" charset="-122"/>
                          <a:cs typeface="Calibri" pitchFamily="34" charset="-120"/>
                        </a:rPr>
                        <a:t>Cero por decadas</a:t>
                      </a:r>
                      <a:endParaRPr lang="en-US" sz="95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B83B3B"/>
                          </a:solidFill>
                          <a:latin typeface="Calibri" pitchFamily="34" charset="0"/>
                          <a:ea typeface="Calibri" pitchFamily="34" charset="-122"/>
                          <a:cs typeface="Calibri" pitchFamily="34" charset="-120"/>
                        </a:rPr>
                        <a:t>Inspeccion y repintado constante</a:t>
                      </a:r>
                      <a:endParaRPr lang="en-US" sz="95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4389120"/>
            <a:ext cx="8046720" cy="548640"/>
          </a:xfrm>
          <a:prstGeom prst="rect">
            <a:avLst/>
          </a:prstGeom>
          <a:solidFill>
            <a:srgbClr val="EDE8E0"/>
          </a:solidFill>
          <a:ln w="19050">
            <a:solidFill>
              <a:srgbClr val="B87333"/>
            </a:solidFill>
            <a:prstDash val="solid"/>
          </a:ln>
        </p:spPr>
        <p:txBody>
          <a:bodyPr/>
          <a:p/>
        </p:txBody>
      </p:sp>
      <p:sp>
        <p:nvSpPr>
          <p:cNvPr id="8" name="Text 5"/>
          <p:cNvSpPr/>
          <p:nvPr/>
        </p:nvSpPr>
        <p:spPr>
          <a:xfrm>
            <a:off x="731520" y="4389120"/>
            <a:ext cx="7680960" cy="548640"/>
          </a:xfrm>
          <a:prstGeom prst="rect">
            <a:avLst/>
          </a:prstGeom>
          <a:noFill/>
          <a:ln/>
        </p:spPr>
        <p:txBody>
          <a:bodyPr wrap="square" rtlCol="0" anchor="ctr"/>
          <a:lstStyle/>
          <a:p>
            <a:pPr algn="ctr" indent="0" marL="0">
              <a:buNone/>
            </a:pPr>
            <a:r>
              <a:rPr lang="en-US" sz="1050" b="1" i="1" dirty="0">
                <a:solidFill>
                  <a:srgbClr val="8B5A2B"/>
                </a:solidFill>
                <a:latin typeface="Calibri" pitchFamily="34" charset="0"/>
                <a:ea typeface="Calibri" pitchFamily="34" charset="-122"/>
                <a:cs typeface="Calibri" pitchFamily="34" charset="-120"/>
              </a:rPr>
              <a:t>El galvanizado no es un recubrimiento — es una union metalurgica permanente entre zinc y acero. El zinc se sacrifica para proteger el hierro (proteccion catodica).</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8 / 30</a:t>
            </a:r>
            <a:endParaRPr lang="en-US" sz="800" dirty="0"/>
          </a:p>
        </p:txBody>
      </p:sp>
      <p:sp>
        <p:nvSpPr>
          <p:cNvPr id="4" name="Text 2"/>
          <p:cNvSpPr/>
          <p:nvPr/>
        </p:nvSpPr>
        <p:spPr>
          <a:xfrm>
            <a:off x="548640" y="274320"/>
            <a:ext cx="4114800" cy="594360"/>
          </a:xfrm>
          <a:prstGeom prst="rect">
            <a:avLst/>
          </a:prstGeom>
          <a:noFill/>
          <a:ln/>
        </p:spPr>
        <p:txBody>
          <a:bodyPr wrap="square" lIns="0" tIns="0" rIns="0" bIns="0" rtlCol="0" anchor="ctr"/>
          <a:lstStyle/>
          <a:p>
            <a:pPr indent="0" marL="0">
              <a:buNone/>
            </a:pPr>
            <a:r>
              <a:rPr lang="en-US" sz="3400" b="1" dirty="0">
                <a:solidFill>
                  <a:srgbClr val="3E2C1C"/>
                </a:solidFill>
                <a:latin typeface="Georgia" pitchFamily="34" charset="0"/>
                <a:ea typeface="Georgia" pitchFamily="34" charset="-122"/>
                <a:cs typeface="Georgia" pitchFamily="34" charset="-120"/>
              </a:rPr>
              <a:t>LA PLANTA</a:t>
            </a:r>
            <a:endParaRPr lang="en-US" sz="3400" dirty="0"/>
          </a:p>
        </p:txBody>
      </p:sp>
      <p:sp>
        <p:nvSpPr>
          <p:cNvPr id="5" name="Text 3"/>
          <p:cNvSpPr/>
          <p:nvPr/>
        </p:nvSpPr>
        <p:spPr>
          <a:xfrm>
            <a:off x="548640" y="822960"/>
            <a:ext cx="4114800" cy="320040"/>
          </a:xfrm>
          <a:prstGeom prst="rect">
            <a:avLst/>
          </a:prstGeom>
          <a:noFill/>
          <a:ln/>
        </p:spPr>
        <p:txBody>
          <a:bodyPr wrap="square" lIns="0" tIns="0" rIns="0" bIns="0" rtlCol="0" anchor="ctr"/>
          <a:lstStyle/>
          <a:p>
            <a:pPr indent="0" marL="0">
              <a:buNone/>
            </a:pPr>
            <a:r>
              <a:rPr lang="en-US" sz="1300" i="1" dirty="0">
                <a:solidFill>
                  <a:srgbClr val="8B5A2B"/>
                </a:solidFill>
                <a:latin typeface="Calibri" pitchFamily="34" charset="0"/>
                <a:ea typeface="Calibri" pitchFamily="34" charset="-122"/>
                <a:cs typeface="Calibri" pitchFamily="34" charset="-120"/>
              </a:rPr>
              <a:t>50 anos de operaciones industriales</a:t>
            </a:r>
            <a:endParaRPr lang="en-US" sz="1300" dirty="0"/>
          </a:p>
        </p:txBody>
      </p:sp>
      <p:pic>
        <p:nvPicPr>
          <p:cNvPr id="6" name="Image 0" descr="preencoded.png"/>
          <p:cNvPicPr>
            <a:picLocks noChangeAspect="1"/>
          </p:cNvPicPr>
          <p:nvPr/>
        </p:nvPicPr>
        <p:blipFill>
          <a:blip r:embed="rId1"/>
          <a:stretch>
            <a:fillRect/>
          </a:stretch>
        </p:blipFill>
        <p:spPr>
          <a:xfrm>
            <a:off x="640080" y="1463040"/>
            <a:ext cx="292608" cy="292608"/>
          </a:xfrm>
          <a:prstGeom prst="rect">
            <a:avLst/>
          </a:prstGeom>
        </p:spPr>
      </p:pic>
      <p:sp>
        <p:nvSpPr>
          <p:cNvPr id="7" name="Text 4"/>
          <p:cNvSpPr/>
          <p:nvPr/>
        </p:nvSpPr>
        <p:spPr>
          <a:xfrm>
            <a:off x="1097280" y="1417320"/>
            <a:ext cx="3474720" cy="502920"/>
          </a:xfrm>
          <a:prstGeom prst="rect">
            <a:avLst/>
          </a:prstGeom>
          <a:noFill/>
          <a:ln/>
        </p:spPr>
        <p:txBody>
          <a:bodyPr wrap="square" lIns="0" tIns="0" rIns="0" bIns="0" rtlCol="0" anchor="ctr"/>
          <a:lstStyle/>
          <a:p>
            <a:pPr indent="0" marL="0">
              <a:buNone/>
            </a:pPr>
            <a:r>
              <a:rPr lang="en-US" sz="1100" dirty="0">
                <a:solidFill>
                  <a:srgbClr val="5C4033"/>
                </a:solidFill>
                <a:latin typeface="Calibri" pitchFamily="34" charset="0"/>
                <a:ea typeface="Calibri" pitchFamily="34" charset="-122"/>
                <a:cs typeface="Calibri" pitchFamily="34" charset="-120"/>
              </a:rPr>
              <a:t>Zona Industrial I, Barquisimeto, Estado Lara</a:t>
            </a:r>
            <a:endParaRPr lang="en-US" sz="1100" dirty="0"/>
          </a:p>
        </p:txBody>
      </p:sp>
      <p:pic>
        <p:nvPicPr>
          <p:cNvPr id="8" name="Image 1" descr="preencoded.png"/>
          <p:cNvPicPr>
            <a:picLocks noChangeAspect="1"/>
          </p:cNvPicPr>
          <p:nvPr/>
        </p:nvPicPr>
        <p:blipFill>
          <a:blip r:embed="rId2"/>
          <a:stretch>
            <a:fillRect/>
          </a:stretch>
        </p:blipFill>
        <p:spPr>
          <a:xfrm>
            <a:off x="640080" y="2121408"/>
            <a:ext cx="292608" cy="292608"/>
          </a:xfrm>
          <a:prstGeom prst="rect">
            <a:avLst/>
          </a:prstGeom>
        </p:spPr>
      </p:pic>
      <p:sp>
        <p:nvSpPr>
          <p:cNvPr id="9" name="Text 5"/>
          <p:cNvSpPr/>
          <p:nvPr/>
        </p:nvSpPr>
        <p:spPr>
          <a:xfrm>
            <a:off x="1097280" y="2075688"/>
            <a:ext cx="3474720" cy="502920"/>
          </a:xfrm>
          <a:prstGeom prst="rect">
            <a:avLst/>
          </a:prstGeom>
          <a:noFill/>
          <a:ln/>
        </p:spPr>
        <p:txBody>
          <a:bodyPr wrap="square" lIns="0" tIns="0" rIns="0" bIns="0" rtlCol="0" anchor="ctr"/>
          <a:lstStyle/>
          <a:p>
            <a:pPr indent="0" marL="0">
              <a:buNone/>
            </a:pPr>
            <a:r>
              <a:rPr lang="en-US" sz="1100" dirty="0">
                <a:solidFill>
                  <a:srgbClr val="5C4033"/>
                </a:solidFill>
                <a:latin typeface="Calibri" pitchFamily="34" charset="0"/>
                <a:ea typeface="Calibri" pitchFamily="34" charset="-122"/>
                <a:cs typeface="Calibri" pitchFamily="34" charset="-120"/>
              </a:rPr>
              <a:t>3,640 m2 en 2 galpones industriales</a:t>
            </a:r>
            <a:endParaRPr lang="en-US" sz="1100" dirty="0"/>
          </a:p>
        </p:txBody>
      </p:sp>
      <p:pic>
        <p:nvPicPr>
          <p:cNvPr id="10" name="Image 2" descr="preencoded.png"/>
          <p:cNvPicPr>
            <a:picLocks noChangeAspect="1"/>
          </p:cNvPicPr>
          <p:nvPr/>
        </p:nvPicPr>
        <p:blipFill>
          <a:blip r:embed="rId3"/>
          <a:stretch>
            <a:fillRect/>
          </a:stretch>
        </p:blipFill>
        <p:spPr>
          <a:xfrm>
            <a:off x="640080" y="2779776"/>
            <a:ext cx="292608" cy="292608"/>
          </a:xfrm>
          <a:prstGeom prst="rect">
            <a:avLst/>
          </a:prstGeom>
        </p:spPr>
      </p:pic>
      <p:sp>
        <p:nvSpPr>
          <p:cNvPr id="11" name="Text 6"/>
          <p:cNvSpPr/>
          <p:nvPr/>
        </p:nvSpPr>
        <p:spPr>
          <a:xfrm>
            <a:off x="1097280" y="2734056"/>
            <a:ext cx="3474720" cy="502920"/>
          </a:xfrm>
          <a:prstGeom prst="rect">
            <a:avLst/>
          </a:prstGeom>
          <a:noFill/>
          <a:ln/>
        </p:spPr>
        <p:txBody>
          <a:bodyPr wrap="square" lIns="0" tIns="0" rIns="0" bIns="0" rtlCol="0" anchor="ctr"/>
          <a:lstStyle/>
          <a:p>
            <a:pPr indent="0" marL="0">
              <a:buNone/>
            </a:pPr>
            <a:r>
              <a:rPr lang="en-US" sz="1100" dirty="0">
                <a:solidFill>
                  <a:srgbClr val="5C4033"/>
                </a:solidFill>
                <a:latin typeface="Calibri" pitchFamily="34" charset="0"/>
                <a:ea typeface="Calibri" pitchFamily="34" charset="-122"/>
                <a:cs typeface="Calibri" pitchFamily="34" charset="-120"/>
              </a:rPr>
              <a:t>Titulo de propiedad: limpio</a:t>
            </a:r>
            <a:endParaRPr lang="en-US" sz="1100" dirty="0"/>
          </a:p>
        </p:txBody>
      </p:sp>
      <p:pic>
        <p:nvPicPr>
          <p:cNvPr id="12" name="Image 3" descr="preencoded.png"/>
          <p:cNvPicPr>
            <a:picLocks noChangeAspect="1"/>
          </p:cNvPicPr>
          <p:nvPr/>
        </p:nvPicPr>
        <p:blipFill>
          <a:blip r:embed="rId4"/>
          <a:stretch>
            <a:fillRect/>
          </a:stretch>
        </p:blipFill>
        <p:spPr>
          <a:xfrm>
            <a:off x="640080" y="3438144"/>
            <a:ext cx="292608" cy="292608"/>
          </a:xfrm>
          <a:prstGeom prst="rect">
            <a:avLst/>
          </a:prstGeom>
        </p:spPr>
      </p:pic>
      <p:sp>
        <p:nvSpPr>
          <p:cNvPr id="13" name="Text 7"/>
          <p:cNvSpPr/>
          <p:nvPr/>
        </p:nvSpPr>
        <p:spPr>
          <a:xfrm>
            <a:off x="1097280" y="3392424"/>
            <a:ext cx="3474720" cy="502920"/>
          </a:xfrm>
          <a:prstGeom prst="rect">
            <a:avLst/>
          </a:prstGeom>
          <a:noFill/>
          <a:ln/>
        </p:spPr>
        <p:txBody>
          <a:bodyPr wrap="square" lIns="0" tIns="0" rIns="0" bIns="0" rtlCol="0" anchor="ctr"/>
          <a:lstStyle/>
          <a:p>
            <a:pPr indent="0" marL="0">
              <a:buNone/>
            </a:pPr>
            <a:r>
              <a:rPr lang="en-US" sz="1100" dirty="0">
                <a:solidFill>
                  <a:srgbClr val="5C4033"/>
                </a:solidFill>
                <a:latin typeface="Calibri" pitchFamily="34" charset="0"/>
                <a:ea typeface="Calibri" pitchFamily="34" charset="-122"/>
                <a:cs typeface="Calibri" pitchFamily="34" charset="-120"/>
              </a:rPr>
              <a:t>Gas PDVSA (contrato vigente), 66 kVA, agua industrial</a:t>
            </a:r>
            <a:endParaRPr lang="en-US" sz="1100" dirty="0"/>
          </a:p>
        </p:txBody>
      </p:sp>
      <p:pic>
        <p:nvPicPr>
          <p:cNvPr id="14" name="Image 4" descr="preencoded.png"/>
          <p:cNvPicPr>
            <a:picLocks noChangeAspect="1"/>
          </p:cNvPicPr>
          <p:nvPr/>
        </p:nvPicPr>
        <p:blipFill>
          <a:blip r:embed="rId5"/>
          <a:stretch>
            <a:fillRect/>
          </a:stretch>
        </p:blipFill>
        <p:spPr>
          <a:xfrm>
            <a:off x="640080" y="4096512"/>
            <a:ext cx="292608" cy="292608"/>
          </a:xfrm>
          <a:prstGeom prst="rect">
            <a:avLst/>
          </a:prstGeom>
        </p:spPr>
      </p:pic>
      <p:sp>
        <p:nvSpPr>
          <p:cNvPr id="15" name="Text 8"/>
          <p:cNvSpPr/>
          <p:nvPr/>
        </p:nvSpPr>
        <p:spPr>
          <a:xfrm>
            <a:off x="1097280" y="4050792"/>
            <a:ext cx="3474720" cy="502920"/>
          </a:xfrm>
          <a:prstGeom prst="rect">
            <a:avLst/>
          </a:prstGeom>
          <a:noFill/>
          <a:ln/>
        </p:spPr>
        <p:txBody>
          <a:bodyPr wrap="square" lIns="0" tIns="0" rIns="0" bIns="0" rtlCol="0" anchor="ctr"/>
          <a:lstStyle/>
          <a:p>
            <a:pPr indent="0" marL="0">
              <a:buNone/>
            </a:pPr>
            <a:r>
              <a:rPr lang="en-US" sz="1100" dirty="0">
                <a:solidFill>
                  <a:srgbClr val="5C4033"/>
                </a:solidFill>
                <a:latin typeface="Calibri" pitchFamily="34" charset="0"/>
                <a:ea typeface="Calibri" pitchFamily="34" charset="-122"/>
                <a:cs typeface="Calibri" pitchFamily="34" charset="-120"/>
              </a:rPr>
              <a:t>RIF: J-07014488-0 | Licencia municipal vigente</a:t>
            </a:r>
            <a:endParaRPr lang="en-US" sz="1100" dirty="0"/>
          </a:p>
        </p:txBody>
      </p:sp>
      <p:pic>
        <p:nvPicPr>
          <p:cNvPr id="16" name="Image 5" descr="/sessions/sweet-gallant-wright/pyglara-deck/images/exterior.jpg"/>
          <p:cNvPicPr>
            <a:picLocks noChangeAspect="1"/>
          </p:cNvPicPr>
          <p:nvPr/>
        </p:nvPicPr>
        <p:blipFill>
          <a:blip r:embed="rId6"/>
          <a:srcRect l="0" r="0" t="0" b="0"/>
          <a:stretch/>
        </p:blipFill>
        <p:spPr>
          <a:xfrm>
            <a:off x="5029200" y="548640"/>
            <a:ext cx="3657600" cy="4023360"/>
          </a:xfrm>
          <a:prstGeom prst="rect">
            <a:avLst/>
          </a:prstGeom>
        </p:spPr>
      </p:pic>
      <p:sp>
        <p:nvSpPr>
          <p:cNvPr id="17" name="Shape 9"/>
          <p:cNvSpPr/>
          <p:nvPr/>
        </p:nvSpPr>
        <p:spPr>
          <a:xfrm>
            <a:off x="5029200" y="548640"/>
            <a:ext cx="3657600" cy="4023360"/>
          </a:xfrm>
          <a:prstGeom prst="rect">
            <a:avLst/>
          </a:prstGeom>
          <a:ln w="19050">
            <a:solidFill>
              <a:srgbClr val="B87333"/>
            </a:solidFill>
            <a:prstDash val="solid"/>
          </a:ln>
        </p:spPr>
        <p:txBody>
          <a:body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2EDE6"/>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9 / 30</a:t>
            </a:r>
            <a:endParaRPr lang="en-US" sz="800" dirty="0"/>
          </a:p>
        </p:txBody>
      </p:sp>
      <p:sp>
        <p:nvSpPr>
          <p:cNvPr id="4" name="Text 2"/>
          <p:cNvSpPr/>
          <p:nvPr/>
        </p:nvSpPr>
        <p:spPr>
          <a:xfrm>
            <a:off x="548640" y="137160"/>
            <a:ext cx="8046720" cy="457200"/>
          </a:xfrm>
          <a:prstGeom prst="rect">
            <a:avLst/>
          </a:prstGeom>
          <a:noFill/>
          <a:ln/>
        </p:spPr>
        <p:txBody>
          <a:bodyPr wrap="square" lIns="0" tIns="0" rIns="0" bIns="0" rtlCol="0" anchor="ctr"/>
          <a:lstStyle/>
          <a:p>
            <a:pPr indent="0" marL="0">
              <a:buNone/>
            </a:pPr>
            <a:r>
              <a:rPr lang="en-US" sz="2800" b="1" dirty="0">
                <a:solidFill>
                  <a:srgbClr val="3E2C1C"/>
                </a:solidFill>
                <a:latin typeface="Georgia" pitchFamily="34" charset="0"/>
                <a:ea typeface="Georgia" pitchFamily="34" charset="-122"/>
                <a:cs typeface="Georgia" pitchFamily="34" charset="-120"/>
              </a:rPr>
              <a:t>UBICACION ESTRATEGICA</a:t>
            </a:r>
            <a:endParaRPr lang="en-US" sz="2800" dirty="0"/>
          </a:p>
        </p:txBody>
      </p:sp>
      <p:sp>
        <p:nvSpPr>
          <p:cNvPr id="5" name="Text 3"/>
          <p:cNvSpPr/>
          <p:nvPr/>
        </p:nvSpPr>
        <p:spPr>
          <a:xfrm>
            <a:off x="548640" y="594360"/>
            <a:ext cx="8046720" cy="228600"/>
          </a:xfrm>
          <a:prstGeom prst="rect">
            <a:avLst/>
          </a:prstGeom>
          <a:noFill/>
          <a:ln/>
        </p:spPr>
        <p:txBody>
          <a:bodyPr wrap="square" lIns="0" tIns="0" rIns="0" bIns="0" rtlCol="0" anchor="ctr"/>
          <a:lstStyle/>
          <a:p>
            <a:pPr indent="0" marL="0">
              <a:buNone/>
            </a:pPr>
            <a:r>
              <a:rPr lang="en-US" sz="1100" i="1" dirty="0">
                <a:solidFill>
                  <a:srgbClr val="8B5A2B"/>
                </a:solidFill>
                <a:latin typeface="Calibri" pitchFamily="34" charset="0"/>
                <a:ea typeface="Calibri" pitchFamily="34" charset="-122"/>
                <a:cs typeface="Calibri" pitchFamily="34" charset="-120"/>
              </a:rPr>
              <a:t>Barquisimeto: hub logistico del centro-occidente de Venezuela</a:t>
            </a:r>
            <a:endParaRPr lang="en-US" sz="1100" dirty="0"/>
          </a:p>
        </p:txBody>
      </p:sp>
      <p:pic>
        <p:nvPicPr>
          <p:cNvPr id="6" name="Image 0" descr="/sessions/sweet-gallant-wright/pyglara-deck/images/map_venezuela_real.png"/>
          <p:cNvPicPr>
            <a:picLocks noChangeAspect="1"/>
          </p:cNvPicPr>
          <p:nvPr/>
        </p:nvPicPr>
        <p:blipFill>
          <a:blip r:embed="rId1"/>
          <a:srcRect l="0" r="0" t="0" b="0"/>
          <a:stretch/>
        </p:blipFill>
        <p:spPr>
          <a:xfrm>
            <a:off x="274320" y="868680"/>
            <a:ext cx="8595360" cy="42062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10 / 30</a:t>
            </a:r>
            <a:endParaRPr lang="en-US" sz="800" dirty="0"/>
          </a:p>
        </p:txBody>
      </p:sp>
      <p:sp>
        <p:nvSpPr>
          <p:cNvPr id="4" name="Text 2"/>
          <p:cNvSpPr/>
          <p:nvPr/>
        </p:nvSpPr>
        <p:spPr>
          <a:xfrm>
            <a:off x="548640" y="137160"/>
            <a:ext cx="8046720" cy="457200"/>
          </a:xfrm>
          <a:prstGeom prst="rect">
            <a:avLst/>
          </a:prstGeom>
          <a:noFill/>
          <a:ln/>
        </p:spPr>
        <p:txBody>
          <a:bodyPr wrap="square" lIns="0" tIns="0" rIns="0" bIns="0" rtlCol="0" anchor="ctr"/>
          <a:lstStyle/>
          <a:p>
            <a:pPr indent="0" marL="0">
              <a:buNone/>
            </a:pPr>
            <a:r>
              <a:rPr lang="en-US" sz="2800" b="1" dirty="0">
                <a:solidFill>
                  <a:srgbClr val="3E2C1C"/>
                </a:solidFill>
                <a:latin typeface="Georgia" pitchFamily="34" charset="0"/>
                <a:ea typeface="Georgia" pitchFamily="34" charset="-122"/>
                <a:cs typeface="Georgia" pitchFamily="34" charset="-120"/>
              </a:rPr>
              <a:t>VENTAJAS GEOGRAFICAS</a:t>
            </a:r>
            <a:endParaRPr lang="en-US" sz="2800" dirty="0"/>
          </a:p>
        </p:txBody>
      </p:sp>
      <p:sp>
        <p:nvSpPr>
          <p:cNvPr id="5" name="Text 3"/>
          <p:cNvSpPr/>
          <p:nvPr/>
        </p:nvSpPr>
        <p:spPr>
          <a:xfrm>
            <a:off x="548640" y="594360"/>
            <a:ext cx="8046720" cy="228600"/>
          </a:xfrm>
          <a:prstGeom prst="rect">
            <a:avLst/>
          </a:prstGeom>
          <a:noFill/>
          <a:ln/>
        </p:spPr>
        <p:txBody>
          <a:bodyPr wrap="square" lIns="0" tIns="0" rIns="0" bIns="0" rtlCol="0" anchor="ctr"/>
          <a:lstStyle/>
          <a:p>
            <a:pPr indent="0" marL="0">
              <a:buNone/>
            </a:pPr>
            <a:r>
              <a:rPr lang="en-US" sz="1100" i="1" dirty="0">
                <a:solidFill>
                  <a:srgbClr val="8B5A2B"/>
                </a:solidFill>
                <a:latin typeface="Calibri" pitchFamily="34" charset="0"/>
                <a:ea typeface="Calibri" pitchFamily="34" charset="-122"/>
                <a:cs typeface="Calibri" pitchFamily="34" charset="-120"/>
              </a:rPr>
              <a:t>Lo que significa nuestra ubicacion para la planta</a:t>
            </a:r>
            <a:endParaRPr lang="en-US" sz="1100" dirty="0"/>
          </a:p>
        </p:txBody>
      </p:sp>
      <p:sp>
        <p:nvSpPr>
          <p:cNvPr id="6" name="Shape 4"/>
          <p:cNvSpPr/>
          <p:nvPr/>
        </p:nvSpPr>
        <p:spPr>
          <a:xfrm>
            <a:off x="548640" y="1005840"/>
            <a:ext cx="3931920" cy="109728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7" name="Shape 5"/>
          <p:cNvSpPr/>
          <p:nvPr/>
        </p:nvSpPr>
        <p:spPr>
          <a:xfrm>
            <a:off x="548640" y="1005840"/>
            <a:ext cx="54864" cy="1097280"/>
          </a:xfrm>
          <a:prstGeom prst="rect">
            <a:avLst/>
          </a:prstGeom>
          <a:solidFill>
            <a:srgbClr val="B87333"/>
          </a:solidFill>
          <a:ln/>
        </p:spPr>
        <p:txBody>
          <a:bodyPr/>
          <a:p/>
        </p:txBody>
      </p:sp>
      <p:pic>
        <p:nvPicPr>
          <p:cNvPr id="8" name="Image 0" descr="preencoded.png"/>
          <p:cNvPicPr>
            <a:picLocks noChangeAspect="1"/>
          </p:cNvPicPr>
          <p:nvPr/>
        </p:nvPicPr>
        <p:blipFill>
          <a:blip r:embed="rId1"/>
          <a:stretch>
            <a:fillRect/>
          </a:stretch>
        </p:blipFill>
        <p:spPr>
          <a:xfrm>
            <a:off x="731520" y="1143000"/>
            <a:ext cx="365760" cy="365760"/>
          </a:xfrm>
          <a:prstGeom prst="rect">
            <a:avLst/>
          </a:prstGeom>
        </p:spPr>
      </p:pic>
      <p:sp>
        <p:nvSpPr>
          <p:cNvPr id="9" name="Text 6"/>
          <p:cNvSpPr/>
          <p:nvPr/>
        </p:nvSpPr>
        <p:spPr>
          <a:xfrm>
            <a:off x="1234440" y="1078992"/>
            <a:ext cx="3017520" cy="320040"/>
          </a:xfrm>
          <a:prstGeom prst="rect">
            <a:avLst/>
          </a:prstGeom>
          <a:noFill/>
          <a:ln/>
        </p:spPr>
        <p:txBody>
          <a:bodyPr wrap="square" lIns="0" tIns="0" rIns="0" bIns="0" rtlCol="0" anchor="ctr"/>
          <a:lstStyle/>
          <a:p>
            <a:pPr indent="0" marL="0">
              <a:buNone/>
            </a:pPr>
            <a:r>
              <a:rPr lang="en-US" sz="1100" b="1" dirty="0">
                <a:solidFill>
                  <a:srgbClr val="8B5A2B"/>
                </a:solidFill>
                <a:latin typeface="Calibri" pitchFamily="34" charset="0"/>
                <a:ea typeface="Calibri" pitchFamily="34" charset="-122"/>
                <a:cs typeface="Calibri" pitchFamily="34" charset="-120"/>
              </a:rPr>
              <a:t>Puerto Cabello — 2.5 horas</a:t>
            </a:r>
            <a:endParaRPr lang="en-US" sz="1100" dirty="0"/>
          </a:p>
        </p:txBody>
      </p:sp>
      <p:sp>
        <p:nvSpPr>
          <p:cNvPr id="10" name="Text 7"/>
          <p:cNvSpPr/>
          <p:nvPr/>
        </p:nvSpPr>
        <p:spPr>
          <a:xfrm>
            <a:off x="1234440" y="1417320"/>
            <a:ext cx="3017520" cy="594360"/>
          </a:xfrm>
          <a:prstGeom prst="rect">
            <a:avLst/>
          </a:prstGeom>
          <a:noFill/>
          <a:ln/>
        </p:spPr>
        <p:txBody>
          <a:bodyPr wrap="square" lIns="0" tIns="0" rIns="0" bIns="0" rtlCol="0" anchor="t"/>
          <a:lstStyle/>
          <a:p>
            <a:pPr indent="0" marL="0">
              <a:buNone/>
            </a:pPr>
            <a:r>
              <a:rPr lang="en-US" sz="900" dirty="0">
                <a:solidFill>
                  <a:srgbClr val="5C4033"/>
                </a:solidFill>
                <a:latin typeface="Calibri" pitchFamily="34" charset="0"/>
                <a:ea typeface="Calibri" pitchFamily="34" charset="-122"/>
                <a:cs typeface="Calibri" pitchFamily="34" charset="-120"/>
              </a:rPr>
              <a:t>Principal puerto de importacion de zinc del pais. Reduce costos y tiempos de entrega de materia prima.</a:t>
            </a:r>
            <a:endParaRPr lang="en-US" sz="900" dirty="0"/>
          </a:p>
        </p:txBody>
      </p:sp>
      <p:sp>
        <p:nvSpPr>
          <p:cNvPr id="11" name="Shape 8"/>
          <p:cNvSpPr/>
          <p:nvPr/>
        </p:nvSpPr>
        <p:spPr>
          <a:xfrm>
            <a:off x="4754880" y="1005840"/>
            <a:ext cx="3931920" cy="109728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12" name="Shape 9"/>
          <p:cNvSpPr/>
          <p:nvPr/>
        </p:nvSpPr>
        <p:spPr>
          <a:xfrm>
            <a:off x="4754880" y="1005840"/>
            <a:ext cx="54864" cy="1097280"/>
          </a:xfrm>
          <a:prstGeom prst="rect">
            <a:avLst/>
          </a:prstGeom>
          <a:solidFill>
            <a:srgbClr val="B87333"/>
          </a:solidFill>
          <a:ln/>
        </p:spPr>
        <p:txBody>
          <a:bodyPr/>
          <a:p/>
        </p:txBody>
      </p:sp>
      <p:pic>
        <p:nvPicPr>
          <p:cNvPr id="13" name="Image 1" descr="preencoded.png"/>
          <p:cNvPicPr>
            <a:picLocks noChangeAspect="1"/>
          </p:cNvPicPr>
          <p:nvPr/>
        </p:nvPicPr>
        <p:blipFill>
          <a:blip r:embed="rId2"/>
          <a:stretch>
            <a:fillRect/>
          </a:stretch>
        </p:blipFill>
        <p:spPr>
          <a:xfrm>
            <a:off x="4937760" y="1143000"/>
            <a:ext cx="365760" cy="365760"/>
          </a:xfrm>
          <a:prstGeom prst="rect">
            <a:avLst/>
          </a:prstGeom>
        </p:spPr>
      </p:pic>
      <p:sp>
        <p:nvSpPr>
          <p:cNvPr id="14" name="Text 10"/>
          <p:cNvSpPr/>
          <p:nvPr/>
        </p:nvSpPr>
        <p:spPr>
          <a:xfrm>
            <a:off x="5440680" y="1078992"/>
            <a:ext cx="3017520" cy="320040"/>
          </a:xfrm>
          <a:prstGeom prst="rect">
            <a:avLst/>
          </a:prstGeom>
          <a:noFill/>
          <a:ln/>
        </p:spPr>
        <p:txBody>
          <a:bodyPr wrap="square" lIns="0" tIns="0" rIns="0" bIns="0" rtlCol="0" anchor="ctr"/>
          <a:lstStyle/>
          <a:p>
            <a:pPr indent="0" marL="0">
              <a:buNone/>
            </a:pPr>
            <a:r>
              <a:rPr lang="en-US" sz="1100" b="1" dirty="0">
                <a:solidFill>
                  <a:srgbClr val="8B5A2B"/>
                </a:solidFill>
                <a:latin typeface="Calibri" pitchFamily="34" charset="0"/>
                <a:ea typeface="Calibri" pitchFamily="34" charset="-122"/>
                <a:cs typeface="Calibri" pitchFamily="34" charset="-120"/>
              </a:rPr>
              <a:t>Caracas — 3 horas</a:t>
            </a:r>
            <a:endParaRPr lang="en-US" sz="1100" dirty="0"/>
          </a:p>
        </p:txBody>
      </p:sp>
      <p:sp>
        <p:nvSpPr>
          <p:cNvPr id="15" name="Text 11"/>
          <p:cNvSpPr/>
          <p:nvPr/>
        </p:nvSpPr>
        <p:spPr>
          <a:xfrm>
            <a:off x="5440680" y="1417320"/>
            <a:ext cx="3017520" cy="594360"/>
          </a:xfrm>
          <a:prstGeom prst="rect">
            <a:avLst/>
          </a:prstGeom>
          <a:noFill/>
          <a:ln/>
        </p:spPr>
        <p:txBody>
          <a:bodyPr wrap="square" lIns="0" tIns="0" rIns="0" bIns="0" rtlCol="0" anchor="t"/>
          <a:lstStyle/>
          <a:p>
            <a:pPr indent="0" marL="0">
              <a:buNone/>
            </a:pPr>
            <a:r>
              <a:rPr lang="en-US" sz="900" dirty="0">
                <a:solidFill>
                  <a:srgbClr val="5C4033"/>
                </a:solidFill>
                <a:latin typeface="Calibri" pitchFamily="34" charset="0"/>
                <a:ea typeface="Calibri" pitchFamily="34" charset="-122"/>
                <a:cs typeface="Calibri" pitchFamily="34" charset="-120"/>
              </a:rPr>
              <a:t>Conexion directa con la capital por autopista. Acceso a clientes del sector construccion e infraestructura.</a:t>
            </a:r>
            <a:endParaRPr lang="en-US" sz="900" dirty="0"/>
          </a:p>
        </p:txBody>
      </p:sp>
      <p:sp>
        <p:nvSpPr>
          <p:cNvPr id="16" name="Shape 12"/>
          <p:cNvSpPr/>
          <p:nvPr/>
        </p:nvSpPr>
        <p:spPr>
          <a:xfrm>
            <a:off x="548640" y="2286000"/>
            <a:ext cx="3931920" cy="109728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17" name="Shape 13"/>
          <p:cNvSpPr/>
          <p:nvPr/>
        </p:nvSpPr>
        <p:spPr>
          <a:xfrm>
            <a:off x="548640" y="2286000"/>
            <a:ext cx="54864" cy="1097280"/>
          </a:xfrm>
          <a:prstGeom prst="rect">
            <a:avLst/>
          </a:prstGeom>
          <a:solidFill>
            <a:srgbClr val="B87333"/>
          </a:solidFill>
          <a:ln/>
        </p:spPr>
        <p:txBody>
          <a:bodyPr/>
          <a:p/>
        </p:txBody>
      </p:sp>
      <p:pic>
        <p:nvPicPr>
          <p:cNvPr id="18" name="Image 2" descr="preencoded.png"/>
          <p:cNvPicPr>
            <a:picLocks noChangeAspect="1"/>
          </p:cNvPicPr>
          <p:nvPr/>
        </p:nvPicPr>
        <p:blipFill>
          <a:blip r:embed="rId3"/>
          <a:stretch>
            <a:fillRect/>
          </a:stretch>
        </p:blipFill>
        <p:spPr>
          <a:xfrm>
            <a:off x="731520" y="2423160"/>
            <a:ext cx="365760" cy="365760"/>
          </a:xfrm>
          <a:prstGeom prst="rect">
            <a:avLst/>
          </a:prstGeom>
        </p:spPr>
      </p:pic>
      <p:sp>
        <p:nvSpPr>
          <p:cNvPr id="19" name="Text 14"/>
          <p:cNvSpPr/>
          <p:nvPr/>
        </p:nvSpPr>
        <p:spPr>
          <a:xfrm>
            <a:off x="1234440" y="2359152"/>
            <a:ext cx="3017520" cy="320040"/>
          </a:xfrm>
          <a:prstGeom prst="rect">
            <a:avLst/>
          </a:prstGeom>
          <a:noFill/>
          <a:ln/>
        </p:spPr>
        <p:txBody>
          <a:bodyPr wrap="square" lIns="0" tIns="0" rIns="0" bIns="0" rtlCol="0" anchor="ctr"/>
          <a:lstStyle/>
          <a:p>
            <a:pPr indent="0" marL="0">
              <a:buNone/>
            </a:pPr>
            <a:r>
              <a:rPr lang="en-US" sz="1100" b="1" dirty="0">
                <a:solidFill>
                  <a:srgbClr val="8B5A2B"/>
                </a:solidFill>
                <a:latin typeface="Calibri" pitchFamily="34" charset="0"/>
                <a:ea typeface="Calibri" pitchFamily="34" charset="-122"/>
                <a:cs typeface="Calibri" pitchFamily="34" charset="-120"/>
              </a:rPr>
              <a:t>Sector petrolero — Zulia a 4 horas</a:t>
            </a:r>
            <a:endParaRPr lang="en-US" sz="1100" dirty="0"/>
          </a:p>
        </p:txBody>
      </p:sp>
      <p:sp>
        <p:nvSpPr>
          <p:cNvPr id="20" name="Text 15"/>
          <p:cNvSpPr/>
          <p:nvPr/>
        </p:nvSpPr>
        <p:spPr>
          <a:xfrm>
            <a:off x="1234440" y="2697480"/>
            <a:ext cx="3017520" cy="594360"/>
          </a:xfrm>
          <a:prstGeom prst="rect">
            <a:avLst/>
          </a:prstGeom>
          <a:noFill/>
          <a:ln/>
        </p:spPr>
        <p:txBody>
          <a:bodyPr wrap="square" lIns="0" tIns="0" rIns="0" bIns="0" rtlCol="0" anchor="t"/>
          <a:lstStyle/>
          <a:p>
            <a:pPr indent="0" marL="0">
              <a:buNone/>
            </a:pPr>
            <a:r>
              <a:rPr lang="en-US" sz="900" dirty="0">
                <a:solidFill>
                  <a:srgbClr val="5C4033"/>
                </a:solidFill>
                <a:latin typeface="Calibri" pitchFamily="34" charset="0"/>
                <a:ea typeface="Calibri" pitchFamily="34" charset="-122"/>
                <a:cs typeface="Calibri" pitchFamily="34" charset="-120"/>
              </a:rPr>
              <a:t>Acceso directo a la region petrolera del Lago de Maracaibo. PDVSA y contratistas necesitan acero galvanizado.</a:t>
            </a:r>
            <a:endParaRPr lang="en-US" sz="900" dirty="0"/>
          </a:p>
        </p:txBody>
      </p:sp>
      <p:sp>
        <p:nvSpPr>
          <p:cNvPr id="21" name="Shape 16"/>
          <p:cNvSpPr/>
          <p:nvPr/>
        </p:nvSpPr>
        <p:spPr>
          <a:xfrm>
            <a:off x="4754880" y="2286000"/>
            <a:ext cx="3931920" cy="109728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22" name="Shape 17"/>
          <p:cNvSpPr/>
          <p:nvPr/>
        </p:nvSpPr>
        <p:spPr>
          <a:xfrm>
            <a:off x="4754880" y="2286000"/>
            <a:ext cx="54864" cy="1097280"/>
          </a:xfrm>
          <a:prstGeom prst="rect">
            <a:avLst/>
          </a:prstGeom>
          <a:solidFill>
            <a:srgbClr val="B87333"/>
          </a:solidFill>
          <a:ln/>
        </p:spPr>
        <p:txBody>
          <a:bodyPr/>
          <a:p/>
        </p:txBody>
      </p:sp>
      <p:pic>
        <p:nvPicPr>
          <p:cNvPr id="23" name="Image 3" descr="preencoded.png"/>
          <p:cNvPicPr>
            <a:picLocks noChangeAspect="1"/>
          </p:cNvPicPr>
          <p:nvPr/>
        </p:nvPicPr>
        <p:blipFill>
          <a:blip r:embed="rId4"/>
          <a:stretch>
            <a:fillRect/>
          </a:stretch>
        </p:blipFill>
        <p:spPr>
          <a:xfrm>
            <a:off x="4937760" y="2423160"/>
            <a:ext cx="365760" cy="365760"/>
          </a:xfrm>
          <a:prstGeom prst="rect">
            <a:avLst/>
          </a:prstGeom>
        </p:spPr>
      </p:pic>
      <p:sp>
        <p:nvSpPr>
          <p:cNvPr id="24" name="Text 18"/>
          <p:cNvSpPr/>
          <p:nvPr/>
        </p:nvSpPr>
        <p:spPr>
          <a:xfrm>
            <a:off x="5440680" y="2359152"/>
            <a:ext cx="3017520" cy="320040"/>
          </a:xfrm>
          <a:prstGeom prst="rect">
            <a:avLst/>
          </a:prstGeom>
          <a:noFill/>
          <a:ln/>
        </p:spPr>
        <p:txBody>
          <a:bodyPr wrap="square" lIns="0" tIns="0" rIns="0" bIns="0" rtlCol="0" anchor="ctr"/>
          <a:lstStyle/>
          <a:p>
            <a:pPr indent="0" marL="0">
              <a:buNone/>
            </a:pPr>
            <a:r>
              <a:rPr lang="en-US" sz="1100" b="1" dirty="0">
                <a:solidFill>
                  <a:srgbClr val="8B5A2B"/>
                </a:solidFill>
                <a:latin typeface="Calibri" pitchFamily="34" charset="0"/>
                <a:ea typeface="Calibri" pitchFamily="34" charset="-122"/>
                <a:cs typeface="Calibri" pitchFamily="34" charset="-120"/>
              </a:rPr>
              <a:t>Cobertura de 8 estados</a:t>
            </a:r>
            <a:endParaRPr lang="en-US" sz="1100" dirty="0"/>
          </a:p>
        </p:txBody>
      </p:sp>
      <p:sp>
        <p:nvSpPr>
          <p:cNvPr id="25" name="Text 19"/>
          <p:cNvSpPr/>
          <p:nvPr/>
        </p:nvSpPr>
        <p:spPr>
          <a:xfrm>
            <a:off x="5440680" y="2697480"/>
            <a:ext cx="3017520" cy="594360"/>
          </a:xfrm>
          <a:prstGeom prst="rect">
            <a:avLst/>
          </a:prstGeom>
          <a:noFill/>
          <a:ln/>
        </p:spPr>
        <p:txBody>
          <a:bodyPr wrap="square" lIns="0" tIns="0" rIns="0" bIns="0" rtlCol="0" anchor="t"/>
          <a:lstStyle/>
          <a:p>
            <a:pPr indent="0" marL="0">
              <a:buNone/>
            </a:pPr>
            <a:r>
              <a:rPr lang="en-US" sz="900" dirty="0">
                <a:solidFill>
                  <a:srgbClr val="5C4033"/>
                </a:solidFill>
                <a:latin typeface="Calibri" pitchFamily="34" charset="0"/>
                <a:ea typeface="Calibri" pitchFamily="34" charset="-122"/>
                <a:cs typeface="Calibri" pitchFamily="34" charset="-120"/>
              </a:rPr>
              <a:t>Lara, Yaracuy, Portuguesa, Falcon, Trujillo, Barinas, Merida y Zulia. Sin competidor cercano en toda la region.</a:t>
            </a:r>
            <a:endParaRPr lang="en-US" sz="900" dirty="0"/>
          </a:p>
        </p:txBody>
      </p:sp>
      <p:sp>
        <p:nvSpPr>
          <p:cNvPr id="26" name="Shape 20"/>
          <p:cNvSpPr/>
          <p:nvPr/>
        </p:nvSpPr>
        <p:spPr>
          <a:xfrm>
            <a:off x="548640" y="3566160"/>
            <a:ext cx="3931920" cy="109728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27" name="Shape 21"/>
          <p:cNvSpPr/>
          <p:nvPr/>
        </p:nvSpPr>
        <p:spPr>
          <a:xfrm>
            <a:off x="548640" y="3566160"/>
            <a:ext cx="54864" cy="1097280"/>
          </a:xfrm>
          <a:prstGeom prst="rect">
            <a:avLst/>
          </a:prstGeom>
          <a:solidFill>
            <a:srgbClr val="B87333"/>
          </a:solidFill>
          <a:ln/>
        </p:spPr>
        <p:txBody>
          <a:bodyPr/>
          <a:p/>
        </p:txBody>
      </p:sp>
      <p:pic>
        <p:nvPicPr>
          <p:cNvPr id="28" name="Image 4" descr="preencoded.png"/>
          <p:cNvPicPr>
            <a:picLocks noChangeAspect="1"/>
          </p:cNvPicPr>
          <p:nvPr/>
        </p:nvPicPr>
        <p:blipFill>
          <a:blip r:embed="rId5"/>
          <a:stretch>
            <a:fillRect/>
          </a:stretch>
        </p:blipFill>
        <p:spPr>
          <a:xfrm>
            <a:off x="731520" y="3703320"/>
            <a:ext cx="365760" cy="365760"/>
          </a:xfrm>
          <a:prstGeom prst="rect">
            <a:avLst/>
          </a:prstGeom>
        </p:spPr>
      </p:pic>
      <p:sp>
        <p:nvSpPr>
          <p:cNvPr id="29" name="Text 22"/>
          <p:cNvSpPr/>
          <p:nvPr/>
        </p:nvSpPr>
        <p:spPr>
          <a:xfrm>
            <a:off x="1234440" y="3639312"/>
            <a:ext cx="3017520" cy="320040"/>
          </a:xfrm>
          <a:prstGeom prst="rect">
            <a:avLst/>
          </a:prstGeom>
          <a:noFill/>
          <a:ln/>
        </p:spPr>
        <p:txBody>
          <a:bodyPr wrap="square" lIns="0" tIns="0" rIns="0" bIns="0" rtlCol="0" anchor="ctr"/>
          <a:lstStyle/>
          <a:p>
            <a:pPr indent="0" marL="0">
              <a:buNone/>
            </a:pPr>
            <a:r>
              <a:rPr lang="en-US" sz="1100" b="1" dirty="0">
                <a:solidFill>
                  <a:srgbClr val="8B5A2B"/>
                </a:solidFill>
                <a:latin typeface="Calibri" pitchFamily="34" charset="0"/>
                <a:ea typeface="Calibri" pitchFamily="34" charset="-122"/>
                <a:cs typeface="Calibri" pitchFamily="34" charset="-120"/>
              </a:rPr>
              <a:t>Zona Industrial I — clientes a metros</a:t>
            </a:r>
            <a:endParaRPr lang="en-US" sz="1100" dirty="0"/>
          </a:p>
        </p:txBody>
      </p:sp>
      <p:sp>
        <p:nvSpPr>
          <p:cNvPr id="30" name="Text 23"/>
          <p:cNvSpPr/>
          <p:nvPr/>
        </p:nvSpPr>
        <p:spPr>
          <a:xfrm>
            <a:off x="1234440" y="3977640"/>
            <a:ext cx="3017520" cy="594360"/>
          </a:xfrm>
          <a:prstGeom prst="rect">
            <a:avLst/>
          </a:prstGeom>
          <a:noFill/>
          <a:ln/>
        </p:spPr>
        <p:txBody>
          <a:bodyPr wrap="square" lIns="0" tIns="0" rIns="0" bIns="0" rtlCol="0" anchor="t"/>
          <a:lstStyle/>
          <a:p>
            <a:pPr indent="0" marL="0">
              <a:buNone/>
            </a:pPr>
            <a:r>
              <a:rPr lang="en-US" sz="900" dirty="0">
                <a:solidFill>
                  <a:srgbClr val="5C4033"/>
                </a:solidFill>
                <a:latin typeface="Calibri" pitchFamily="34" charset="0"/>
                <a:ea typeface="Calibri" pitchFamily="34" charset="-122"/>
                <a:cs typeface="Calibri" pitchFamily="34" charset="-120"/>
              </a:rPr>
              <a:t>CORPOELEC, SASGO, Marullo e INDUESCA estan en el MISMO complejo industrial. Cero costos de transporte.</a:t>
            </a:r>
            <a:endParaRPr lang="en-US" sz="900" dirty="0"/>
          </a:p>
        </p:txBody>
      </p:sp>
      <p:sp>
        <p:nvSpPr>
          <p:cNvPr id="31" name="Shape 24"/>
          <p:cNvSpPr/>
          <p:nvPr/>
        </p:nvSpPr>
        <p:spPr>
          <a:xfrm>
            <a:off x="4754880" y="3566160"/>
            <a:ext cx="3931920" cy="109728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32" name="Shape 25"/>
          <p:cNvSpPr/>
          <p:nvPr/>
        </p:nvSpPr>
        <p:spPr>
          <a:xfrm>
            <a:off x="4754880" y="3566160"/>
            <a:ext cx="54864" cy="1097280"/>
          </a:xfrm>
          <a:prstGeom prst="rect">
            <a:avLst/>
          </a:prstGeom>
          <a:solidFill>
            <a:srgbClr val="B87333"/>
          </a:solidFill>
          <a:ln/>
        </p:spPr>
        <p:txBody>
          <a:bodyPr/>
          <a:p/>
        </p:txBody>
      </p:sp>
      <p:pic>
        <p:nvPicPr>
          <p:cNvPr id="33" name="Image 5" descr="preencoded.png"/>
          <p:cNvPicPr>
            <a:picLocks noChangeAspect="1"/>
          </p:cNvPicPr>
          <p:nvPr/>
        </p:nvPicPr>
        <p:blipFill>
          <a:blip r:embed="rId6"/>
          <a:stretch>
            <a:fillRect/>
          </a:stretch>
        </p:blipFill>
        <p:spPr>
          <a:xfrm>
            <a:off x="4937760" y="3703320"/>
            <a:ext cx="365760" cy="365760"/>
          </a:xfrm>
          <a:prstGeom prst="rect">
            <a:avLst/>
          </a:prstGeom>
        </p:spPr>
      </p:pic>
      <p:sp>
        <p:nvSpPr>
          <p:cNvPr id="34" name="Text 26"/>
          <p:cNvSpPr/>
          <p:nvPr/>
        </p:nvSpPr>
        <p:spPr>
          <a:xfrm>
            <a:off x="5440680" y="3639312"/>
            <a:ext cx="3017520" cy="320040"/>
          </a:xfrm>
          <a:prstGeom prst="rect">
            <a:avLst/>
          </a:prstGeom>
          <a:noFill/>
          <a:ln/>
        </p:spPr>
        <p:txBody>
          <a:bodyPr wrap="square" lIns="0" tIns="0" rIns="0" bIns="0" rtlCol="0" anchor="ctr"/>
          <a:lstStyle/>
          <a:p>
            <a:pPr indent="0" marL="0">
              <a:buNone/>
            </a:pPr>
            <a:r>
              <a:rPr lang="en-US" sz="1100" b="1" dirty="0">
                <a:solidFill>
                  <a:srgbClr val="8B5A2B"/>
                </a:solidFill>
                <a:latin typeface="Calibri" pitchFamily="34" charset="0"/>
                <a:ea typeface="Calibri" pitchFamily="34" charset="-122"/>
                <a:cs typeface="Calibri" pitchFamily="34" charset="-120"/>
              </a:rPr>
              <a:t>Precios de gas y energia industriales</a:t>
            </a:r>
            <a:endParaRPr lang="en-US" sz="1100" dirty="0"/>
          </a:p>
        </p:txBody>
      </p:sp>
      <p:sp>
        <p:nvSpPr>
          <p:cNvPr id="35" name="Text 27"/>
          <p:cNvSpPr/>
          <p:nvPr/>
        </p:nvSpPr>
        <p:spPr>
          <a:xfrm>
            <a:off x="5440680" y="3977640"/>
            <a:ext cx="3017520" cy="594360"/>
          </a:xfrm>
          <a:prstGeom prst="rect">
            <a:avLst/>
          </a:prstGeom>
          <a:noFill/>
          <a:ln/>
        </p:spPr>
        <p:txBody>
          <a:bodyPr wrap="square" lIns="0" tIns="0" rIns="0" bIns="0" rtlCol="0" anchor="t"/>
          <a:lstStyle/>
          <a:p>
            <a:pPr indent="0" marL="0">
              <a:buNone/>
            </a:pPr>
            <a:r>
              <a:rPr lang="en-US" sz="900" dirty="0">
                <a:solidFill>
                  <a:srgbClr val="5C4033"/>
                </a:solidFill>
                <a:latin typeface="Calibri" pitchFamily="34" charset="0"/>
                <a:ea typeface="Calibri" pitchFamily="34" charset="-122"/>
                <a:cs typeface="Calibri" pitchFamily="34" charset="-120"/>
              </a:rPr>
              <a:t>Tarifa PDVSA Gas para zona industrial. Electricidad a precios regulados — costos fijos muy competitivos.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11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3E2C1C"/>
                </a:solidFill>
                <a:latin typeface="Georgia" pitchFamily="34" charset="0"/>
                <a:ea typeface="Georgia" pitchFamily="34" charset="-122"/>
                <a:cs typeface="Georgia" pitchFamily="34" charset="-120"/>
              </a:rPr>
              <a:t>EQUIPOS DE CLASE MUNDIAL</a:t>
            </a:r>
            <a:endParaRPr lang="en-US" sz="2800" dirty="0"/>
          </a:p>
        </p:txBody>
      </p:sp>
      <p:sp>
        <p:nvSpPr>
          <p:cNvPr id="5" name="Text 3"/>
          <p:cNvSpPr/>
          <p:nvPr/>
        </p:nvSpPr>
        <p:spPr>
          <a:xfrm>
            <a:off x="548640" y="731520"/>
            <a:ext cx="8046720" cy="274320"/>
          </a:xfrm>
          <a:prstGeom prst="rect">
            <a:avLst/>
          </a:prstGeom>
          <a:noFill/>
          <a:ln/>
        </p:spPr>
        <p:txBody>
          <a:bodyPr wrap="square" lIns="0" tIns="0" rIns="0" bIns="0" rtlCol="0" anchor="ctr"/>
          <a:lstStyle/>
          <a:p>
            <a:pPr indent="0" marL="0">
              <a:buNone/>
            </a:pPr>
            <a:r>
              <a:rPr lang="en-US" sz="1100" i="1" dirty="0">
                <a:solidFill>
                  <a:srgbClr val="8B5A2B"/>
                </a:solidFill>
                <a:latin typeface="Calibri" pitchFamily="34" charset="0"/>
                <a:ea typeface="Calibri" pitchFamily="34" charset="-122"/>
                <a:cs typeface="Calibri" pitchFamily="34" charset="-120"/>
              </a:rPr>
              <a:t>Cubas Pilling — W. Pilling Riepe GmbH &amp; Co. KG, Alemania (desde 1873)</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8046720" cy="914400"/>
        </p:xfrm>
        <a:graphic>
          <a:graphicData uri="http://schemas.openxmlformats.org/drawingml/2006/table">
            <a:tbl>
              <a:tblPr/>
              <a:tblGrid>
                <a:gridCol w="1828800"/>
                <a:gridCol w="3474720"/>
                <a:gridCol w="2743200"/>
              </a:tblGrid>
              <a:tr h="347472">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CUBA</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ESTADO</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APLICACION</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r>
              <a:tr h="384048">
                <a:tc>
                  <a:txBody>
                    <a:bodyPr/>
                    <a:lstStyle/>
                    <a:p>
                      <a:pPr algn="l" indent="0" marL="0">
                        <a:buNone/>
                      </a:pPr>
                      <a:r>
                        <a:rPr lang="en-US" sz="1000" b="1" dirty="0">
                          <a:solidFill>
                            <a:srgbClr val="8B5A2B"/>
                          </a:solidFill>
                          <a:latin typeface="Calibri" pitchFamily="34" charset="0"/>
                          <a:ea typeface="Calibri" pitchFamily="34" charset="-122"/>
                          <a:cs typeface="Calibri" pitchFamily="34" charset="-120"/>
                        </a:rPr>
                        <a:t>7 metros</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Instalada, quemadores OK, esperando zinc</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Torres, postes, estructuras</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384048">
                <a:tc>
                  <a:txBody>
                    <a:bodyPr/>
                    <a:lstStyle/>
                    <a:p>
                      <a:pPr algn="l" indent="0" marL="0">
                        <a:buNone/>
                      </a:pPr>
                      <a:r>
                        <a:rPr lang="en-US" sz="1000" b="1" dirty="0">
                          <a:solidFill>
                            <a:srgbClr val="8B5A2B"/>
                          </a:solidFill>
                          <a:latin typeface="Calibri" pitchFamily="34" charset="0"/>
                          <a:ea typeface="Calibri" pitchFamily="34" charset="-122"/>
                          <a:cs typeface="Calibri" pitchFamily="34" charset="-120"/>
                        </a:rPr>
                        <a:t>9 metros</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Pendiente de instalacion (valorada $570K)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Piezas sobredimensionadas</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r h="384048">
                <a:tc>
                  <a:txBody>
                    <a:bodyPr/>
                    <a:lstStyle/>
                    <a:p>
                      <a:pPr algn="l" indent="0" marL="0">
                        <a:buNone/>
                      </a:pPr>
                      <a:r>
                        <a:rPr lang="en-US" sz="1000" b="1" dirty="0">
                          <a:solidFill>
                            <a:srgbClr val="8B5A2B"/>
                          </a:solidFill>
                          <a:latin typeface="Calibri" pitchFamily="34" charset="0"/>
                          <a:ea typeface="Calibri" pitchFamily="34" charset="-122"/>
                          <a:cs typeface="Calibri" pitchFamily="34" charset="-120"/>
                        </a:rPr>
                        <a:t>3.5 metros</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Inactiva — necesita reparacion</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Bandejas, soportes, defensas</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384048">
                <a:tc>
                  <a:txBody>
                    <a:bodyPr/>
                    <a:lstStyle/>
                    <a:p>
                      <a:pPr algn="l" indent="0" marL="0">
                        <a:buNone/>
                      </a:pPr>
                      <a:r>
                        <a:rPr lang="en-US" sz="1000" b="1" dirty="0">
                          <a:solidFill>
                            <a:srgbClr val="8B5A2B"/>
                          </a:solidFill>
                          <a:latin typeface="Calibri" pitchFamily="34" charset="0"/>
                          <a:ea typeface="Calibri" pitchFamily="34" charset="-122"/>
                          <a:cs typeface="Calibri" pitchFamily="34" charset="-120"/>
                        </a:rPr>
                        <a:t>Centrifuga 65cm</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l" indent="0" marL="0">
                        <a:buNone/>
                      </a:pPr>
                      <a:r>
                        <a:rPr lang="en-US" sz="1000" b="1" dirty="0">
                          <a:solidFill>
                            <a:srgbClr val="2D7D46"/>
                          </a:solidFill>
                          <a:latin typeface="Calibri" pitchFamily="34" charset="0"/>
                          <a:ea typeface="Calibri" pitchFamily="34" charset="-122"/>
                          <a:cs typeface="Calibri" pitchFamily="34" charset="-120"/>
                        </a:rPr>
                        <a:t>ACTIVA, buena condicion</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Clavos, herrajes, tornillos</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bl>
          </a:graphicData>
        </a:graphic>
      </p:graphicFrame>
      <p:sp>
        <p:nvSpPr>
          <p:cNvPr id="7" name="Shape 4"/>
          <p:cNvSpPr/>
          <p:nvPr/>
        </p:nvSpPr>
        <p:spPr>
          <a:xfrm>
            <a:off x="548640" y="3383280"/>
            <a:ext cx="8046720" cy="1005840"/>
          </a:xfrm>
          <a:prstGeom prst="rect">
            <a:avLst/>
          </a:prstGeom>
          <a:solidFill>
            <a:srgbClr val="FFFFFF"/>
          </a:solidFill>
          <a:ln w="12700">
            <a:solidFill>
              <a:srgbClr val="D4C5B2"/>
            </a:solidFill>
            <a:prstDash val="solid"/>
          </a:ln>
          <a:effectLst>
            <a:outerShdw sx="100000" sy="100000" kx="0" ky="0" algn="bl" rotWithShape="0" blurRad="50800" dist="25400" dir="8100000">
              <a:srgbClr val="000000">
                <a:alpha val="8000"/>
              </a:srgbClr>
            </a:outerShdw>
          </a:effectLst>
        </p:spPr>
        <p:txBody>
          <a:bodyPr/>
          <a:p/>
        </p:txBody>
      </p:sp>
      <p:sp>
        <p:nvSpPr>
          <p:cNvPr id="8" name="Text 5"/>
          <p:cNvSpPr/>
          <p:nvPr/>
        </p:nvSpPr>
        <p:spPr>
          <a:xfrm>
            <a:off x="731520" y="3429000"/>
            <a:ext cx="7680960" cy="457200"/>
          </a:xfrm>
          <a:prstGeom prst="rect">
            <a:avLst/>
          </a:prstGeom>
          <a:noFill/>
          <a:ln/>
        </p:spPr>
        <p:txBody>
          <a:bodyPr wrap="square" rtlCol="0" anchor="ctr"/>
          <a:lstStyle/>
          <a:p>
            <a:pPr indent="0" marL="0">
              <a:buNone/>
            </a:pPr>
            <a:r>
              <a:rPr lang="en-US" sz="1200" dirty="0">
                <a:solidFill>
                  <a:srgbClr val="5C4033"/>
                </a:solidFill>
                <a:latin typeface="Calibri" pitchFamily="34" charset="0"/>
                <a:ea typeface="Calibri" pitchFamily="34" charset="-122"/>
                <a:cs typeface="Calibri" pitchFamily="34" charset="-120"/>
              </a:rPr>
              <a:t xml:space="preserve">Produccion comprobada (7m): </a:t>
            </a:r>
            <a:pPr indent="0" marL="0">
              <a:buNone/>
            </a:pPr>
            <a:r>
              <a:rPr lang="en-US" sz="1800" b="1" dirty="0">
                <a:solidFill>
                  <a:srgbClr val="8B5A2B"/>
                </a:solidFill>
                <a:latin typeface="Georgia" pitchFamily="34" charset="0"/>
                <a:ea typeface="Georgia" pitchFamily="34" charset="-122"/>
                <a:cs typeface="Georgia" pitchFamily="34" charset="-120"/>
              </a:rPr>
              <a:t>300 TM/mes</a:t>
            </a:r>
            <a:endParaRPr lang="en-US" sz="1200" dirty="0"/>
          </a:p>
        </p:txBody>
      </p:sp>
      <p:sp>
        <p:nvSpPr>
          <p:cNvPr id="9" name="Text 6"/>
          <p:cNvSpPr/>
          <p:nvPr/>
        </p:nvSpPr>
        <p:spPr>
          <a:xfrm>
            <a:off x="731520" y="3886200"/>
            <a:ext cx="7680960" cy="365760"/>
          </a:xfrm>
          <a:prstGeom prst="rect">
            <a:avLst/>
          </a:prstGeom>
          <a:noFill/>
          <a:ln/>
        </p:spPr>
        <p:txBody>
          <a:bodyPr wrap="square" lIns="0" tIns="0" rIns="0" bIns="0" rtlCol="0" anchor="ctr"/>
          <a:lstStyle/>
          <a:p>
            <a:pPr indent="0" marL="0">
              <a:buNone/>
            </a:pPr>
            <a:r>
              <a:rPr lang="en-US" sz="900" i="1" dirty="0">
                <a:solidFill>
                  <a:srgbClr val="5C4033"/>
                </a:solidFill>
                <a:latin typeface="Calibri" pitchFamily="34" charset="0"/>
                <a:ea typeface="Calibri" pitchFamily="34" charset="-122"/>
                <a:cs typeface="Calibri" pitchFamily="34" charset="-120"/>
              </a:rPr>
              <a:t>Mejor mes historico. La cuba de 9m (pendiente de instalar) y la de 3.5m (en reparacion) representan capacidad adicional futura.</a:t>
            </a:r>
            <a:endParaRPr lang="en-US" sz="900" dirty="0"/>
          </a:p>
        </p:txBody>
      </p:sp>
      <p:pic>
        <p:nvPicPr>
          <p:cNvPr id="10" name="Image 0" descr="/sessions/sweet-gallant-wright/pyglara-deck/images/cuba7m.jpg"/>
          <p:cNvPicPr>
            <a:picLocks noChangeAspect="1"/>
          </p:cNvPicPr>
          <p:nvPr/>
        </p:nvPicPr>
        <p:blipFill>
          <a:blip r:embed="rId1"/>
          <a:srcRect l="0" r="0" t="0" b="0"/>
          <a:stretch/>
        </p:blipFill>
        <p:spPr>
          <a:xfrm>
            <a:off x="475488" y="3977640"/>
            <a:ext cx="1965960" cy="1234440"/>
          </a:xfrm>
          <a:prstGeom prst="rect">
            <a:avLst/>
          </a:prstGeom>
        </p:spPr>
      </p:pic>
      <p:sp>
        <p:nvSpPr>
          <p:cNvPr id="11" name="Shape 7"/>
          <p:cNvSpPr/>
          <p:nvPr/>
        </p:nvSpPr>
        <p:spPr>
          <a:xfrm>
            <a:off x="475488" y="3977640"/>
            <a:ext cx="1965960" cy="1234440"/>
          </a:xfrm>
          <a:prstGeom prst="rect">
            <a:avLst/>
          </a:prstGeom>
          <a:ln w="9525">
            <a:solidFill>
              <a:srgbClr val="B87333"/>
            </a:solidFill>
            <a:prstDash val="solid"/>
          </a:ln>
        </p:spPr>
        <p:txBody>
          <a:bodyPr/>
          <a:p/>
        </p:txBody>
      </p:sp>
      <p:pic>
        <p:nvPicPr>
          <p:cNvPr id="12" name="Image 1" descr="/sessions/sweet-gallant-wright/pyglara-deck/images/cuba9m.jpg"/>
          <p:cNvPicPr>
            <a:picLocks noChangeAspect="1"/>
          </p:cNvPicPr>
          <p:nvPr/>
        </p:nvPicPr>
        <p:blipFill>
          <a:blip r:embed="rId2"/>
          <a:srcRect l="0" r="0" t="0" b="0"/>
          <a:stretch/>
        </p:blipFill>
        <p:spPr>
          <a:xfrm>
            <a:off x="2551176" y="3977640"/>
            <a:ext cx="1965960" cy="1234440"/>
          </a:xfrm>
          <a:prstGeom prst="rect">
            <a:avLst/>
          </a:prstGeom>
        </p:spPr>
      </p:pic>
      <p:sp>
        <p:nvSpPr>
          <p:cNvPr id="13" name="Shape 8"/>
          <p:cNvSpPr/>
          <p:nvPr/>
        </p:nvSpPr>
        <p:spPr>
          <a:xfrm>
            <a:off x="2551176" y="3977640"/>
            <a:ext cx="1965960" cy="1234440"/>
          </a:xfrm>
          <a:prstGeom prst="rect">
            <a:avLst/>
          </a:prstGeom>
          <a:ln w="9525">
            <a:solidFill>
              <a:srgbClr val="B87333"/>
            </a:solidFill>
            <a:prstDash val="solid"/>
          </a:ln>
        </p:spPr>
        <p:txBody>
          <a:bodyPr/>
          <a:p/>
        </p:txBody>
      </p:sp>
      <p:pic>
        <p:nvPicPr>
          <p:cNvPr id="14" name="Image 2" descr="/sessions/sweet-gallant-wright/pyglara-deck/images/centrifuga.jpg"/>
          <p:cNvPicPr>
            <a:picLocks noChangeAspect="1"/>
          </p:cNvPicPr>
          <p:nvPr/>
        </p:nvPicPr>
        <p:blipFill>
          <a:blip r:embed="rId3"/>
          <a:srcRect l="0" r="0" t="0" b="0"/>
          <a:stretch/>
        </p:blipFill>
        <p:spPr>
          <a:xfrm>
            <a:off x="4626864" y="3977640"/>
            <a:ext cx="1965960" cy="1234440"/>
          </a:xfrm>
          <a:prstGeom prst="rect">
            <a:avLst/>
          </a:prstGeom>
        </p:spPr>
      </p:pic>
      <p:sp>
        <p:nvSpPr>
          <p:cNvPr id="15" name="Shape 9"/>
          <p:cNvSpPr/>
          <p:nvPr/>
        </p:nvSpPr>
        <p:spPr>
          <a:xfrm>
            <a:off x="4626864" y="3977640"/>
            <a:ext cx="1965960" cy="1234440"/>
          </a:xfrm>
          <a:prstGeom prst="rect">
            <a:avLst/>
          </a:prstGeom>
          <a:ln w="9525">
            <a:solidFill>
              <a:srgbClr val="B87333"/>
            </a:solidFill>
            <a:prstDash val="solid"/>
          </a:ln>
        </p:spPr>
        <p:txBody>
          <a:bodyPr/>
          <a:p/>
        </p:txBody>
      </p:sp>
      <p:pic>
        <p:nvPicPr>
          <p:cNvPr id="16" name="Image 3" descr="/sessions/sweet-gallant-wright/pyglara-deck/images/horno.jpg"/>
          <p:cNvPicPr>
            <a:picLocks noChangeAspect="1"/>
          </p:cNvPicPr>
          <p:nvPr/>
        </p:nvPicPr>
        <p:blipFill>
          <a:blip r:embed="rId4"/>
          <a:srcRect l="0" r="0" t="0" b="0"/>
          <a:stretch/>
        </p:blipFill>
        <p:spPr>
          <a:xfrm>
            <a:off x="6702552" y="3977640"/>
            <a:ext cx="1965960" cy="1234440"/>
          </a:xfrm>
          <a:prstGeom prst="rect">
            <a:avLst/>
          </a:prstGeom>
        </p:spPr>
      </p:pic>
      <p:sp>
        <p:nvSpPr>
          <p:cNvPr id="17" name="Shape 10"/>
          <p:cNvSpPr/>
          <p:nvPr/>
        </p:nvSpPr>
        <p:spPr>
          <a:xfrm>
            <a:off x="6702552" y="3977640"/>
            <a:ext cx="1965960" cy="1234440"/>
          </a:xfrm>
          <a:prstGeom prst="rect">
            <a:avLst/>
          </a:prstGeom>
          <a:ln w="9525">
            <a:solidFill>
              <a:srgbClr val="B87333"/>
            </a:solidFill>
            <a:prstDash val="solid"/>
          </a:ln>
        </p:spPr>
        <p:txBody>
          <a:body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2EDE6"/>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12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3000" b="1" dirty="0">
                <a:solidFill>
                  <a:srgbClr val="3E2C1C"/>
                </a:solidFill>
                <a:latin typeface="Georgia" pitchFamily="34" charset="0"/>
                <a:ea typeface="Georgia" pitchFamily="34" charset="-122"/>
                <a:cs typeface="Georgia" pitchFamily="34" charset="-120"/>
              </a:rPr>
              <a:t>LA VENTAJA PILLING</a:t>
            </a:r>
            <a:endParaRPr lang="en-US" sz="3000" dirty="0"/>
          </a:p>
        </p:txBody>
      </p:sp>
      <p:sp>
        <p:nvSpPr>
          <p:cNvPr id="5" name="Text 3"/>
          <p:cNvSpPr/>
          <p:nvPr/>
        </p:nvSpPr>
        <p:spPr>
          <a:xfrm>
            <a:off x="548640" y="731520"/>
            <a:ext cx="8046720" cy="320040"/>
          </a:xfrm>
          <a:prstGeom prst="rect">
            <a:avLst/>
          </a:prstGeom>
          <a:noFill/>
          <a:ln/>
        </p:spPr>
        <p:txBody>
          <a:bodyPr wrap="square" lIns="0" tIns="0" rIns="0" bIns="0" rtlCol="0" anchor="ctr"/>
          <a:lstStyle/>
          <a:p>
            <a:pPr indent="0" marL="0">
              <a:buNone/>
            </a:pPr>
            <a:r>
              <a:rPr lang="en-US" sz="1400" b="1" i="1" dirty="0">
                <a:solidFill>
                  <a:srgbClr val="8B5A2B"/>
                </a:solidFill>
                <a:latin typeface="Calibri" pitchFamily="34" charset="0"/>
                <a:ea typeface="Calibri" pitchFamily="34" charset="-122"/>
                <a:cs typeface="Calibri" pitchFamily="34" charset="-120"/>
              </a:rPr>
              <a:t>"El Ferrari de los hornos de galvanizado"</a:t>
            </a:r>
            <a:endParaRPr lang="en-US" sz="1400" dirty="0"/>
          </a:p>
        </p:txBody>
      </p:sp>
      <p:sp>
        <p:nvSpPr>
          <p:cNvPr id="6" name="Shape 4"/>
          <p:cNvSpPr/>
          <p:nvPr/>
        </p:nvSpPr>
        <p:spPr>
          <a:xfrm>
            <a:off x="548640" y="1234440"/>
            <a:ext cx="4754880" cy="77724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7" name="Shape 5"/>
          <p:cNvSpPr/>
          <p:nvPr/>
        </p:nvSpPr>
        <p:spPr>
          <a:xfrm>
            <a:off x="548640" y="1234440"/>
            <a:ext cx="54864" cy="777240"/>
          </a:xfrm>
          <a:prstGeom prst="rect">
            <a:avLst/>
          </a:prstGeom>
          <a:solidFill>
            <a:srgbClr val="B87333"/>
          </a:solidFill>
          <a:ln/>
        </p:spPr>
        <p:txBody>
          <a:bodyPr/>
          <a:p/>
        </p:txBody>
      </p:sp>
      <p:pic>
        <p:nvPicPr>
          <p:cNvPr id="8" name="Image 0" descr="preencoded.png"/>
          <p:cNvPicPr>
            <a:picLocks noChangeAspect="1"/>
          </p:cNvPicPr>
          <p:nvPr/>
        </p:nvPicPr>
        <p:blipFill>
          <a:blip r:embed="rId1"/>
          <a:stretch>
            <a:fillRect/>
          </a:stretch>
        </p:blipFill>
        <p:spPr>
          <a:xfrm>
            <a:off x="731520" y="1435608"/>
            <a:ext cx="320040" cy="320040"/>
          </a:xfrm>
          <a:prstGeom prst="rect">
            <a:avLst/>
          </a:prstGeom>
        </p:spPr>
      </p:pic>
      <p:sp>
        <p:nvSpPr>
          <p:cNvPr id="9" name="Text 6"/>
          <p:cNvSpPr/>
          <p:nvPr/>
        </p:nvSpPr>
        <p:spPr>
          <a:xfrm>
            <a:off x="1188720" y="1234440"/>
            <a:ext cx="3931920" cy="347472"/>
          </a:xfrm>
          <a:prstGeom prst="rect">
            <a:avLst/>
          </a:prstGeom>
          <a:noFill/>
          <a:ln/>
        </p:spPr>
        <p:txBody>
          <a:bodyPr wrap="square" lIns="0" tIns="0" rIns="0" bIns="0" rtlCol="0" anchor="b"/>
          <a:lstStyle/>
          <a:p>
            <a:pPr indent="0" marL="0">
              <a:buNone/>
            </a:pPr>
            <a:r>
              <a:rPr lang="en-US" sz="1100" b="1" dirty="0">
                <a:solidFill>
                  <a:srgbClr val="8B5A2B"/>
                </a:solidFill>
                <a:latin typeface="Calibri" pitchFamily="34" charset="0"/>
                <a:ea typeface="Calibri" pitchFamily="34" charset="-122"/>
                <a:cs typeface="Calibri" pitchFamily="34" charset="-120"/>
              </a:rPr>
              <a:t>W. Pilling Riepe GmbH &amp; Co. KG</a:t>
            </a:r>
            <a:endParaRPr lang="en-US" sz="1100" dirty="0"/>
          </a:p>
        </p:txBody>
      </p:sp>
      <p:sp>
        <p:nvSpPr>
          <p:cNvPr id="10" name="Text 7"/>
          <p:cNvSpPr/>
          <p:nvPr/>
        </p:nvSpPr>
        <p:spPr>
          <a:xfrm>
            <a:off x="1188720" y="1581912"/>
            <a:ext cx="3931920" cy="384048"/>
          </a:xfrm>
          <a:prstGeom prst="rect">
            <a:avLst/>
          </a:prstGeom>
          <a:noFill/>
          <a:ln/>
        </p:spPr>
        <p:txBody>
          <a:bodyPr wrap="square" lIns="0" tIns="0" rIns="0" bIns="0" rtlCol="0" anchor="t"/>
          <a:lstStyle/>
          <a:p>
            <a:pPr indent="0" marL="0">
              <a:buNone/>
            </a:pPr>
            <a:r>
              <a:rPr lang="en-US" sz="900" dirty="0">
                <a:solidFill>
                  <a:srgbClr val="7A6555"/>
                </a:solidFill>
                <a:latin typeface="Calibri" pitchFamily="34" charset="0"/>
                <a:ea typeface="Calibri" pitchFamily="34" charset="-122"/>
                <a:cs typeface="Calibri" pitchFamily="34" charset="-120"/>
              </a:rPr>
              <a:t>Fabricante lider mundial de cubas de galvanizado desde 1873 — mas de 150 anos de ingenieria alemana.</a:t>
            </a:r>
            <a:endParaRPr lang="en-US" sz="900" dirty="0"/>
          </a:p>
        </p:txBody>
      </p:sp>
      <p:sp>
        <p:nvSpPr>
          <p:cNvPr id="11" name="Shape 8"/>
          <p:cNvSpPr/>
          <p:nvPr/>
        </p:nvSpPr>
        <p:spPr>
          <a:xfrm>
            <a:off x="548640" y="2148840"/>
            <a:ext cx="4754880" cy="77724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12" name="Shape 9"/>
          <p:cNvSpPr/>
          <p:nvPr/>
        </p:nvSpPr>
        <p:spPr>
          <a:xfrm>
            <a:off x="548640" y="2148840"/>
            <a:ext cx="54864" cy="777240"/>
          </a:xfrm>
          <a:prstGeom prst="rect">
            <a:avLst/>
          </a:prstGeom>
          <a:solidFill>
            <a:srgbClr val="B87333"/>
          </a:solidFill>
          <a:ln/>
        </p:spPr>
        <p:txBody>
          <a:bodyPr/>
          <a:p/>
        </p:txBody>
      </p:sp>
      <p:pic>
        <p:nvPicPr>
          <p:cNvPr id="13" name="Image 1" descr="preencoded.png"/>
          <p:cNvPicPr>
            <a:picLocks noChangeAspect="1"/>
          </p:cNvPicPr>
          <p:nvPr/>
        </p:nvPicPr>
        <p:blipFill>
          <a:blip r:embed="rId2"/>
          <a:stretch>
            <a:fillRect/>
          </a:stretch>
        </p:blipFill>
        <p:spPr>
          <a:xfrm>
            <a:off x="731520" y="2350008"/>
            <a:ext cx="320040" cy="320040"/>
          </a:xfrm>
          <a:prstGeom prst="rect">
            <a:avLst/>
          </a:prstGeom>
        </p:spPr>
      </p:pic>
      <p:sp>
        <p:nvSpPr>
          <p:cNvPr id="14" name="Text 10"/>
          <p:cNvSpPr/>
          <p:nvPr/>
        </p:nvSpPr>
        <p:spPr>
          <a:xfrm>
            <a:off x="1188720" y="2148840"/>
            <a:ext cx="3931920" cy="347472"/>
          </a:xfrm>
          <a:prstGeom prst="rect">
            <a:avLst/>
          </a:prstGeom>
          <a:noFill/>
          <a:ln/>
        </p:spPr>
        <p:txBody>
          <a:bodyPr wrap="square" lIns="0" tIns="0" rIns="0" bIns="0" rtlCol="0" anchor="b"/>
          <a:lstStyle/>
          <a:p>
            <a:pPr indent="0" marL="0">
              <a:buNone/>
            </a:pPr>
            <a:r>
              <a:rPr lang="en-US" sz="1100" b="1" dirty="0">
                <a:solidFill>
                  <a:srgbClr val="8B5A2B"/>
                </a:solidFill>
                <a:latin typeface="Calibri" pitchFamily="34" charset="0"/>
                <a:ea typeface="Calibri" pitchFamily="34" charset="-122"/>
                <a:cs typeface="Calibri" pitchFamily="34" charset="-120"/>
              </a:rPr>
              <a:t>Soldadura por electroescoria</a:t>
            </a:r>
            <a:endParaRPr lang="en-US" sz="1100" dirty="0"/>
          </a:p>
        </p:txBody>
      </p:sp>
      <p:sp>
        <p:nvSpPr>
          <p:cNvPr id="15" name="Text 11"/>
          <p:cNvSpPr/>
          <p:nvPr/>
        </p:nvSpPr>
        <p:spPr>
          <a:xfrm>
            <a:off x="1188720" y="2496312"/>
            <a:ext cx="3931920" cy="384048"/>
          </a:xfrm>
          <a:prstGeom prst="rect">
            <a:avLst/>
          </a:prstGeom>
          <a:noFill/>
          <a:ln/>
        </p:spPr>
        <p:txBody>
          <a:bodyPr wrap="square" lIns="0" tIns="0" rIns="0" bIns="0" rtlCol="0" anchor="t"/>
          <a:lstStyle/>
          <a:p>
            <a:pPr indent="0" marL="0">
              <a:buNone/>
            </a:pPr>
            <a:r>
              <a:rPr lang="en-US" sz="900" dirty="0">
                <a:solidFill>
                  <a:srgbClr val="7A6555"/>
                </a:solidFill>
                <a:latin typeface="Calibri" pitchFamily="34" charset="0"/>
                <a:ea typeface="Calibri" pitchFamily="34" charset="-122"/>
                <a:cs typeface="Calibri" pitchFamily="34" charset="-120"/>
              </a:rPr>
              <a:t>Proceso patentado que crea uniones sin defectos. Paredes de hasta 80mm de espesor — indestructibles.</a:t>
            </a:r>
            <a:endParaRPr lang="en-US" sz="900" dirty="0"/>
          </a:p>
        </p:txBody>
      </p:sp>
      <p:sp>
        <p:nvSpPr>
          <p:cNvPr id="16" name="Shape 12"/>
          <p:cNvSpPr/>
          <p:nvPr/>
        </p:nvSpPr>
        <p:spPr>
          <a:xfrm>
            <a:off x="548640" y="3063240"/>
            <a:ext cx="4754880" cy="77724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17" name="Shape 13"/>
          <p:cNvSpPr/>
          <p:nvPr/>
        </p:nvSpPr>
        <p:spPr>
          <a:xfrm>
            <a:off x="548640" y="3063240"/>
            <a:ext cx="54864" cy="777240"/>
          </a:xfrm>
          <a:prstGeom prst="rect">
            <a:avLst/>
          </a:prstGeom>
          <a:solidFill>
            <a:srgbClr val="B87333"/>
          </a:solidFill>
          <a:ln/>
        </p:spPr>
        <p:txBody>
          <a:bodyPr/>
          <a:p/>
        </p:txBody>
      </p:sp>
      <p:pic>
        <p:nvPicPr>
          <p:cNvPr id="18" name="Image 2" descr="preencoded.png"/>
          <p:cNvPicPr>
            <a:picLocks noChangeAspect="1"/>
          </p:cNvPicPr>
          <p:nvPr/>
        </p:nvPicPr>
        <p:blipFill>
          <a:blip r:embed="rId3"/>
          <a:stretch>
            <a:fillRect/>
          </a:stretch>
        </p:blipFill>
        <p:spPr>
          <a:xfrm>
            <a:off x="731520" y="3264408"/>
            <a:ext cx="320040" cy="320040"/>
          </a:xfrm>
          <a:prstGeom prst="rect">
            <a:avLst/>
          </a:prstGeom>
        </p:spPr>
      </p:pic>
      <p:sp>
        <p:nvSpPr>
          <p:cNvPr id="19" name="Text 14"/>
          <p:cNvSpPr/>
          <p:nvPr/>
        </p:nvSpPr>
        <p:spPr>
          <a:xfrm>
            <a:off x="1188720" y="3063240"/>
            <a:ext cx="3931920" cy="347472"/>
          </a:xfrm>
          <a:prstGeom prst="rect">
            <a:avLst/>
          </a:prstGeom>
          <a:noFill/>
          <a:ln/>
        </p:spPr>
        <p:txBody>
          <a:bodyPr wrap="square" lIns="0" tIns="0" rIns="0" bIns="0" rtlCol="0" anchor="b"/>
          <a:lstStyle/>
          <a:p>
            <a:pPr indent="0" marL="0">
              <a:buNone/>
            </a:pPr>
            <a:r>
              <a:rPr lang="en-US" sz="1100" b="1" dirty="0">
                <a:solidFill>
                  <a:srgbClr val="8B5A2B"/>
                </a:solidFill>
                <a:latin typeface="Calibri" pitchFamily="34" charset="0"/>
                <a:ea typeface="Calibri" pitchFamily="34" charset="-122"/>
                <a:cs typeface="Calibri" pitchFamily="34" charset="-120"/>
              </a:rPr>
              <a:t>Decadas de vida util</a:t>
            </a:r>
            <a:endParaRPr lang="en-US" sz="1100" dirty="0"/>
          </a:p>
        </p:txBody>
      </p:sp>
      <p:sp>
        <p:nvSpPr>
          <p:cNvPr id="20" name="Text 15"/>
          <p:cNvSpPr/>
          <p:nvPr/>
        </p:nvSpPr>
        <p:spPr>
          <a:xfrm>
            <a:off x="1188720" y="3410712"/>
            <a:ext cx="3931920" cy="384048"/>
          </a:xfrm>
          <a:prstGeom prst="rect">
            <a:avLst/>
          </a:prstGeom>
          <a:noFill/>
          <a:ln/>
        </p:spPr>
        <p:txBody>
          <a:bodyPr wrap="square" lIns="0" tIns="0" rIns="0" bIns="0" rtlCol="0" anchor="t"/>
          <a:lstStyle/>
          <a:p>
            <a:pPr indent="0" marL="0">
              <a:buNone/>
            </a:pPr>
            <a:r>
              <a:rPr lang="en-US" sz="900" dirty="0">
                <a:solidFill>
                  <a:srgbClr val="7A6555"/>
                </a:solidFill>
                <a:latin typeface="Calibri" pitchFamily="34" charset="0"/>
                <a:ea typeface="Calibri" pitchFamily="34" charset="-122"/>
                <a:cs typeface="Calibri" pitchFamily="34" charset="-120"/>
              </a:rPr>
              <a:t>Las cubas Pilling duran 20-30+ anos con mantenimiento basico. Quemadores de PYGLARA confirmados en buen estado.</a:t>
            </a:r>
            <a:endParaRPr lang="en-US" sz="900" dirty="0"/>
          </a:p>
        </p:txBody>
      </p:sp>
      <p:sp>
        <p:nvSpPr>
          <p:cNvPr id="21" name="Shape 16"/>
          <p:cNvSpPr/>
          <p:nvPr/>
        </p:nvSpPr>
        <p:spPr>
          <a:xfrm>
            <a:off x="548640" y="3977640"/>
            <a:ext cx="4754880" cy="77724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22" name="Shape 17"/>
          <p:cNvSpPr/>
          <p:nvPr/>
        </p:nvSpPr>
        <p:spPr>
          <a:xfrm>
            <a:off x="548640" y="3977640"/>
            <a:ext cx="54864" cy="777240"/>
          </a:xfrm>
          <a:prstGeom prst="rect">
            <a:avLst/>
          </a:prstGeom>
          <a:solidFill>
            <a:srgbClr val="B87333"/>
          </a:solidFill>
          <a:ln/>
        </p:spPr>
        <p:txBody>
          <a:bodyPr/>
          <a:p/>
        </p:txBody>
      </p:sp>
      <p:pic>
        <p:nvPicPr>
          <p:cNvPr id="23" name="Image 3" descr="preencoded.png"/>
          <p:cNvPicPr>
            <a:picLocks noChangeAspect="1"/>
          </p:cNvPicPr>
          <p:nvPr/>
        </p:nvPicPr>
        <p:blipFill>
          <a:blip r:embed="rId4"/>
          <a:stretch>
            <a:fillRect/>
          </a:stretch>
        </p:blipFill>
        <p:spPr>
          <a:xfrm>
            <a:off x="731520" y="4178808"/>
            <a:ext cx="320040" cy="320040"/>
          </a:xfrm>
          <a:prstGeom prst="rect">
            <a:avLst/>
          </a:prstGeom>
        </p:spPr>
      </p:pic>
      <p:sp>
        <p:nvSpPr>
          <p:cNvPr id="24" name="Text 18"/>
          <p:cNvSpPr/>
          <p:nvPr/>
        </p:nvSpPr>
        <p:spPr>
          <a:xfrm>
            <a:off x="1188720" y="3977640"/>
            <a:ext cx="3931920" cy="347472"/>
          </a:xfrm>
          <a:prstGeom prst="rect">
            <a:avLst/>
          </a:prstGeom>
          <a:noFill/>
          <a:ln/>
        </p:spPr>
        <p:txBody>
          <a:bodyPr wrap="square" lIns="0" tIns="0" rIns="0" bIns="0" rtlCol="0" anchor="b"/>
          <a:lstStyle/>
          <a:p>
            <a:pPr indent="0" marL="0">
              <a:buNone/>
            </a:pPr>
            <a:r>
              <a:rPr lang="en-US" sz="1100" b="1" dirty="0">
                <a:solidFill>
                  <a:srgbClr val="8B5A2B"/>
                </a:solidFill>
                <a:latin typeface="Calibri" pitchFamily="34" charset="0"/>
                <a:ea typeface="Calibri" pitchFamily="34" charset="-122"/>
                <a:cs typeface="Calibri" pitchFamily="34" charset="-120"/>
              </a:rPr>
              <a:t>Valor de reposicion: $1.1M+</a:t>
            </a:r>
            <a:endParaRPr lang="en-US" sz="1100" dirty="0"/>
          </a:p>
        </p:txBody>
      </p:sp>
      <p:sp>
        <p:nvSpPr>
          <p:cNvPr id="25" name="Text 19"/>
          <p:cNvSpPr/>
          <p:nvPr/>
        </p:nvSpPr>
        <p:spPr>
          <a:xfrm>
            <a:off x="1188720" y="4325112"/>
            <a:ext cx="3931920" cy="384048"/>
          </a:xfrm>
          <a:prstGeom prst="rect">
            <a:avLst/>
          </a:prstGeom>
          <a:noFill/>
          <a:ln/>
        </p:spPr>
        <p:txBody>
          <a:bodyPr wrap="square" lIns="0" tIns="0" rIns="0" bIns="0" rtlCol="0" anchor="t"/>
          <a:lstStyle/>
          <a:p>
            <a:pPr indent="0" marL="0">
              <a:buNone/>
            </a:pPr>
            <a:r>
              <a:rPr lang="en-US" sz="900" dirty="0">
                <a:solidFill>
                  <a:srgbClr val="7A6555"/>
                </a:solidFill>
                <a:latin typeface="Calibri" pitchFamily="34" charset="0"/>
                <a:ea typeface="Calibri" pitchFamily="34" charset="-122"/>
                <a:cs typeface="Calibri" pitchFamily="34" charset="-120"/>
              </a:rPr>
              <a:t>Solo las cubas (7m + 9m + 3.5m + centrifuga) cuestan entre $1.14M y $1.34M a precio de reposicion.</a:t>
            </a:r>
            <a:endParaRPr lang="en-US" sz="900" dirty="0"/>
          </a:p>
        </p:txBody>
      </p:sp>
      <p:pic>
        <p:nvPicPr>
          <p:cNvPr id="26" name="Image 4" descr="/sessions/sweet-gallant-wright/pyglara-deck/images/cuba9m.jpg"/>
          <p:cNvPicPr>
            <a:picLocks noChangeAspect="1"/>
          </p:cNvPicPr>
          <p:nvPr/>
        </p:nvPicPr>
        <p:blipFill>
          <a:blip r:embed="rId5"/>
          <a:srcRect l="0" r="0" t="0" b="0"/>
          <a:stretch/>
        </p:blipFill>
        <p:spPr>
          <a:xfrm>
            <a:off x="5577840" y="1234440"/>
            <a:ext cx="3108960" cy="2194560"/>
          </a:xfrm>
          <a:prstGeom prst="rect">
            <a:avLst/>
          </a:prstGeom>
        </p:spPr>
      </p:pic>
      <p:sp>
        <p:nvSpPr>
          <p:cNvPr id="27" name="Shape 20"/>
          <p:cNvSpPr/>
          <p:nvPr/>
        </p:nvSpPr>
        <p:spPr>
          <a:xfrm>
            <a:off x="5577840" y="1234440"/>
            <a:ext cx="3108960" cy="2194560"/>
          </a:xfrm>
          <a:prstGeom prst="rect">
            <a:avLst/>
          </a:prstGeom>
          <a:ln w="19050">
            <a:solidFill>
              <a:srgbClr val="B87333"/>
            </a:solidFill>
            <a:prstDash val="solid"/>
          </a:ln>
        </p:spPr>
        <p:txBody>
          <a:bodyPr/>
          <a:p/>
        </p:txBody>
      </p:sp>
      <p:sp>
        <p:nvSpPr>
          <p:cNvPr id="28" name="Text 21"/>
          <p:cNvSpPr/>
          <p:nvPr/>
        </p:nvSpPr>
        <p:spPr>
          <a:xfrm>
            <a:off x="5577840" y="3520440"/>
            <a:ext cx="3108960" cy="457200"/>
          </a:xfrm>
          <a:prstGeom prst="rect">
            <a:avLst/>
          </a:prstGeom>
          <a:noFill/>
          <a:ln/>
        </p:spPr>
        <p:txBody>
          <a:bodyPr wrap="square" lIns="0" tIns="0" rIns="0" bIns="0" rtlCol="0" anchor="ctr"/>
          <a:lstStyle/>
          <a:p>
            <a:pPr algn="ctr" indent="0" marL="0">
              <a:buNone/>
            </a:pPr>
            <a:r>
              <a:rPr lang="en-US" sz="1000" b="1" dirty="0">
                <a:solidFill>
                  <a:srgbClr val="5C4033"/>
                </a:solidFill>
                <a:latin typeface="Calibri" pitchFamily="34" charset="0"/>
                <a:ea typeface="Calibri" pitchFamily="34" charset="-122"/>
                <a:cs typeface="Calibri" pitchFamily="34" charset="-120"/>
              </a:rPr>
              <a:t>Cuba 9m Pilling</a:t>
            </a:r>
            <a:endParaRPr lang="en-US" sz="1000" dirty="0"/>
          </a:p>
          <a:p>
            <a:pPr algn="ctr" indent="0" marL="0">
              <a:buNone/>
            </a:pPr>
            <a:r>
              <a:rPr lang="en-US" sz="1000" b="1" dirty="0">
                <a:solidFill>
                  <a:srgbClr val="5C4033"/>
                </a:solidFill>
                <a:latin typeface="Calibri" pitchFamily="34" charset="0"/>
                <a:ea typeface="Calibri" pitchFamily="34" charset="-122"/>
                <a:cs typeface="Calibri" pitchFamily="34" charset="-120"/>
              </a:rPr>
              <a:t>Valorada en $570,000</a:t>
            </a:r>
            <a:endParaRPr lang="en-US" sz="1000" dirty="0"/>
          </a:p>
        </p:txBody>
      </p:sp>
      <p:pic>
        <p:nvPicPr>
          <p:cNvPr id="29" name="Image 5" descr="/sessions/sweet-gallant-wright/pyglara-deck/images/cuba7m.jpg"/>
          <p:cNvPicPr>
            <a:picLocks noChangeAspect="1"/>
          </p:cNvPicPr>
          <p:nvPr/>
        </p:nvPicPr>
        <p:blipFill>
          <a:blip r:embed="rId6"/>
          <a:srcRect l="0" r="0" t="0" b="0"/>
          <a:stretch/>
        </p:blipFill>
        <p:spPr>
          <a:xfrm>
            <a:off x="5577840" y="4069080"/>
            <a:ext cx="1463040" cy="914400"/>
          </a:xfrm>
          <a:prstGeom prst="rect">
            <a:avLst/>
          </a:prstGeom>
        </p:spPr>
      </p:pic>
      <p:sp>
        <p:nvSpPr>
          <p:cNvPr id="30" name="Shape 22"/>
          <p:cNvSpPr/>
          <p:nvPr/>
        </p:nvSpPr>
        <p:spPr>
          <a:xfrm>
            <a:off x="5577840" y="4069080"/>
            <a:ext cx="1463040" cy="914400"/>
          </a:xfrm>
          <a:prstGeom prst="rect">
            <a:avLst/>
          </a:prstGeom>
          <a:ln w="9525">
            <a:solidFill>
              <a:srgbClr val="B87333"/>
            </a:solidFill>
            <a:prstDash val="solid"/>
          </a:ln>
        </p:spPr>
        <p:txBody>
          <a:bodyPr/>
          <a:p/>
        </p:txBody>
      </p:sp>
      <p:pic>
        <p:nvPicPr>
          <p:cNvPr id="31" name="Image 6" descr="/sessions/sweet-gallant-wright/pyglara-deck/images/horno.jpg"/>
          <p:cNvPicPr>
            <a:picLocks noChangeAspect="1"/>
          </p:cNvPicPr>
          <p:nvPr/>
        </p:nvPicPr>
        <p:blipFill>
          <a:blip r:embed="rId7"/>
          <a:srcRect l="0" r="0" t="0" b="0"/>
          <a:stretch/>
        </p:blipFill>
        <p:spPr>
          <a:xfrm>
            <a:off x="7178040" y="4069080"/>
            <a:ext cx="1508760" cy="914400"/>
          </a:xfrm>
          <a:prstGeom prst="rect">
            <a:avLst/>
          </a:prstGeom>
        </p:spPr>
      </p:pic>
      <p:sp>
        <p:nvSpPr>
          <p:cNvPr id="32" name="Shape 23"/>
          <p:cNvSpPr/>
          <p:nvPr/>
        </p:nvSpPr>
        <p:spPr>
          <a:xfrm>
            <a:off x="7178040" y="4069080"/>
            <a:ext cx="1508760" cy="914400"/>
          </a:xfrm>
          <a:prstGeom prst="rect">
            <a:avLst/>
          </a:prstGeom>
          <a:ln w="9525">
            <a:solidFill>
              <a:srgbClr val="B87333"/>
            </a:solidFill>
            <a:prstDash val="solid"/>
          </a:ln>
        </p:spPr>
        <p:txBody>
          <a:body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13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3E2C1C"/>
                </a:solidFill>
                <a:latin typeface="Georgia" pitchFamily="34" charset="0"/>
                <a:ea typeface="Georgia" pitchFamily="34" charset="-122"/>
                <a:cs typeface="Georgia" pitchFamily="34" charset="-120"/>
              </a:rPr>
              <a:t>PRODUCTOS Y APLICACIONES</a:t>
            </a:r>
            <a:endParaRPr lang="en-US" sz="2800" dirty="0"/>
          </a:p>
        </p:txBody>
      </p:sp>
      <p:sp>
        <p:nvSpPr>
          <p:cNvPr id="5" name="Text 3"/>
          <p:cNvSpPr/>
          <p:nvPr/>
        </p:nvSpPr>
        <p:spPr>
          <a:xfrm>
            <a:off x="548640" y="731520"/>
            <a:ext cx="8046720" cy="274320"/>
          </a:xfrm>
          <a:prstGeom prst="rect">
            <a:avLst/>
          </a:prstGeom>
          <a:noFill/>
          <a:ln/>
        </p:spPr>
        <p:txBody>
          <a:bodyPr wrap="square" lIns="0" tIns="0" rIns="0" bIns="0" rtlCol="0" anchor="ctr"/>
          <a:lstStyle/>
          <a:p>
            <a:pPr indent="0" marL="0">
              <a:buNone/>
            </a:pPr>
            <a:r>
              <a:rPr lang="en-US" sz="1200" i="1" dirty="0">
                <a:solidFill>
                  <a:srgbClr val="8B5A2B"/>
                </a:solidFill>
                <a:latin typeface="Calibri" pitchFamily="34" charset="0"/>
                <a:ea typeface="Calibri" pitchFamily="34" charset="-122"/>
                <a:cs typeface="Calibri" pitchFamily="34" charset="-120"/>
              </a:rPr>
              <a:t>Todo tipo de acero que necesite proteccion contra la corrosion</a:t>
            </a:r>
            <a:endParaRPr lang="en-US" sz="1200" dirty="0"/>
          </a:p>
        </p:txBody>
      </p:sp>
      <p:sp>
        <p:nvSpPr>
          <p:cNvPr id="6" name="Shape 4"/>
          <p:cNvSpPr/>
          <p:nvPr/>
        </p:nvSpPr>
        <p:spPr>
          <a:xfrm>
            <a:off x="457200" y="1143000"/>
            <a:ext cx="2606040" cy="150876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7" name="Shape 5"/>
          <p:cNvSpPr/>
          <p:nvPr/>
        </p:nvSpPr>
        <p:spPr>
          <a:xfrm>
            <a:off x="457200" y="1143000"/>
            <a:ext cx="2606040" cy="36576"/>
          </a:xfrm>
          <a:prstGeom prst="rect">
            <a:avLst/>
          </a:prstGeom>
          <a:solidFill>
            <a:srgbClr val="B87333"/>
          </a:solidFill>
          <a:ln/>
        </p:spPr>
        <p:txBody>
          <a:bodyPr/>
          <a:p/>
        </p:txBody>
      </p:sp>
      <p:pic>
        <p:nvPicPr>
          <p:cNvPr id="8" name="Image 0" descr="preencoded.png"/>
          <p:cNvPicPr>
            <a:picLocks noChangeAspect="1"/>
          </p:cNvPicPr>
          <p:nvPr/>
        </p:nvPicPr>
        <p:blipFill>
          <a:blip r:embed="rId1"/>
          <a:stretch>
            <a:fillRect/>
          </a:stretch>
        </p:blipFill>
        <p:spPr>
          <a:xfrm>
            <a:off x="594360" y="1280160"/>
            <a:ext cx="274320" cy="274320"/>
          </a:xfrm>
          <a:prstGeom prst="rect">
            <a:avLst/>
          </a:prstGeom>
        </p:spPr>
      </p:pic>
      <p:sp>
        <p:nvSpPr>
          <p:cNvPr id="9" name="Text 6"/>
          <p:cNvSpPr/>
          <p:nvPr/>
        </p:nvSpPr>
        <p:spPr>
          <a:xfrm>
            <a:off x="960120" y="1234440"/>
            <a:ext cx="1965960" cy="320040"/>
          </a:xfrm>
          <a:prstGeom prst="rect">
            <a:avLst/>
          </a:prstGeom>
          <a:noFill/>
          <a:ln/>
        </p:spPr>
        <p:txBody>
          <a:bodyPr wrap="square" lIns="0" tIns="0" rIns="0" bIns="0" rtlCol="0" anchor="ctr"/>
          <a:lstStyle/>
          <a:p>
            <a:pPr indent="0" marL="0">
              <a:buNone/>
            </a:pPr>
            <a:r>
              <a:rPr lang="en-US" sz="1000" b="1" dirty="0">
                <a:solidFill>
                  <a:srgbClr val="8B5A2B"/>
                </a:solidFill>
                <a:latin typeface="Georgia" pitchFamily="34" charset="0"/>
                <a:ea typeface="Georgia" pitchFamily="34" charset="-122"/>
                <a:cs typeface="Georgia" pitchFamily="34" charset="-120"/>
              </a:rPr>
              <a:t>ELECTRICO</a:t>
            </a:r>
            <a:endParaRPr lang="en-US" sz="1000" dirty="0"/>
          </a:p>
        </p:txBody>
      </p:sp>
      <p:sp>
        <p:nvSpPr>
          <p:cNvPr id="10" name="Text 7"/>
          <p:cNvSpPr/>
          <p:nvPr/>
        </p:nvSpPr>
        <p:spPr>
          <a:xfrm>
            <a:off x="594360" y="1645920"/>
            <a:ext cx="2331720" cy="868680"/>
          </a:xfrm>
          <a:prstGeom prst="rect">
            <a:avLst/>
          </a:prstGeom>
          <a:noFill/>
          <a:ln/>
        </p:spPr>
        <p:txBody>
          <a:bodyPr wrap="square" lIns="0" tIns="0" rIns="0" bIns="0" rtlCol="0" anchor="t"/>
          <a:lstStyle/>
          <a:p>
            <a:pPr indent="0" marL="0">
              <a:buNone/>
            </a:pPr>
            <a:r>
              <a:rPr lang="en-US" sz="900" dirty="0">
                <a:solidFill>
                  <a:srgbClr val="5C4033"/>
                </a:solidFill>
                <a:latin typeface="Calibri" pitchFamily="34" charset="0"/>
                <a:ea typeface="Calibri" pitchFamily="34" charset="-122"/>
                <a:cs typeface="Calibri" pitchFamily="34" charset="-120"/>
              </a:rPr>
              <a:t>Postes, torres de transmision,</a:t>
            </a:r>
            <a:endParaRPr lang="en-US" sz="900" dirty="0"/>
          </a:p>
          <a:p>
            <a:pPr indent="0" marL="0">
              <a:buNone/>
            </a:pPr>
            <a:r>
              <a:rPr lang="en-US" sz="900" dirty="0">
                <a:solidFill>
                  <a:srgbClr val="5C4033"/>
                </a:solidFill>
                <a:latin typeface="Calibri" pitchFamily="34" charset="0"/>
                <a:ea typeface="Calibri" pitchFamily="34" charset="-122"/>
                <a:cs typeface="Calibri" pitchFamily="34" charset="-120"/>
              </a:rPr>
              <a:t>bandejas portacables, herrajes</a:t>
            </a:r>
            <a:endParaRPr lang="en-US" sz="900" dirty="0"/>
          </a:p>
          <a:p>
            <a:pPr algn="l">
              <a:spcBef>
                <a:spcPts val="400"/>
              </a:spcBef>
            </a:pPr>
            <a:r>
              <a:rPr sz="750" b="0" i="1">
                <a:solidFill>
                  <a:srgbClr val="8B5A2B"/>
                </a:solidFill>
              </a:rPr>
              <a:t>Demanda: 2.000+ torres 4G/5G nuevas + CORPOELEC en la misma zona. Cada poste requiere galvanizado.</a:t>
            </a:r>
          </a:p>
        </p:txBody>
      </p:sp>
      <p:sp>
        <p:nvSpPr>
          <p:cNvPr id="11" name="Shape 8"/>
          <p:cNvSpPr/>
          <p:nvPr/>
        </p:nvSpPr>
        <p:spPr>
          <a:xfrm>
            <a:off x="3291840" y="1143000"/>
            <a:ext cx="2606040" cy="150876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12" name="Shape 9"/>
          <p:cNvSpPr/>
          <p:nvPr/>
        </p:nvSpPr>
        <p:spPr>
          <a:xfrm>
            <a:off x="3291840" y="1143000"/>
            <a:ext cx="2606040" cy="36576"/>
          </a:xfrm>
          <a:prstGeom prst="rect">
            <a:avLst/>
          </a:prstGeom>
          <a:solidFill>
            <a:srgbClr val="A67C52"/>
          </a:solidFill>
          <a:ln/>
        </p:spPr>
        <p:txBody>
          <a:bodyPr/>
          <a:p/>
        </p:txBody>
      </p:sp>
      <p:pic>
        <p:nvPicPr>
          <p:cNvPr id="13" name="Image 1" descr="preencoded.png"/>
          <p:cNvPicPr>
            <a:picLocks noChangeAspect="1"/>
          </p:cNvPicPr>
          <p:nvPr/>
        </p:nvPicPr>
        <p:blipFill>
          <a:blip r:embed="rId2"/>
          <a:stretch>
            <a:fillRect/>
          </a:stretch>
        </p:blipFill>
        <p:spPr>
          <a:xfrm>
            <a:off x="3429000" y="1280160"/>
            <a:ext cx="274320" cy="274320"/>
          </a:xfrm>
          <a:prstGeom prst="rect">
            <a:avLst/>
          </a:prstGeom>
        </p:spPr>
      </p:pic>
      <p:sp>
        <p:nvSpPr>
          <p:cNvPr id="14" name="Text 10"/>
          <p:cNvSpPr/>
          <p:nvPr/>
        </p:nvSpPr>
        <p:spPr>
          <a:xfrm>
            <a:off x="3794760" y="1234440"/>
            <a:ext cx="1965960" cy="320040"/>
          </a:xfrm>
          <a:prstGeom prst="rect">
            <a:avLst/>
          </a:prstGeom>
          <a:noFill/>
          <a:ln/>
        </p:spPr>
        <p:txBody>
          <a:bodyPr wrap="square" lIns="0" tIns="0" rIns="0" bIns="0" rtlCol="0" anchor="ctr"/>
          <a:lstStyle/>
          <a:p>
            <a:pPr indent="0" marL="0">
              <a:buNone/>
            </a:pPr>
            <a:r>
              <a:rPr lang="en-US" sz="1000" b="1" dirty="0">
                <a:solidFill>
                  <a:srgbClr val="8B5A2B"/>
                </a:solidFill>
                <a:latin typeface="Georgia" pitchFamily="34" charset="0"/>
                <a:ea typeface="Georgia" pitchFamily="34" charset="-122"/>
                <a:cs typeface="Georgia" pitchFamily="34" charset="-120"/>
              </a:rPr>
              <a:t>PETROLEO Y GAS</a:t>
            </a:r>
            <a:endParaRPr lang="en-US" sz="1000" dirty="0"/>
          </a:p>
        </p:txBody>
      </p:sp>
      <p:sp>
        <p:nvSpPr>
          <p:cNvPr id="15" name="Text 11"/>
          <p:cNvSpPr/>
          <p:nvPr/>
        </p:nvSpPr>
        <p:spPr>
          <a:xfrm>
            <a:off x="3429000" y="1645920"/>
            <a:ext cx="2331720" cy="868680"/>
          </a:xfrm>
          <a:prstGeom prst="rect">
            <a:avLst/>
          </a:prstGeom>
          <a:noFill/>
          <a:ln/>
        </p:spPr>
        <p:txBody>
          <a:bodyPr wrap="square" lIns="0" tIns="0" rIns="0" bIns="0" rtlCol="0" anchor="t"/>
          <a:lstStyle/>
          <a:p>
            <a:pPr indent="0" marL="0">
              <a:buNone/>
            </a:pPr>
            <a:r>
              <a:rPr lang="en-US" sz="900" dirty="0">
                <a:solidFill>
                  <a:srgbClr val="5C4033"/>
                </a:solidFill>
                <a:latin typeface="Calibri" pitchFamily="34" charset="0"/>
                <a:ea typeface="Calibri" pitchFamily="34" charset="-122"/>
                <a:cs typeface="Calibri" pitchFamily="34" charset="-120"/>
              </a:rPr>
              <a:t>Soportes, bandejas portacables,</a:t>
            </a:r>
            <a:endParaRPr lang="en-US" sz="900" dirty="0"/>
          </a:p>
          <a:p>
            <a:pPr indent="0" marL="0">
              <a:buNone/>
            </a:pPr>
            <a:r>
              <a:rPr lang="en-US" sz="900" dirty="0">
                <a:solidFill>
                  <a:srgbClr val="5C4033"/>
                </a:solidFill>
                <a:latin typeface="Calibri" pitchFamily="34" charset="0"/>
                <a:ea typeface="Calibri" pitchFamily="34" charset="-122"/>
                <a:cs typeface="Calibri" pitchFamily="34" charset="-120"/>
              </a:rPr>
              <a:t>plataformas, rejillas, barandas</a:t>
            </a:r>
            <a:endParaRPr lang="en-US" sz="900" dirty="0"/>
          </a:p>
          <a:p>
            <a:pPr algn="l">
              <a:spcBef>
                <a:spcPts val="400"/>
              </a:spcBef>
            </a:pPr>
            <a:r>
              <a:rPr sz="750" b="0" i="1">
                <a:solidFill>
                  <a:srgbClr val="8B5A2B"/>
                </a:solidFill>
              </a:rPr>
              <a:t>Demanda: US$41MM segmento fab. y construccion Rystad 2026-2040. Soportes de tuberia llenan un mes.</a:t>
            </a:r>
          </a:p>
        </p:txBody>
      </p:sp>
      <p:sp>
        <p:nvSpPr>
          <p:cNvPr id="16" name="Shape 12"/>
          <p:cNvSpPr/>
          <p:nvPr/>
        </p:nvSpPr>
        <p:spPr>
          <a:xfrm>
            <a:off x="6126480" y="1143000"/>
            <a:ext cx="2606040" cy="150876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17" name="Shape 13"/>
          <p:cNvSpPr/>
          <p:nvPr/>
        </p:nvSpPr>
        <p:spPr>
          <a:xfrm>
            <a:off x="6126480" y="1143000"/>
            <a:ext cx="2606040" cy="36576"/>
          </a:xfrm>
          <a:prstGeom prst="rect">
            <a:avLst/>
          </a:prstGeom>
          <a:solidFill>
            <a:srgbClr val="8B5A2B"/>
          </a:solidFill>
          <a:ln/>
        </p:spPr>
        <p:txBody>
          <a:bodyPr/>
          <a:p/>
        </p:txBody>
      </p:sp>
      <p:pic>
        <p:nvPicPr>
          <p:cNvPr id="18" name="Image 2" descr="preencoded.png"/>
          <p:cNvPicPr>
            <a:picLocks noChangeAspect="1"/>
          </p:cNvPicPr>
          <p:nvPr/>
        </p:nvPicPr>
        <p:blipFill>
          <a:blip r:embed="rId3"/>
          <a:stretch>
            <a:fillRect/>
          </a:stretch>
        </p:blipFill>
        <p:spPr>
          <a:xfrm>
            <a:off x="6263640" y="1280160"/>
            <a:ext cx="274320" cy="274320"/>
          </a:xfrm>
          <a:prstGeom prst="rect">
            <a:avLst/>
          </a:prstGeom>
        </p:spPr>
      </p:pic>
      <p:sp>
        <p:nvSpPr>
          <p:cNvPr id="19" name="Text 14"/>
          <p:cNvSpPr/>
          <p:nvPr/>
        </p:nvSpPr>
        <p:spPr>
          <a:xfrm>
            <a:off x="6629400" y="1234440"/>
            <a:ext cx="1965960" cy="320040"/>
          </a:xfrm>
          <a:prstGeom prst="rect">
            <a:avLst/>
          </a:prstGeom>
          <a:noFill/>
          <a:ln/>
        </p:spPr>
        <p:txBody>
          <a:bodyPr wrap="square" lIns="0" tIns="0" rIns="0" bIns="0" rtlCol="0" anchor="ctr"/>
          <a:lstStyle/>
          <a:p>
            <a:pPr indent="0" marL="0">
              <a:buNone/>
            </a:pPr>
            <a:r>
              <a:rPr lang="en-US" sz="1000" b="1" dirty="0">
                <a:solidFill>
                  <a:srgbClr val="8B5A2B"/>
                </a:solidFill>
                <a:latin typeface="Georgia" pitchFamily="34" charset="0"/>
                <a:ea typeface="Georgia" pitchFamily="34" charset="-122"/>
                <a:cs typeface="Georgia" pitchFamily="34" charset="-120"/>
              </a:rPr>
              <a:t>CONSTRUCCION</a:t>
            </a:r>
            <a:endParaRPr lang="en-US" sz="1000" dirty="0"/>
          </a:p>
        </p:txBody>
      </p:sp>
      <p:sp>
        <p:nvSpPr>
          <p:cNvPr id="20" name="Text 15"/>
          <p:cNvSpPr/>
          <p:nvPr/>
        </p:nvSpPr>
        <p:spPr>
          <a:xfrm>
            <a:off x="6263640" y="1645920"/>
            <a:ext cx="2331720" cy="868680"/>
          </a:xfrm>
          <a:prstGeom prst="rect">
            <a:avLst/>
          </a:prstGeom>
          <a:noFill/>
          <a:ln/>
        </p:spPr>
        <p:txBody>
          <a:bodyPr wrap="square" lIns="0" tIns="0" rIns="0" bIns="0" rtlCol="0" anchor="t"/>
          <a:lstStyle/>
          <a:p>
            <a:pPr indent="0" marL="0">
              <a:buNone/>
            </a:pPr>
            <a:r>
              <a:rPr lang="en-US" sz="900" dirty="0">
                <a:solidFill>
                  <a:srgbClr val="5C4033"/>
                </a:solidFill>
                <a:latin typeface="Calibri" pitchFamily="34" charset="0"/>
                <a:ea typeface="Calibri" pitchFamily="34" charset="-122"/>
                <a:cs typeface="Calibri" pitchFamily="34" charset="-120"/>
              </a:rPr>
              <a:t>Vigas, columnas, laminas,</a:t>
            </a:r>
            <a:endParaRPr lang="en-US" sz="900" dirty="0"/>
          </a:p>
          <a:p>
            <a:pPr indent="0" marL="0">
              <a:buNone/>
            </a:pPr>
            <a:r>
              <a:rPr lang="en-US" sz="900" dirty="0">
                <a:solidFill>
                  <a:srgbClr val="5C4033"/>
                </a:solidFill>
                <a:latin typeface="Calibri" pitchFamily="34" charset="0"/>
                <a:ea typeface="Calibri" pitchFamily="34" charset="-122"/>
                <a:cs typeface="Calibri" pitchFamily="34" charset="-120"/>
              </a:rPr>
              <a:t>techo, escaleras, defensas viales</a:t>
            </a:r>
            <a:endParaRPr lang="en-US" sz="900" dirty="0"/>
          </a:p>
          <a:p>
            <a:pPr algn="l">
              <a:spcBef>
                <a:spcPts val="400"/>
              </a:spcBef>
            </a:pPr>
            <a:r>
              <a:rPr sz="750" b="0" i="1">
                <a:solidFill>
                  <a:srgbClr val="8B5A2B"/>
                </a:solidFill>
              </a:rPr>
              <a:t>Demanda: Muros MSE VINCI/Freyssinet en proyectos activos + boom vivienda y autopistas.</a:t>
            </a:r>
          </a:p>
        </p:txBody>
      </p:sp>
      <p:sp>
        <p:nvSpPr>
          <p:cNvPr id="21" name="Shape 16"/>
          <p:cNvSpPr/>
          <p:nvPr/>
        </p:nvSpPr>
        <p:spPr>
          <a:xfrm>
            <a:off x="457200" y="2834640"/>
            <a:ext cx="2606040" cy="150876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22" name="Shape 17"/>
          <p:cNvSpPr/>
          <p:nvPr/>
        </p:nvSpPr>
        <p:spPr>
          <a:xfrm>
            <a:off x="457200" y="2834640"/>
            <a:ext cx="2606040" cy="36576"/>
          </a:xfrm>
          <a:prstGeom prst="rect">
            <a:avLst/>
          </a:prstGeom>
          <a:solidFill>
            <a:srgbClr val="CD853F"/>
          </a:solidFill>
          <a:ln/>
        </p:spPr>
        <p:txBody>
          <a:bodyPr/>
          <a:p/>
        </p:txBody>
      </p:sp>
      <p:pic>
        <p:nvPicPr>
          <p:cNvPr id="23" name="Image 3" descr="preencoded.png"/>
          <p:cNvPicPr>
            <a:picLocks noChangeAspect="1"/>
          </p:cNvPicPr>
          <p:nvPr/>
        </p:nvPicPr>
        <p:blipFill>
          <a:blip r:embed="rId4"/>
          <a:stretch>
            <a:fillRect/>
          </a:stretch>
        </p:blipFill>
        <p:spPr>
          <a:xfrm>
            <a:off x="594360" y="2971800"/>
            <a:ext cx="274320" cy="274320"/>
          </a:xfrm>
          <a:prstGeom prst="rect">
            <a:avLst/>
          </a:prstGeom>
        </p:spPr>
      </p:pic>
      <p:sp>
        <p:nvSpPr>
          <p:cNvPr id="24" name="Text 18"/>
          <p:cNvSpPr/>
          <p:nvPr/>
        </p:nvSpPr>
        <p:spPr>
          <a:xfrm>
            <a:off x="960120" y="2926080"/>
            <a:ext cx="1965960" cy="320040"/>
          </a:xfrm>
          <a:prstGeom prst="rect">
            <a:avLst/>
          </a:prstGeom>
          <a:noFill/>
          <a:ln/>
        </p:spPr>
        <p:txBody>
          <a:bodyPr wrap="square" lIns="0" tIns="0" rIns="0" bIns="0" rtlCol="0" anchor="ctr"/>
          <a:lstStyle/>
          <a:p>
            <a:pPr indent="0" marL="0">
              <a:buNone/>
            </a:pPr>
            <a:r>
              <a:rPr lang="en-US" sz="1000" b="1" dirty="0">
                <a:solidFill>
                  <a:srgbClr val="8B5A2B"/>
                </a:solidFill>
                <a:latin typeface="Georgia" pitchFamily="34" charset="0"/>
                <a:ea typeface="Georgia" pitchFamily="34" charset="-122"/>
                <a:cs typeface="Georgia" pitchFamily="34" charset="-120"/>
              </a:rPr>
              <a:t>ENERGIA RENOVABLE</a:t>
            </a:r>
            <a:endParaRPr lang="en-US" sz="1000" dirty="0"/>
          </a:p>
        </p:txBody>
      </p:sp>
      <p:sp>
        <p:nvSpPr>
          <p:cNvPr id="25" name="Text 19"/>
          <p:cNvSpPr/>
          <p:nvPr/>
        </p:nvSpPr>
        <p:spPr>
          <a:xfrm>
            <a:off x="594360" y="3337560"/>
            <a:ext cx="2331720" cy="868680"/>
          </a:xfrm>
          <a:prstGeom prst="rect">
            <a:avLst/>
          </a:prstGeom>
          <a:noFill/>
          <a:ln/>
        </p:spPr>
        <p:txBody>
          <a:bodyPr wrap="square" lIns="0" tIns="0" rIns="0" bIns="0" rtlCol="0" anchor="t"/>
          <a:lstStyle/>
          <a:p>
            <a:pPr indent="0" marL="0">
              <a:buNone/>
            </a:pPr>
            <a:r>
              <a:rPr lang="en-US" sz="900" dirty="0">
                <a:solidFill>
                  <a:srgbClr val="5C4033"/>
                </a:solidFill>
                <a:latin typeface="Calibri" pitchFamily="34" charset="0"/>
                <a:ea typeface="Calibri" pitchFamily="34" charset="-122"/>
                <a:cs typeface="Calibri" pitchFamily="34" charset="-120"/>
              </a:rPr>
              <a:t>Soportes para paneles solares,</a:t>
            </a:r>
            <a:endParaRPr lang="en-US" sz="900" dirty="0"/>
          </a:p>
          <a:p>
            <a:pPr indent="0" marL="0">
              <a:buNone/>
            </a:pPr>
            <a:r>
              <a:rPr lang="en-US" sz="900" dirty="0">
                <a:solidFill>
                  <a:srgbClr val="5C4033"/>
                </a:solidFill>
                <a:latin typeface="Calibri" pitchFamily="34" charset="0"/>
                <a:ea typeface="Calibri" pitchFamily="34" charset="-122"/>
                <a:cs typeface="Calibri" pitchFamily="34" charset="-120"/>
              </a:rPr>
              <a:t>torres eolicas, montajes</a:t>
            </a:r>
            <a:endParaRPr lang="en-US" sz="900" dirty="0"/>
          </a:p>
          <a:p>
            <a:pPr algn="l">
              <a:spcBef>
                <a:spcPts val="400"/>
              </a:spcBef>
            </a:pPr>
            <a:r>
              <a:rPr sz="750" b="0" i="1">
                <a:solidFill>
                  <a:srgbClr val="8B5A2B"/>
                </a:solidFill>
              </a:rPr>
              <a:t>Demanda: Expansion solar nacional + modernizacion de red. Todos los soportes requieren galvanizado.</a:t>
            </a:r>
          </a:p>
        </p:txBody>
      </p:sp>
      <p:sp>
        <p:nvSpPr>
          <p:cNvPr id="26" name="Shape 20"/>
          <p:cNvSpPr/>
          <p:nvPr/>
        </p:nvSpPr>
        <p:spPr>
          <a:xfrm>
            <a:off x="3291840" y="2834640"/>
            <a:ext cx="2606040" cy="150876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27" name="Shape 21"/>
          <p:cNvSpPr/>
          <p:nvPr/>
        </p:nvSpPr>
        <p:spPr>
          <a:xfrm>
            <a:off x="3291840" y="2834640"/>
            <a:ext cx="2606040" cy="36576"/>
          </a:xfrm>
          <a:prstGeom prst="rect">
            <a:avLst/>
          </a:prstGeom>
          <a:solidFill>
            <a:srgbClr val="DAA520"/>
          </a:solidFill>
          <a:ln/>
        </p:spPr>
        <p:txBody>
          <a:bodyPr/>
          <a:p/>
        </p:txBody>
      </p:sp>
      <p:pic>
        <p:nvPicPr>
          <p:cNvPr id="28" name="Image 4" descr="preencoded.png"/>
          <p:cNvPicPr>
            <a:picLocks noChangeAspect="1"/>
          </p:cNvPicPr>
          <p:nvPr/>
        </p:nvPicPr>
        <p:blipFill>
          <a:blip r:embed="rId5"/>
          <a:stretch>
            <a:fillRect/>
          </a:stretch>
        </p:blipFill>
        <p:spPr>
          <a:xfrm>
            <a:off x="3429000" y="2971800"/>
            <a:ext cx="274320" cy="274320"/>
          </a:xfrm>
          <a:prstGeom prst="rect">
            <a:avLst/>
          </a:prstGeom>
        </p:spPr>
      </p:pic>
      <p:sp>
        <p:nvSpPr>
          <p:cNvPr id="29" name="Text 22"/>
          <p:cNvSpPr/>
          <p:nvPr/>
        </p:nvSpPr>
        <p:spPr>
          <a:xfrm>
            <a:off x="3794760" y="2926080"/>
            <a:ext cx="1965960" cy="320040"/>
          </a:xfrm>
          <a:prstGeom prst="rect">
            <a:avLst/>
          </a:prstGeom>
          <a:noFill/>
          <a:ln/>
        </p:spPr>
        <p:txBody>
          <a:bodyPr wrap="square" lIns="0" tIns="0" rIns="0" bIns="0" rtlCol="0" anchor="ctr"/>
          <a:lstStyle/>
          <a:p>
            <a:pPr indent="0" marL="0">
              <a:buNone/>
            </a:pPr>
            <a:r>
              <a:rPr lang="en-US" sz="1000" b="1" dirty="0">
                <a:solidFill>
                  <a:srgbClr val="8B5A2B"/>
                </a:solidFill>
                <a:latin typeface="Georgia" pitchFamily="34" charset="0"/>
                <a:ea typeface="Georgia" pitchFamily="34" charset="-122"/>
                <a:cs typeface="Georgia" pitchFamily="34" charset="-120"/>
              </a:rPr>
              <a:t>INFRAESTRUCTURA</a:t>
            </a:r>
            <a:endParaRPr lang="en-US" sz="1000" dirty="0"/>
          </a:p>
        </p:txBody>
      </p:sp>
      <p:sp>
        <p:nvSpPr>
          <p:cNvPr id="30" name="Text 23"/>
          <p:cNvSpPr/>
          <p:nvPr/>
        </p:nvSpPr>
        <p:spPr>
          <a:xfrm>
            <a:off x="3429000" y="3337560"/>
            <a:ext cx="2331720" cy="868680"/>
          </a:xfrm>
          <a:prstGeom prst="rect">
            <a:avLst/>
          </a:prstGeom>
          <a:noFill/>
          <a:ln/>
        </p:spPr>
        <p:txBody>
          <a:bodyPr wrap="square" lIns="0" tIns="0" rIns="0" bIns="0" rtlCol="0" anchor="t"/>
          <a:lstStyle/>
          <a:p>
            <a:pPr indent="0" marL="0">
              <a:buNone/>
            </a:pPr>
            <a:r>
              <a:rPr lang="en-US" sz="900" dirty="0">
                <a:solidFill>
                  <a:srgbClr val="5C4033"/>
                </a:solidFill>
                <a:latin typeface="Calibri" pitchFamily="34" charset="0"/>
                <a:ea typeface="Calibri" pitchFamily="34" charset="-122"/>
                <a:cs typeface="Calibri" pitchFamily="34" charset="-120"/>
              </a:rPr>
              <a:t>Tierra armada (muros de contencion),</a:t>
            </a:r>
            <a:endParaRPr lang="en-US" sz="900" dirty="0"/>
          </a:p>
          <a:p>
            <a:pPr indent="0" marL="0">
              <a:buNone/>
            </a:pPr>
            <a:r>
              <a:rPr lang="en-US" sz="900" dirty="0">
                <a:solidFill>
                  <a:srgbClr val="5C4033"/>
                </a:solidFill>
                <a:latin typeface="Calibri" pitchFamily="34" charset="0"/>
                <a:ea typeface="Calibri" pitchFamily="34" charset="-122"/>
                <a:cs typeface="Calibri" pitchFamily="34" charset="-120"/>
              </a:rPr>
              <a:t>señalizacion, puentes peatonales</a:t>
            </a:r>
            <a:endParaRPr lang="en-US" sz="900" dirty="0"/>
          </a:p>
          <a:p>
            <a:pPr algn="l">
              <a:spcBef>
                <a:spcPts val="400"/>
              </a:spcBef>
            </a:pPr>
            <a:r>
              <a:rPr sz="750" b="0" i="1">
                <a:solidFill>
                  <a:srgbClr val="8B5A2B"/>
                </a:solidFill>
              </a:rPr>
              <a:t>Demanda: 34 clientes historicos. Freyssinet y proyectos viales en cartera.</a:t>
            </a:r>
          </a:p>
        </p:txBody>
      </p:sp>
      <p:sp>
        <p:nvSpPr>
          <p:cNvPr id="31" name="Shape 24"/>
          <p:cNvSpPr/>
          <p:nvPr/>
        </p:nvSpPr>
        <p:spPr>
          <a:xfrm>
            <a:off x="6126480" y="2834640"/>
            <a:ext cx="2606040" cy="150876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32" name="Shape 25"/>
          <p:cNvSpPr/>
          <p:nvPr/>
        </p:nvSpPr>
        <p:spPr>
          <a:xfrm>
            <a:off x="6126480" y="2834640"/>
            <a:ext cx="2606040" cy="36576"/>
          </a:xfrm>
          <a:prstGeom prst="rect">
            <a:avLst/>
          </a:prstGeom>
          <a:solidFill>
            <a:srgbClr val="7A6555"/>
          </a:solidFill>
          <a:ln/>
        </p:spPr>
        <p:txBody>
          <a:bodyPr/>
          <a:p/>
        </p:txBody>
      </p:sp>
      <p:pic>
        <p:nvPicPr>
          <p:cNvPr id="33" name="Image 5" descr="preencoded.png"/>
          <p:cNvPicPr>
            <a:picLocks noChangeAspect="1"/>
          </p:cNvPicPr>
          <p:nvPr/>
        </p:nvPicPr>
        <p:blipFill>
          <a:blip r:embed="rId6"/>
          <a:stretch>
            <a:fillRect/>
          </a:stretch>
        </p:blipFill>
        <p:spPr>
          <a:xfrm>
            <a:off x="6263640" y="2971800"/>
            <a:ext cx="274320" cy="274320"/>
          </a:xfrm>
          <a:prstGeom prst="rect">
            <a:avLst/>
          </a:prstGeom>
        </p:spPr>
      </p:pic>
      <p:sp>
        <p:nvSpPr>
          <p:cNvPr id="34" name="Text 26"/>
          <p:cNvSpPr/>
          <p:nvPr/>
        </p:nvSpPr>
        <p:spPr>
          <a:xfrm>
            <a:off x="6629400" y="2926080"/>
            <a:ext cx="1965960" cy="320040"/>
          </a:xfrm>
          <a:prstGeom prst="rect">
            <a:avLst/>
          </a:prstGeom>
          <a:noFill/>
          <a:ln/>
        </p:spPr>
        <p:txBody>
          <a:bodyPr wrap="square" lIns="0" tIns="0" rIns="0" bIns="0" rtlCol="0" anchor="ctr"/>
          <a:lstStyle/>
          <a:p>
            <a:pPr indent="0" marL="0">
              <a:buNone/>
            </a:pPr>
            <a:r>
              <a:rPr lang="en-US" sz="1000" b="1" dirty="0">
                <a:solidFill>
                  <a:srgbClr val="8B5A2B"/>
                </a:solidFill>
                <a:latin typeface="Georgia" pitchFamily="34" charset="0"/>
                <a:ea typeface="Georgia" pitchFamily="34" charset="-122"/>
                <a:cs typeface="Georgia" pitchFamily="34" charset="-120"/>
              </a:rPr>
              <a:t>AGRO / INDUSTRIAL</a:t>
            </a:r>
            <a:endParaRPr lang="en-US" sz="1000" dirty="0"/>
          </a:p>
        </p:txBody>
      </p:sp>
      <p:sp>
        <p:nvSpPr>
          <p:cNvPr id="35" name="Text 27"/>
          <p:cNvSpPr/>
          <p:nvPr/>
        </p:nvSpPr>
        <p:spPr>
          <a:xfrm>
            <a:off x="6263640" y="3337560"/>
            <a:ext cx="2331720" cy="868680"/>
          </a:xfrm>
          <a:prstGeom prst="rect">
            <a:avLst/>
          </a:prstGeom>
          <a:noFill/>
          <a:ln/>
        </p:spPr>
        <p:txBody>
          <a:bodyPr wrap="square" lIns="0" tIns="0" rIns="0" bIns="0" rtlCol="0" anchor="t"/>
          <a:lstStyle/>
          <a:p>
            <a:pPr indent="0" marL="0">
              <a:buNone/>
            </a:pPr>
            <a:r>
              <a:rPr lang="en-US" sz="900" dirty="0">
                <a:solidFill>
                  <a:srgbClr val="5C4033"/>
                </a:solidFill>
                <a:latin typeface="Calibri" pitchFamily="34" charset="0"/>
                <a:ea typeface="Calibri" pitchFamily="34" charset="-122"/>
                <a:cs typeface="Calibri" pitchFamily="34" charset="-120"/>
              </a:rPr>
              <a:t>Cercas, mallas, alambres de pua,</a:t>
            </a:r>
            <a:endParaRPr lang="en-US" sz="900" dirty="0"/>
          </a:p>
          <a:p>
            <a:pPr indent="0" marL="0">
              <a:buNone/>
            </a:pPr>
            <a:r>
              <a:rPr lang="en-US" sz="900" dirty="0">
                <a:solidFill>
                  <a:srgbClr val="5C4033"/>
                </a:solidFill>
                <a:latin typeface="Calibri" pitchFamily="34" charset="0"/>
                <a:ea typeface="Calibri" pitchFamily="34" charset="-122"/>
                <a:cs typeface="Calibri" pitchFamily="34" charset="-120"/>
              </a:rPr>
              <a:t>silos, tanques, portones</a:t>
            </a:r>
            <a:endParaRPr lang="en-US" sz="900" dirty="0"/>
          </a:p>
          <a:p>
            <a:pPr algn="l">
              <a:spcBef>
                <a:spcPts val="400"/>
              </a:spcBef>
            </a:pPr>
            <a:r>
              <a:rPr sz="750" b="0" i="1">
                <a:solidFill>
                  <a:srgbClr val="8B5A2B"/>
                </a:solidFill>
              </a:rPr>
              <a:t>Demanda: Marullo (mismo bloque) + PROALCA + reactivacion agroindustrial regional.</a:t>
            </a:r>
          </a:p>
        </p:txBody>
      </p:sp>
      <p:sp>
        <p:nvSpPr>
          <p:cNvPr id="36" name="Shape 28"/>
          <p:cNvSpPr/>
          <p:nvPr/>
        </p:nvSpPr>
        <p:spPr>
          <a:xfrm>
            <a:off x="457200" y="4572000"/>
            <a:ext cx="8229600" cy="365760"/>
          </a:xfrm>
          <a:prstGeom prst="rect">
            <a:avLst/>
          </a:prstGeom>
          <a:solidFill>
            <a:srgbClr val="EDE8E0"/>
          </a:solidFill>
          <a:ln w="12700">
            <a:solidFill>
              <a:srgbClr val="B87333"/>
            </a:solidFill>
            <a:prstDash val="solid"/>
          </a:ln>
        </p:spPr>
        <p:txBody>
          <a:bodyPr/>
          <a:p/>
        </p:txBody>
      </p:sp>
      <p:sp>
        <p:nvSpPr>
          <p:cNvPr id="37" name="Text 29"/>
          <p:cNvSpPr/>
          <p:nvPr/>
        </p:nvSpPr>
        <p:spPr>
          <a:xfrm>
            <a:off x="640080" y="4572000"/>
            <a:ext cx="7863840" cy="365760"/>
          </a:xfrm>
          <a:prstGeom prst="rect">
            <a:avLst/>
          </a:prstGeom>
          <a:noFill/>
          <a:ln/>
        </p:spPr>
        <p:txBody>
          <a:bodyPr wrap="square" rtlCol="0" anchor="ctr"/>
          <a:lstStyle/>
          <a:p>
            <a:pPr algn="l" indent="0" marL="0">
              <a:buNone/>
            </a:pPr>
            <a:r>
              <a:rPr sz="800" b="0" i="1">
                <a:solidFill>
                  <a:srgbClr val="2A1F10"/>
                </a:solidFill>
              </a:rPr>
              <a:t>Muros de tierra armada (VINCI/Freyssinet, Zona Industrial I): flejes de acero galvanizado embebidos en el relleno — la cuba de 7m de PYGLARA esta disenada para esto. Con 300 TM/mes de capacidad comprobada, una cuba atiende las seis categorias arriba. Llenar PYGLARA a plena capacidad requiere menos del 3% de la demanda de galvanizado del sector petrolero venezolano.</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14 / 30</a:t>
            </a:r>
            <a:endParaRPr lang="en-US" sz="800" dirty="0"/>
          </a:p>
        </p:txBody>
      </p:sp>
      <p:sp>
        <p:nvSpPr>
          <p:cNvPr id="4" name="Shape 2"/>
          <p:cNvSpPr/>
          <p:nvPr/>
        </p:nvSpPr>
        <p:spPr>
          <a:xfrm>
            <a:off x="0" y="45720"/>
            <a:ext cx="54864" cy="5097780"/>
          </a:xfrm>
          <a:prstGeom prst="rect">
            <a:avLst/>
          </a:prstGeom>
          <a:solidFill>
            <a:srgbClr val="B87333"/>
          </a:solidFill>
          <a:ln/>
        </p:spPr>
        <p:txBody>
          <a:bodyPr/>
          <a:p/>
        </p:txBody>
      </p:sp>
      <p:sp>
        <p:nvSpPr>
          <p:cNvPr id="5" name="Text 3"/>
          <p:cNvSpPr/>
          <p:nvPr/>
        </p:nvSpPr>
        <p:spPr>
          <a:xfrm>
            <a:off x="548640" y="228600"/>
            <a:ext cx="4754880" cy="457200"/>
          </a:xfrm>
          <a:prstGeom prst="rect">
            <a:avLst/>
          </a:prstGeom>
          <a:noFill/>
          <a:ln/>
        </p:spPr>
        <p:txBody>
          <a:bodyPr wrap="square" lIns="0" tIns="0" rIns="0" bIns="0" rtlCol="0" anchor="ctr"/>
          <a:lstStyle/>
          <a:p>
            <a:pPr indent="0" marL="0">
              <a:buNone/>
            </a:pPr>
            <a:r>
              <a:rPr lang="en-US" sz="2200" b="1" dirty="0">
                <a:solidFill>
                  <a:srgbClr val="3E2C1C"/>
                </a:solidFill>
                <a:latin typeface="Georgia" pitchFamily="34" charset="0"/>
                <a:ea typeface="Georgia" pitchFamily="34" charset="-122"/>
                <a:cs typeface="Georgia" pitchFamily="34" charset="-120"/>
              </a:rPr>
              <a:t>COBREADO ELECTROLITICO</a:t>
            </a:r>
            <a:endParaRPr lang="en-US" sz="2200" dirty="0"/>
          </a:p>
        </p:txBody>
      </p:sp>
      <p:sp>
        <p:nvSpPr>
          <p:cNvPr id="6" name="Text 4"/>
          <p:cNvSpPr/>
          <p:nvPr/>
        </p:nvSpPr>
        <p:spPr>
          <a:xfrm>
            <a:off x="548640" y="685800"/>
            <a:ext cx="4572000" cy="320040"/>
          </a:xfrm>
          <a:prstGeom prst="rect">
            <a:avLst/>
          </a:prstGeom>
          <a:noFill/>
          <a:ln/>
        </p:spPr>
        <p:txBody>
          <a:bodyPr wrap="square" lIns="0" tIns="0" rIns="0" bIns="0" rtlCol="0" anchor="ctr"/>
          <a:lstStyle/>
          <a:p>
            <a:pPr indent="0" marL="0">
              <a:buNone/>
            </a:pPr>
            <a:r>
              <a:rPr lang="en-US" sz="1400" b="1" dirty="0">
                <a:solidFill>
                  <a:srgbClr val="8B5A2B"/>
                </a:solidFill>
                <a:latin typeface="Georgia" pitchFamily="34" charset="0"/>
                <a:ea typeface="Georgia" pitchFamily="34" charset="-122"/>
                <a:cs typeface="Georgia" pitchFamily="34" charset="-120"/>
              </a:rPr>
              <a:t>CERO competidores domesticos</a:t>
            </a:r>
            <a:endParaRPr lang="en-US" sz="1400" dirty="0"/>
          </a:p>
        </p:txBody>
      </p:sp>
      <p:sp>
        <p:nvSpPr>
          <p:cNvPr id="7" name="Text 5"/>
          <p:cNvSpPr/>
          <p:nvPr/>
        </p:nvSpPr>
        <p:spPr>
          <a:xfrm>
            <a:off x="548640" y="1280160"/>
            <a:ext cx="1645920" cy="347472"/>
          </a:xfrm>
          <a:prstGeom prst="rect">
            <a:avLst/>
          </a:prstGeom>
          <a:noFill/>
          <a:ln/>
        </p:spPr>
        <p:txBody>
          <a:bodyPr wrap="square" lIns="0" tIns="0" rIns="0" bIns="0" rtlCol="0" anchor="ctr"/>
          <a:lstStyle/>
          <a:p>
            <a:pPr indent="0" marL="0">
              <a:buNone/>
            </a:pPr>
            <a:r>
              <a:rPr lang="en-US" sz="1000" b="1" dirty="0">
                <a:solidFill>
                  <a:srgbClr val="8B5A2B"/>
                </a:solidFill>
                <a:latin typeface="Calibri" pitchFamily="34" charset="0"/>
                <a:ea typeface="Calibri" pitchFamily="34" charset="-122"/>
                <a:cs typeface="Calibri" pitchFamily="34" charset="-120"/>
              </a:rPr>
              <a:t>Producto</a:t>
            </a:r>
            <a:endParaRPr lang="en-US" sz="1000" dirty="0"/>
          </a:p>
        </p:txBody>
      </p:sp>
      <p:sp>
        <p:nvSpPr>
          <p:cNvPr id="8" name="Text 6"/>
          <p:cNvSpPr/>
          <p:nvPr/>
        </p:nvSpPr>
        <p:spPr>
          <a:xfrm>
            <a:off x="2194560" y="1280160"/>
            <a:ext cx="2926080" cy="347472"/>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Varillas de aterramiento tipo Copperweld</a:t>
            </a:r>
            <a:endParaRPr lang="en-US" sz="1000" dirty="0"/>
          </a:p>
        </p:txBody>
      </p:sp>
      <p:sp>
        <p:nvSpPr>
          <p:cNvPr id="9" name="Text 7"/>
          <p:cNvSpPr/>
          <p:nvPr/>
        </p:nvSpPr>
        <p:spPr>
          <a:xfrm>
            <a:off x="548640" y="1719072"/>
            <a:ext cx="1645920" cy="347472"/>
          </a:xfrm>
          <a:prstGeom prst="rect">
            <a:avLst/>
          </a:prstGeom>
          <a:noFill/>
          <a:ln/>
        </p:spPr>
        <p:txBody>
          <a:bodyPr wrap="square" lIns="0" tIns="0" rIns="0" bIns="0" rtlCol="0" anchor="ctr"/>
          <a:lstStyle/>
          <a:p>
            <a:pPr indent="0" marL="0">
              <a:buNone/>
            </a:pPr>
            <a:r>
              <a:rPr lang="en-US" sz="1000" b="1" dirty="0">
                <a:solidFill>
                  <a:srgbClr val="8B5A2B"/>
                </a:solidFill>
                <a:latin typeface="Calibri" pitchFamily="34" charset="0"/>
                <a:ea typeface="Calibri" pitchFamily="34" charset="-122"/>
                <a:cs typeface="Calibri" pitchFamily="34" charset="-120"/>
              </a:rPr>
              <a:t>Proceso</a:t>
            </a:r>
            <a:endParaRPr lang="en-US" sz="1000" dirty="0"/>
          </a:p>
        </p:txBody>
      </p:sp>
      <p:sp>
        <p:nvSpPr>
          <p:cNvPr id="10" name="Text 8"/>
          <p:cNvSpPr/>
          <p:nvPr/>
        </p:nvSpPr>
        <p:spPr>
          <a:xfrm>
            <a:off x="2194560" y="1719072"/>
            <a:ext cx="2926080" cy="347472"/>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Cobreado electrolitico (bano electroquimico)</a:t>
            </a:r>
            <a:endParaRPr lang="en-US" sz="1000" dirty="0"/>
          </a:p>
        </p:txBody>
      </p:sp>
      <p:sp>
        <p:nvSpPr>
          <p:cNvPr id="11" name="Text 9"/>
          <p:cNvSpPr/>
          <p:nvPr/>
        </p:nvSpPr>
        <p:spPr>
          <a:xfrm>
            <a:off x="548640" y="2157984"/>
            <a:ext cx="1645920" cy="347472"/>
          </a:xfrm>
          <a:prstGeom prst="rect">
            <a:avLst/>
          </a:prstGeom>
          <a:noFill/>
          <a:ln/>
        </p:spPr>
        <p:txBody>
          <a:bodyPr wrap="square" lIns="0" tIns="0" rIns="0" bIns="0" rtlCol="0" anchor="ctr"/>
          <a:lstStyle/>
          <a:p>
            <a:pPr indent="0" marL="0">
              <a:buNone/>
            </a:pPr>
            <a:r>
              <a:rPr lang="en-US" sz="1000" b="1" dirty="0">
                <a:solidFill>
                  <a:srgbClr val="8B5A2B"/>
                </a:solidFill>
                <a:latin typeface="Calibri" pitchFamily="34" charset="0"/>
                <a:ea typeface="Calibri" pitchFamily="34" charset="-122"/>
                <a:cs typeface="Calibri" pitchFamily="34" charset="-120"/>
              </a:rPr>
              <a:t>Diametro</a:t>
            </a:r>
            <a:endParaRPr lang="en-US" sz="1000" dirty="0"/>
          </a:p>
        </p:txBody>
      </p:sp>
      <p:sp>
        <p:nvSpPr>
          <p:cNvPr id="12" name="Text 10"/>
          <p:cNvSpPr/>
          <p:nvPr/>
        </p:nvSpPr>
        <p:spPr>
          <a:xfrm>
            <a:off x="2194560" y="2157984"/>
            <a:ext cx="2926080" cy="347472"/>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5/8" a 1"</a:t>
            </a:r>
            <a:endParaRPr lang="en-US" sz="1000" dirty="0"/>
          </a:p>
        </p:txBody>
      </p:sp>
      <p:sp>
        <p:nvSpPr>
          <p:cNvPr id="13" name="Text 11"/>
          <p:cNvSpPr/>
          <p:nvPr/>
        </p:nvSpPr>
        <p:spPr>
          <a:xfrm>
            <a:off x="548640" y="2596896"/>
            <a:ext cx="1645920" cy="347472"/>
          </a:xfrm>
          <a:prstGeom prst="rect">
            <a:avLst/>
          </a:prstGeom>
          <a:noFill/>
          <a:ln/>
        </p:spPr>
        <p:txBody>
          <a:bodyPr wrap="square" lIns="0" tIns="0" rIns="0" bIns="0" rtlCol="0" anchor="ctr"/>
          <a:lstStyle/>
          <a:p>
            <a:pPr indent="0" marL="0">
              <a:buNone/>
            </a:pPr>
            <a:r>
              <a:rPr lang="en-US" sz="1000" b="1" dirty="0">
                <a:solidFill>
                  <a:srgbClr val="8B5A2B"/>
                </a:solidFill>
                <a:latin typeface="Calibri" pitchFamily="34" charset="0"/>
                <a:ea typeface="Calibri" pitchFamily="34" charset="-122"/>
                <a:cs typeface="Calibri" pitchFamily="34" charset="-120"/>
              </a:rPr>
              <a:t>Largo</a:t>
            </a:r>
            <a:endParaRPr lang="en-US" sz="1000" dirty="0"/>
          </a:p>
        </p:txBody>
      </p:sp>
      <p:sp>
        <p:nvSpPr>
          <p:cNvPr id="14" name="Text 12"/>
          <p:cNvSpPr/>
          <p:nvPr/>
        </p:nvSpPr>
        <p:spPr>
          <a:xfrm>
            <a:off x="2194560" y="2596896"/>
            <a:ext cx="2926080" cy="347472"/>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1.2m a 3.0m</a:t>
            </a:r>
            <a:endParaRPr lang="en-US" sz="1000" dirty="0"/>
          </a:p>
        </p:txBody>
      </p:sp>
      <p:sp>
        <p:nvSpPr>
          <p:cNvPr id="15" name="Text 13"/>
          <p:cNvSpPr/>
          <p:nvPr/>
        </p:nvSpPr>
        <p:spPr>
          <a:xfrm>
            <a:off x="548640" y="3035808"/>
            <a:ext cx="1645920" cy="347472"/>
          </a:xfrm>
          <a:prstGeom prst="rect">
            <a:avLst/>
          </a:prstGeom>
          <a:noFill/>
          <a:ln/>
        </p:spPr>
        <p:txBody>
          <a:bodyPr wrap="square" lIns="0" tIns="0" rIns="0" bIns="0" rtlCol="0" anchor="ctr"/>
          <a:lstStyle/>
          <a:p>
            <a:pPr indent="0" marL="0">
              <a:buNone/>
            </a:pPr>
            <a:r>
              <a:rPr lang="en-US" sz="1000" b="1" dirty="0">
                <a:solidFill>
                  <a:srgbClr val="8B5A2B"/>
                </a:solidFill>
                <a:latin typeface="Calibri" pitchFamily="34" charset="0"/>
                <a:ea typeface="Calibri" pitchFamily="34" charset="-122"/>
                <a:cs typeface="Calibri" pitchFamily="34" charset="-120"/>
              </a:rPr>
              <a:t>Recubrimiento</a:t>
            </a:r>
            <a:endParaRPr lang="en-US" sz="1000" dirty="0"/>
          </a:p>
        </p:txBody>
      </p:sp>
      <p:sp>
        <p:nvSpPr>
          <p:cNvPr id="16" name="Text 14"/>
          <p:cNvSpPr/>
          <p:nvPr/>
        </p:nvSpPr>
        <p:spPr>
          <a:xfrm>
            <a:off x="2194560" y="3035808"/>
            <a:ext cx="2926080" cy="347472"/>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300 um +/- 50 de cobre</a:t>
            </a:r>
            <a:endParaRPr lang="en-US" sz="1000" dirty="0"/>
          </a:p>
        </p:txBody>
      </p:sp>
      <p:sp>
        <p:nvSpPr>
          <p:cNvPr id="17" name="Text 15"/>
          <p:cNvSpPr/>
          <p:nvPr/>
        </p:nvSpPr>
        <p:spPr>
          <a:xfrm>
            <a:off x="548640" y="3474720"/>
            <a:ext cx="1645920" cy="347472"/>
          </a:xfrm>
          <a:prstGeom prst="rect">
            <a:avLst/>
          </a:prstGeom>
          <a:noFill/>
          <a:ln/>
        </p:spPr>
        <p:txBody>
          <a:bodyPr wrap="square" lIns="0" tIns="0" rIns="0" bIns="0" rtlCol="0" anchor="ctr"/>
          <a:lstStyle/>
          <a:p>
            <a:pPr indent="0" marL="0">
              <a:buNone/>
            </a:pPr>
            <a:r>
              <a:rPr lang="en-US" sz="1000" b="1" dirty="0">
                <a:solidFill>
                  <a:srgbClr val="8B5A2B"/>
                </a:solidFill>
                <a:latin typeface="Calibri" pitchFamily="34" charset="0"/>
                <a:ea typeface="Calibri" pitchFamily="34" charset="-122"/>
                <a:cs typeface="Calibri" pitchFamily="34" charset="-120"/>
              </a:rPr>
              <a:t>Capacidad</a:t>
            </a:r>
            <a:endParaRPr lang="en-US" sz="1000" dirty="0"/>
          </a:p>
        </p:txBody>
      </p:sp>
      <p:sp>
        <p:nvSpPr>
          <p:cNvPr id="18" name="Text 16"/>
          <p:cNvSpPr/>
          <p:nvPr/>
        </p:nvSpPr>
        <p:spPr>
          <a:xfrm>
            <a:off x="2194560" y="3474720"/>
            <a:ext cx="2926080" cy="347472"/>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936 unidades/dia (ciclo 24h)</a:t>
            </a:r>
            <a:endParaRPr lang="en-US" sz="1000" dirty="0"/>
          </a:p>
        </p:txBody>
      </p:sp>
      <p:sp>
        <p:nvSpPr>
          <p:cNvPr id="19" name="Text 17"/>
          <p:cNvSpPr/>
          <p:nvPr/>
        </p:nvSpPr>
        <p:spPr>
          <a:xfrm>
            <a:off x="548640" y="3913632"/>
            <a:ext cx="1645920" cy="347472"/>
          </a:xfrm>
          <a:prstGeom prst="rect">
            <a:avLst/>
          </a:prstGeom>
          <a:noFill/>
          <a:ln/>
        </p:spPr>
        <p:txBody>
          <a:bodyPr wrap="square" lIns="0" tIns="0" rIns="0" bIns="0" rtlCol="0" anchor="ctr"/>
          <a:lstStyle/>
          <a:p>
            <a:pPr indent="0" marL="0">
              <a:buNone/>
            </a:pPr>
            <a:r>
              <a:rPr lang="en-US" sz="1000" b="1" dirty="0">
                <a:solidFill>
                  <a:srgbClr val="8B5A2B"/>
                </a:solidFill>
                <a:latin typeface="Calibri" pitchFamily="34" charset="0"/>
                <a:ea typeface="Calibri" pitchFamily="34" charset="-122"/>
                <a:cs typeface="Calibri" pitchFamily="34" charset="-120"/>
              </a:rPr>
              <a:t>Ingresos</a:t>
            </a:r>
            <a:endParaRPr lang="en-US" sz="1000" dirty="0"/>
          </a:p>
        </p:txBody>
      </p:sp>
      <p:sp>
        <p:nvSpPr>
          <p:cNvPr id="20" name="Text 18"/>
          <p:cNvSpPr/>
          <p:nvPr/>
        </p:nvSpPr>
        <p:spPr>
          <a:xfrm>
            <a:off x="2194560" y="3913632"/>
            <a:ext cx="2926080" cy="347472"/>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$561K - $1.05M/ano a plena capacidad</a:t>
            </a:r>
            <a:endParaRPr lang="en-US" sz="1000" dirty="0"/>
          </a:p>
        </p:txBody>
      </p:sp>
      <p:sp>
        <p:nvSpPr>
          <p:cNvPr id="21" name="Shape 19"/>
          <p:cNvSpPr/>
          <p:nvPr/>
        </p:nvSpPr>
        <p:spPr>
          <a:xfrm>
            <a:off x="548640" y="4434840"/>
            <a:ext cx="4572000" cy="502920"/>
          </a:xfrm>
          <a:prstGeom prst="rect">
            <a:avLst/>
          </a:prstGeom>
          <a:solidFill>
            <a:srgbClr val="EDE8E0"/>
          </a:solidFill>
          <a:ln w="12700">
            <a:solidFill>
              <a:srgbClr val="B87333"/>
            </a:solidFill>
            <a:prstDash val="solid"/>
          </a:ln>
        </p:spPr>
        <p:txBody>
          <a:bodyPr/>
          <a:p/>
        </p:txBody>
      </p:sp>
      <p:sp>
        <p:nvSpPr>
          <p:cNvPr id="22" name="Text 20"/>
          <p:cNvSpPr/>
          <p:nvPr/>
        </p:nvSpPr>
        <p:spPr>
          <a:xfrm>
            <a:off x="640080" y="4434840"/>
            <a:ext cx="4389120" cy="502920"/>
          </a:xfrm>
          <a:prstGeom prst="rect">
            <a:avLst/>
          </a:prstGeom>
          <a:noFill/>
          <a:ln/>
        </p:spPr>
        <p:txBody>
          <a:bodyPr wrap="square" lIns="0" tIns="0" rIns="0" bIns="0" rtlCol="0" anchor="ctr"/>
          <a:lstStyle/>
          <a:p>
            <a:pPr indent="0" marL="0">
              <a:buNone/>
            </a:pPr>
            <a:r>
              <a:rPr lang="en-US" sz="1000" b="1" dirty="0">
                <a:solidFill>
                  <a:srgbClr val="8B5A2B"/>
                </a:solidFill>
                <a:latin typeface="Calibri" pitchFamily="34" charset="0"/>
                <a:ea typeface="Calibri" pitchFamily="34" charset="-122"/>
                <a:cs typeface="Calibri" pitchFamily="34" charset="-120"/>
              </a:rPr>
              <a:t>ENELVEN (hoy CORPOELEC) compro 20,000 varillas en 2004-2005</a:t>
            </a:r>
            <a:endParaRPr lang="en-US" sz="1000" dirty="0"/>
          </a:p>
        </p:txBody>
      </p:sp>
      <p:pic>
        <p:nvPicPr>
          <p:cNvPr id="23" name="Image 0" descr="/sessions/sweet-gallant-wright/pyglara-deck/images/rectificadores.jpg"/>
          <p:cNvPicPr>
            <a:picLocks noChangeAspect="1"/>
          </p:cNvPicPr>
          <p:nvPr/>
        </p:nvPicPr>
        <p:blipFill>
          <a:blip r:embed="rId1"/>
          <a:srcRect l="0" r="0" t="0" b="0"/>
          <a:stretch/>
        </p:blipFill>
        <p:spPr>
          <a:xfrm>
            <a:off x="5303520" y="457200"/>
            <a:ext cx="3383280" cy="4206240"/>
          </a:xfrm>
          <a:prstGeom prst="rect">
            <a:avLst/>
          </a:prstGeom>
        </p:spPr>
      </p:pic>
      <p:sp>
        <p:nvSpPr>
          <p:cNvPr id="24" name="Shape 21"/>
          <p:cNvSpPr/>
          <p:nvPr/>
        </p:nvSpPr>
        <p:spPr>
          <a:xfrm>
            <a:off x="5303520" y="457200"/>
            <a:ext cx="3383280" cy="4206240"/>
          </a:xfrm>
          <a:prstGeom prst="rect">
            <a:avLst/>
          </a:prstGeom>
          <a:ln w="19050">
            <a:solidFill>
              <a:srgbClr val="B87333"/>
            </a:solidFill>
            <a:prstDash val="solid"/>
          </a:ln>
        </p:spPr>
        <p:txBody>
          <a:body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15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3E2C1C"/>
                </a:solidFill>
                <a:latin typeface="Georgia" pitchFamily="34" charset="0"/>
                <a:ea typeface="Georgia" pitchFamily="34" charset="-122"/>
                <a:cs typeface="Georgia" pitchFamily="34" charset="-120"/>
              </a:rPr>
              <a:t>CALIDAD Y CERTIFICACIONES</a:t>
            </a:r>
            <a:endParaRPr lang="en-US" sz="2800" dirty="0"/>
          </a:p>
        </p:txBody>
      </p:sp>
      <p:sp>
        <p:nvSpPr>
          <p:cNvPr id="5" name="Text 3"/>
          <p:cNvSpPr/>
          <p:nvPr/>
        </p:nvSpPr>
        <p:spPr>
          <a:xfrm>
            <a:off x="548640" y="731520"/>
            <a:ext cx="8046720" cy="274320"/>
          </a:xfrm>
          <a:prstGeom prst="rect">
            <a:avLst/>
          </a:prstGeom>
          <a:noFill/>
          <a:ln/>
        </p:spPr>
        <p:txBody>
          <a:bodyPr wrap="square" lIns="0" tIns="0" rIns="0" bIns="0" rtlCol="0" anchor="ctr"/>
          <a:lstStyle/>
          <a:p>
            <a:pPr indent="0" marL="0">
              <a:buNone/>
            </a:pPr>
            <a:r>
              <a:rPr lang="en-US" sz="1200" i="1" dirty="0">
                <a:solidFill>
                  <a:srgbClr val="8B5A2B"/>
                </a:solidFill>
                <a:latin typeface="Calibri" pitchFamily="34" charset="0"/>
                <a:ea typeface="Calibri" pitchFamily="34" charset="-122"/>
                <a:cs typeface="Calibri" pitchFamily="34" charset="-120"/>
              </a:rPr>
              <a:t>Certificaciones internacionales + control de calidad en cada lote</a:t>
            </a:r>
            <a:endParaRPr lang="en-US" sz="1200" dirty="0"/>
          </a:p>
        </p:txBody>
      </p:sp>
      <p:pic>
        <p:nvPicPr>
          <p:cNvPr id="6" name="Image 0" descr="/sessions/sweet-gallant-wright/pyglara-deck/images/certificado.jpg"/>
          <p:cNvPicPr>
            <a:picLocks noChangeAspect="1"/>
          </p:cNvPicPr>
          <p:nvPr/>
        </p:nvPicPr>
        <p:blipFill>
          <a:blip r:embed="rId1"/>
          <a:srcRect l="0" r="0" t="0" b="0"/>
          <a:stretch/>
        </p:blipFill>
        <p:spPr>
          <a:xfrm>
            <a:off x="548640" y="1097280"/>
            <a:ext cx="3200400" cy="3566160"/>
          </a:xfrm>
          <a:prstGeom prst="rect">
            <a:avLst/>
          </a:prstGeom>
        </p:spPr>
      </p:pic>
      <p:sp>
        <p:nvSpPr>
          <p:cNvPr id="7" name="Shape 4"/>
          <p:cNvSpPr/>
          <p:nvPr/>
        </p:nvSpPr>
        <p:spPr>
          <a:xfrm>
            <a:off x="548640" y="1097280"/>
            <a:ext cx="3200400" cy="3566160"/>
          </a:xfrm>
          <a:prstGeom prst="rect">
            <a:avLst/>
          </a:prstGeom>
          <a:ln w="19050">
            <a:solidFill>
              <a:srgbClr val="B87333"/>
            </a:solidFill>
            <a:prstDash val="solid"/>
          </a:ln>
          <a:effectLst>
            <a:outerShdw sx="100000" sy="100000" kx="0" ky="0" algn="bl" rotWithShape="0" blurRad="50800" dist="25400" dir="8100000">
              <a:srgbClr val="000000">
                <a:alpha val="8000"/>
              </a:srgbClr>
            </a:outerShdw>
          </a:effectLst>
        </p:spPr>
        <p:txBody>
          <a:bodyPr/>
          <a:p/>
        </p:txBody>
      </p:sp>
      <p:sp>
        <p:nvSpPr>
          <p:cNvPr id="8" name="Shape 5"/>
          <p:cNvSpPr/>
          <p:nvPr/>
        </p:nvSpPr>
        <p:spPr>
          <a:xfrm>
            <a:off x="4114800" y="1280160"/>
            <a:ext cx="4572000" cy="77724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9" name="Shape 6"/>
          <p:cNvSpPr/>
          <p:nvPr/>
        </p:nvSpPr>
        <p:spPr>
          <a:xfrm>
            <a:off x="4114800" y="1280160"/>
            <a:ext cx="54864" cy="777240"/>
          </a:xfrm>
          <a:prstGeom prst="rect">
            <a:avLst/>
          </a:prstGeom>
          <a:solidFill>
            <a:srgbClr val="B87333"/>
          </a:solidFill>
          <a:ln/>
        </p:spPr>
        <p:txBody>
          <a:bodyPr/>
          <a:p/>
        </p:txBody>
      </p:sp>
      <p:pic>
        <p:nvPicPr>
          <p:cNvPr id="10" name="Image 1" descr="preencoded.png"/>
          <p:cNvPicPr>
            <a:picLocks noChangeAspect="1"/>
          </p:cNvPicPr>
          <p:nvPr/>
        </p:nvPicPr>
        <p:blipFill>
          <a:blip r:embed="rId2"/>
          <a:stretch>
            <a:fillRect/>
          </a:stretch>
        </p:blipFill>
        <p:spPr>
          <a:xfrm>
            <a:off x="4297680" y="1463040"/>
            <a:ext cx="320040" cy="320040"/>
          </a:xfrm>
          <a:prstGeom prst="rect">
            <a:avLst/>
          </a:prstGeom>
        </p:spPr>
      </p:pic>
      <p:sp>
        <p:nvSpPr>
          <p:cNvPr id="11" name="Text 7"/>
          <p:cNvSpPr/>
          <p:nvPr/>
        </p:nvSpPr>
        <p:spPr>
          <a:xfrm>
            <a:off x="4754880" y="1280160"/>
            <a:ext cx="3657600" cy="411480"/>
          </a:xfrm>
          <a:prstGeom prst="rect">
            <a:avLst/>
          </a:prstGeom>
          <a:noFill/>
          <a:ln/>
        </p:spPr>
        <p:txBody>
          <a:bodyPr wrap="square" lIns="0" tIns="0" rIns="0" bIns="0" rtlCol="0" anchor="b"/>
          <a:lstStyle/>
          <a:p>
            <a:pPr indent="0" marL="0">
              <a:buNone/>
            </a:pPr>
            <a:r>
              <a:rPr lang="en-US" sz="1300" b="1" dirty="0">
                <a:solidFill>
                  <a:srgbClr val="8B5A2B"/>
                </a:solidFill>
                <a:latin typeface="Georgia" pitchFamily="34" charset="0"/>
                <a:ea typeface="Georgia" pitchFamily="34" charset="-122"/>
                <a:cs typeface="Georgia" pitchFamily="34" charset="-120"/>
              </a:rPr>
              <a:t>COVENIN 1212-81</a:t>
            </a:r>
            <a:endParaRPr lang="en-US" sz="1300" dirty="0"/>
          </a:p>
        </p:txBody>
      </p:sp>
      <p:sp>
        <p:nvSpPr>
          <p:cNvPr id="12" name="Text 8"/>
          <p:cNvSpPr/>
          <p:nvPr/>
        </p:nvSpPr>
        <p:spPr>
          <a:xfrm>
            <a:off x="4754880" y="1691640"/>
            <a:ext cx="3657600" cy="320040"/>
          </a:xfrm>
          <a:prstGeom prst="rect">
            <a:avLst/>
          </a:prstGeom>
          <a:noFill/>
          <a:ln/>
        </p:spPr>
        <p:txBody>
          <a:bodyPr wrap="square" lIns="0" tIns="0" rIns="0" bIns="0" rtlCol="0" anchor="t"/>
          <a:lstStyle/>
          <a:p>
            <a:pPr indent="0" marL="0">
              <a:buNone/>
            </a:pPr>
            <a:r>
              <a:rPr lang="en-US" sz="1000" dirty="0">
                <a:solidFill>
                  <a:srgbClr val="7A6555"/>
                </a:solidFill>
                <a:latin typeface="Calibri" pitchFamily="34" charset="0"/>
                <a:ea typeface="Calibri" pitchFamily="34" charset="-122"/>
                <a:cs typeface="Calibri" pitchFamily="34" charset="-120"/>
              </a:rPr>
              <a:t>Norma venezolana de galvanizado</a:t>
            </a:r>
            <a:endParaRPr lang="en-US" sz="1000" dirty="0"/>
          </a:p>
        </p:txBody>
      </p:sp>
      <p:sp>
        <p:nvSpPr>
          <p:cNvPr id="13" name="Shape 9"/>
          <p:cNvSpPr/>
          <p:nvPr/>
        </p:nvSpPr>
        <p:spPr>
          <a:xfrm>
            <a:off x="4114800" y="2240280"/>
            <a:ext cx="4572000" cy="77724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14" name="Shape 10"/>
          <p:cNvSpPr/>
          <p:nvPr/>
        </p:nvSpPr>
        <p:spPr>
          <a:xfrm>
            <a:off x="4114800" y="2240280"/>
            <a:ext cx="54864" cy="777240"/>
          </a:xfrm>
          <a:prstGeom prst="rect">
            <a:avLst/>
          </a:prstGeom>
          <a:solidFill>
            <a:srgbClr val="B87333"/>
          </a:solidFill>
          <a:ln/>
        </p:spPr>
        <p:txBody>
          <a:bodyPr/>
          <a:p/>
        </p:txBody>
      </p:sp>
      <p:pic>
        <p:nvPicPr>
          <p:cNvPr id="15" name="Image 2" descr="preencoded.png"/>
          <p:cNvPicPr>
            <a:picLocks noChangeAspect="1"/>
          </p:cNvPicPr>
          <p:nvPr/>
        </p:nvPicPr>
        <p:blipFill>
          <a:blip r:embed="rId3"/>
          <a:stretch>
            <a:fillRect/>
          </a:stretch>
        </p:blipFill>
        <p:spPr>
          <a:xfrm>
            <a:off x="4297680" y="2423160"/>
            <a:ext cx="320040" cy="320040"/>
          </a:xfrm>
          <a:prstGeom prst="rect">
            <a:avLst/>
          </a:prstGeom>
        </p:spPr>
      </p:pic>
      <p:sp>
        <p:nvSpPr>
          <p:cNvPr id="16" name="Text 11"/>
          <p:cNvSpPr/>
          <p:nvPr/>
        </p:nvSpPr>
        <p:spPr>
          <a:xfrm>
            <a:off x="4754880" y="2240280"/>
            <a:ext cx="3657600" cy="411480"/>
          </a:xfrm>
          <a:prstGeom prst="rect">
            <a:avLst/>
          </a:prstGeom>
          <a:noFill/>
          <a:ln/>
        </p:spPr>
        <p:txBody>
          <a:bodyPr wrap="square" lIns="0" tIns="0" rIns="0" bIns="0" rtlCol="0" anchor="b"/>
          <a:lstStyle/>
          <a:p>
            <a:pPr indent="0" marL="0">
              <a:buNone/>
            </a:pPr>
            <a:r>
              <a:rPr lang="en-US" sz="1300" b="1" dirty="0">
                <a:solidFill>
                  <a:srgbClr val="8B5A2B"/>
                </a:solidFill>
                <a:latin typeface="Georgia" pitchFamily="34" charset="0"/>
                <a:ea typeface="Georgia" pitchFamily="34" charset="-122"/>
                <a:cs typeface="Georgia" pitchFamily="34" charset="-120"/>
              </a:rPr>
              <a:t>ASTM A123</a:t>
            </a:r>
            <a:endParaRPr lang="en-US" sz="1300" dirty="0"/>
          </a:p>
        </p:txBody>
      </p:sp>
      <p:sp>
        <p:nvSpPr>
          <p:cNvPr id="17" name="Text 12"/>
          <p:cNvSpPr/>
          <p:nvPr/>
        </p:nvSpPr>
        <p:spPr>
          <a:xfrm>
            <a:off x="4754880" y="2651760"/>
            <a:ext cx="3657600" cy="320040"/>
          </a:xfrm>
          <a:prstGeom prst="rect">
            <a:avLst/>
          </a:prstGeom>
          <a:noFill/>
          <a:ln/>
        </p:spPr>
        <p:txBody>
          <a:bodyPr wrap="square" lIns="0" tIns="0" rIns="0" bIns="0" rtlCol="0" anchor="t"/>
          <a:lstStyle/>
          <a:p>
            <a:pPr indent="0" marL="0">
              <a:buNone/>
            </a:pPr>
            <a:r>
              <a:rPr lang="en-US" sz="1000" dirty="0">
                <a:solidFill>
                  <a:srgbClr val="7A6555"/>
                </a:solidFill>
                <a:latin typeface="Calibri" pitchFamily="34" charset="0"/>
                <a:ea typeface="Calibri" pitchFamily="34" charset="-122"/>
                <a:cs typeface="Calibri" pitchFamily="34" charset="-120"/>
              </a:rPr>
              <a:t>Recubrimientos de zinc en hierro/acero</a:t>
            </a:r>
            <a:endParaRPr lang="en-US" sz="1000" dirty="0"/>
          </a:p>
        </p:txBody>
      </p:sp>
      <p:sp>
        <p:nvSpPr>
          <p:cNvPr id="18" name="Shape 13"/>
          <p:cNvSpPr/>
          <p:nvPr/>
        </p:nvSpPr>
        <p:spPr>
          <a:xfrm>
            <a:off x="4114800" y="3200400"/>
            <a:ext cx="4572000" cy="77724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19" name="Shape 14"/>
          <p:cNvSpPr/>
          <p:nvPr/>
        </p:nvSpPr>
        <p:spPr>
          <a:xfrm>
            <a:off x="4114800" y="3200400"/>
            <a:ext cx="54864" cy="777240"/>
          </a:xfrm>
          <a:prstGeom prst="rect">
            <a:avLst/>
          </a:prstGeom>
          <a:solidFill>
            <a:srgbClr val="B87333"/>
          </a:solidFill>
          <a:ln/>
        </p:spPr>
        <p:txBody>
          <a:bodyPr/>
          <a:p/>
        </p:txBody>
      </p:sp>
      <p:pic>
        <p:nvPicPr>
          <p:cNvPr id="20" name="Image 3" descr="preencoded.png"/>
          <p:cNvPicPr>
            <a:picLocks noChangeAspect="1"/>
          </p:cNvPicPr>
          <p:nvPr/>
        </p:nvPicPr>
        <p:blipFill>
          <a:blip r:embed="rId4"/>
          <a:stretch>
            <a:fillRect/>
          </a:stretch>
        </p:blipFill>
        <p:spPr>
          <a:xfrm>
            <a:off x="4297680" y="3383280"/>
            <a:ext cx="320040" cy="320040"/>
          </a:xfrm>
          <a:prstGeom prst="rect">
            <a:avLst/>
          </a:prstGeom>
        </p:spPr>
      </p:pic>
      <p:sp>
        <p:nvSpPr>
          <p:cNvPr id="21" name="Text 15"/>
          <p:cNvSpPr/>
          <p:nvPr/>
        </p:nvSpPr>
        <p:spPr>
          <a:xfrm>
            <a:off x="4754880" y="3200400"/>
            <a:ext cx="3657600" cy="411480"/>
          </a:xfrm>
          <a:prstGeom prst="rect">
            <a:avLst/>
          </a:prstGeom>
          <a:noFill/>
          <a:ln/>
        </p:spPr>
        <p:txBody>
          <a:bodyPr wrap="square" lIns="0" tIns="0" rIns="0" bIns="0" rtlCol="0" anchor="b"/>
          <a:lstStyle/>
          <a:p>
            <a:pPr indent="0" marL="0">
              <a:buNone/>
            </a:pPr>
            <a:r>
              <a:rPr lang="en-US" sz="1300" b="1" dirty="0">
                <a:solidFill>
                  <a:srgbClr val="8B5A2B"/>
                </a:solidFill>
                <a:latin typeface="Georgia" pitchFamily="34" charset="0"/>
                <a:ea typeface="Georgia" pitchFamily="34" charset="-122"/>
                <a:cs typeface="Georgia" pitchFamily="34" charset="-120"/>
              </a:rPr>
              <a:t>ASTM A153</a:t>
            </a:r>
            <a:endParaRPr lang="en-US" sz="1300" dirty="0"/>
          </a:p>
        </p:txBody>
      </p:sp>
      <p:sp>
        <p:nvSpPr>
          <p:cNvPr id="22" name="Text 16"/>
          <p:cNvSpPr/>
          <p:nvPr/>
        </p:nvSpPr>
        <p:spPr>
          <a:xfrm>
            <a:off x="4754880" y="3611880"/>
            <a:ext cx="3657600" cy="320040"/>
          </a:xfrm>
          <a:prstGeom prst="rect">
            <a:avLst/>
          </a:prstGeom>
          <a:noFill/>
          <a:ln/>
        </p:spPr>
        <p:txBody>
          <a:bodyPr wrap="square" lIns="0" tIns="0" rIns="0" bIns="0" rtlCol="0" anchor="t"/>
          <a:lstStyle/>
          <a:p>
            <a:pPr indent="0" marL="0">
              <a:buNone/>
            </a:pPr>
            <a:r>
              <a:rPr lang="en-US" sz="1000" dirty="0">
                <a:solidFill>
                  <a:srgbClr val="7A6555"/>
                </a:solidFill>
                <a:latin typeface="Calibri" pitchFamily="34" charset="0"/>
                <a:ea typeface="Calibri" pitchFamily="34" charset="-122"/>
                <a:cs typeface="Calibri" pitchFamily="34" charset="-120"/>
              </a:rPr>
              <a:t>Recubrimientos de zinc en herrajes</a:t>
            </a:r>
            <a:endParaRPr lang="en-US" sz="1000" dirty="0"/>
          </a:p>
        </p:txBody>
      </p:sp>
      <p:sp>
        <p:nvSpPr>
          <p:cNvPr id="23" name="Shape 17"/>
          <p:cNvSpPr/>
          <p:nvPr/>
        </p:nvSpPr>
        <p:spPr>
          <a:xfrm>
            <a:off x="4114800" y="4206240"/>
            <a:ext cx="4572000" cy="502920"/>
          </a:xfrm>
          <a:prstGeom prst="rect">
            <a:avLst/>
          </a:prstGeom>
          <a:solidFill>
            <a:srgbClr val="EDE8E0"/>
          </a:solidFill>
          <a:ln w="12700">
            <a:solidFill>
              <a:srgbClr val="B87333"/>
            </a:solidFill>
            <a:prstDash val="solid"/>
          </a:ln>
        </p:spPr>
        <p:txBody>
          <a:bodyPr/>
          <a:p/>
        </p:txBody>
      </p:sp>
      <p:sp>
        <p:nvSpPr>
          <p:cNvPr id="24" name="Text 18"/>
          <p:cNvSpPr/>
          <p:nvPr/>
        </p:nvSpPr>
        <p:spPr>
          <a:xfrm>
            <a:off x="4206240" y="4206240"/>
            <a:ext cx="4389120" cy="502920"/>
          </a:xfrm>
          <a:prstGeom prst="rect">
            <a:avLst/>
          </a:prstGeom>
          <a:noFill/>
          <a:ln/>
        </p:spPr>
        <p:txBody>
          <a:bodyPr wrap="square" lIns="0" tIns="0" rIns="0" bIns="0" rtlCol="0" anchor="ctr"/>
          <a:lstStyle/>
          <a:p>
            <a:pPr indent="0" marL="0">
              <a:buNone/>
            </a:pPr>
            <a:r>
              <a:rPr lang="en-US" sz="1100" b="1" i="1" dirty="0">
                <a:solidFill>
                  <a:srgbClr val="8B5A2B"/>
                </a:solidFill>
                <a:latin typeface="Calibri" pitchFamily="34" charset="0"/>
                <a:ea typeface="Calibri" pitchFamily="34" charset="-122"/>
                <a:cs typeface="Calibri" pitchFamily="34" charset="-120"/>
              </a:rPr>
              <a:t>"Certificamos cada lote — espesor obtenido: 101 um (55% sobre especificacion)"</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F2EDE6"/>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16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3000" b="1" dirty="0">
                <a:solidFill>
                  <a:srgbClr val="3E2C1C"/>
                </a:solidFill>
                <a:latin typeface="Georgia" pitchFamily="34" charset="0"/>
                <a:ea typeface="Georgia" pitchFamily="34" charset="-122"/>
                <a:cs typeface="Georgia" pitchFamily="34" charset="-120"/>
              </a:rPr>
              <a:t>EL EQUIPO</a:t>
            </a:r>
            <a:endParaRPr lang="en-US" sz="3000" dirty="0"/>
          </a:p>
        </p:txBody>
      </p:sp>
      <p:sp>
        <p:nvSpPr>
          <p:cNvPr id="5" name="Text 3"/>
          <p:cNvSpPr/>
          <p:nvPr/>
        </p:nvSpPr>
        <p:spPr>
          <a:xfrm>
            <a:off x="548640" y="731520"/>
            <a:ext cx="8046720" cy="274320"/>
          </a:xfrm>
          <a:prstGeom prst="rect">
            <a:avLst/>
          </a:prstGeom>
          <a:noFill/>
          <a:ln/>
        </p:spPr>
        <p:txBody>
          <a:bodyPr wrap="square" lIns="0" tIns="0" rIns="0" bIns="0" rtlCol="0" anchor="ctr"/>
          <a:lstStyle/>
          <a:p>
            <a:pPr indent="0" marL="0">
              <a:buNone/>
            </a:pPr>
            <a:r>
              <a:rPr lang="en-US" sz="1200" i="1" dirty="0">
                <a:solidFill>
                  <a:srgbClr val="8B5A2B"/>
                </a:solidFill>
                <a:latin typeface="Calibri" pitchFamily="34" charset="0"/>
                <a:ea typeface="Calibri" pitchFamily="34" charset="-122"/>
                <a:cs typeface="Calibri" pitchFamily="34" charset="-120"/>
              </a:rPr>
              <a:t>50 anos de experiencia acumulada en galvanizado industrial</a:t>
            </a:r>
            <a:endParaRPr lang="en-US" sz="1200" dirty="0"/>
          </a:p>
        </p:txBody>
      </p:sp>
      <p:sp>
        <p:nvSpPr>
          <p:cNvPr id="6" name="Shape 4"/>
          <p:cNvSpPr/>
          <p:nvPr/>
        </p:nvSpPr>
        <p:spPr>
          <a:xfrm>
            <a:off x="548640" y="1188720"/>
            <a:ext cx="3840480" cy="2377440"/>
          </a:xfrm>
          <a:prstGeom prst="rect">
            <a:avLst/>
          </a:prstGeom>
          <a:solidFill>
            <a:srgbClr val="FFFFFF"/>
          </a:solidFill>
          <a:ln w="19050">
            <a:solidFill>
              <a:srgbClr val="B87333"/>
            </a:solidFill>
            <a:prstDash val="solid"/>
          </a:ln>
          <a:effectLst>
            <a:outerShdw sx="100000" sy="100000" kx="0" ky="0" algn="bl" rotWithShape="0" blurRad="50800" dist="25400" dir="8100000">
              <a:srgbClr val="000000">
                <a:alpha val="8000"/>
              </a:srgbClr>
            </a:outerShdw>
          </a:effectLst>
        </p:spPr>
        <p:txBody>
          <a:bodyPr/>
          <a:p/>
        </p:txBody>
      </p:sp>
      <p:sp>
        <p:nvSpPr>
          <p:cNvPr id="7" name="Shape 5"/>
          <p:cNvSpPr/>
          <p:nvPr/>
        </p:nvSpPr>
        <p:spPr>
          <a:xfrm>
            <a:off x="548640" y="1188720"/>
            <a:ext cx="3840480" cy="36576"/>
          </a:xfrm>
          <a:prstGeom prst="rect">
            <a:avLst/>
          </a:prstGeom>
          <a:solidFill>
            <a:srgbClr val="B87333"/>
          </a:solidFill>
          <a:ln/>
        </p:spPr>
        <p:txBody>
          <a:bodyPr/>
          <a:p/>
        </p:txBody>
      </p:sp>
      <p:sp>
        <p:nvSpPr>
          <p:cNvPr id="8" name="Shape 6"/>
          <p:cNvSpPr/>
          <p:nvPr/>
        </p:nvSpPr>
        <p:spPr>
          <a:xfrm>
            <a:off x="822960" y="1417320"/>
            <a:ext cx="1097280" cy="1280160"/>
          </a:xfrm>
          <a:prstGeom prst="rect">
            <a:avLst/>
          </a:prstGeom>
          <a:solidFill>
            <a:srgbClr val="EDE8E0"/>
          </a:solidFill>
          <a:ln w="12700">
            <a:solidFill>
              <a:srgbClr val="D4C5B2"/>
            </a:solidFill>
            <a:prstDash val="solid"/>
          </a:ln>
        </p:spPr>
        <p:txBody>
          <a:bodyPr/>
          <a:p/>
        </p:txBody>
      </p:sp>
      <p:sp>
        <p:nvSpPr>
          <p:cNvPr id="9" name="Text 7"/>
          <p:cNvSpPr/>
          <p:nvPr/>
        </p:nvSpPr>
        <p:spPr>
          <a:xfrm>
            <a:off x="822960" y="1783080"/>
            <a:ext cx="1097280" cy="548640"/>
          </a:xfrm>
          <a:prstGeom prst="rect">
            <a:avLst/>
          </a:prstGeom>
          <a:noFill/>
          <a:ln/>
        </p:spPr>
        <p:txBody>
          <a:bodyPr wrap="square" rtlCol="0" anchor="ctr"/>
          <a:lstStyle/>
          <a:p>
            <a:pPr algn="ctr" indent="0" marL="0">
              <a:buNone/>
            </a:pPr>
            <a:r>
              <a:rPr lang="en-US" sz="1000" dirty="0">
                <a:solidFill>
                  <a:srgbClr val="7A6555"/>
                </a:solidFill>
                <a:latin typeface="Calibri" pitchFamily="34" charset="0"/>
                <a:ea typeface="Calibri" pitchFamily="34" charset="-122"/>
                <a:cs typeface="Calibri" pitchFamily="34" charset="-120"/>
              </a:rPr>
              <a:t>FOTO</a:t>
            </a:r>
            <a:endParaRPr lang="en-US" sz="1000" dirty="0"/>
          </a:p>
        </p:txBody>
      </p:sp>
      <p:sp>
        <p:nvSpPr>
          <p:cNvPr id="10" name="Text 8"/>
          <p:cNvSpPr/>
          <p:nvPr/>
        </p:nvSpPr>
        <p:spPr>
          <a:xfrm>
            <a:off x="2103120" y="1417320"/>
            <a:ext cx="2103120" cy="320040"/>
          </a:xfrm>
          <a:prstGeom prst="rect">
            <a:avLst/>
          </a:prstGeom>
          <a:noFill/>
          <a:ln/>
        </p:spPr>
        <p:txBody>
          <a:bodyPr wrap="square" lIns="0" tIns="0" rIns="0" bIns="0" rtlCol="0" anchor="ctr"/>
          <a:lstStyle/>
          <a:p>
            <a:pPr indent="0" marL="0">
              <a:buNone/>
            </a:pPr>
            <a:r>
              <a:rPr lang="en-US" sz="1200" b="1" dirty="0">
                <a:solidFill>
                  <a:srgbClr val="8B5A2B"/>
                </a:solidFill>
                <a:latin typeface="Georgia" pitchFamily="34" charset="0"/>
                <a:ea typeface="Georgia" pitchFamily="34" charset="-122"/>
                <a:cs typeface="Georgia" pitchFamily="34" charset="-120"/>
              </a:rPr>
              <a:t>Ing. Francisco Ballesteros Z.</a:t>
            </a:r>
            <a:endParaRPr lang="en-US" sz="1200" dirty="0"/>
          </a:p>
        </p:txBody>
      </p:sp>
      <p:sp>
        <p:nvSpPr>
          <p:cNvPr id="11" name="Text 9"/>
          <p:cNvSpPr/>
          <p:nvPr/>
        </p:nvSpPr>
        <p:spPr>
          <a:xfrm>
            <a:off x="2103120" y="1691640"/>
            <a:ext cx="2103120" cy="228600"/>
          </a:xfrm>
          <a:prstGeom prst="rect">
            <a:avLst/>
          </a:prstGeom>
          <a:noFill/>
          <a:ln/>
        </p:spPr>
        <p:txBody>
          <a:bodyPr wrap="square" lIns="0" tIns="0" rIns="0" bIns="0" rtlCol="0" anchor="ctr"/>
          <a:lstStyle/>
          <a:p>
            <a:pPr indent="0" marL="0">
              <a:buNone/>
            </a:pPr>
            <a:r>
              <a:rPr lang="en-US" sz="900" b="1" spc="200" kern="0" dirty="0">
                <a:solidFill>
                  <a:srgbClr val="B87333"/>
                </a:solidFill>
                <a:latin typeface="Calibri" pitchFamily="34" charset="0"/>
                <a:ea typeface="Calibri" pitchFamily="34" charset="-122"/>
                <a:cs typeface="Calibri" pitchFamily="34" charset="-120"/>
              </a:rPr>
              <a:t>FUNDADOR</a:t>
            </a:r>
            <a:endParaRPr lang="en-US" sz="900" dirty="0"/>
          </a:p>
        </p:txBody>
      </p:sp>
      <p:sp>
        <p:nvSpPr>
          <p:cNvPr id="12" name="Text 10"/>
          <p:cNvSpPr/>
          <p:nvPr/>
        </p:nvSpPr>
        <p:spPr>
          <a:xfrm>
            <a:off x="2103120" y="1965960"/>
            <a:ext cx="2103120" cy="1097280"/>
          </a:xfrm>
          <a:prstGeom prst="rect">
            <a:avLst/>
          </a:prstGeom>
          <a:noFill/>
          <a:ln/>
        </p:spPr>
        <p:txBody>
          <a:bodyPr wrap="square" lIns="0" tIns="0" rIns="0" bIns="0" rtlCol="0" anchor="t"/>
          <a:lstStyle/>
          <a:p>
            <a:pPr indent="0" marL="0">
              <a:buNone/>
            </a:pPr>
            <a:r>
              <a:rPr lang="en-US" sz="900" dirty="0">
                <a:solidFill>
                  <a:srgbClr val="5C4033"/>
                </a:solidFill>
                <a:latin typeface="Calibri" pitchFamily="34" charset="0"/>
                <a:ea typeface="Calibri" pitchFamily="34" charset="-122"/>
                <a:cs typeface="Calibri" pitchFamily="34" charset="-120"/>
              </a:rPr>
              <a:t>Fundo y lidero PYGLARA por mas de 50 anos, manteniendo la empresa operativa a traves de contracciones economicas superiores al 70%. Red de contactos industriales en Venezuela y el exterior. Autoridad indiscutible en galvanizado.</a:t>
            </a:r>
            <a:endParaRPr lang="en-US" sz="900" dirty="0"/>
          </a:p>
        </p:txBody>
      </p:sp>
      <p:sp>
        <p:nvSpPr>
          <p:cNvPr id="13" name="Shape 11"/>
          <p:cNvSpPr/>
          <p:nvPr/>
        </p:nvSpPr>
        <p:spPr>
          <a:xfrm>
            <a:off x="4754880" y="1188720"/>
            <a:ext cx="3840480" cy="2377440"/>
          </a:xfrm>
          <a:prstGeom prst="rect">
            <a:avLst/>
          </a:prstGeom>
          <a:solidFill>
            <a:srgbClr val="FFFFFF"/>
          </a:solidFill>
          <a:ln w="19050">
            <a:solidFill>
              <a:srgbClr val="B87333"/>
            </a:solidFill>
            <a:prstDash val="solid"/>
          </a:ln>
          <a:effectLst>
            <a:outerShdw sx="100000" sy="100000" kx="0" ky="0" algn="bl" rotWithShape="0" blurRad="50800" dist="25400" dir="8100000">
              <a:srgbClr val="000000">
                <a:alpha val="8000"/>
              </a:srgbClr>
            </a:outerShdw>
          </a:effectLst>
        </p:spPr>
        <p:txBody>
          <a:bodyPr/>
          <a:p/>
        </p:txBody>
      </p:sp>
      <p:sp>
        <p:nvSpPr>
          <p:cNvPr id="14" name="Shape 12"/>
          <p:cNvSpPr/>
          <p:nvPr/>
        </p:nvSpPr>
        <p:spPr>
          <a:xfrm>
            <a:off x="4754880" y="1188720"/>
            <a:ext cx="3840480" cy="36576"/>
          </a:xfrm>
          <a:prstGeom prst="rect">
            <a:avLst/>
          </a:prstGeom>
          <a:solidFill>
            <a:srgbClr val="B87333"/>
          </a:solidFill>
          <a:ln/>
        </p:spPr>
        <p:txBody>
          <a:bodyPr/>
          <a:p/>
        </p:txBody>
      </p:sp>
      <p:sp>
        <p:nvSpPr>
          <p:cNvPr id="15" name="Shape 13"/>
          <p:cNvSpPr/>
          <p:nvPr/>
        </p:nvSpPr>
        <p:spPr>
          <a:xfrm>
            <a:off x="5029200" y="1417320"/>
            <a:ext cx="1097280" cy="1280160"/>
          </a:xfrm>
          <a:prstGeom prst="rect">
            <a:avLst/>
          </a:prstGeom>
          <a:solidFill>
            <a:srgbClr val="EDE8E0"/>
          </a:solidFill>
          <a:ln w="12700">
            <a:solidFill>
              <a:srgbClr val="D4C5B2"/>
            </a:solidFill>
            <a:prstDash val="solid"/>
          </a:ln>
        </p:spPr>
        <p:txBody>
          <a:bodyPr/>
          <a:p/>
        </p:txBody>
      </p:sp>
      <p:sp>
        <p:nvSpPr>
          <p:cNvPr id="16" name="Text 14"/>
          <p:cNvSpPr/>
          <p:nvPr/>
        </p:nvSpPr>
        <p:spPr>
          <a:xfrm>
            <a:off x="5029200" y="1783080"/>
            <a:ext cx="1097280" cy="548640"/>
          </a:xfrm>
          <a:prstGeom prst="rect">
            <a:avLst/>
          </a:prstGeom>
          <a:noFill/>
          <a:ln/>
        </p:spPr>
        <p:txBody>
          <a:bodyPr wrap="square" rtlCol="0" anchor="ctr"/>
          <a:lstStyle/>
          <a:p>
            <a:pPr algn="ctr" indent="0" marL="0">
              <a:buNone/>
            </a:pPr>
            <a:r>
              <a:rPr lang="en-US" sz="1000" dirty="0">
                <a:solidFill>
                  <a:srgbClr val="7A6555"/>
                </a:solidFill>
                <a:latin typeface="Calibri" pitchFamily="34" charset="0"/>
                <a:ea typeface="Calibri" pitchFamily="34" charset="-122"/>
                <a:cs typeface="Calibri" pitchFamily="34" charset="-120"/>
              </a:rPr>
              <a:t>FOTO</a:t>
            </a:r>
            <a:endParaRPr lang="en-US" sz="1000" dirty="0"/>
          </a:p>
        </p:txBody>
      </p:sp>
      <p:sp>
        <p:nvSpPr>
          <p:cNvPr id="17" name="Text 15"/>
          <p:cNvSpPr/>
          <p:nvPr/>
        </p:nvSpPr>
        <p:spPr>
          <a:xfrm>
            <a:off x="6309360" y="1417320"/>
            <a:ext cx="2103120" cy="320040"/>
          </a:xfrm>
          <a:prstGeom prst="rect">
            <a:avLst/>
          </a:prstGeom>
          <a:noFill/>
          <a:ln/>
        </p:spPr>
        <p:txBody>
          <a:bodyPr wrap="square" lIns="0" tIns="0" rIns="0" bIns="0" rtlCol="0" anchor="ctr"/>
          <a:lstStyle/>
          <a:p>
            <a:pPr indent="0" marL="0">
              <a:buNone/>
            </a:pPr>
            <a:r>
              <a:rPr lang="en-US" sz="1200" b="1" dirty="0">
                <a:solidFill>
                  <a:srgbClr val="8B5A2B"/>
                </a:solidFill>
                <a:latin typeface="Georgia" pitchFamily="34" charset="0"/>
                <a:ea typeface="Georgia" pitchFamily="34" charset="-122"/>
                <a:cs typeface="Georgia" pitchFamily="34" charset="-120"/>
              </a:rPr>
              <a:t>Ing. Miriam Armas</a:t>
            </a:r>
            <a:endParaRPr lang="en-US" sz="1200" dirty="0"/>
          </a:p>
        </p:txBody>
      </p:sp>
      <p:sp>
        <p:nvSpPr>
          <p:cNvPr id="18" name="Text 16"/>
          <p:cNvSpPr/>
          <p:nvPr/>
        </p:nvSpPr>
        <p:spPr>
          <a:xfrm>
            <a:off x="6309360" y="1691640"/>
            <a:ext cx="2103120" cy="228600"/>
          </a:xfrm>
          <a:prstGeom prst="rect">
            <a:avLst/>
          </a:prstGeom>
          <a:noFill/>
          <a:ln/>
        </p:spPr>
        <p:txBody>
          <a:bodyPr wrap="square" lIns="0" tIns="0" rIns="0" bIns="0" rtlCol="0" anchor="ctr"/>
          <a:lstStyle/>
          <a:p>
            <a:pPr indent="0" marL="0">
              <a:buNone/>
            </a:pPr>
            <a:r>
              <a:rPr lang="en-US" sz="900" b="1" spc="200" kern="0" dirty="0">
                <a:solidFill>
                  <a:srgbClr val="B87333"/>
                </a:solidFill>
                <a:latin typeface="Calibri" pitchFamily="34" charset="0"/>
                <a:ea typeface="Calibri" pitchFamily="34" charset="-122"/>
                <a:cs typeface="Calibri" pitchFamily="34" charset="-120"/>
              </a:rPr>
              <a:t>INGENIERA DE PLANTA</a:t>
            </a:r>
            <a:endParaRPr lang="en-US" sz="900" dirty="0"/>
          </a:p>
        </p:txBody>
      </p:sp>
      <p:sp>
        <p:nvSpPr>
          <p:cNvPr id="19" name="Text 17"/>
          <p:cNvSpPr/>
          <p:nvPr/>
        </p:nvSpPr>
        <p:spPr>
          <a:xfrm>
            <a:off x="6309360" y="1965960"/>
            <a:ext cx="2103120" cy="1097280"/>
          </a:xfrm>
          <a:prstGeom prst="rect">
            <a:avLst/>
          </a:prstGeom>
          <a:noFill/>
          <a:ln/>
        </p:spPr>
        <p:txBody>
          <a:bodyPr wrap="square" lIns="0" tIns="0" rIns="0" bIns="0" rtlCol="0" anchor="t"/>
          <a:lstStyle/>
          <a:p>
            <a:pPr indent="0" marL="0">
              <a:buNone/>
            </a:pPr>
            <a:r>
              <a:rPr lang="en-US" sz="900" dirty="0">
                <a:solidFill>
                  <a:srgbClr val="5C4033"/>
                </a:solidFill>
                <a:latin typeface="Calibri" pitchFamily="34" charset="0"/>
                <a:ea typeface="Calibri" pitchFamily="34" charset="-122"/>
                <a:cs typeface="Calibri" pitchFamily="34" charset="-120"/>
              </a:rPr>
              <a:t>36+ anos de experiencia tecnica. Responsable de calidad, produccion y certificaciones. Conoce cada pieza de la planta. Fuente principal de due diligence tecnico.</a:t>
            </a:r>
            <a:endParaRPr lang="en-US" sz="900" dirty="0"/>
          </a:p>
        </p:txBody>
      </p:sp>
      <p:sp>
        <p:nvSpPr>
          <p:cNvPr id="20" name="Shape 18"/>
          <p:cNvSpPr/>
          <p:nvPr/>
        </p:nvSpPr>
        <p:spPr>
          <a:xfrm>
            <a:off x="548640" y="3840480"/>
            <a:ext cx="8046720" cy="914400"/>
          </a:xfrm>
          <a:prstGeom prst="rect">
            <a:avLst/>
          </a:prstGeom>
          <a:solidFill>
            <a:srgbClr val="FFFFFF"/>
          </a:solidFill>
          <a:ln w="12700">
            <a:solidFill>
              <a:srgbClr val="D4C5B2"/>
            </a:solidFill>
            <a:prstDash val="solid"/>
          </a:ln>
        </p:spPr>
        <p:txBody>
          <a:bodyPr/>
          <a:p/>
        </p:txBody>
      </p:sp>
      <p:sp>
        <p:nvSpPr>
          <p:cNvPr id="21" name="Text 19"/>
          <p:cNvSpPr/>
          <p:nvPr/>
        </p:nvSpPr>
        <p:spPr>
          <a:xfrm>
            <a:off x="731520" y="3886200"/>
            <a:ext cx="1828800" cy="274320"/>
          </a:xfrm>
          <a:prstGeom prst="rect">
            <a:avLst/>
          </a:prstGeom>
          <a:noFill/>
          <a:ln/>
        </p:spPr>
        <p:txBody>
          <a:bodyPr wrap="square" lIns="0" tIns="0" rIns="0" bIns="0" rtlCol="0" anchor="ctr"/>
          <a:lstStyle/>
          <a:p>
            <a:pPr indent="0" marL="0">
              <a:buNone/>
            </a:pPr>
            <a:r>
              <a:rPr lang="en-US" sz="1000" b="1" dirty="0">
                <a:solidFill>
                  <a:srgbClr val="B87333"/>
                </a:solidFill>
                <a:latin typeface="Georgia" pitchFamily="34" charset="0"/>
                <a:ea typeface="Georgia" pitchFamily="34" charset="-122"/>
                <a:cs typeface="Georgia" pitchFamily="34" charset="-120"/>
              </a:rPr>
              <a:t>EQUIPO OPERATIVO</a:t>
            </a:r>
            <a:endParaRPr lang="en-US" sz="1000" dirty="0"/>
          </a:p>
        </p:txBody>
      </p:sp>
      <p:sp>
        <p:nvSpPr>
          <p:cNvPr id="22" name="Text 20"/>
          <p:cNvSpPr/>
          <p:nvPr/>
        </p:nvSpPr>
        <p:spPr>
          <a:xfrm>
            <a:off x="731520" y="4160520"/>
            <a:ext cx="7680960" cy="502920"/>
          </a:xfrm>
          <a:prstGeom prst="rect">
            <a:avLst/>
          </a:prstGeom>
          <a:noFill/>
          <a:ln/>
        </p:spPr>
        <p:txBody>
          <a:bodyPr wrap="square" lIns="0" tIns="0" rIns="0" bIns="0" rtlCol="0" anchor="t"/>
          <a:lstStyle/>
          <a:p>
            <a:pPr indent="0" marL="0">
              <a:buNone/>
            </a:pPr>
            <a:r>
              <a:rPr lang="en-US" sz="1000" dirty="0">
                <a:solidFill>
                  <a:srgbClr val="5C4033"/>
                </a:solidFill>
                <a:latin typeface="Calibri" pitchFamily="34" charset="0"/>
                <a:ea typeface="Calibri" pitchFamily="34" charset="-122"/>
                <a:cs typeface="Calibri" pitchFamily="34" charset="-120"/>
              </a:rPr>
              <a:t>A plena capacidad: 15 obreros (destajo/pieza). Actualmente: 3 trabajadores. Supervision directa de Ing. Miriam. Contratacion se escala con la produccion — sin compromisos fijos de nomina hasta que haya volumen.</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17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3E2C1C"/>
                </a:solidFill>
                <a:latin typeface="Georgia" pitchFamily="34" charset="0"/>
                <a:ea typeface="Georgia" pitchFamily="34" charset="-122"/>
                <a:cs typeface="Georgia" pitchFamily="34" charset="-120"/>
              </a:rPr>
              <a:t>TRAYECTORIA Y CLIENTES</a:t>
            </a:r>
            <a:endParaRPr lang="en-US" sz="2800" dirty="0"/>
          </a:p>
        </p:txBody>
      </p:sp>
      <p:sp>
        <p:nvSpPr>
          <p:cNvPr id="5" name="Text 3"/>
          <p:cNvSpPr/>
          <p:nvPr/>
        </p:nvSpPr>
        <p:spPr>
          <a:xfrm>
            <a:off x="548640" y="731520"/>
            <a:ext cx="8046720" cy="274320"/>
          </a:xfrm>
          <a:prstGeom prst="rect">
            <a:avLst/>
          </a:prstGeom>
          <a:noFill/>
          <a:ln/>
        </p:spPr>
        <p:txBody>
          <a:bodyPr wrap="square" lIns="0" tIns="0" rIns="0" bIns="0" rtlCol="0" anchor="ctr"/>
          <a:lstStyle/>
          <a:p>
            <a:pPr indent="0" marL="0">
              <a:buNone/>
            </a:pPr>
            <a:r>
              <a:rPr lang="en-US" sz="1200" i="1" dirty="0">
                <a:solidFill>
                  <a:srgbClr val="8B5A2B"/>
                </a:solidFill>
                <a:latin typeface="Calibri" pitchFamily="34" charset="0"/>
                <a:ea typeface="Calibri" pitchFamily="34" charset="-122"/>
                <a:cs typeface="Calibri" pitchFamily="34" charset="-120"/>
              </a:rPr>
              <a:t>50 anos de operacion — datos financieros confirmados por SENIAT</a:t>
            </a:r>
            <a:endParaRPr lang="en-US" sz="1200" dirty="0"/>
          </a:p>
        </p:txBody>
      </p:sp>
      <p:sp>
        <p:nvSpPr>
          <p:cNvPr id="6" name="Text 4"/>
          <p:cNvSpPr/>
          <p:nvPr/>
        </p:nvSpPr>
        <p:spPr>
          <a:xfrm>
            <a:off x="548640" y="1097280"/>
            <a:ext cx="4754880" cy="274320"/>
          </a:xfrm>
          <a:prstGeom prst="rect">
            <a:avLst/>
          </a:prstGeom>
          <a:noFill/>
          <a:ln/>
        </p:spPr>
        <p:txBody>
          <a:bodyPr wrap="square" lIns="0" tIns="0" rIns="0" bIns="0" rtlCol="0" anchor="ctr"/>
          <a:lstStyle/>
          <a:p>
            <a:pPr indent="0" marL="0">
              <a:buNone/>
            </a:pPr>
            <a:r>
              <a:rPr lang="en-US" sz="1100" b="1" dirty="0">
                <a:solidFill>
                  <a:srgbClr val="B87333"/>
                </a:solidFill>
                <a:latin typeface="Georgia" pitchFamily="34" charset="0"/>
                <a:ea typeface="Georgia" pitchFamily="34" charset="-122"/>
                <a:cs typeface="Georgia" pitchFamily="34" charset="-120"/>
              </a:rPr>
              <a:t>MEJORES 3 ANOS (SENIAT)</a:t>
            </a:r>
            <a:endParaRPr lang="en-US" sz="1100" dirty="0"/>
          </a:p>
        </p:txBody>
      </p:sp>
      <p:sp>
        <p:nvSpPr>
          <p:cNvPr id="7" name="Shape 5"/>
          <p:cNvSpPr/>
          <p:nvPr/>
        </p:nvSpPr>
        <p:spPr>
          <a:xfrm>
            <a:off x="1005840" y="1560870"/>
            <a:ext cx="1005840" cy="1913850"/>
          </a:xfrm>
          <a:prstGeom prst="rect">
            <a:avLst/>
          </a:prstGeom>
          <a:solidFill>
            <a:srgbClr val="B87333"/>
          </a:solidFill>
          <a:ln/>
        </p:spPr>
        <p:txBody>
          <a:bodyPr/>
          <a:p/>
        </p:txBody>
      </p:sp>
      <p:sp>
        <p:nvSpPr>
          <p:cNvPr id="8" name="Shape 6"/>
          <p:cNvSpPr/>
          <p:nvPr/>
        </p:nvSpPr>
        <p:spPr>
          <a:xfrm>
            <a:off x="1005840" y="3153328"/>
            <a:ext cx="1005840" cy="321392"/>
          </a:xfrm>
          <a:prstGeom prst="rect">
            <a:avLst/>
          </a:prstGeom>
          <a:solidFill>
            <a:srgbClr val="2D7D46">
              <a:alpha val="70000"/>
            </a:srgbClr>
          </a:solidFill>
          <a:ln/>
        </p:spPr>
        <p:txBody>
          <a:bodyPr/>
          <a:p/>
        </p:txBody>
      </p:sp>
      <p:sp>
        <p:nvSpPr>
          <p:cNvPr id="9" name="Text 7"/>
          <p:cNvSpPr/>
          <p:nvPr/>
        </p:nvSpPr>
        <p:spPr>
          <a:xfrm>
            <a:off x="1005840" y="3520440"/>
            <a:ext cx="1005840" cy="228600"/>
          </a:xfrm>
          <a:prstGeom prst="rect">
            <a:avLst/>
          </a:prstGeom>
          <a:noFill/>
          <a:ln/>
        </p:spPr>
        <p:txBody>
          <a:bodyPr wrap="square" lIns="0" tIns="0" rIns="0" bIns="0" rtlCol="0" anchor="ctr"/>
          <a:lstStyle/>
          <a:p>
            <a:pPr algn="ctr" indent="0" marL="0">
              <a:buNone/>
            </a:pPr>
            <a:r>
              <a:rPr lang="en-US" sz="1100" b="1" dirty="0">
                <a:solidFill>
                  <a:srgbClr val="3E2C1C"/>
                </a:solidFill>
                <a:latin typeface="Georgia" pitchFamily="34" charset="0"/>
                <a:ea typeface="Georgia" pitchFamily="34" charset="-122"/>
                <a:cs typeface="Georgia" pitchFamily="34" charset="-120"/>
              </a:rPr>
              <a:t>2006</a:t>
            </a:r>
            <a:endParaRPr lang="en-US" sz="1100" dirty="0"/>
          </a:p>
        </p:txBody>
      </p:sp>
      <p:sp>
        <p:nvSpPr>
          <p:cNvPr id="10" name="Text 8"/>
          <p:cNvSpPr/>
          <p:nvPr/>
        </p:nvSpPr>
        <p:spPr>
          <a:xfrm>
            <a:off x="1005840" y="1332270"/>
            <a:ext cx="1005840" cy="228600"/>
          </a:xfrm>
          <a:prstGeom prst="rect">
            <a:avLst/>
          </a:prstGeom>
          <a:noFill/>
          <a:ln/>
        </p:spPr>
        <p:txBody>
          <a:bodyPr wrap="square" lIns="0" tIns="0" rIns="0" bIns="0" rtlCol="0" anchor="ctr"/>
          <a:lstStyle/>
          <a:p>
            <a:pPr algn="ctr" indent="0" marL="0">
              <a:buNone/>
            </a:pPr>
            <a:r>
              <a:rPr lang="en-US" sz="1000" b="1" dirty="0">
                <a:solidFill>
                  <a:srgbClr val="8B5A2B"/>
                </a:solidFill>
                <a:latin typeface="Calibri" pitchFamily="34" charset="0"/>
                <a:ea typeface="Calibri" pitchFamily="34" charset="-122"/>
                <a:cs typeface="Calibri" pitchFamily="34" charset="-120"/>
              </a:rPr>
              <a:t>$1.71M</a:t>
            </a:r>
            <a:endParaRPr lang="en-US" sz="1000" dirty="0"/>
          </a:p>
        </p:txBody>
      </p:sp>
      <p:sp>
        <p:nvSpPr>
          <p:cNvPr id="11" name="Text 9"/>
          <p:cNvSpPr/>
          <p:nvPr/>
        </p:nvSpPr>
        <p:spPr>
          <a:xfrm>
            <a:off x="1005840" y="1652310"/>
            <a:ext cx="1005840" cy="4572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$288K</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(16.8%)</a:t>
            </a:r>
            <a:endParaRPr lang="en-US" sz="800" dirty="0"/>
          </a:p>
        </p:txBody>
      </p:sp>
      <p:sp>
        <p:nvSpPr>
          <p:cNvPr id="12" name="Shape 10"/>
          <p:cNvSpPr/>
          <p:nvPr/>
        </p:nvSpPr>
        <p:spPr>
          <a:xfrm>
            <a:off x="2331720" y="1531112"/>
            <a:ext cx="1005840" cy="1943608"/>
          </a:xfrm>
          <a:prstGeom prst="rect">
            <a:avLst/>
          </a:prstGeom>
          <a:solidFill>
            <a:srgbClr val="B87333"/>
          </a:solidFill>
          <a:ln/>
        </p:spPr>
        <p:txBody>
          <a:bodyPr/>
          <a:p/>
        </p:txBody>
      </p:sp>
      <p:sp>
        <p:nvSpPr>
          <p:cNvPr id="13" name="Shape 11"/>
          <p:cNvSpPr/>
          <p:nvPr/>
        </p:nvSpPr>
        <p:spPr>
          <a:xfrm>
            <a:off x="2331720" y="3122059"/>
            <a:ext cx="1005840" cy="352661"/>
          </a:xfrm>
          <a:prstGeom prst="rect">
            <a:avLst/>
          </a:prstGeom>
          <a:solidFill>
            <a:srgbClr val="2D7D46">
              <a:alpha val="70000"/>
            </a:srgbClr>
          </a:solidFill>
          <a:ln/>
        </p:spPr>
        <p:txBody>
          <a:bodyPr/>
          <a:p/>
        </p:txBody>
      </p:sp>
      <p:sp>
        <p:nvSpPr>
          <p:cNvPr id="14" name="Text 12"/>
          <p:cNvSpPr/>
          <p:nvPr/>
        </p:nvSpPr>
        <p:spPr>
          <a:xfrm>
            <a:off x="2331720" y="3520440"/>
            <a:ext cx="1005840" cy="228600"/>
          </a:xfrm>
          <a:prstGeom prst="rect">
            <a:avLst/>
          </a:prstGeom>
          <a:noFill/>
          <a:ln/>
        </p:spPr>
        <p:txBody>
          <a:bodyPr wrap="square" lIns="0" tIns="0" rIns="0" bIns="0" rtlCol="0" anchor="ctr"/>
          <a:lstStyle/>
          <a:p>
            <a:pPr algn="ctr" indent="0" marL="0">
              <a:buNone/>
            </a:pPr>
            <a:r>
              <a:rPr lang="en-US" sz="1100" b="1" dirty="0">
                <a:solidFill>
                  <a:srgbClr val="3E2C1C"/>
                </a:solidFill>
                <a:latin typeface="Georgia" pitchFamily="34" charset="0"/>
                <a:ea typeface="Georgia" pitchFamily="34" charset="-122"/>
                <a:cs typeface="Georgia" pitchFamily="34" charset="-120"/>
              </a:rPr>
              <a:t>2009</a:t>
            </a:r>
            <a:endParaRPr lang="en-US" sz="1100" dirty="0"/>
          </a:p>
        </p:txBody>
      </p:sp>
      <p:sp>
        <p:nvSpPr>
          <p:cNvPr id="15" name="Text 13"/>
          <p:cNvSpPr/>
          <p:nvPr/>
        </p:nvSpPr>
        <p:spPr>
          <a:xfrm>
            <a:off x="2331720" y="1302512"/>
            <a:ext cx="1005840" cy="228600"/>
          </a:xfrm>
          <a:prstGeom prst="rect">
            <a:avLst/>
          </a:prstGeom>
          <a:noFill/>
          <a:ln/>
        </p:spPr>
        <p:txBody>
          <a:bodyPr wrap="square" lIns="0" tIns="0" rIns="0" bIns="0" rtlCol="0" anchor="ctr"/>
          <a:lstStyle/>
          <a:p>
            <a:pPr algn="ctr" indent="0" marL="0">
              <a:buNone/>
            </a:pPr>
            <a:r>
              <a:rPr lang="en-US" sz="1000" b="1" dirty="0">
                <a:solidFill>
                  <a:srgbClr val="8B5A2B"/>
                </a:solidFill>
                <a:latin typeface="Calibri" pitchFamily="34" charset="0"/>
                <a:ea typeface="Calibri" pitchFamily="34" charset="-122"/>
                <a:cs typeface="Calibri" pitchFamily="34" charset="-120"/>
              </a:rPr>
              <a:t>$1.74M</a:t>
            </a:r>
            <a:endParaRPr lang="en-US" sz="1000" dirty="0"/>
          </a:p>
        </p:txBody>
      </p:sp>
      <p:sp>
        <p:nvSpPr>
          <p:cNvPr id="16" name="Text 14"/>
          <p:cNvSpPr/>
          <p:nvPr/>
        </p:nvSpPr>
        <p:spPr>
          <a:xfrm>
            <a:off x="2331720" y="1622552"/>
            <a:ext cx="1005840" cy="4572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$316K</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(18.1%)</a:t>
            </a:r>
            <a:endParaRPr lang="en-US" sz="800" dirty="0"/>
          </a:p>
        </p:txBody>
      </p:sp>
      <p:sp>
        <p:nvSpPr>
          <p:cNvPr id="17" name="Shape 15"/>
          <p:cNvSpPr/>
          <p:nvPr/>
        </p:nvSpPr>
        <p:spPr>
          <a:xfrm>
            <a:off x="3657600" y="1545555"/>
            <a:ext cx="1005840" cy="1929165"/>
          </a:xfrm>
          <a:prstGeom prst="rect">
            <a:avLst/>
          </a:prstGeom>
          <a:solidFill>
            <a:srgbClr val="B87333"/>
          </a:solidFill>
          <a:ln/>
        </p:spPr>
        <p:txBody>
          <a:bodyPr/>
          <a:p/>
        </p:txBody>
      </p:sp>
      <p:sp>
        <p:nvSpPr>
          <p:cNvPr id="18" name="Shape 16"/>
          <p:cNvSpPr/>
          <p:nvPr/>
        </p:nvSpPr>
        <p:spPr>
          <a:xfrm>
            <a:off x="3657600" y="3247475"/>
            <a:ext cx="1005840" cy="227245"/>
          </a:xfrm>
          <a:prstGeom prst="rect">
            <a:avLst/>
          </a:prstGeom>
          <a:solidFill>
            <a:srgbClr val="2D7D46">
              <a:alpha val="70000"/>
            </a:srgbClr>
          </a:solidFill>
          <a:ln/>
        </p:spPr>
        <p:txBody>
          <a:bodyPr/>
          <a:p/>
        </p:txBody>
      </p:sp>
      <p:sp>
        <p:nvSpPr>
          <p:cNvPr id="19" name="Text 17"/>
          <p:cNvSpPr/>
          <p:nvPr/>
        </p:nvSpPr>
        <p:spPr>
          <a:xfrm>
            <a:off x="3657600" y="3520440"/>
            <a:ext cx="1005840" cy="228600"/>
          </a:xfrm>
          <a:prstGeom prst="rect">
            <a:avLst/>
          </a:prstGeom>
          <a:noFill/>
          <a:ln/>
        </p:spPr>
        <p:txBody>
          <a:bodyPr wrap="square" lIns="0" tIns="0" rIns="0" bIns="0" rtlCol="0" anchor="ctr"/>
          <a:lstStyle/>
          <a:p>
            <a:pPr algn="ctr" indent="0" marL="0">
              <a:buNone/>
            </a:pPr>
            <a:r>
              <a:rPr lang="en-US" sz="1100" b="1" dirty="0">
                <a:solidFill>
                  <a:srgbClr val="3E2C1C"/>
                </a:solidFill>
                <a:latin typeface="Georgia" pitchFamily="34" charset="0"/>
                <a:ea typeface="Georgia" pitchFamily="34" charset="-122"/>
                <a:cs typeface="Georgia" pitchFamily="34" charset="-120"/>
              </a:rPr>
              <a:t>2012</a:t>
            </a:r>
            <a:endParaRPr lang="en-US" sz="1100" dirty="0"/>
          </a:p>
        </p:txBody>
      </p:sp>
      <p:sp>
        <p:nvSpPr>
          <p:cNvPr id="20" name="Text 18"/>
          <p:cNvSpPr/>
          <p:nvPr/>
        </p:nvSpPr>
        <p:spPr>
          <a:xfrm>
            <a:off x="3657600" y="1316955"/>
            <a:ext cx="1005840" cy="228600"/>
          </a:xfrm>
          <a:prstGeom prst="rect">
            <a:avLst/>
          </a:prstGeom>
          <a:noFill/>
          <a:ln/>
        </p:spPr>
        <p:txBody>
          <a:bodyPr wrap="square" lIns="0" tIns="0" rIns="0" bIns="0" rtlCol="0" anchor="ctr"/>
          <a:lstStyle/>
          <a:p>
            <a:pPr algn="ctr" indent="0" marL="0">
              <a:buNone/>
            </a:pPr>
            <a:r>
              <a:rPr lang="en-US" sz="1000" b="1" dirty="0">
                <a:solidFill>
                  <a:srgbClr val="8B5A2B"/>
                </a:solidFill>
                <a:latin typeface="Calibri" pitchFamily="34" charset="0"/>
                <a:ea typeface="Calibri" pitchFamily="34" charset="-122"/>
                <a:cs typeface="Calibri" pitchFamily="34" charset="-120"/>
              </a:rPr>
              <a:t>$1.73M</a:t>
            </a:r>
            <a:endParaRPr lang="en-US" sz="1000" dirty="0"/>
          </a:p>
        </p:txBody>
      </p:sp>
      <p:sp>
        <p:nvSpPr>
          <p:cNvPr id="21" name="Text 19"/>
          <p:cNvSpPr/>
          <p:nvPr/>
        </p:nvSpPr>
        <p:spPr>
          <a:xfrm>
            <a:off x="3657600" y="1636995"/>
            <a:ext cx="1005840" cy="4572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$203K</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(11.8%)</a:t>
            </a:r>
            <a:endParaRPr lang="en-US" sz="800" dirty="0"/>
          </a:p>
        </p:txBody>
      </p:sp>
      <p:sp>
        <p:nvSpPr>
          <p:cNvPr id="22" name="Shape 20"/>
          <p:cNvSpPr/>
          <p:nvPr/>
        </p:nvSpPr>
        <p:spPr>
          <a:xfrm>
            <a:off x="731520" y="3749040"/>
            <a:ext cx="274320" cy="137160"/>
          </a:xfrm>
          <a:prstGeom prst="rect">
            <a:avLst/>
          </a:prstGeom>
          <a:solidFill>
            <a:srgbClr val="B87333"/>
          </a:solidFill>
          <a:ln/>
        </p:spPr>
        <p:txBody>
          <a:bodyPr/>
          <a:p/>
        </p:txBody>
      </p:sp>
      <p:sp>
        <p:nvSpPr>
          <p:cNvPr id="23" name="Text 21"/>
          <p:cNvSpPr/>
          <p:nvPr/>
        </p:nvSpPr>
        <p:spPr>
          <a:xfrm>
            <a:off x="1051560" y="3703320"/>
            <a:ext cx="914400" cy="228600"/>
          </a:xfrm>
          <a:prstGeom prst="rect">
            <a:avLst/>
          </a:prstGeom>
          <a:noFill/>
          <a:ln/>
        </p:spPr>
        <p:txBody>
          <a:bodyPr wrap="square" lIns="0" tIns="0" rIns="0" bIns="0" rtlCol="0" anchor="ctr"/>
          <a:lstStyle/>
          <a:p>
            <a:pPr indent="0" marL="0">
              <a:buNone/>
            </a:pPr>
            <a:r>
              <a:rPr lang="en-US" sz="800" dirty="0">
                <a:solidFill>
                  <a:srgbClr val="5C4033"/>
                </a:solidFill>
                <a:latin typeface="Calibri" pitchFamily="34" charset="0"/>
                <a:ea typeface="Calibri" pitchFamily="34" charset="-122"/>
                <a:cs typeface="Calibri" pitchFamily="34" charset="-120"/>
              </a:rPr>
              <a:t>Ventas</a:t>
            </a:r>
            <a:endParaRPr lang="en-US" sz="800" dirty="0"/>
          </a:p>
        </p:txBody>
      </p:sp>
      <p:sp>
        <p:nvSpPr>
          <p:cNvPr id="24" name="Shape 22"/>
          <p:cNvSpPr/>
          <p:nvPr/>
        </p:nvSpPr>
        <p:spPr>
          <a:xfrm>
            <a:off x="2103120" y="3749040"/>
            <a:ext cx="274320" cy="137160"/>
          </a:xfrm>
          <a:prstGeom prst="rect">
            <a:avLst/>
          </a:prstGeom>
          <a:solidFill>
            <a:srgbClr val="2D7D46"/>
          </a:solidFill>
          <a:ln/>
        </p:spPr>
        <p:txBody>
          <a:bodyPr/>
          <a:p/>
        </p:txBody>
      </p:sp>
      <p:sp>
        <p:nvSpPr>
          <p:cNvPr id="25" name="Text 23"/>
          <p:cNvSpPr/>
          <p:nvPr/>
        </p:nvSpPr>
        <p:spPr>
          <a:xfrm>
            <a:off x="2423160" y="3703320"/>
            <a:ext cx="1097280" cy="228600"/>
          </a:xfrm>
          <a:prstGeom prst="rect">
            <a:avLst/>
          </a:prstGeom>
          <a:noFill/>
          <a:ln/>
        </p:spPr>
        <p:txBody>
          <a:bodyPr wrap="square" lIns="0" tIns="0" rIns="0" bIns="0" rtlCol="0" anchor="ctr"/>
          <a:lstStyle/>
          <a:p>
            <a:pPr indent="0" marL="0">
              <a:buNone/>
            </a:pPr>
            <a:r>
              <a:rPr lang="en-US" sz="800" dirty="0">
                <a:solidFill>
                  <a:srgbClr val="5C4033"/>
                </a:solidFill>
                <a:latin typeface="Calibri" pitchFamily="34" charset="0"/>
                <a:ea typeface="Calibri" pitchFamily="34" charset="-122"/>
                <a:cs typeface="Calibri" pitchFamily="34" charset="-120"/>
              </a:rPr>
              <a:t>Ganancia</a:t>
            </a:r>
            <a:endParaRPr lang="en-US" sz="800" dirty="0"/>
          </a:p>
        </p:txBody>
      </p:sp>
      <p:sp>
        <p:nvSpPr>
          <p:cNvPr id="26" name="Text 24"/>
          <p:cNvSpPr/>
          <p:nvPr/>
        </p:nvSpPr>
        <p:spPr>
          <a:xfrm>
            <a:off x="548640" y="3931920"/>
            <a:ext cx="4754880" cy="274320"/>
          </a:xfrm>
          <a:prstGeom prst="rect">
            <a:avLst/>
          </a:prstGeom>
          <a:noFill/>
          <a:ln/>
        </p:spPr>
        <p:txBody>
          <a:bodyPr wrap="square" lIns="0" tIns="0" rIns="0" bIns="0" rtlCol="0" anchor="ctr"/>
          <a:lstStyle/>
          <a:p>
            <a:pPr indent="0" marL="0">
              <a:buNone/>
            </a:pPr>
            <a:r>
              <a:rPr lang="en-US" sz="750" i="1" dirty="0">
                <a:solidFill>
                  <a:srgbClr val="8C8C8C"/>
                </a:solidFill>
                <a:latin typeface="Calibri" pitchFamily="34" charset="0"/>
                <a:ea typeface="Calibri" pitchFamily="34" charset="-122"/>
                <a:cs typeface="Calibri" pitchFamily="34" charset="-120"/>
              </a:rPr>
              <a:t>Datos declarados a SENIAT (verificables). Tasas de cambio: CADIVI 2006/2009, post-devaluacion 2012.</a:t>
            </a:r>
            <a:endParaRPr lang="en-US" sz="750" dirty="0"/>
          </a:p>
        </p:txBody>
      </p:sp>
      <p:sp>
        <p:nvSpPr>
          <p:cNvPr id="27" name="Text 25"/>
          <p:cNvSpPr/>
          <p:nvPr/>
        </p:nvSpPr>
        <p:spPr>
          <a:xfrm>
            <a:off x="5486400" y="1097280"/>
            <a:ext cx="3200400" cy="274320"/>
          </a:xfrm>
          <a:prstGeom prst="rect">
            <a:avLst/>
          </a:prstGeom>
          <a:noFill/>
          <a:ln/>
        </p:spPr>
        <p:txBody>
          <a:bodyPr wrap="square" lIns="0" tIns="0" rIns="0" bIns="0" rtlCol="0" anchor="ctr"/>
          <a:lstStyle/>
          <a:p>
            <a:pPr indent="0" marL="0">
              <a:buNone/>
            </a:pPr>
            <a:r>
              <a:rPr lang="en-US" sz="1100" b="1" dirty="0">
                <a:solidFill>
                  <a:srgbClr val="B87333"/>
                </a:solidFill>
                <a:latin typeface="Georgia" pitchFamily="34" charset="0"/>
                <a:ea typeface="Georgia" pitchFamily="34" charset="-122"/>
                <a:cs typeface="Georgia" pitchFamily="34" charset="-120"/>
              </a:rPr>
              <a:t>CLIENTES Y SOCIOS</a:t>
            </a:r>
            <a:endParaRPr lang="en-US" sz="1100" dirty="0"/>
          </a:p>
        </p:txBody>
      </p:sp>
      <p:sp>
        <p:nvSpPr>
          <p:cNvPr id="28" name="Shape 26"/>
          <p:cNvSpPr/>
          <p:nvPr/>
        </p:nvSpPr>
        <p:spPr>
          <a:xfrm>
            <a:off x="5486400" y="1463040"/>
            <a:ext cx="1554480" cy="502920"/>
          </a:xfrm>
          <a:prstGeom prst="rect">
            <a:avLst/>
          </a:prstGeom>
          <a:solidFill>
            <a:srgbClr val="FFFFFF"/>
          </a:solidFill>
          <a:ln w="12700">
            <a:solidFill>
              <a:srgbClr val="B87333"/>
            </a:solidFill>
            <a:prstDash val="solid"/>
          </a:ln>
          <a:effectLst>
            <a:outerShdw sx="100000" sy="100000" kx="0" ky="0" algn="bl" rotWithShape="0" blurRad="25400" dist="12700" dir="8100000">
              <a:srgbClr val="000000">
                <a:alpha val="6000"/>
              </a:srgbClr>
            </a:outerShdw>
          </a:effectLst>
        </p:spPr>
        <p:txBody>
          <a:bodyPr/>
          <a:p/>
        </p:txBody>
      </p:sp>
      <p:sp>
        <p:nvSpPr>
          <p:cNvPr id="29" name="Text 27"/>
          <p:cNvSpPr/>
          <p:nvPr/>
        </p:nvSpPr>
        <p:spPr>
          <a:xfrm>
            <a:off x="5486400" y="1481328"/>
            <a:ext cx="1554480" cy="292608"/>
          </a:xfrm>
          <a:prstGeom prst="rect">
            <a:avLst/>
          </a:prstGeom>
          <a:noFill/>
          <a:ln/>
        </p:spPr>
        <p:txBody>
          <a:bodyPr wrap="square" lIns="0" tIns="0" rIns="0" bIns="0" rtlCol="0" anchor="ctr"/>
          <a:lstStyle/>
          <a:p>
            <a:pPr algn="ctr" indent="0" marL="0">
              <a:buNone/>
            </a:pPr>
            <a:r>
              <a:rPr lang="en-US" sz="1100" b="1" dirty="0">
                <a:solidFill>
                  <a:srgbClr val="8B5A2B"/>
                </a:solidFill>
                <a:latin typeface="Georgia" pitchFamily="34" charset="0"/>
                <a:ea typeface="Georgia" pitchFamily="34" charset="-122"/>
                <a:cs typeface="Georgia" pitchFamily="34" charset="-120"/>
              </a:rPr>
              <a:t>CORPOELEC</a:t>
            </a:r>
            <a:endParaRPr lang="en-US" sz="1100" dirty="0"/>
          </a:p>
        </p:txBody>
      </p:sp>
      <p:sp>
        <p:nvSpPr>
          <p:cNvPr id="30" name="Text 28"/>
          <p:cNvSpPr/>
          <p:nvPr/>
        </p:nvSpPr>
        <p:spPr>
          <a:xfrm>
            <a:off x="5532120" y="1755648"/>
            <a:ext cx="1463040" cy="182880"/>
          </a:xfrm>
          <a:prstGeom prst="rect">
            <a:avLst/>
          </a:prstGeom>
          <a:noFill/>
          <a:ln/>
        </p:spPr>
        <p:txBody>
          <a:bodyPr wrap="square" lIns="0" tIns="0" rIns="0" bIns="0" rtlCol="0" anchor="t"/>
          <a:lstStyle/>
          <a:p>
            <a:pPr algn="ctr" indent="0" marL="0">
              <a:buNone/>
            </a:pPr>
            <a:r>
              <a:rPr lang="en-US" sz="700" dirty="0">
                <a:solidFill>
                  <a:srgbClr val="7A6555"/>
                </a:solidFill>
                <a:latin typeface="Calibri" pitchFamily="34" charset="0"/>
                <a:ea typeface="Calibri" pitchFamily="34" charset="-122"/>
                <a:cs typeface="Calibri" pitchFamily="34" charset="-120"/>
              </a:rPr>
              <a:t>20,000 varillas de cobre</a:t>
            </a:r>
            <a:endParaRPr lang="en-US" sz="700" dirty="0"/>
          </a:p>
        </p:txBody>
      </p:sp>
      <p:sp>
        <p:nvSpPr>
          <p:cNvPr id="31" name="Shape 29"/>
          <p:cNvSpPr/>
          <p:nvPr/>
        </p:nvSpPr>
        <p:spPr>
          <a:xfrm>
            <a:off x="7178040" y="1463040"/>
            <a:ext cx="1554480" cy="502920"/>
          </a:xfrm>
          <a:prstGeom prst="rect">
            <a:avLst/>
          </a:prstGeom>
          <a:solidFill>
            <a:srgbClr val="FFFFFF"/>
          </a:solidFill>
          <a:ln w="12700">
            <a:solidFill>
              <a:srgbClr val="B87333"/>
            </a:solidFill>
            <a:prstDash val="solid"/>
          </a:ln>
          <a:effectLst>
            <a:outerShdw sx="100000" sy="100000" kx="0" ky="0" algn="bl" rotWithShape="0" blurRad="25400" dist="12700" dir="8100000">
              <a:srgbClr val="000000">
                <a:alpha val="6000"/>
              </a:srgbClr>
            </a:outerShdw>
          </a:effectLst>
        </p:spPr>
        <p:txBody>
          <a:bodyPr/>
          <a:p/>
        </p:txBody>
      </p:sp>
      <p:sp>
        <p:nvSpPr>
          <p:cNvPr id="32" name="Text 30"/>
          <p:cNvSpPr/>
          <p:nvPr/>
        </p:nvSpPr>
        <p:spPr>
          <a:xfrm>
            <a:off x="7178040" y="1481328"/>
            <a:ext cx="1554480" cy="292608"/>
          </a:xfrm>
          <a:prstGeom prst="rect">
            <a:avLst/>
          </a:prstGeom>
          <a:noFill/>
          <a:ln/>
        </p:spPr>
        <p:txBody>
          <a:bodyPr wrap="square" lIns="0" tIns="0" rIns="0" bIns="0" rtlCol="0" anchor="ctr"/>
          <a:lstStyle/>
          <a:p>
            <a:pPr algn="ctr" indent="0" marL="0">
              <a:buNone/>
            </a:pPr>
            <a:r>
              <a:rPr lang="en-US" sz="1100" b="1" dirty="0">
                <a:solidFill>
                  <a:srgbClr val="8B5A2B"/>
                </a:solidFill>
                <a:latin typeface="Georgia" pitchFamily="34" charset="0"/>
                <a:ea typeface="Georgia" pitchFamily="34" charset="-122"/>
                <a:cs typeface="Georgia" pitchFamily="34" charset="-120"/>
              </a:rPr>
              <a:t>SASGO</a:t>
            </a:r>
            <a:endParaRPr lang="en-US" sz="1100" dirty="0"/>
          </a:p>
        </p:txBody>
      </p:sp>
      <p:sp>
        <p:nvSpPr>
          <p:cNvPr id="33" name="Text 31"/>
          <p:cNvSpPr/>
          <p:nvPr/>
        </p:nvSpPr>
        <p:spPr>
          <a:xfrm>
            <a:off x="7223760" y="1755648"/>
            <a:ext cx="1463040" cy="182880"/>
          </a:xfrm>
          <a:prstGeom prst="rect">
            <a:avLst/>
          </a:prstGeom>
          <a:noFill/>
          <a:ln/>
        </p:spPr>
        <p:txBody>
          <a:bodyPr wrap="square" lIns="0" tIns="0" rIns="0" bIns="0" rtlCol="0" anchor="t"/>
          <a:lstStyle/>
          <a:p>
            <a:pPr algn="ctr" indent="0" marL="0">
              <a:buNone/>
            </a:pPr>
            <a:r>
              <a:rPr lang="en-US" sz="700" dirty="0">
                <a:solidFill>
                  <a:srgbClr val="7A6555"/>
                </a:solidFill>
                <a:latin typeface="Calibri" pitchFamily="34" charset="0"/>
                <a:ea typeface="Calibri" pitchFamily="34" charset="-122"/>
                <a:cs typeface="Calibri" pitchFamily="34" charset="-120"/>
              </a:rPr>
              <a:t>Postes y torres electricas</a:t>
            </a:r>
            <a:endParaRPr lang="en-US" sz="700" dirty="0"/>
          </a:p>
        </p:txBody>
      </p:sp>
      <p:sp>
        <p:nvSpPr>
          <p:cNvPr id="34" name="Shape 32"/>
          <p:cNvSpPr/>
          <p:nvPr/>
        </p:nvSpPr>
        <p:spPr>
          <a:xfrm>
            <a:off x="5486400" y="2286000"/>
            <a:ext cx="1554480" cy="502920"/>
          </a:xfrm>
          <a:prstGeom prst="rect">
            <a:avLst/>
          </a:prstGeom>
          <a:solidFill>
            <a:srgbClr val="FFFFFF"/>
          </a:solidFill>
          <a:ln w="12700">
            <a:solidFill>
              <a:srgbClr val="B87333"/>
            </a:solidFill>
            <a:prstDash val="solid"/>
          </a:ln>
          <a:effectLst>
            <a:outerShdw sx="100000" sy="100000" kx="0" ky="0" algn="bl" rotWithShape="0" blurRad="25400" dist="12700" dir="8100000">
              <a:srgbClr val="000000">
                <a:alpha val="6000"/>
              </a:srgbClr>
            </a:outerShdw>
          </a:effectLst>
        </p:spPr>
        <p:txBody>
          <a:bodyPr/>
          <a:p/>
        </p:txBody>
      </p:sp>
      <p:sp>
        <p:nvSpPr>
          <p:cNvPr id="35" name="Text 33"/>
          <p:cNvSpPr/>
          <p:nvPr/>
        </p:nvSpPr>
        <p:spPr>
          <a:xfrm>
            <a:off x="5486400" y="2304288"/>
            <a:ext cx="1554480" cy="292608"/>
          </a:xfrm>
          <a:prstGeom prst="rect">
            <a:avLst/>
          </a:prstGeom>
          <a:noFill/>
          <a:ln/>
        </p:spPr>
        <p:txBody>
          <a:bodyPr wrap="square" lIns="0" tIns="0" rIns="0" bIns="0" rtlCol="0" anchor="ctr"/>
          <a:lstStyle/>
          <a:p>
            <a:pPr algn="ctr" indent="0" marL="0">
              <a:buNone/>
            </a:pPr>
            <a:r>
              <a:rPr lang="en-US" sz="1100" b="1" dirty="0">
                <a:solidFill>
                  <a:srgbClr val="8B5A2B"/>
                </a:solidFill>
                <a:latin typeface="Georgia" pitchFamily="34" charset="0"/>
                <a:ea typeface="Georgia" pitchFamily="34" charset="-122"/>
                <a:cs typeface="Georgia" pitchFamily="34" charset="-120"/>
              </a:rPr>
              <a:t>MARULLO</a:t>
            </a:r>
            <a:endParaRPr lang="en-US" sz="1100" dirty="0"/>
          </a:p>
        </p:txBody>
      </p:sp>
      <p:sp>
        <p:nvSpPr>
          <p:cNvPr id="36" name="Text 34"/>
          <p:cNvSpPr/>
          <p:nvPr/>
        </p:nvSpPr>
        <p:spPr>
          <a:xfrm>
            <a:off x="5532120" y="2578608"/>
            <a:ext cx="1463040" cy="182880"/>
          </a:xfrm>
          <a:prstGeom prst="rect">
            <a:avLst/>
          </a:prstGeom>
          <a:noFill/>
          <a:ln/>
        </p:spPr>
        <p:txBody>
          <a:bodyPr wrap="square" lIns="0" tIns="0" rIns="0" bIns="0" rtlCol="0" anchor="t"/>
          <a:lstStyle/>
          <a:p>
            <a:pPr algn="ctr" indent="0" marL="0">
              <a:buNone/>
            </a:pPr>
            <a:r>
              <a:rPr lang="en-US" sz="700" dirty="0">
                <a:solidFill>
                  <a:srgbClr val="7A6555"/>
                </a:solidFill>
                <a:latin typeface="Calibri" pitchFamily="34" charset="0"/>
                <a:ea typeface="Calibri" pitchFamily="34" charset="-122"/>
                <a:cs typeface="Calibri" pitchFamily="34" charset="-120"/>
              </a:rPr>
              <a:t>Maquinaria agroindustrial</a:t>
            </a:r>
            <a:endParaRPr lang="en-US" sz="700" dirty="0"/>
          </a:p>
        </p:txBody>
      </p:sp>
      <p:sp>
        <p:nvSpPr>
          <p:cNvPr id="37" name="Shape 35"/>
          <p:cNvSpPr/>
          <p:nvPr/>
        </p:nvSpPr>
        <p:spPr>
          <a:xfrm>
            <a:off x="7178040" y="2286000"/>
            <a:ext cx="1554480" cy="502920"/>
          </a:xfrm>
          <a:prstGeom prst="rect">
            <a:avLst/>
          </a:prstGeom>
          <a:solidFill>
            <a:srgbClr val="FFFFFF"/>
          </a:solidFill>
          <a:ln w="12700">
            <a:solidFill>
              <a:srgbClr val="B87333"/>
            </a:solidFill>
            <a:prstDash val="solid"/>
          </a:ln>
          <a:effectLst>
            <a:outerShdw sx="100000" sy="100000" kx="0" ky="0" algn="bl" rotWithShape="0" blurRad="25400" dist="12700" dir="8100000">
              <a:srgbClr val="000000">
                <a:alpha val="6000"/>
              </a:srgbClr>
            </a:outerShdw>
          </a:effectLst>
        </p:spPr>
        <p:txBody>
          <a:bodyPr/>
          <a:p/>
        </p:txBody>
      </p:sp>
      <p:sp>
        <p:nvSpPr>
          <p:cNvPr id="38" name="Text 36"/>
          <p:cNvSpPr/>
          <p:nvPr/>
        </p:nvSpPr>
        <p:spPr>
          <a:xfrm>
            <a:off x="7178040" y="2304288"/>
            <a:ext cx="1554480" cy="292608"/>
          </a:xfrm>
          <a:prstGeom prst="rect">
            <a:avLst/>
          </a:prstGeom>
          <a:noFill/>
          <a:ln/>
        </p:spPr>
        <p:txBody>
          <a:bodyPr wrap="square" lIns="0" tIns="0" rIns="0" bIns="0" rtlCol="0" anchor="ctr"/>
          <a:lstStyle/>
          <a:p>
            <a:pPr algn="ctr" indent="0" marL="0">
              <a:buNone/>
            </a:pPr>
            <a:r>
              <a:rPr lang="en-US" sz="1100" b="1" dirty="0">
                <a:solidFill>
                  <a:srgbClr val="8B5A2B"/>
                </a:solidFill>
                <a:latin typeface="Georgia" pitchFamily="34" charset="0"/>
                <a:ea typeface="Georgia" pitchFamily="34" charset="-122"/>
                <a:cs typeface="Georgia" pitchFamily="34" charset="-120"/>
              </a:rPr>
              <a:t>FREYSSINET</a:t>
            </a:r>
            <a:endParaRPr lang="en-US" sz="1100" dirty="0"/>
          </a:p>
        </p:txBody>
      </p:sp>
      <p:sp>
        <p:nvSpPr>
          <p:cNvPr id="39" name="Text 37"/>
          <p:cNvSpPr/>
          <p:nvPr/>
        </p:nvSpPr>
        <p:spPr>
          <a:xfrm>
            <a:off x="7223760" y="2578608"/>
            <a:ext cx="1463040" cy="182880"/>
          </a:xfrm>
          <a:prstGeom prst="rect">
            <a:avLst/>
          </a:prstGeom>
          <a:noFill/>
          <a:ln/>
        </p:spPr>
        <p:txBody>
          <a:bodyPr wrap="square" lIns="0" tIns="0" rIns="0" bIns="0" rtlCol="0" anchor="t"/>
          <a:lstStyle/>
          <a:p>
            <a:pPr algn="ctr" indent="0" marL="0">
              <a:buNone/>
            </a:pPr>
            <a:r>
              <a:rPr lang="en-US" sz="700" dirty="0">
                <a:solidFill>
                  <a:srgbClr val="7A6555"/>
                </a:solidFill>
                <a:latin typeface="Calibri" pitchFamily="34" charset="0"/>
                <a:ea typeface="Calibri" pitchFamily="34" charset="-122"/>
                <a:cs typeface="Calibri" pitchFamily="34" charset="-120"/>
              </a:rPr>
              <a:t>Tierra armada (VINCI Group)</a:t>
            </a:r>
            <a:endParaRPr lang="en-US" sz="700" dirty="0"/>
          </a:p>
        </p:txBody>
      </p:sp>
      <p:sp>
        <p:nvSpPr>
          <p:cNvPr id="40" name="Shape 38"/>
          <p:cNvSpPr/>
          <p:nvPr/>
        </p:nvSpPr>
        <p:spPr>
          <a:xfrm>
            <a:off x="5486400" y="3108960"/>
            <a:ext cx="1554480" cy="502920"/>
          </a:xfrm>
          <a:prstGeom prst="rect">
            <a:avLst/>
          </a:prstGeom>
          <a:solidFill>
            <a:srgbClr val="FFFFFF"/>
          </a:solidFill>
          <a:ln w="12700">
            <a:solidFill>
              <a:srgbClr val="B87333"/>
            </a:solidFill>
            <a:prstDash val="solid"/>
          </a:ln>
          <a:effectLst>
            <a:outerShdw sx="100000" sy="100000" kx="0" ky="0" algn="bl" rotWithShape="0" blurRad="25400" dist="12700" dir="8100000">
              <a:srgbClr val="000000">
                <a:alpha val="6000"/>
              </a:srgbClr>
            </a:outerShdw>
          </a:effectLst>
        </p:spPr>
        <p:txBody>
          <a:bodyPr/>
          <a:p/>
        </p:txBody>
      </p:sp>
      <p:sp>
        <p:nvSpPr>
          <p:cNvPr id="41" name="Text 39"/>
          <p:cNvSpPr/>
          <p:nvPr/>
        </p:nvSpPr>
        <p:spPr>
          <a:xfrm>
            <a:off x="5486400" y="3127248"/>
            <a:ext cx="1554480" cy="292608"/>
          </a:xfrm>
          <a:prstGeom prst="rect">
            <a:avLst/>
          </a:prstGeom>
          <a:noFill/>
          <a:ln/>
        </p:spPr>
        <p:txBody>
          <a:bodyPr wrap="square" lIns="0" tIns="0" rIns="0" bIns="0" rtlCol="0" anchor="ctr"/>
          <a:lstStyle/>
          <a:p>
            <a:pPr algn="ctr" indent="0" marL="0">
              <a:buNone/>
            </a:pPr>
            <a:r>
              <a:rPr lang="en-US" sz="1100" b="1" dirty="0">
                <a:solidFill>
                  <a:srgbClr val="8B5A2B"/>
                </a:solidFill>
                <a:latin typeface="Georgia" pitchFamily="34" charset="0"/>
                <a:ea typeface="Georgia" pitchFamily="34" charset="-122"/>
                <a:cs typeface="Georgia" pitchFamily="34" charset="-120"/>
              </a:rPr>
              <a:t>INDUESCA</a:t>
            </a:r>
            <a:endParaRPr lang="en-US" sz="1100" dirty="0"/>
          </a:p>
        </p:txBody>
      </p:sp>
      <p:sp>
        <p:nvSpPr>
          <p:cNvPr id="42" name="Text 40"/>
          <p:cNvSpPr/>
          <p:nvPr/>
        </p:nvSpPr>
        <p:spPr>
          <a:xfrm>
            <a:off x="5532120" y="3401568"/>
            <a:ext cx="1463040" cy="182880"/>
          </a:xfrm>
          <a:prstGeom prst="rect">
            <a:avLst/>
          </a:prstGeom>
          <a:noFill/>
          <a:ln/>
        </p:spPr>
        <p:txBody>
          <a:bodyPr wrap="square" lIns="0" tIns="0" rIns="0" bIns="0" rtlCol="0" anchor="t"/>
          <a:lstStyle/>
          <a:p>
            <a:pPr algn="ctr" indent="0" marL="0">
              <a:buNone/>
            </a:pPr>
            <a:r>
              <a:rPr lang="en-US" sz="700" dirty="0">
                <a:solidFill>
                  <a:srgbClr val="7A6555"/>
                </a:solidFill>
                <a:latin typeface="Calibri" pitchFamily="34" charset="0"/>
                <a:ea typeface="Calibri" pitchFamily="34" charset="-122"/>
                <a:cs typeface="Calibri" pitchFamily="34" charset="-120"/>
              </a:rPr>
              <a:t>Bandejas y torres</a:t>
            </a:r>
            <a:endParaRPr lang="en-US" sz="700" dirty="0"/>
          </a:p>
        </p:txBody>
      </p:sp>
      <p:sp>
        <p:nvSpPr>
          <p:cNvPr id="43" name="Shape 41"/>
          <p:cNvSpPr/>
          <p:nvPr/>
        </p:nvSpPr>
        <p:spPr>
          <a:xfrm>
            <a:off x="7178040" y="3108960"/>
            <a:ext cx="1554480" cy="502920"/>
          </a:xfrm>
          <a:prstGeom prst="rect">
            <a:avLst/>
          </a:prstGeom>
          <a:solidFill>
            <a:srgbClr val="FFFFFF"/>
          </a:solidFill>
          <a:ln w="12700">
            <a:solidFill>
              <a:srgbClr val="B87333"/>
            </a:solidFill>
            <a:prstDash val="solid"/>
          </a:ln>
          <a:effectLst>
            <a:outerShdw sx="100000" sy="100000" kx="0" ky="0" algn="bl" rotWithShape="0" blurRad="25400" dist="12700" dir="8100000">
              <a:srgbClr val="000000">
                <a:alpha val="6000"/>
              </a:srgbClr>
            </a:outerShdw>
          </a:effectLst>
        </p:spPr>
        <p:txBody>
          <a:bodyPr/>
          <a:p/>
        </p:txBody>
      </p:sp>
      <p:sp>
        <p:nvSpPr>
          <p:cNvPr id="44" name="Text 42"/>
          <p:cNvSpPr/>
          <p:nvPr/>
        </p:nvSpPr>
        <p:spPr>
          <a:xfrm>
            <a:off x="7178040" y="3127248"/>
            <a:ext cx="1554480" cy="292608"/>
          </a:xfrm>
          <a:prstGeom prst="rect">
            <a:avLst/>
          </a:prstGeom>
          <a:noFill/>
          <a:ln/>
        </p:spPr>
        <p:txBody>
          <a:bodyPr wrap="square" lIns="0" tIns="0" rIns="0" bIns="0" rtlCol="0" anchor="ctr"/>
          <a:lstStyle/>
          <a:p>
            <a:pPr algn="ctr" indent="0" marL="0">
              <a:buNone/>
            </a:pPr>
            <a:r>
              <a:rPr lang="en-US" sz="1100" b="1" dirty="0">
                <a:solidFill>
                  <a:srgbClr val="8B5A2B"/>
                </a:solidFill>
                <a:latin typeface="Georgia" pitchFamily="34" charset="0"/>
                <a:ea typeface="Georgia" pitchFamily="34" charset="-122"/>
                <a:cs typeface="Georgia" pitchFamily="34" charset="-120"/>
              </a:rPr>
              <a:t>DISMACA</a:t>
            </a:r>
            <a:endParaRPr lang="en-US" sz="1100" dirty="0"/>
          </a:p>
        </p:txBody>
      </p:sp>
      <p:sp>
        <p:nvSpPr>
          <p:cNvPr id="45" name="Text 43"/>
          <p:cNvSpPr/>
          <p:nvPr/>
        </p:nvSpPr>
        <p:spPr>
          <a:xfrm>
            <a:off x="7223760" y="3401568"/>
            <a:ext cx="1463040" cy="182880"/>
          </a:xfrm>
          <a:prstGeom prst="rect">
            <a:avLst/>
          </a:prstGeom>
          <a:noFill/>
          <a:ln/>
        </p:spPr>
        <p:txBody>
          <a:bodyPr wrap="square" lIns="0" tIns="0" rIns="0" bIns="0" rtlCol="0" anchor="t"/>
          <a:lstStyle/>
          <a:p>
            <a:pPr algn="ctr" indent="0" marL="0">
              <a:buNone/>
            </a:pPr>
            <a:r>
              <a:rPr lang="en-US" sz="700" dirty="0">
                <a:solidFill>
                  <a:srgbClr val="7A6555"/>
                </a:solidFill>
                <a:latin typeface="Calibri" pitchFamily="34" charset="0"/>
                <a:ea typeface="Calibri" pitchFamily="34" charset="-122"/>
                <a:cs typeface="Calibri" pitchFamily="34" charset="-120"/>
              </a:rPr>
              <a:t>EPC / Oil &amp; Gas</a:t>
            </a:r>
            <a:endParaRPr lang="en-US" sz="700" dirty="0"/>
          </a:p>
        </p:txBody>
      </p:sp>
      <p:sp>
        <p:nvSpPr>
          <p:cNvPr id="46" name="Shape 44"/>
          <p:cNvSpPr/>
          <p:nvPr/>
        </p:nvSpPr>
        <p:spPr>
          <a:xfrm>
            <a:off x="5486400" y="3977640"/>
            <a:ext cx="3200400" cy="777240"/>
          </a:xfrm>
          <a:prstGeom prst="rect">
            <a:avLst/>
          </a:prstGeom>
          <a:solidFill>
            <a:srgbClr val="EDE8E0"/>
          </a:solidFill>
          <a:ln w="12700">
            <a:solidFill>
              <a:srgbClr val="B87333"/>
            </a:solidFill>
            <a:prstDash val="solid"/>
          </a:ln>
        </p:spPr>
        <p:txBody>
          <a:bodyPr/>
          <a:p/>
        </p:txBody>
      </p:sp>
      <p:sp>
        <p:nvSpPr>
          <p:cNvPr id="47" name="Text 45"/>
          <p:cNvSpPr/>
          <p:nvPr/>
        </p:nvSpPr>
        <p:spPr>
          <a:xfrm>
            <a:off x="5623560" y="3977640"/>
            <a:ext cx="2926080" cy="777240"/>
          </a:xfrm>
          <a:prstGeom prst="rect">
            <a:avLst/>
          </a:prstGeom>
          <a:noFill/>
          <a:ln/>
        </p:spPr>
        <p:txBody>
          <a:bodyPr wrap="square" rtlCol="0" anchor="ctr"/>
          <a:lstStyle/>
          <a:p>
            <a:pPr indent="0" marL="0">
              <a:buNone/>
            </a:pPr>
            <a:r>
              <a:rPr lang="en-US" sz="2000" b="1" dirty="0">
                <a:solidFill>
                  <a:srgbClr val="8B5A2B"/>
                </a:solidFill>
                <a:latin typeface="Georgia" pitchFamily="34" charset="0"/>
                <a:ea typeface="Georgia" pitchFamily="34" charset="-122"/>
                <a:cs typeface="Georgia" pitchFamily="34" charset="-120"/>
              </a:rPr>
              <a:t>34</a:t>
            </a:r>
            <a:pPr indent="0" marL="0">
              <a:buNone/>
            </a:pPr>
            <a:r>
              <a:rPr lang="en-US" sz="1000" dirty="0">
                <a:solidFill>
                  <a:srgbClr val="5C4033"/>
                </a:solidFill>
                <a:latin typeface="Calibri" pitchFamily="34" charset="0"/>
                <a:ea typeface="Calibri" pitchFamily="34" charset="-122"/>
                <a:cs typeface="Calibri" pitchFamily="34" charset="-120"/>
              </a:rPr>
              <a:t xml:space="preserve"> clientes historicos
</a:t>
            </a:r>
            <a:pPr indent="0" marL="0">
              <a:buNone/>
            </a:pPr>
            <a:r>
              <a:rPr lang="en-US" sz="2000" b="1" dirty="0">
                <a:solidFill>
                  <a:srgbClr val="2D7D46"/>
                </a:solidFill>
                <a:latin typeface="Georgia" pitchFamily="34" charset="0"/>
                <a:ea typeface="Georgia" pitchFamily="34" charset="-122"/>
                <a:cs typeface="Georgia" pitchFamily="34" charset="-120"/>
              </a:rPr>
              <a:t>6</a:t>
            </a:r>
            <a:pPr indent="0" marL="0">
              <a:buNone/>
            </a:pPr>
            <a:r>
              <a:rPr lang="en-US" sz="1000" dirty="0">
                <a:solidFill>
                  <a:srgbClr val="5C4033"/>
                </a:solidFill>
                <a:latin typeface="Calibri" pitchFamily="34" charset="0"/>
                <a:ea typeface="Calibri" pitchFamily="34" charset="-122"/>
                <a:cs typeface="Calibri" pitchFamily="34" charset="-120"/>
              </a:rPr>
              <a:t xml:space="preserve"> interesados en reactivar pedidos</a:t>
            </a:r>
            <a:endParaRPr lang="en-US" sz="2000" dirty="0"/>
          </a:p>
        </p:txBody>
      </p:sp>
      <p:sp>
        <p:nvSpPr>
          <p:cNvPr id="48" name="Text 46"/>
          <p:cNvSpPr/>
          <p:nvPr/>
        </p:nvSpPr>
        <p:spPr>
          <a:xfrm>
            <a:off x="548640" y="4846320"/>
            <a:ext cx="8046720" cy="228600"/>
          </a:xfrm>
          <a:prstGeom prst="rect">
            <a:avLst/>
          </a:prstGeom>
          <a:noFill/>
          <a:ln/>
        </p:spPr>
        <p:txBody>
          <a:bodyPr wrap="square" lIns="0" tIns="0" rIns="0" bIns="0" rtlCol="0" anchor="ctr"/>
          <a:lstStyle/>
          <a:p>
            <a:pPr algn="ctr" indent="0" marL="0">
              <a:buNone/>
            </a:pPr>
            <a:r>
              <a:rPr lang="en-US" sz="900" i="1" dirty="0">
                <a:solidFill>
                  <a:srgbClr val="7A6555"/>
                </a:solidFill>
                <a:latin typeface="Calibri" pitchFamily="34" charset="0"/>
                <a:ea typeface="Calibri" pitchFamily="34" charset="-122"/>
                <a:cs typeface="Calibri" pitchFamily="34" charset="-120"/>
              </a:rPr>
              <a:t>Ultimo ano de operacion continua: 2015. 675 TM de pletinas solo ese ano. Detenida por falta de zinc, NO por falta de demanda.</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bg>
      <p:bgPr>
        <a:solidFill>
          <a:srgbClr val="F2EDE6"/>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18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3E2C1C"/>
                </a:solidFill>
                <a:latin typeface="Georgia" pitchFamily="34" charset="0"/>
                <a:ea typeface="Georgia" pitchFamily="34" charset="-122"/>
                <a:cs typeface="Georgia" pitchFamily="34" charset="-120"/>
              </a:rPr>
              <a:t>INVENTARIO ACTUAL EN PLANTA</a:t>
            </a:r>
            <a:endParaRPr lang="en-US" sz="2800" dirty="0"/>
          </a:p>
        </p:txBody>
      </p:sp>
      <p:sp>
        <p:nvSpPr>
          <p:cNvPr id="5" name="Text 3"/>
          <p:cNvSpPr/>
          <p:nvPr/>
        </p:nvSpPr>
        <p:spPr>
          <a:xfrm>
            <a:off x="548640" y="731520"/>
            <a:ext cx="8046720" cy="274320"/>
          </a:xfrm>
          <a:prstGeom prst="rect">
            <a:avLst/>
          </a:prstGeom>
          <a:noFill/>
          <a:ln/>
        </p:spPr>
        <p:txBody>
          <a:bodyPr wrap="square" lIns="0" tIns="0" rIns="0" bIns="0" rtlCol="0" anchor="ctr"/>
          <a:lstStyle/>
          <a:p>
            <a:pPr indent="0" marL="0">
              <a:buNone/>
            </a:pPr>
            <a:r>
              <a:rPr lang="en-US" sz="1200" i="1" dirty="0">
                <a:solidFill>
                  <a:srgbClr val="8B5A2B"/>
                </a:solidFill>
                <a:latin typeface="Calibri" pitchFamily="34" charset="0"/>
                <a:ea typeface="Calibri" pitchFamily="34" charset="-122"/>
                <a:cs typeface="Calibri" pitchFamily="34" charset="-120"/>
              </a:rPr>
              <a:t>Materiales, equipos y maquinaria disponibles al momento de la transaccion</a:t>
            </a:r>
            <a:endParaRPr lang="en-US" sz="1200" dirty="0"/>
          </a:p>
        </p:txBody>
      </p:sp>
      <p:sp>
        <p:nvSpPr>
          <p:cNvPr id="6" name="Text 4"/>
          <p:cNvSpPr/>
          <p:nvPr/>
        </p:nvSpPr>
        <p:spPr>
          <a:xfrm>
            <a:off x="548640" y="1143000"/>
            <a:ext cx="3657600" cy="274320"/>
          </a:xfrm>
          <a:prstGeom prst="rect">
            <a:avLst/>
          </a:prstGeom>
          <a:noFill/>
          <a:ln/>
        </p:spPr>
        <p:txBody>
          <a:bodyPr wrap="square" lIns="0" tIns="0" rIns="0" bIns="0" rtlCol="0" anchor="ctr"/>
          <a:lstStyle/>
          <a:p>
            <a:pPr indent="0" marL="0">
              <a:buNone/>
            </a:pPr>
            <a:r>
              <a:rPr lang="en-US" sz="1000" b="1" dirty="0">
                <a:solidFill>
                  <a:srgbClr val="B87333"/>
                </a:solidFill>
                <a:latin typeface="Georgia" pitchFamily="34" charset="0"/>
                <a:ea typeface="Georgia" pitchFamily="34" charset="-122"/>
                <a:cs typeface="Georgia" pitchFamily="34" charset="-120"/>
              </a:rPr>
              <a:t>MATERIAS PRIMAS EN SITIO</a:t>
            </a:r>
            <a:endParaRPr lang="en-US" sz="1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3840480" cy="914400"/>
        </p:xfrm>
        <a:graphic>
          <a:graphicData uri="http://schemas.openxmlformats.org/drawingml/2006/table">
            <a:tbl>
              <a:tblPr/>
              <a:tblGrid>
                <a:gridCol w="2560320"/>
                <a:gridCol w="1280160"/>
              </a:tblGrid>
              <a:tr h="292608">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Material</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Cantidad</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r>
              <a:tr h="347472">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Zinc SHG 99.99%</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8B5A2B"/>
                          </a:solidFill>
                          <a:latin typeface="Calibri" pitchFamily="34" charset="0"/>
                          <a:ea typeface="Calibri" pitchFamily="34" charset="-122"/>
                          <a:cs typeface="Calibri" pitchFamily="34" charset="-120"/>
                        </a:rPr>
                        <a:t>2,041 kg</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Acido clorhidrico (HCl)</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b="1" dirty="0">
                          <a:solidFill>
                            <a:srgbClr val="8B5A2B"/>
                          </a:solidFill>
                          <a:latin typeface="Calibri" pitchFamily="34" charset="0"/>
                          <a:ea typeface="Calibri" pitchFamily="34" charset="-122"/>
                          <a:cs typeface="Calibri" pitchFamily="34" charset="-120"/>
                        </a:rPr>
                        <a:t>4,600 kg</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r h="347472">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Cloruro de amonio (NH4Cl)</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8B5A2B"/>
                          </a:solidFill>
                          <a:latin typeface="Calibri" pitchFamily="34" charset="0"/>
                          <a:ea typeface="Calibri" pitchFamily="34" charset="-122"/>
                          <a:cs typeface="Calibri" pitchFamily="34" charset="-120"/>
                        </a:rPr>
                        <a:t>500 kg</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bl>
          </a:graphicData>
        </a:graphic>
      </p:graphicFrame>
      <p:sp>
        <p:nvSpPr>
          <p:cNvPr id="8" name="Text 5"/>
          <p:cNvSpPr/>
          <p:nvPr/>
        </p:nvSpPr>
        <p:spPr>
          <a:xfrm>
            <a:off x="548640" y="2743200"/>
            <a:ext cx="3657600" cy="228600"/>
          </a:xfrm>
          <a:prstGeom prst="rect">
            <a:avLst/>
          </a:prstGeom>
          <a:noFill/>
          <a:ln/>
        </p:spPr>
        <p:txBody>
          <a:bodyPr wrap="square" lIns="0" tIns="0" rIns="0" bIns="0" rtlCol="0" anchor="ctr"/>
          <a:lstStyle/>
          <a:p>
            <a:pPr indent="0" marL="0">
              <a:buNone/>
            </a:pPr>
            <a:r>
              <a:rPr lang="en-US" sz="1000" b="1" dirty="0">
                <a:solidFill>
                  <a:srgbClr val="B87333"/>
                </a:solidFill>
                <a:latin typeface="Georgia" pitchFamily="34" charset="0"/>
                <a:ea typeface="Georgia" pitchFamily="34" charset="-122"/>
                <a:cs typeface="Georgia" pitchFamily="34" charset="-120"/>
              </a:rPr>
              <a:t>MAQUINARIA Y EQUIPOS</a:t>
            </a:r>
            <a:endParaRPr lang="en-US" sz="1000" dirty="0"/>
          </a:p>
        </p:txBody>
      </p:sp>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548640" y="2999232"/>
          <a:ext cx="3840480" cy="914400"/>
        </p:xfrm>
        <a:graphic>
          <a:graphicData uri="http://schemas.openxmlformats.org/drawingml/2006/table">
            <a:tbl>
              <a:tblPr/>
              <a:tblGrid>
                <a:gridCol w="2560320"/>
                <a:gridCol w="1280160"/>
              </a:tblGrid>
              <a:tr h="246888">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Equipo</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Cantidad</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r>
              <a:tr h="246888">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Montacargas Clark (2,500 kg)</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8B5A2B"/>
                          </a:solidFill>
                          <a:latin typeface="Calibri" pitchFamily="34" charset="0"/>
                          <a:ea typeface="Calibri" pitchFamily="34" charset="-122"/>
                          <a:cs typeface="Calibri" pitchFamily="34" charset="-120"/>
                        </a:rPr>
                        <a:t>3 unidades</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246888">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Gruas puente (2-5 TM)</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b="1" dirty="0">
                          <a:solidFill>
                            <a:srgbClr val="8B5A2B"/>
                          </a:solidFill>
                          <a:latin typeface="Calibri" pitchFamily="34" charset="0"/>
                          <a:ea typeface="Calibri" pitchFamily="34" charset="-122"/>
                          <a:cs typeface="Calibri" pitchFamily="34" charset="-120"/>
                        </a:rPr>
                        <a:t>2 unidades</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r h="246888">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Bascula industrial</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8B5A2B"/>
                          </a:solidFill>
                          <a:latin typeface="Calibri" pitchFamily="34" charset="0"/>
                          <a:ea typeface="Calibri" pitchFamily="34" charset="-122"/>
                          <a:cs typeface="Calibri" pitchFamily="34" charset="-120"/>
                        </a:rPr>
                        <a:t>1 unidad</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246888">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Rectificadores trifasicos (cobre)</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b="1" dirty="0">
                          <a:solidFill>
                            <a:srgbClr val="8B5A2B"/>
                          </a:solidFill>
                          <a:latin typeface="Calibri" pitchFamily="34" charset="0"/>
                          <a:ea typeface="Calibri" pitchFamily="34" charset="-122"/>
                          <a:cs typeface="Calibri" pitchFamily="34" charset="-120"/>
                        </a:rPr>
                        <a:t>6 unidades</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r h="246888">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Tanques electroliticos (cobre)</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8B5A2B"/>
                          </a:solidFill>
                          <a:latin typeface="Calibri" pitchFamily="34" charset="0"/>
                          <a:ea typeface="Calibri" pitchFamily="34" charset="-122"/>
                          <a:cs typeface="Calibri" pitchFamily="34" charset="-120"/>
                        </a:rPr>
                        <a:t>10 unidades</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246888">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Centrifuga 65cm</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b="1" dirty="0">
                          <a:solidFill>
                            <a:srgbClr val="2D7D46"/>
                          </a:solidFill>
                          <a:latin typeface="Calibri" pitchFamily="34" charset="0"/>
                          <a:ea typeface="Calibri" pitchFamily="34" charset="-122"/>
                          <a:cs typeface="Calibri" pitchFamily="34" charset="-120"/>
                        </a:rPr>
                        <a:t>ACTIVA</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bl>
          </a:graphicData>
        </a:graphic>
      </p:graphicFrame>
      <p:pic>
        <p:nvPicPr>
          <p:cNvPr id="10" name="Image 0" descr="/sessions/sweet-gallant-wright/pyglara-deck/images/clavos.jpg"/>
          <p:cNvPicPr>
            <a:picLocks noChangeAspect="1"/>
          </p:cNvPicPr>
          <p:nvPr/>
        </p:nvPicPr>
        <p:blipFill>
          <a:blip r:embed="rId1"/>
          <a:srcRect l="0" r="0" t="0" b="0"/>
          <a:stretch/>
        </p:blipFill>
        <p:spPr>
          <a:xfrm>
            <a:off x="4754880" y="1143000"/>
            <a:ext cx="3931920" cy="2560320"/>
          </a:xfrm>
          <a:prstGeom prst="rect">
            <a:avLst/>
          </a:prstGeom>
        </p:spPr>
      </p:pic>
      <p:sp>
        <p:nvSpPr>
          <p:cNvPr id="11" name="Shape 6"/>
          <p:cNvSpPr/>
          <p:nvPr/>
        </p:nvSpPr>
        <p:spPr>
          <a:xfrm>
            <a:off x="4754880" y="1143000"/>
            <a:ext cx="3931920" cy="2560320"/>
          </a:xfrm>
          <a:prstGeom prst="rect">
            <a:avLst/>
          </a:prstGeom>
          <a:ln w="19050">
            <a:solidFill>
              <a:srgbClr val="B87333"/>
            </a:solidFill>
            <a:prstDash val="solid"/>
          </a:ln>
        </p:spPr>
        <p:txBody>
          <a:bodyPr/>
          <a:p/>
        </p:txBody>
      </p:sp>
      <p:sp>
        <p:nvSpPr>
          <p:cNvPr id="12" name="Text 7"/>
          <p:cNvSpPr/>
          <p:nvPr/>
        </p:nvSpPr>
        <p:spPr>
          <a:xfrm>
            <a:off x="4754880" y="3749040"/>
            <a:ext cx="3931920" cy="274320"/>
          </a:xfrm>
          <a:prstGeom prst="rect">
            <a:avLst/>
          </a:prstGeom>
          <a:noFill/>
          <a:ln/>
        </p:spPr>
        <p:txBody>
          <a:bodyPr wrap="square" lIns="0" tIns="0" rIns="0" bIns="0" rtlCol="0" anchor="ctr"/>
          <a:lstStyle/>
          <a:p>
            <a:pPr algn="ctr" indent="0" marL="0">
              <a:buNone/>
            </a:pPr>
            <a:r>
              <a:rPr lang="en-US" sz="900" i="1" dirty="0">
                <a:solidFill>
                  <a:srgbClr val="7A6555"/>
                </a:solidFill>
                <a:latin typeface="Calibri" pitchFamily="34" charset="0"/>
                <a:ea typeface="Calibri" pitchFamily="34" charset="-122"/>
                <a:cs typeface="Calibri" pitchFamily="34" charset="-120"/>
              </a:rPr>
              <a:t>Clavos galvanizados — produccion actual con centrifuga 65cm</a:t>
            </a:r>
            <a:endParaRPr lang="en-US" sz="900" dirty="0"/>
          </a:p>
        </p:txBody>
      </p:sp>
      <p:sp>
        <p:nvSpPr>
          <p:cNvPr id="13" name="Shape 8"/>
          <p:cNvSpPr/>
          <p:nvPr/>
        </p:nvSpPr>
        <p:spPr>
          <a:xfrm>
            <a:off x="4754880" y="4069080"/>
            <a:ext cx="3931920" cy="640080"/>
          </a:xfrm>
          <a:prstGeom prst="rect">
            <a:avLst/>
          </a:prstGeom>
          <a:solidFill>
            <a:srgbClr val="EDE8E0"/>
          </a:solidFill>
          <a:ln w="12700">
            <a:solidFill>
              <a:srgbClr val="B87333"/>
            </a:solidFill>
            <a:prstDash val="solid"/>
          </a:ln>
        </p:spPr>
        <p:txBody>
          <a:bodyPr/>
          <a:p/>
        </p:txBody>
      </p:sp>
      <p:sp>
        <p:nvSpPr>
          <p:cNvPr id="14" name="Text 9"/>
          <p:cNvSpPr/>
          <p:nvPr/>
        </p:nvSpPr>
        <p:spPr>
          <a:xfrm>
            <a:off x="4937760" y="4069080"/>
            <a:ext cx="3566160" cy="640080"/>
          </a:xfrm>
          <a:prstGeom prst="rect">
            <a:avLst/>
          </a:prstGeom>
          <a:noFill/>
          <a:ln/>
        </p:spPr>
        <p:txBody>
          <a:bodyPr wrap="square" rtlCol="0" anchor="ctr"/>
          <a:lstStyle/>
          <a:p>
            <a:pPr indent="0" marL="0">
              <a:buNone/>
            </a:pPr>
            <a:r>
              <a:rPr lang="en-US" sz="900" b="1" dirty="0">
                <a:solidFill>
                  <a:srgbClr val="8B5A2B"/>
                </a:solidFill>
                <a:latin typeface="Calibri" pitchFamily="34" charset="0"/>
                <a:ea typeface="Calibri" pitchFamily="34" charset="-122"/>
                <a:cs typeface="Calibri" pitchFamily="34" charset="-120"/>
              </a:rPr>
              <a:t>La centrifuga de 65cm esta OPERATIVA y produciendo clavos galvanizados HOY — la planta no esta completamente detenida.</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6">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19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3000" b="1" dirty="0">
                <a:solidFill>
                  <a:srgbClr val="3E2C1C"/>
                </a:solidFill>
                <a:latin typeface="Georgia" pitchFamily="34" charset="0"/>
                <a:ea typeface="Georgia" pitchFamily="34" charset="-122"/>
                <a:cs typeface="Georgia" pitchFamily="34" charset="-120"/>
              </a:rPr>
              <a:t>POSICION COMPETITIVA</a:t>
            </a:r>
            <a:endParaRPr lang="en-US" sz="3000" dirty="0"/>
          </a:p>
        </p:txBody>
      </p:sp>
      <p:sp>
        <p:nvSpPr>
          <p:cNvPr id="5" name="Text 3"/>
          <p:cNvSpPr/>
          <p:nvPr/>
        </p:nvSpPr>
        <p:spPr>
          <a:xfrm>
            <a:off x="548640" y="731520"/>
            <a:ext cx="8046720" cy="320040"/>
          </a:xfrm>
          <a:prstGeom prst="rect">
            <a:avLst/>
          </a:prstGeom>
          <a:noFill/>
          <a:ln/>
        </p:spPr>
        <p:txBody>
          <a:bodyPr wrap="square" lIns="0" tIns="0" rIns="0" bIns="0" rtlCol="0" anchor="ctr"/>
          <a:lstStyle/>
          <a:p>
            <a:pPr indent="0" marL="0">
              <a:buNone/>
            </a:pPr>
            <a:r>
              <a:rPr lang="en-US" sz="1200" i="1" dirty="0">
                <a:solidFill>
                  <a:srgbClr val="8B5A2B"/>
                </a:solidFill>
                <a:latin typeface="Calibri" pitchFamily="34" charset="0"/>
                <a:ea typeface="Calibri" pitchFamily="34" charset="-122"/>
                <a:cs typeface="Calibri" pitchFamily="34" charset="-120"/>
              </a:rPr>
              <a:t>Solo 2 proveedores comerciales de galvanizado en todo el pais — los demas galvanizan solo sus propios productos</a:t>
            </a:r>
            <a:endParaRPr lang="en-US" sz="1200" dirty="0"/>
          </a:p>
        </p:txBody>
      </p:sp>
      <p:sp>
        <p:nvSpPr>
          <p:cNvPr id="6" name="Shape 4"/>
          <p:cNvSpPr/>
          <p:nvPr/>
        </p:nvSpPr>
        <p:spPr>
          <a:xfrm>
            <a:off x="548640" y="1280160"/>
            <a:ext cx="2651760" cy="109728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7" name="Shape 5"/>
          <p:cNvSpPr/>
          <p:nvPr/>
        </p:nvSpPr>
        <p:spPr>
          <a:xfrm>
            <a:off x="548640" y="1280160"/>
            <a:ext cx="54864" cy="1097280"/>
          </a:xfrm>
          <a:prstGeom prst="rect">
            <a:avLst/>
          </a:prstGeom>
          <a:solidFill>
            <a:srgbClr val="B87333"/>
          </a:solidFill>
          <a:ln/>
        </p:spPr>
        <p:txBody>
          <a:bodyPr/>
          <a:p/>
        </p:txBody>
      </p:sp>
      <p:sp>
        <p:nvSpPr>
          <p:cNvPr id="8" name="Text 6"/>
          <p:cNvSpPr/>
          <p:nvPr/>
        </p:nvSpPr>
        <p:spPr>
          <a:xfrm>
            <a:off x="548640" y="1325880"/>
            <a:ext cx="2651760" cy="548640"/>
          </a:xfrm>
          <a:prstGeom prst="rect">
            <a:avLst/>
          </a:prstGeom>
          <a:noFill/>
          <a:ln/>
        </p:spPr>
        <p:txBody>
          <a:bodyPr wrap="square" lIns="0" tIns="0" rIns="0" bIns="0" rtlCol="0" anchor="ctr"/>
          <a:lstStyle/>
          <a:p>
            <a:pPr algn="ctr" indent="0" marL="0">
              <a:buNone/>
            </a:pPr>
            <a:r>
              <a:rPr lang="en-US" sz="2800" b="1" dirty="0">
                <a:solidFill>
                  <a:srgbClr val="8B5A2B"/>
                </a:solidFill>
                <a:latin typeface="Georgia" pitchFamily="34" charset="0"/>
                <a:ea typeface="Georgia" pitchFamily="34" charset="-122"/>
                <a:cs typeface="Georgia" pitchFamily="34" charset="-120"/>
              </a:rPr>
              <a:t>2</a:t>
            </a:r>
            <a:endParaRPr lang="en-US" sz="2800" dirty="0"/>
          </a:p>
        </p:txBody>
      </p:sp>
      <p:sp>
        <p:nvSpPr>
          <p:cNvPr id="9" name="Text 7"/>
          <p:cNvSpPr/>
          <p:nvPr/>
        </p:nvSpPr>
        <p:spPr>
          <a:xfrm>
            <a:off x="640080" y="1874520"/>
            <a:ext cx="2468880" cy="411480"/>
          </a:xfrm>
          <a:prstGeom prst="rect">
            <a:avLst/>
          </a:prstGeom>
          <a:noFill/>
          <a:ln/>
        </p:spPr>
        <p:txBody>
          <a:bodyPr wrap="square" lIns="0" tIns="0" rIns="0" bIns="0" rtlCol="0" anchor="t"/>
          <a:lstStyle/>
          <a:p>
            <a:pPr algn="ctr" indent="0" marL="0">
              <a:buNone/>
            </a:pPr>
            <a:r>
              <a:rPr lang="en-US" sz="1000" dirty="0">
                <a:solidFill>
                  <a:srgbClr val="5C4033"/>
                </a:solidFill>
                <a:latin typeface="Calibri" pitchFamily="34" charset="0"/>
                <a:ea typeface="Calibri" pitchFamily="34" charset="-122"/>
                <a:cs typeface="Calibri" pitchFamily="34" charset="-120"/>
              </a:rPr>
              <a:t>Proveedores comerciales en</a:t>
            </a:r>
            <a:endParaRPr lang="en-US" sz="1000" dirty="0"/>
          </a:p>
          <a:p>
            <a:pPr algn="ctr" indent="0" marL="0">
              <a:buNone/>
            </a:pPr>
            <a:r>
              <a:rPr lang="en-US" sz="1000" dirty="0">
                <a:solidFill>
                  <a:srgbClr val="5C4033"/>
                </a:solidFill>
                <a:latin typeface="Calibri" pitchFamily="34" charset="0"/>
                <a:ea typeface="Calibri" pitchFamily="34" charset="-122"/>
                <a:cs typeface="Calibri" pitchFamily="34" charset="-120"/>
              </a:rPr>
              <a:t>todo Venezuela</a:t>
            </a:r>
            <a:endParaRPr lang="en-US" sz="1000" dirty="0"/>
          </a:p>
        </p:txBody>
      </p:sp>
      <p:sp>
        <p:nvSpPr>
          <p:cNvPr id="10" name="Shape 8"/>
          <p:cNvSpPr/>
          <p:nvPr/>
        </p:nvSpPr>
        <p:spPr>
          <a:xfrm>
            <a:off x="3429000" y="1280160"/>
            <a:ext cx="2651760" cy="109728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11" name="Shape 9"/>
          <p:cNvSpPr/>
          <p:nvPr/>
        </p:nvSpPr>
        <p:spPr>
          <a:xfrm>
            <a:off x="3429000" y="1280160"/>
            <a:ext cx="54864" cy="1097280"/>
          </a:xfrm>
          <a:prstGeom prst="rect">
            <a:avLst/>
          </a:prstGeom>
          <a:solidFill>
            <a:srgbClr val="B87333"/>
          </a:solidFill>
          <a:ln/>
        </p:spPr>
        <p:txBody>
          <a:bodyPr/>
          <a:p/>
        </p:txBody>
      </p:sp>
      <p:sp>
        <p:nvSpPr>
          <p:cNvPr id="12" name="Text 10"/>
          <p:cNvSpPr/>
          <p:nvPr/>
        </p:nvSpPr>
        <p:spPr>
          <a:xfrm>
            <a:off x="3429000" y="1325880"/>
            <a:ext cx="2651760" cy="548640"/>
          </a:xfrm>
          <a:prstGeom prst="rect">
            <a:avLst/>
          </a:prstGeom>
          <a:noFill/>
          <a:ln/>
        </p:spPr>
        <p:txBody>
          <a:bodyPr wrap="square" lIns="0" tIns="0" rIns="0" bIns="0" rtlCol="0" anchor="ctr"/>
          <a:lstStyle/>
          <a:p>
            <a:pPr algn="ctr" indent="0" marL="0">
              <a:buNone/>
            </a:pPr>
            <a:r>
              <a:rPr lang="en-US" sz="2800" b="1" dirty="0">
                <a:solidFill>
                  <a:srgbClr val="8B5A2B"/>
                </a:solidFill>
                <a:latin typeface="Georgia" pitchFamily="34" charset="0"/>
                <a:ea typeface="Georgia" pitchFamily="34" charset="-122"/>
                <a:cs typeface="Georgia" pitchFamily="34" charset="-120"/>
              </a:rPr>
              <a:t>$2.2M</a:t>
            </a:r>
            <a:endParaRPr lang="en-US" sz="2800" dirty="0"/>
          </a:p>
        </p:txBody>
      </p:sp>
      <p:sp>
        <p:nvSpPr>
          <p:cNvPr id="13" name="Text 11"/>
          <p:cNvSpPr/>
          <p:nvPr/>
        </p:nvSpPr>
        <p:spPr>
          <a:xfrm>
            <a:off x="3520440" y="1874520"/>
            <a:ext cx="2468880" cy="411480"/>
          </a:xfrm>
          <a:prstGeom prst="rect">
            <a:avLst/>
          </a:prstGeom>
          <a:noFill/>
          <a:ln/>
        </p:spPr>
        <p:txBody>
          <a:bodyPr wrap="square" lIns="0" tIns="0" rIns="0" bIns="0" rtlCol="0" anchor="t"/>
          <a:lstStyle/>
          <a:p>
            <a:pPr algn="ctr" indent="0" marL="0">
              <a:buNone/>
            </a:pPr>
            <a:r>
              <a:rPr lang="en-US" sz="1000" dirty="0">
                <a:solidFill>
                  <a:srgbClr val="5C4033"/>
                </a:solidFill>
                <a:latin typeface="Calibri" pitchFamily="34" charset="0"/>
                <a:ea typeface="Calibri" pitchFamily="34" charset="-122"/>
                <a:cs typeface="Calibri" pitchFamily="34" charset="-120"/>
              </a:rPr>
              <a:t>Inversion minima para</a:t>
            </a:r>
            <a:endParaRPr lang="en-US" sz="1000" dirty="0"/>
          </a:p>
          <a:p>
            <a:pPr algn="ctr" indent="0" marL="0">
              <a:buNone/>
            </a:pPr>
            <a:r>
              <a:rPr lang="en-US" sz="1000" dirty="0">
                <a:solidFill>
                  <a:srgbClr val="5C4033"/>
                </a:solidFill>
                <a:latin typeface="Calibri" pitchFamily="34" charset="0"/>
                <a:ea typeface="Calibri" pitchFamily="34" charset="-122"/>
                <a:cs typeface="Calibri" pitchFamily="34" charset="-120"/>
              </a:rPr>
              <a:t>un nuevo entrante</a:t>
            </a:r>
            <a:endParaRPr lang="en-US" sz="1000" dirty="0"/>
          </a:p>
        </p:txBody>
      </p:sp>
      <p:sp>
        <p:nvSpPr>
          <p:cNvPr id="14" name="Shape 12"/>
          <p:cNvSpPr/>
          <p:nvPr/>
        </p:nvSpPr>
        <p:spPr>
          <a:xfrm>
            <a:off x="6309360" y="1280160"/>
            <a:ext cx="2651760" cy="109728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15" name="Shape 13"/>
          <p:cNvSpPr/>
          <p:nvPr/>
        </p:nvSpPr>
        <p:spPr>
          <a:xfrm>
            <a:off x="6309360" y="1280160"/>
            <a:ext cx="54864" cy="1097280"/>
          </a:xfrm>
          <a:prstGeom prst="rect">
            <a:avLst/>
          </a:prstGeom>
          <a:solidFill>
            <a:srgbClr val="B87333"/>
          </a:solidFill>
          <a:ln/>
        </p:spPr>
        <p:txBody>
          <a:bodyPr/>
          <a:p/>
        </p:txBody>
      </p:sp>
      <p:sp>
        <p:nvSpPr>
          <p:cNvPr id="16" name="Text 14"/>
          <p:cNvSpPr/>
          <p:nvPr/>
        </p:nvSpPr>
        <p:spPr>
          <a:xfrm>
            <a:off x="6309360" y="1325880"/>
            <a:ext cx="2651760" cy="548640"/>
          </a:xfrm>
          <a:prstGeom prst="rect">
            <a:avLst/>
          </a:prstGeom>
          <a:noFill/>
          <a:ln/>
        </p:spPr>
        <p:txBody>
          <a:bodyPr wrap="square" lIns="0" tIns="0" rIns="0" bIns="0" rtlCol="0" anchor="ctr"/>
          <a:lstStyle/>
          <a:p>
            <a:pPr algn="ctr" indent="0" marL="0">
              <a:buNone/>
            </a:pPr>
            <a:r>
              <a:rPr lang="en-US" sz="2800" b="1" dirty="0">
                <a:solidFill>
                  <a:srgbClr val="8B5A2B"/>
                </a:solidFill>
                <a:latin typeface="Georgia" pitchFamily="34" charset="0"/>
                <a:ea typeface="Georgia" pitchFamily="34" charset="-122"/>
                <a:cs typeface="Georgia" pitchFamily="34" charset="-120"/>
              </a:rPr>
              <a:t>18-36</a:t>
            </a:r>
            <a:endParaRPr lang="en-US" sz="2800" dirty="0"/>
          </a:p>
        </p:txBody>
      </p:sp>
      <p:sp>
        <p:nvSpPr>
          <p:cNvPr id="17" name="Text 15"/>
          <p:cNvSpPr/>
          <p:nvPr/>
        </p:nvSpPr>
        <p:spPr>
          <a:xfrm>
            <a:off x="6400800" y="1874520"/>
            <a:ext cx="2468880" cy="411480"/>
          </a:xfrm>
          <a:prstGeom prst="rect">
            <a:avLst/>
          </a:prstGeom>
          <a:noFill/>
          <a:ln/>
        </p:spPr>
        <p:txBody>
          <a:bodyPr wrap="square" lIns="0" tIns="0" rIns="0" bIns="0" rtlCol="0" anchor="t"/>
          <a:lstStyle/>
          <a:p>
            <a:pPr algn="ctr" indent="0" marL="0">
              <a:buNone/>
            </a:pPr>
            <a:r>
              <a:rPr lang="en-US" sz="1000" dirty="0">
                <a:solidFill>
                  <a:srgbClr val="5C4033"/>
                </a:solidFill>
                <a:latin typeface="Calibri" pitchFamily="34" charset="0"/>
                <a:ea typeface="Calibri" pitchFamily="34" charset="-122"/>
                <a:cs typeface="Calibri" pitchFamily="34" charset="-120"/>
              </a:rPr>
              <a:t>Meses de construccion</a:t>
            </a:r>
            <a:endParaRPr lang="en-US" sz="1000" dirty="0"/>
          </a:p>
          <a:p>
            <a:pPr algn="ctr" indent="0" marL="0">
              <a:buNone/>
            </a:pPr>
            <a:r>
              <a:rPr lang="en-US" sz="1000" dirty="0">
                <a:solidFill>
                  <a:srgbClr val="5C4033"/>
                </a:solidFill>
                <a:latin typeface="Calibri" pitchFamily="34" charset="0"/>
                <a:ea typeface="Calibri" pitchFamily="34" charset="-122"/>
                <a:cs typeface="Calibri" pitchFamily="34" charset="-120"/>
              </a:rPr>
              <a:t>para competir</a:t>
            </a:r>
            <a:endParaRPr lang="en-US" sz="1000" dirty="0"/>
          </a:p>
        </p:txBody>
      </p:sp>
      <p:sp>
        <p:nvSpPr>
          <p:cNvPr id="18" name="Shape 16"/>
          <p:cNvSpPr/>
          <p:nvPr/>
        </p:nvSpPr>
        <p:spPr>
          <a:xfrm>
            <a:off x="548640" y="2743200"/>
            <a:ext cx="8046720" cy="411480"/>
          </a:xfrm>
          <a:prstGeom prst="rect">
            <a:avLst/>
          </a:prstGeom>
          <a:solidFill>
            <a:srgbClr val="FFFFFF"/>
          </a:solidFill>
          <a:ln w="6350">
            <a:solidFill>
              <a:srgbClr val="D4C5B2"/>
            </a:solidFill>
            <a:prstDash val="solid"/>
          </a:ln>
        </p:spPr>
        <p:txBody>
          <a:bodyPr/>
          <a:p/>
        </p:txBody>
      </p:sp>
      <p:pic>
        <p:nvPicPr>
          <p:cNvPr id="19" name="Image 0" descr="preencoded.png"/>
          <p:cNvPicPr>
            <a:picLocks noChangeAspect="1"/>
          </p:cNvPicPr>
          <p:nvPr/>
        </p:nvPicPr>
        <p:blipFill>
          <a:blip r:embed="rId1"/>
          <a:stretch>
            <a:fillRect/>
          </a:stretch>
        </p:blipFill>
        <p:spPr>
          <a:xfrm>
            <a:off x="685800" y="2807208"/>
            <a:ext cx="228600" cy="228600"/>
          </a:xfrm>
          <a:prstGeom prst="rect">
            <a:avLst/>
          </a:prstGeom>
        </p:spPr>
      </p:pic>
      <p:sp>
        <p:nvSpPr>
          <p:cNvPr id="20" name="Text 17"/>
          <p:cNvSpPr/>
          <p:nvPr/>
        </p:nvSpPr>
        <p:spPr>
          <a:xfrm>
            <a:off x="1051560" y="2743200"/>
            <a:ext cx="7406640" cy="411480"/>
          </a:xfrm>
          <a:prstGeom prst="rect">
            <a:avLst/>
          </a:prstGeom>
          <a:noFill/>
          <a:ln/>
        </p:spPr>
        <p:txBody>
          <a:bodyPr wrap="square" lIns="0" tIns="0" rIns="0" bIns="0" rtlCol="0" anchor="ctr"/>
          <a:lstStyle/>
          <a:p>
            <a:pPr indent="0" marL="0">
              <a:buNone/>
            </a:pPr>
            <a:r>
              <a:rPr lang="en-US" sz="950" dirty="0">
                <a:solidFill>
                  <a:srgbClr val="5C4033"/>
                </a:solidFill>
                <a:latin typeface="Calibri" pitchFamily="34" charset="0"/>
                <a:ea typeface="Calibri" pitchFamily="34" charset="-122"/>
                <a:cs typeface="Calibri" pitchFamily="34" charset="-120"/>
              </a:rPr>
              <a:t>Barrera de entrada altisima — construir una planta de galvanizado toma anos y millones de dolares</a:t>
            </a:r>
            <a:endParaRPr lang="en-US" sz="950" dirty="0"/>
          </a:p>
        </p:txBody>
      </p:sp>
      <p:sp>
        <p:nvSpPr>
          <p:cNvPr id="21" name="Shape 18"/>
          <p:cNvSpPr/>
          <p:nvPr/>
        </p:nvSpPr>
        <p:spPr>
          <a:xfrm>
            <a:off x="548640" y="3246120"/>
            <a:ext cx="8046720" cy="411480"/>
          </a:xfrm>
          <a:prstGeom prst="rect">
            <a:avLst/>
          </a:prstGeom>
          <a:solidFill>
            <a:srgbClr val="EDE8E0"/>
          </a:solidFill>
          <a:ln w="6350">
            <a:solidFill>
              <a:srgbClr val="D4C5B2"/>
            </a:solidFill>
            <a:prstDash val="solid"/>
          </a:ln>
        </p:spPr>
        <p:txBody>
          <a:bodyPr/>
          <a:p/>
        </p:txBody>
      </p:sp>
      <p:pic>
        <p:nvPicPr>
          <p:cNvPr id="22" name="Image 1" descr="preencoded.png"/>
          <p:cNvPicPr>
            <a:picLocks noChangeAspect="1"/>
          </p:cNvPicPr>
          <p:nvPr/>
        </p:nvPicPr>
        <p:blipFill>
          <a:blip r:embed="rId2"/>
          <a:stretch>
            <a:fillRect/>
          </a:stretch>
        </p:blipFill>
        <p:spPr>
          <a:xfrm>
            <a:off x="685800" y="3310128"/>
            <a:ext cx="228600" cy="228600"/>
          </a:xfrm>
          <a:prstGeom prst="rect">
            <a:avLst/>
          </a:prstGeom>
        </p:spPr>
      </p:pic>
      <p:sp>
        <p:nvSpPr>
          <p:cNvPr id="23" name="Text 19"/>
          <p:cNvSpPr/>
          <p:nvPr/>
        </p:nvSpPr>
        <p:spPr>
          <a:xfrm>
            <a:off x="1051560" y="3246120"/>
            <a:ext cx="7406640" cy="411480"/>
          </a:xfrm>
          <a:prstGeom prst="rect">
            <a:avLst/>
          </a:prstGeom>
          <a:noFill/>
          <a:ln/>
        </p:spPr>
        <p:txBody>
          <a:bodyPr wrap="square" lIns="0" tIns="0" rIns="0" bIns="0" rtlCol="0" anchor="ctr"/>
          <a:lstStyle/>
          <a:p>
            <a:pPr indent="0" marL="0">
              <a:buNone/>
            </a:pPr>
            <a:r>
              <a:rPr lang="en-US" sz="950" dirty="0">
                <a:solidFill>
                  <a:srgbClr val="5C4033"/>
                </a:solidFill>
                <a:latin typeface="Calibri" pitchFamily="34" charset="0"/>
                <a:ea typeface="Calibri" pitchFamily="34" charset="-122"/>
                <a:cs typeface="Calibri" pitchFamily="34" charset="-120"/>
              </a:rPr>
              <a:t>Equipos Pilling (Alemania) no se consiguen en el mercado local — imposibles de replicar rapidamente</a:t>
            </a:r>
            <a:endParaRPr lang="en-US" sz="950" dirty="0"/>
          </a:p>
        </p:txBody>
      </p:sp>
      <p:sp>
        <p:nvSpPr>
          <p:cNvPr id="24" name="Shape 20"/>
          <p:cNvSpPr/>
          <p:nvPr/>
        </p:nvSpPr>
        <p:spPr>
          <a:xfrm>
            <a:off x="548640" y="3749040"/>
            <a:ext cx="8046720" cy="411480"/>
          </a:xfrm>
          <a:prstGeom prst="rect">
            <a:avLst/>
          </a:prstGeom>
          <a:solidFill>
            <a:srgbClr val="FFFFFF"/>
          </a:solidFill>
          <a:ln w="6350">
            <a:solidFill>
              <a:srgbClr val="D4C5B2"/>
            </a:solidFill>
            <a:prstDash val="solid"/>
          </a:ln>
        </p:spPr>
        <p:txBody>
          <a:bodyPr/>
          <a:p/>
        </p:txBody>
      </p:sp>
      <p:pic>
        <p:nvPicPr>
          <p:cNvPr id="25" name="Image 2" descr="preencoded.png"/>
          <p:cNvPicPr>
            <a:picLocks noChangeAspect="1"/>
          </p:cNvPicPr>
          <p:nvPr/>
        </p:nvPicPr>
        <p:blipFill>
          <a:blip r:embed="rId3"/>
          <a:stretch>
            <a:fillRect/>
          </a:stretch>
        </p:blipFill>
        <p:spPr>
          <a:xfrm>
            <a:off x="685800" y="3813048"/>
            <a:ext cx="228600" cy="228600"/>
          </a:xfrm>
          <a:prstGeom prst="rect">
            <a:avLst/>
          </a:prstGeom>
        </p:spPr>
      </p:pic>
      <p:sp>
        <p:nvSpPr>
          <p:cNvPr id="26" name="Text 21"/>
          <p:cNvSpPr/>
          <p:nvPr/>
        </p:nvSpPr>
        <p:spPr>
          <a:xfrm>
            <a:off x="1051560" y="3749040"/>
            <a:ext cx="7406640" cy="411480"/>
          </a:xfrm>
          <a:prstGeom prst="rect">
            <a:avLst/>
          </a:prstGeom>
          <a:noFill/>
          <a:ln/>
        </p:spPr>
        <p:txBody>
          <a:bodyPr wrap="square" lIns="0" tIns="0" rIns="0" bIns="0" rtlCol="0" anchor="ctr"/>
          <a:lstStyle/>
          <a:p>
            <a:pPr indent="0" marL="0">
              <a:buNone/>
            </a:pPr>
            <a:r>
              <a:rPr lang="en-US" sz="950" dirty="0">
                <a:solidFill>
                  <a:srgbClr val="5C4033"/>
                </a:solidFill>
                <a:latin typeface="Calibri" pitchFamily="34" charset="0"/>
                <a:ea typeface="Calibri" pitchFamily="34" charset="-122"/>
                <a:cs typeface="Calibri" pitchFamily="34" charset="-120"/>
              </a:rPr>
              <a:t>PYGLARA tiene titulo limpio, permisos vigentes, y esta lista para operar en 3 meses</a:t>
            </a:r>
            <a:endParaRPr lang="en-US" sz="950" dirty="0"/>
          </a:p>
        </p:txBody>
      </p:sp>
      <p:sp>
        <p:nvSpPr>
          <p:cNvPr id="27" name="Shape 22"/>
          <p:cNvSpPr/>
          <p:nvPr/>
        </p:nvSpPr>
        <p:spPr>
          <a:xfrm>
            <a:off x="548640" y="4251960"/>
            <a:ext cx="8046720" cy="411480"/>
          </a:xfrm>
          <a:prstGeom prst="rect">
            <a:avLst/>
          </a:prstGeom>
          <a:solidFill>
            <a:srgbClr val="EDE8E0"/>
          </a:solidFill>
          <a:ln w="6350">
            <a:solidFill>
              <a:srgbClr val="D4C5B2"/>
            </a:solidFill>
            <a:prstDash val="solid"/>
          </a:ln>
        </p:spPr>
        <p:txBody>
          <a:bodyPr/>
          <a:p/>
        </p:txBody>
      </p:sp>
      <p:pic>
        <p:nvPicPr>
          <p:cNvPr id="28" name="Image 3" descr="preencoded.png"/>
          <p:cNvPicPr>
            <a:picLocks noChangeAspect="1"/>
          </p:cNvPicPr>
          <p:nvPr/>
        </p:nvPicPr>
        <p:blipFill>
          <a:blip r:embed="rId4"/>
          <a:stretch>
            <a:fillRect/>
          </a:stretch>
        </p:blipFill>
        <p:spPr>
          <a:xfrm>
            <a:off x="685800" y="4315968"/>
            <a:ext cx="228600" cy="228600"/>
          </a:xfrm>
          <a:prstGeom prst="rect">
            <a:avLst/>
          </a:prstGeom>
        </p:spPr>
      </p:pic>
      <p:sp>
        <p:nvSpPr>
          <p:cNvPr id="29" name="Text 23"/>
          <p:cNvSpPr/>
          <p:nvPr/>
        </p:nvSpPr>
        <p:spPr>
          <a:xfrm>
            <a:off x="1051560" y="4251960"/>
            <a:ext cx="7406640" cy="411480"/>
          </a:xfrm>
          <a:prstGeom prst="rect">
            <a:avLst/>
          </a:prstGeom>
          <a:noFill/>
          <a:ln/>
        </p:spPr>
        <p:txBody>
          <a:bodyPr wrap="square" lIns="0" tIns="0" rIns="0" bIns="0" rtlCol="0" anchor="ctr"/>
          <a:lstStyle/>
          <a:p>
            <a:pPr indent="0" marL="0" algn="l">
              <a:buNone/>
            </a:pPr>
            <a:r>
              <a:rPr sz="800" b="0" i="0">
                <a:solidFill>
                  <a:srgbClr val="FFFFFF"/>
                </a:solidFill>
              </a:rPr>
              <a:t>Cobertura: Lara, Yaracuy, Portuguesa, Falcon, Barinas, Zulia (petroleo) — a 300 TM/mes: est. 6-12% de la demanda activa de galvanizado</a:t>
            </a:r>
            <a:endParaRPr lang="en-US" sz="950" dirty="0"/>
          </a:p>
        </p:txBody>
      </p:sp>
      <p:sp>
        <p:nvSpPr>
          <p:cNvPr id="30" name="Text 24"/>
          <p:cNvSpPr/>
          <p:nvPr/>
        </p:nvSpPr>
        <p:spPr>
          <a:xfrm>
            <a:off x="548640" y="4846320"/>
            <a:ext cx="8046720" cy="228600"/>
          </a:xfrm>
          <a:prstGeom prst="rect">
            <a:avLst/>
          </a:prstGeom>
          <a:noFill/>
          <a:ln/>
        </p:spPr>
        <p:txBody>
          <a:bodyPr wrap="square" lIns="0" tIns="0" rIns="0" bIns="0" rtlCol="0" anchor="ctr"/>
          <a:lstStyle/>
          <a:p>
            <a:pPr algn="ctr" indent="0" marL="0">
              <a:buNone/>
            </a:pPr>
            <a:r>
              <a:rPr lang="en-US" sz="1200" b="1" i="1" dirty="0">
                <a:solidFill>
                  <a:srgbClr val="8B5A2B"/>
                </a:solidFill>
                <a:latin typeface="Calibri" pitchFamily="34" charset="0"/>
                <a:ea typeface="Calibri" pitchFamily="34" charset="-122"/>
                <a:cs typeface="Calibri" pitchFamily="34" charset="-120"/>
              </a:rPr>
              <a:t>“Barrera de entrada extremadamente alta”</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7">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20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3E2C1C"/>
                </a:solidFill>
                <a:latin typeface="Georgia" pitchFamily="34" charset="0"/>
                <a:ea typeface="Georgia" pitchFamily="34" charset="-122"/>
                <a:cs typeface="Georgia" pitchFamily="34" charset="-120"/>
              </a:rPr>
              <a:t>ECONOMIA DEL GALVANIZADO</a:t>
            </a:r>
            <a:endParaRPr lang="en-US" sz="2800" dirty="0"/>
          </a:p>
        </p:txBody>
      </p:sp>
      <p:sp>
        <p:nvSpPr>
          <p:cNvPr id="5" name="Text 3"/>
          <p:cNvSpPr/>
          <p:nvPr/>
        </p:nvSpPr>
        <p:spPr>
          <a:xfrm>
            <a:off x="548640" y="731520"/>
            <a:ext cx="8046720" cy="274320"/>
          </a:xfrm>
          <a:prstGeom prst="rect">
            <a:avLst/>
          </a:prstGeom>
          <a:noFill/>
          <a:ln/>
        </p:spPr>
        <p:txBody>
          <a:bodyPr wrap="square" lIns="0" tIns="0" rIns="0" bIns="0" rtlCol="0" anchor="ctr"/>
          <a:lstStyle/>
          <a:p>
            <a:pPr indent="0" marL="0">
              <a:buNone/>
            </a:pPr>
            <a:r>
              <a:rPr lang="en-US" sz="1200" i="1" dirty="0">
                <a:solidFill>
                  <a:srgbClr val="8B5A2B"/>
                </a:solidFill>
                <a:latin typeface="Calibri" pitchFamily="34" charset="0"/>
                <a:ea typeface="Calibri" pitchFamily="34" charset="-122"/>
                <a:cs typeface="Calibri" pitchFamily="34" charset="-120"/>
              </a:rPr>
              <a:t>Estructura de costos variables y fijos por tonelada galvanizada</a:t>
            </a:r>
            <a:endParaRPr lang="en-US" sz="1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8046720" cy="914400"/>
        </p:xfrm>
        <a:graphic>
          <a:graphicData uri="http://schemas.openxmlformats.org/drawingml/2006/table">
            <a:tbl>
              <a:tblPr/>
              <a:tblGrid>
                <a:gridCol w="3200400"/>
                <a:gridCol w="1645920"/>
                <a:gridCol w="1554480"/>
                <a:gridCol w="1645920"/>
              </a:tblGrid>
              <a:tr h="347472">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Costos Variables (por tonelada)</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$/TM</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$/Kg</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 Variable</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r>
              <a:tr h="365760">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Zinc SHG 99.99% (10% absorcion x $4,220/TM)</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4033"/>
                          </a:solidFill>
                          <a:latin typeface="Calibri" pitchFamily="34" charset="0"/>
                          <a:ea typeface="Calibri" pitchFamily="34" charset="-122"/>
                          <a:cs typeface="Calibri" pitchFamily="34" charset="-120"/>
                        </a:rPr>
                        <a:t>$422</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4033"/>
                          </a:solidFill>
                          <a:latin typeface="Calibri" pitchFamily="34" charset="0"/>
                          <a:ea typeface="Calibri" pitchFamily="34" charset="-122"/>
                          <a:cs typeface="Calibri" pitchFamily="34" charset="-120"/>
                        </a:rPr>
                        <a:t>$0.422</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4033"/>
                          </a:solidFill>
                          <a:latin typeface="Calibri" pitchFamily="34" charset="0"/>
                          <a:ea typeface="Calibri" pitchFamily="34" charset="-122"/>
                          <a:cs typeface="Calibri" pitchFamily="34" charset="-120"/>
                        </a:rPr>
                        <a:t>78%</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365760">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Acido clorhidrico HCl (4.2% x $1,174/TM)</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dirty="0">
                          <a:solidFill>
                            <a:srgbClr val="5C4033"/>
                          </a:solidFill>
                          <a:latin typeface="Calibri" pitchFamily="34" charset="0"/>
                          <a:ea typeface="Calibri" pitchFamily="34" charset="-122"/>
                          <a:cs typeface="Calibri" pitchFamily="34" charset="-120"/>
                        </a:rPr>
                        <a:t>$49</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dirty="0">
                          <a:solidFill>
                            <a:srgbClr val="5C4033"/>
                          </a:solidFill>
                          <a:latin typeface="Calibri" pitchFamily="34" charset="0"/>
                          <a:ea typeface="Calibri" pitchFamily="34" charset="-122"/>
                          <a:cs typeface="Calibri" pitchFamily="34" charset="-120"/>
                        </a:rPr>
                        <a:t>$0.049</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dirty="0">
                          <a:solidFill>
                            <a:srgbClr val="5C4033"/>
                          </a:solidFill>
                          <a:latin typeface="Calibri" pitchFamily="34" charset="0"/>
                          <a:ea typeface="Calibri" pitchFamily="34" charset="-122"/>
                          <a:cs typeface="Calibri" pitchFamily="34" charset="-120"/>
                        </a:rPr>
                        <a:t>9%</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r h="365760">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Cloruro de amonio NH4Cl (3% x $2,300/TM)</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4033"/>
                          </a:solidFill>
                          <a:latin typeface="Calibri" pitchFamily="34" charset="0"/>
                          <a:ea typeface="Calibri" pitchFamily="34" charset="-122"/>
                          <a:cs typeface="Calibri" pitchFamily="34" charset="-120"/>
                        </a:rPr>
                        <a:t>$69</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4033"/>
                          </a:solidFill>
                          <a:latin typeface="Calibri" pitchFamily="34" charset="0"/>
                          <a:ea typeface="Calibri" pitchFamily="34" charset="-122"/>
                          <a:cs typeface="Calibri" pitchFamily="34" charset="-120"/>
                        </a:rPr>
                        <a:t>$0.069</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4033"/>
                          </a:solidFill>
                          <a:latin typeface="Calibri" pitchFamily="34" charset="0"/>
                          <a:ea typeface="Calibri" pitchFamily="34" charset="-122"/>
                          <a:cs typeface="Calibri" pitchFamily="34" charset="-120"/>
                        </a:rPr>
                        <a:t>13%</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36576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TOTAL VARIABLE</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5C4033"/>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$540</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5C4033"/>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$0.54</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5C4033"/>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5C4033"/>
                    </a:solidFill>
                  </a:tcPr>
                </a:tc>
              </a:tr>
              <a:tr h="384048">
                <a:tc>
                  <a:txBody>
                    <a:bodyPr/>
                    <a:lstStyle/>
                    <a:p>
                      <a:pPr algn="l" indent="0" marL="0">
                        <a:buNone/>
                      </a:pPr>
                      <a:r>
                        <a:rPr lang="en-US" sz="1100" b="1" dirty="0">
                          <a:solidFill>
                            <a:srgbClr val="8B5A2B"/>
                          </a:solidFill>
                          <a:latin typeface="Calibri" pitchFamily="34" charset="0"/>
                          <a:ea typeface="Calibri" pitchFamily="34" charset="-122"/>
                          <a:cs typeface="Calibri" pitchFamily="34" charset="-120"/>
                        </a:rPr>
                        <a:t>PRECIO DE VENTA (rango mercado)</a:t>
                      </a:r>
                      <a:endParaRPr lang="en-US" sz="11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100" b="1" dirty="0">
                          <a:solidFill>
                            <a:srgbClr val="8B5A2B"/>
                          </a:solidFill>
                          <a:latin typeface="Calibri" pitchFamily="34" charset="0"/>
                          <a:ea typeface="Calibri" pitchFamily="34" charset="-122"/>
                          <a:cs typeface="Calibri" pitchFamily="34" charset="-120"/>
                        </a:rPr>
                        <a:t>$1,200-$1,500</a:t>
                      </a:r>
                      <a:endParaRPr lang="en-US" sz="11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100" b="1" dirty="0">
                          <a:solidFill>
                            <a:srgbClr val="8B5A2B"/>
                          </a:solidFill>
                          <a:latin typeface="Calibri" pitchFamily="34" charset="0"/>
                          <a:ea typeface="Calibri" pitchFamily="34" charset="-122"/>
                          <a:cs typeface="Calibri" pitchFamily="34" charset="-120"/>
                        </a:rPr>
                        <a:t>$1.20-$1.50</a:t>
                      </a:r>
                      <a:endParaRPr lang="en-US" sz="11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indent="0" marL="0">
                        <a:buNone/>
                      </a:pPr>
                      <a:endParaRPr lang="en-US" sz="1200" dirty="0"/>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r h="402336">
                <a:tc>
                  <a:txBody>
                    <a:bodyPr/>
                    <a:lstStyle/>
                    <a:p>
                      <a:pPr algn="l" indent="0" marL="0">
                        <a:buNone/>
                      </a:pPr>
                      <a:r>
                        <a:rPr lang="en-US" sz="1100" b="1" dirty="0">
                          <a:solidFill>
                            <a:srgbClr val="2D7D46"/>
                          </a:solidFill>
                          <a:latin typeface="Calibri" pitchFamily="34" charset="0"/>
                          <a:ea typeface="Calibri" pitchFamily="34" charset="-122"/>
                          <a:cs typeface="Calibri" pitchFamily="34" charset="-120"/>
                        </a:rPr>
                        <a:t>MARGEN DE CONTRIBUCION (rango)</a:t>
                      </a:r>
                      <a:endParaRPr lang="en-US" sz="11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D7D46"/>
                          </a:solidFill>
                          <a:latin typeface="Calibri" pitchFamily="34" charset="0"/>
                          <a:ea typeface="Calibri" pitchFamily="34" charset="-122"/>
                          <a:cs typeface="Calibri" pitchFamily="34" charset="-120"/>
                        </a:rPr>
                        <a:t>$660-$960</a:t>
                      </a:r>
                      <a:endParaRPr lang="en-US" sz="11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D7D46"/>
                          </a:solidFill>
                          <a:latin typeface="Georgia" pitchFamily="34" charset="0"/>
                          <a:ea typeface="Georgia" pitchFamily="34" charset="-122"/>
                          <a:cs typeface="Georgia" pitchFamily="34" charset="-120"/>
                        </a:rPr>
                        <a:t>$0.66-$0.96</a:t>
                      </a:r>
                      <a:endParaRPr lang="en-US" sz="1100" dirty="0">
                        <a:latin typeface="Georgia" charset="0"/>
                        <a:ea typeface="Georgia" charset="0"/>
                        <a:cs typeface="Georgia"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D7D46"/>
                          </a:solidFill>
                          <a:latin typeface="Georgia" pitchFamily="34" charset="0"/>
                          <a:ea typeface="Georgia" pitchFamily="34" charset="-122"/>
                          <a:cs typeface="Georgia" pitchFamily="34" charset="-120"/>
                        </a:rPr>
                        <a:t>55%-64%</a:t>
                      </a:r>
                      <a:endParaRPr lang="en-US" sz="1100" dirty="0">
                        <a:latin typeface="Georgia" charset="0"/>
                        <a:ea typeface="Georgia" charset="0"/>
                        <a:cs typeface="Georgia"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3657600"/>
            <a:ext cx="3840480" cy="109728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8" name="Text 5"/>
          <p:cNvSpPr/>
          <p:nvPr/>
        </p:nvSpPr>
        <p:spPr>
          <a:xfrm>
            <a:off x="731520" y="3730752"/>
            <a:ext cx="3474720" cy="256032"/>
          </a:xfrm>
          <a:prstGeom prst="rect">
            <a:avLst/>
          </a:prstGeom>
          <a:noFill/>
          <a:ln/>
        </p:spPr>
        <p:txBody>
          <a:bodyPr wrap="square" lIns="0" tIns="0" rIns="0" bIns="0" rtlCol="0" anchor="ctr"/>
          <a:lstStyle/>
          <a:p>
            <a:pPr indent="0" marL="0">
              <a:buNone/>
            </a:pPr>
            <a:r>
              <a:rPr lang="en-US" sz="1000" b="1" dirty="0">
                <a:solidFill>
                  <a:srgbClr val="B87333"/>
                </a:solidFill>
                <a:latin typeface="Georgia" pitchFamily="34" charset="0"/>
                <a:ea typeface="Georgia" pitchFamily="34" charset="-122"/>
                <a:cs typeface="Georgia" pitchFamily="34" charset="-120"/>
              </a:rPr>
              <a:t>COSTOS FIJOS MENSUALES</a:t>
            </a:r>
            <a:endParaRPr lang="en-US" sz="1000" dirty="0"/>
          </a:p>
        </p:txBody>
      </p:sp>
      <p:sp>
        <p:nvSpPr>
          <p:cNvPr id="9" name="Text 6"/>
          <p:cNvSpPr/>
          <p:nvPr/>
        </p:nvSpPr>
        <p:spPr>
          <a:xfrm>
            <a:off x="731520" y="3986784"/>
            <a:ext cx="3474720" cy="365760"/>
          </a:xfrm>
          <a:prstGeom prst="rect">
            <a:avLst/>
          </a:prstGeom>
          <a:noFill/>
          <a:ln/>
        </p:spPr>
        <p:txBody>
          <a:bodyPr wrap="square" lIns="0" tIns="0" rIns="0" bIns="0" rtlCol="0" anchor="ctr"/>
          <a:lstStyle/>
          <a:p>
            <a:pPr indent="0" marL="0">
              <a:lnSpc>
                <a:spcPct val="115000"/>
              </a:lnSpc>
              <a:buNone/>
            </a:pPr>
            <a:r>
              <a:rPr lang="en-US" sz="900" dirty="0">
                <a:solidFill>
                  <a:srgbClr val="5C4033"/>
                </a:solidFill>
                <a:latin typeface="Calibri" pitchFamily="34" charset="0"/>
                <a:ea typeface="Calibri" pitchFamily="34" charset="-122"/>
                <a:cs typeface="Calibri" pitchFamily="34" charset="-120"/>
              </a:rPr>
              <a:t>Gas PDVSA: $1,800  |  Seguridad: $1,200</a:t>
            </a:r>
            <a:endParaRPr lang="en-US" sz="900" dirty="0"/>
          </a:p>
          <a:p>
            <a:pPr indent="0" marL="0">
              <a:lnSpc>
                <a:spcPct val="115000"/>
              </a:lnSpc>
              <a:buNone/>
            </a:pPr>
            <a:r>
              <a:rPr lang="en-US" sz="900" dirty="0">
                <a:solidFill>
                  <a:srgbClr val="5C4033"/>
                </a:solidFill>
                <a:latin typeface="Calibri" pitchFamily="34" charset="0"/>
                <a:ea typeface="Calibri" pitchFamily="34" charset="-122"/>
                <a:cs typeface="Calibri" pitchFamily="34" charset="-120"/>
              </a:rPr>
              <a:t>Salarios: $2,300  |  Electricidad: $200  |  Otros: $100</a:t>
            </a:r>
            <a:endParaRPr lang="en-US" sz="900" dirty="0"/>
          </a:p>
        </p:txBody>
      </p:sp>
      <p:sp>
        <p:nvSpPr>
          <p:cNvPr id="10" name="Text 7"/>
          <p:cNvSpPr/>
          <p:nvPr/>
        </p:nvSpPr>
        <p:spPr>
          <a:xfrm>
            <a:off x="731520" y="4352544"/>
            <a:ext cx="3474720" cy="228600"/>
          </a:xfrm>
          <a:prstGeom prst="rect">
            <a:avLst/>
          </a:prstGeom>
          <a:noFill/>
          <a:ln/>
        </p:spPr>
        <p:txBody>
          <a:bodyPr wrap="square" lIns="0" tIns="0" rIns="0" bIns="0" rtlCol="0" anchor="ctr"/>
          <a:lstStyle/>
          <a:p>
            <a:pPr indent="0" marL="0">
              <a:buNone/>
            </a:pPr>
            <a:r>
              <a:rPr lang="en-US" sz="900" b="1" dirty="0">
                <a:solidFill>
                  <a:srgbClr val="5C4033"/>
                </a:solidFill>
                <a:latin typeface="Calibri" pitchFamily="34" charset="0"/>
                <a:ea typeface="Calibri" pitchFamily="34" charset="-122"/>
                <a:cs typeface="Calibri" pitchFamily="34" charset="-120"/>
              </a:rPr>
              <a:t>Total: $5,600/mes  (+$7,500 mano de obra a plena capacidad)</a:t>
            </a:r>
            <a:endParaRPr lang="en-US" sz="900" dirty="0"/>
          </a:p>
        </p:txBody>
      </p:sp>
      <p:sp>
        <p:nvSpPr>
          <p:cNvPr id="11" name="Text 8"/>
          <p:cNvSpPr/>
          <p:nvPr/>
        </p:nvSpPr>
        <p:spPr>
          <a:xfrm>
            <a:off x="731520" y="4535424"/>
            <a:ext cx="3474720" cy="182880"/>
          </a:xfrm>
          <a:prstGeom prst="rect">
            <a:avLst/>
          </a:prstGeom>
          <a:noFill/>
          <a:ln/>
        </p:spPr>
        <p:txBody>
          <a:bodyPr wrap="square" lIns="0" tIns="0" rIns="0" bIns="0" rtlCol="0" anchor="ctr"/>
          <a:lstStyle/>
          <a:p>
            <a:pPr indent="0" marL="0">
              <a:buNone/>
            </a:pPr>
            <a:r>
              <a:rPr lang="en-US" sz="900" b="1" i="1" dirty="0">
                <a:solidFill>
                  <a:srgbClr val="B87333"/>
                </a:solidFill>
                <a:latin typeface="Calibri" pitchFamily="34" charset="0"/>
                <a:ea typeface="Calibri" pitchFamily="34" charset="-122"/>
                <a:cs typeface="Calibri" pitchFamily="34" charset="-120"/>
              </a:rPr>
              <a:t>= $13,100/mes a 300 TM → solo $44/TM adicional</a:t>
            </a:r>
            <a:endParaRPr lang="en-US" sz="900" dirty="0"/>
          </a:p>
        </p:txBody>
      </p:sp>
      <p:sp>
        <p:nvSpPr>
          <p:cNvPr id="12" name="Shape 9"/>
          <p:cNvSpPr/>
          <p:nvPr/>
        </p:nvSpPr>
        <p:spPr>
          <a:xfrm>
            <a:off x="4754880" y="3657600"/>
            <a:ext cx="3840480" cy="1097280"/>
          </a:xfrm>
          <a:prstGeom prst="rect">
            <a:avLst/>
          </a:prstGeom>
          <a:solidFill>
            <a:srgbClr val="EDE8E0"/>
          </a:solidFill>
          <a:ln w="19050">
            <a:solidFill>
              <a:srgbClr val="B87333"/>
            </a:solidFill>
            <a:prstDash val="solid"/>
          </a:ln>
          <a:effectLst>
            <a:outerShdw sx="100000" sy="100000" kx="0" ky="0" algn="bl" rotWithShape="0" blurRad="38100" dist="12700" dir="8100000">
              <a:srgbClr val="000000">
                <a:alpha val="6000"/>
              </a:srgbClr>
            </a:outerShdw>
          </a:effectLst>
        </p:spPr>
        <p:txBody>
          <a:bodyPr/>
          <a:p/>
        </p:txBody>
      </p:sp>
      <p:sp>
        <p:nvSpPr>
          <p:cNvPr id="13" name="Text 10"/>
          <p:cNvSpPr/>
          <p:nvPr/>
        </p:nvSpPr>
        <p:spPr>
          <a:xfrm>
            <a:off x="4937760" y="3730752"/>
            <a:ext cx="3474720" cy="256032"/>
          </a:xfrm>
          <a:prstGeom prst="rect">
            <a:avLst/>
          </a:prstGeom>
          <a:noFill/>
          <a:ln/>
        </p:spPr>
        <p:txBody>
          <a:bodyPr wrap="square" lIns="0" tIns="0" rIns="0" bIns="0" rtlCol="0" anchor="ctr"/>
          <a:lstStyle/>
          <a:p>
            <a:pPr indent="0" marL="0">
              <a:buNone/>
            </a:pPr>
            <a:r>
              <a:rPr lang="en-US" sz="1000" b="1" dirty="0">
                <a:solidFill>
                  <a:srgbClr val="B87333"/>
                </a:solidFill>
                <a:latin typeface="Georgia" pitchFamily="34" charset="0"/>
                <a:ea typeface="Georgia" pitchFamily="34" charset="-122"/>
                <a:cs typeface="Georgia" pitchFamily="34" charset="-120"/>
              </a:rPr>
              <a:t>GANANCIA NETA POR TONELADA (rango)</a:t>
            </a:r>
            <a:endParaRPr lang="en-US" sz="1000" dirty="0"/>
          </a:p>
        </p:txBody>
      </p:sp>
      <p:sp>
        <p:nvSpPr>
          <p:cNvPr id="14" name="Text 11"/>
          <p:cNvSpPr/>
          <p:nvPr/>
        </p:nvSpPr>
        <p:spPr>
          <a:xfrm>
            <a:off x="4937760" y="4023360"/>
            <a:ext cx="3474720" cy="201168"/>
          </a:xfrm>
          <a:prstGeom prst="rect">
            <a:avLst/>
          </a:prstGeom>
          <a:noFill/>
          <a:ln/>
        </p:spPr>
        <p:txBody>
          <a:bodyPr wrap="square" lIns="0" tIns="0" rIns="0" bIns="0" rtlCol="0" anchor="ctr"/>
          <a:lstStyle/>
          <a:p>
            <a:pPr indent="0" marL="0">
              <a:buNone/>
            </a:pPr>
            <a:r>
              <a:rPr lang="en-US" sz="900" dirty="0">
                <a:solidFill>
                  <a:srgbClr val="5C4033"/>
                </a:solidFill>
                <a:latin typeface="Calibri" pitchFamily="34" charset="0"/>
                <a:ea typeface="Calibri" pitchFamily="34" charset="-122"/>
                <a:cs typeface="Calibri" pitchFamily="34" charset="-120"/>
              </a:rPr>
              <a:t>Ingreso: $1,200-$1,500 - Variable: $540 - Fijo: ~$44-$131</a:t>
            </a:r>
            <a:endParaRPr lang="en-US" sz="900" dirty="0"/>
          </a:p>
        </p:txBody>
      </p:sp>
      <p:sp>
        <p:nvSpPr>
          <p:cNvPr id="15" name="Text 12"/>
          <p:cNvSpPr/>
          <p:nvPr/>
        </p:nvSpPr>
        <p:spPr>
          <a:xfrm>
            <a:off x="4937760" y="4224528"/>
            <a:ext cx="3474720" cy="320040"/>
          </a:xfrm>
          <a:prstGeom prst="rect">
            <a:avLst/>
          </a:prstGeom>
          <a:noFill/>
          <a:ln/>
        </p:spPr>
        <p:txBody>
          <a:bodyPr wrap="square" lIns="0" tIns="0" rIns="0" bIns="0" rtlCol="0" anchor="ctr"/>
          <a:lstStyle/>
          <a:p>
            <a:pPr indent="0" marL="0">
              <a:buNone/>
            </a:pPr>
            <a:r>
              <a:rPr lang="en-US" sz="1800" b="1" dirty="0">
                <a:solidFill>
                  <a:srgbClr val="2D7D46"/>
                </a:solidFill>
                <a:latin typeface="Georgia" pitchFamily="34" charset="0"/>
                <a:ea typeface="Georgia" pitchFamily="34" charset="-122"/>
                <a:cs typeface="Georgia" pitchFamily="34" charset="-120"/>
              </a:rPr>
              <a:t>$529 - $916 / TM neto</a:t>
            </a:r>
            <a:endParaRPr lang="en-US" sz="1800" dirty="0"/>
          </a:p>
        </p:txBody>
      </p:sp>
      <p:sp>
        <p:nvSpPr>
          <p:cNvPr id="16" name="Text 13"/>
          <p:cNvSpPr/>
          <p:nvPr/>
        </p:nvSpPr>
        <p:spPr>
          <a:xfrm>
            <a:off x="4937760" y="4526280"/>
            <a:ext cx="3474720" cy="182880"/>
          </a:xfrm>
          <a:prstGeom prst="rect">
            <a:avLst/>
          </a:prstGeom>
          <a:noFill/>
          <a:ln/>
        </p:spPr>
        <p:txBody>
          <a:bodyPr wrap="square" lIns="0" tIns="0" rIns="0" bIns="0" rtlCol="0" anchor="ctr"/>
          <a:lstStyle/>
          <a:p>
            <a:pPr indent="0" marL="0">
              <a:buNone/>
            </a:pPr>
            <a:r>
              <a:rPr lang="en-US" sz="900" i="1" dirty="0">
                <a:solidFill>
                  <a:srgbClr val="7A6555"/>
                </a:solidFill>
                <a:latin typeface="Calibri" pitchFamily="34" charset="0"/>
                <a:ea typeface="Calibri" pitchFamily="34" charset="-122"/>
                <a:cs typeface="Calibri" pitchFamily="34" charset="-120"/>
              </a:rPr>
              <a:t>Depende de volumen, precio de zinc y precio de venta</a:t>
            </a:r>
            <a:endParaRPr lang="en-US" sz="900" dirty="0"/>
          </a:p>
        </p:txBody>
      </p:sp>
      <p:sp>
        <p:nvSpPr>
          <p:cNvPr id="17" name="Text 14"/>
          <p:cNvSpPr/>
          <p:nvPr/>
        </p:nvSpPr>
        <p:spPr>
          <a:xfrm>
            <a:off x="548640" y="4846320"/>
            <a:ext cx="8046720" cy="228600"/>
          </a:xfrm>
          <a:prstGeom prst="rect">
            <a:avLst/>
          </a:prstGeom>
          <a:noFill/>
          <a:ln/>
        </p:spPr>
        <p:txBody>
          <a:bodyPr wrap="square" lIns="0" tIns="0" rIns="0" bIns="0" rtlCol="0" anchor="ctr"/>
          <a:lstStyle/>
          <a:p>
            <a:pPr algn="ctr" indent="0" marL="0">
              <a:buNone/>
            </a:pPr>
            <a:r>
              <a:rPr lang="en-US" sz="800" i="1" dirty="0">
                <a:solidFill>
                  <a:srgbClr val="8C8C8C"/>
                </a:solidFill>
                <a:latin typeface="Calibri" pitchFamily="34" charset="0"/>
                <a:ea typeface="Calibri" pitchFamily="34" charset="-122"/>
                <a:cs typeface="Calibri" pitchFamily="34" charset="-120"/>
              </a:rPr>
              <a:t>Fuentes: Ing. Miriam (verificado), LME zinc marzo 2026. Precios y costos sujetos a volatilidad del mercado.</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8">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21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3E2C1C"/>
                </a:solidFill>
                <a:latin typeface="Georgia" pitchFamily="34" charset="0"/>
                <a:ea typeface="Georgia" pitchFamily="34" charset="-122"/>
                <a:cs typeface="Georgia" pitchFamily="34" charset="-120"/>
              </a:rPr>
              <a:t>PROYECCIONES FINANCIERAS</a:t>
            </a:r>
            <a:endParaRPr lang="en-US" sz="2800" dirty="0"/>
          </a:p>
        </p:txBody>
      </p:sp>
      <p:sp>
        <p:nvSpPr>
          <p:cNvPr id="5" name="Text 3"/>
          <p:cNvSpPr/>
          <p:nvPr/>
        </p:nvSpPr>
        <p:spPr>
          <a:xfrm>
            <a:off x="548640" y="731520"/>
            <a:ext cx="8046720" cy="274320"/>
          </a:xfrm>
          <a:prstGeom prst="rect">
            <a:avLst/>
          </a:prstGeom>
          <a:noFill/>
          <a:ln/>
        </p:spPr>
        <p:txBody>
          <a:bodyPr wrap="square" lIns="0" tIns="0" rIns="0" bIns="0" rtlCol="0" anchor="ctr"/>
          <a:lstStyle/>
          <a:p>
            <a:pPr indent="0" marL="0">
              <a:buNone/>
            </a:pPr>
            <a:r>
              <a:rPr lang="en-US" sz="1100" i="1" dirty="0">
                <a:solidFill>
                  <a:srgbClr val="8B5A2B"/>
                </a:solidFill>
                <a:latin typeface="Calibri" pitchFamily="34" charset="0"/>
                <a:ea typeface="Calibri" pitchFamily="34" charset="-122"/>
                <a:cs typeface="Calibri" pitchFamily="34" charset="-120"/>
              </a:rPr>
              <a:t>Tres escenarios — produccion real depende de demanda, suministro de zinc y capacidad operativa</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143000"/>
          <a:ext cx="8046720" cy="914400"/>
        </p:xfrm>
        <a:graphic>
          <a:graphicData uri="http://schemas.openxmlformats.org/drawingml/2006/table">
            <a:tbl>
              <a:tblPr/>
              <a:tblGrid>
                <a:gridCol w="1371600"/>
                <a:gridCol w="822960"/>
                <a:gridCol w="1371600"/>
                <a:gridCol w="1371600"/>
                <a:gridCol w="1554480"/>
                <a:gridCol w="1554480"/>
              </a:tblGrid>
              <a:tr h="32004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Escenario</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TM/mes</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Ingreso/mes</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Costos/mes</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Ganancia/mes</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Ganancia/ano</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r>
              <a:tr h="411480">
                <a:tc>
                  <a:txBody>
                    <a:bodyPr/>
                    <a:lstStyle/>
                    <a:p>
                      <a:pPr algn="l" indent="0" marL="0">
                        <a:buNone/>
                      </a:pPr>
                      <a:r>
                        <a:rPr lang="en-US" sz="1000" b="1" dirty="0">
                          <a:solidFill>
                            <a:srgbClr val="C47F17"/>
                          </a:solidFill>
                          <a:latin typeface="Calibri" pitchFamily="34" charset="0"/>
                          <a:ea typeface="Calibri" pitchFamily="34" charset="-122"/>
                          <a:cs typeface="Calibri" pitchFamily="34" charset="-120"/>
                        </a:rPr>
                        <a:t>Conservador</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4033"/>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4033"/>
                          </a:solidFill>
                          <a:latin typeface="Calibri" pitchFamily="34" charset="0"/>
                          <a:ea typeface="Calibri" pitchFamily="34" charset="-122"/>
                          <a:cs typeface="Calibri" pitchFamily="34" charset="-120"/>
                        </a:rPr>
                        <a:t>$120K-$150K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B83B3B"/>
                          </a:solidFill>
                          <a:latin typeface="Calibri" pitchFamily="34" charset="0"/>
                          <a:ea typeface="Calibri" pitchFamily="34" charset="-122"/>
                          <a:cs typeface="Calibri" pitchFamily="34" charset="-120"/>
                        </a:rPr>
                        <a:t>$60K-$67K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D7D46"/>
                          </a:solidFill>
                          <a:latin typeface="Calibri" pitchFamily="34" charset="0"/>
                          <a:ea typeface="Calibri" pitchFamily="34" charset="-122"/>
                          <a:cs typeface="Calibri" pitchFamily="34" charset="-120"/>
                        </a:rPr>
                        <a:t>$53K-$90K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D7D46"/>
                          </a:solidFill>
                          <a:latin typeface="Calibri" pitchFamily="34" charset="0"/>
                          <a:ea typeface="Calibri" pitchFamily="34" charset="-122"/>
                          <a:cs typeface="Calibri" pitchFamily="34" charset="-120"/>
                        </a:rPr>
                        <a:t>$636K-$1.1M</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411480">
                <a:tc>
                  <a:txBody>
                    <a:bodyPr/>
                    <a:lstStyle/>
                    <a:p>
                      <a:pPr algn="l" indent="0" marL="0">
                        <a:buNone/>
                      </a:pPr>
                      <a:r>
                        <a:rPr lang="en-US" sz="1000" b="1" dirty="0">
                          <a:solidFill>
                            <a:srgbClr val="8B5A2B"/>
                          </a:solidFill>
                          <a:latin typeface="Calibri" pitchFamily="34" charset="0"/>
                          <a:ea typeface="Calibri" pitchFamily="34" charset="-122"/>
                          <a:cs typeface="Calibri" pitchFamily="34" charset="-120"/>
                        </a:rPr>
                        <a:t>Moderado</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dirty="0">
                          <a:solidFill>
                            <a:srgbClr val="5C4033"/>
                          </a:solidFill>
                          <a:latin typeface="Calibri" pitchFamily="34" charset="0"/>
                          <a:ea typeface="Calibri" pitchFamily="34" charset="-122"/>
                          <a:cs typeface="Calibri" pitchFamily="34" charset="-120"/>
                        </a:rPr>
                        <a:t>200</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dirty="0">
                          <a:solidFill>
                            <a:srgbClr val="5C4033"/>
                          </a:solidFill>
                          <a:latin typeface="Calibri" pitchFamily="34" charset="0"/>
                          <a:ea typeface="Calibri" pitchFamily="34" charset="-122"/>
                          <a:cs typeface="Calibri" pitchFamily="34" charset="-120"/>
                        </a:rPr>
                        <a:t>$240K-$300K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dirty="0">
                          <a:solidFill>
                            <a:srgbClr val="B83B3B"/>
                          </a:solidFill>
                          <a:latin typeface="Calibri" pitchFamily="34" charset="0"/>
                          <a:ea typeface="Calibri" pitchFamily="34" charset="-122"/>
                          <a:cs typeface="Calibri" pitchFamily="34" charset="-120"/>
                        </a:rPr>
                        <a:t>$114K-$121K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b="1" dirty="0">
                          <a:solidFill>
                            <a:srgbClr val="2D7D46"/>
                          </a:solidFill>
                          <a:latin typeface="Calibri" pitchFamily="34" charset="0"/>
                          <a:ea typeface="Calibri" pitchFamily="34" charset="-122"/>
                          <a:cs typeface="Calibri" pitchFamily="34" charset="-120"/>
                        </a:rPr>
                        <a:t>$119K-$186K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b="1" dirty="0">
                          <a:solidFill>
                            <a:srgbClr val="2D7D46"/>
                          </a:solidFill>
                          <a:latin typeface="Calibri" pitchFamily="34" charset="0"/>
                          <a:ea typeface="Calibri" pitchFamily="34" charset="-122"/>
                          <a:cs typeface="Calibri" pitchFamily="34" charset="-120"/>
                        </a:rPr>
                        <a:t>$1.4M-$2.2M</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r h="411480">
                <a:tc>
                  <a:txBody>
                    <a:bodyPr/>
                    <a:lstStyle/>
                    <a:p>
                      <a:pPr algn="l" indent="0" marL="0">
                        <a:buNone/>
                      </a:pPr>
                      <a:r>
                        <a:rPr lang="en-US" sz="1000" b="1" dirty="0">
                          <a:solidFill>
                            <a:srgbClr val="2D7D46"/>
                          </a:solidFill>
                          <a:latin typeface="Calibri" pitchFamily="34" charset="0"/>
                          <a:ea typeface="Calibri" pitchFamily="34" charset="-122"/>
                          <a:cs typeface="Calibri" pitchFamily="34" charset="-120"/>
                        </a:rPr>
                        <a:t>Mejor historico</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4033"/>
                          </a:solidFill>
                          <a:latin typeface="Calibri" pitchFamily="34" charset="0"/>
                          <a:ea typeface="Calibri" pitchFamily="34" charset="-122"/>
                          <a:cs typeface="Calibri" pitchFamily="34" charset="-120"/>
                        </a:rPr>
                        <a:t>300</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4033"/>
                          </a:solidFill>
                          <a:latin typeface="Calibri" pitchFamily="34" charset="0"/>
                          <a:ea typeface="Calibri" pitchFamily="34" charset="-122"/>
                          <a:cs typeface="Calibri" pitchFamily="34" charset="-120"/>
                        </a:rPr>
                        <a:t>$360K-$450K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B83B3B"/>
                          </a:solidFill>
                          <a:latin typeface="Calibri" pitchFamily="34" charset="0"/>
                          <a:ea typeface="Calibri" pitchFamily="34" charset="-122"/>
                          <a:cs typeface="Calibri" pitchFamily="34" charset="-120"/>
                        </a:rPr>
                        <a:t>$175K-$182K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D7D46"/>
                          </a:solidFill>
                          <a:latin typeface="Calibri" pitchFamily="34" charset="0"/>
                          <a:ea typeface="Calibri" pitchFamily="34" charset="-122"/>
                          <a:cs typeface="Calibri" pitchFamily="34" charset="-120"/>
                        </a:rPr>
                        <a:t>$178K-$275K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D7D46"/>
                          </a:solidFill>
                          <a:latin typeface="Calibri" pitchFamily="34" charset="0"/>
                          <a:ea typeface="Calibri" pitchFamily="34" charset="-122"/>
                          <a:cs typeface="Calibri" pitchFamily="34" charset="-120"/>
                        </a:rPr>
                        <a:t>$2.1M-$3.3M</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2788920"/>
            <a:ext cx="8046720" cy="1005840"/>
          </a:xfrm>
          <a:prstGeom prst="rect">
            <a:avLst/>
          </a:prstGeom>
          <a:solidFill>
            <a:srgbClr val="EDE8E0"/>
          </a:solidFill>
          <a:ln w="12700">
            <a:solidFill>
              <a:srgbClr val="D4C5B2"/>
            </a:solidFill>
            <a:prstDash val="solid"/>
          </a:ln>
        </p:spPr>
        <p:txBody>
          <a:bodyPr/>
          <a:p/>
        </p:txBody>
      </p:sp>
      <p:sp>
        <p:nvSpPr>
          <p:cNvPr id="8" name="Text 5"/>
          <p:cNvSpPr/>
          <p:nvPr/>
        </p:nvSpPr>
        <p:spPr>
          <a:xfrm>
            <a:off x="731520" y="2834640"/>
            <a:ext cx="3657600" cy="228600"/>
          </a:xfrm>
          <a:prstGeom prst="rect">
            <a:avLst/>
          </a:prstGeom>
          <a:noFill/>
          <a:ln/>
        </p:spPr>
        <p:txBody>
          <a:bodyPr wrap="square" lIns="0" tIns="0" rIns="0" bIns="0" rtlCol="0" anchor="ctr"/>
          <a:lstStyle/>
          <a:p>
            <a:pPr indent="0" marL="0">
              <a:buNone/>
            </a:pPr>
            <a:r>
              <a:rPr lang="en-US" sz="1000" b="1" dirty="0">
                <a:solidFill>
                  <a:srgbClr val="B87333"/>
                </a:solidFill>
                <a:latin typeface="Georgia" pitchFamily="34" charset="0"/>
                <a:ea typeface="Georgia" pitchFamily="34" charset="-122"/>
                <a:cs typeface="Georgia" pitchFamily="34" charset="-120"/>
              </a:rPr>
              <a:t>SUPUESTOS Y VARIABLES CLAVE</a:t>
            </a:r>
            <a:endParaRPr lang="en-US" sz="1000" dirty="0"/>
          </a:p>
        </p:txBody>
      </p:sp>
      <p:sp>
        <p:nvSpPr>
          <p:cNvPr id="9" name="Text 6"/>
          <p:cNvSpPr/>
          <p:nvPr/>
        </p:nvSpPr>
        <p:spPr>
          <a:xfrm>
            <a:off x="731520" y="3063240"/>
            <a:ext cx="7680960" cy="685800"/>
          </a:xfrm>
          <a:prstGeom prst="rect">
            <a:avLst/>
          </a:prstGeom>
          <a:noFill/>
          <a:ln/>
        </p:spPr>
        <p:txBody>
          <a:bodyPr wrap="square" lIns="0" tIns="0" rIns="0" bIns="0" rtlCol="0" anchor="ctr"/>
          <a:lstStyle/>
          <a:p>
            <a:pPr indent="0" marL="0">
              <a:lnSpc>
                <a:spcPct val="120000"/>
              </a:lnSpc>
              <a:buNone/>
            </a:pPr>
            <a:r>
              <a:rPr lang="en-US" sz="900" dirty="0">
                <a:solidFill>
                  <a:srgbClr val="5C4033"/>
                </a:solidFill>
                <a:latin typeface="Calibri" pitchFamily="34" charset="0"/>
                <a:ea typeface="Calibri" pitchFamily="34" charset="-122"/>
                <a:cs typeface="Calibri" pitchFamily="34" charset="-120"/>
              </a:rPr>
              <a:t>Precio de venta: $1,200-$1,500/TM (depende del mercado y tipo de pieza)</a:t>
            </a:r>
            <a:endParaRPr lang="en-US" sz="900" dirty="0"/>
          </a:p>
          <a:p>
            <a:pPr indent="0" marL="0">
              <a:lnSpc>
                <a:spcPct val="120000"/>
              </a:lnSpc>
              <a:buNone/>
            </a:pPr>
            <a:r>
              <a:rPr lang="en-US" sz="900" dirty="0">
                <a:solidFill>
                  <a:srgbClr val="5C4033"/>
                </a:solidFill>
                <a:latin typeface="Calibri" pitchFamily="34" charset="0"/>
                <a:ea typeface="Calibri" pitchFamily="34" charset="-122"/>
                <a:cs typeface="Calibri" pitchFamily="34" charset="-120"/>
              </a:rPr>
              <a:t>Costo variable: ~$540/TM (zinc al precio LME actual — sujeto a volatilidad)</a:t>
            </a:r>
            <a:endParaRPr lang="en-US" sz="900" dirty="0"/>
          </a:p>
          <a:p>
            <a:pPr indent="0" marL="0">
              <a:lnSpc>
                <a:spcPct val="120000"/>
              </a:lnSpc>
              <a:buNone/>
            </a:pPr>
            <a:r>
              <a:rPr lang="en-US" sz="900" dirty="0">
                <a:solidFill>
                  <a:srgbClr val="5C4033"/>
                </a:solidFill>
                <a:latin typeface="Calibri" pitchFamily="34" charset="0"/>
                <a:ea typeface="Calibri" pitchFamily="34" charset="-122"/>
                <a:cs typeface="Calibri" pitchFamily="34" charset="-120"/>
              </a:rPr>
              <a:t>Costos fijos: $5,600-$13,100/mes (escalan con mano de obra segun volumen)</a:t>
            </a:r>
            <a:endParaRPr lang="en-US" sz="900" dirty="0"/>
          </a:p>
          <a:p>
            <a:pPr indent="0" marL="0">
              <a:lnSpc>
                <a:spcPct val="120000"/>
              </a:lnSpc>
              <a:buNone/>
            </a:pPr>
            <a:r>
              <a:rPr lang="en-US" sz="900" dirty="0">
                <a:solidFill>
                  <a:srgbClr val="5C4033"/>
                </a:solidFill>
                <a:latin typeface="Calibri" pitchFamily="34" charset="0"/>
                <a:ea typeface="Calibri" pitchFamily="34" charset="-122"/>
                <a:cs typeface="Calibri" pitchFamily="34" charset="-120"/>
              </a:rPr>
              <a:t>Los rangos reflejan factores como disponibilidad de zinc, demanda estacional y capacidad operativa real.</a:t>
            </a:r>
            <a:endParaRPr lang="en-US" sz="900" dirty="0"/>
          </a:p>
        </p:txBody>
      </p:sp>
      <p:sp>
        <p:nvSpPr>
          <p:cNvPr id="10" name="Shape 7"/>
          <p:cNvSpPr/>
          <p:nvPr/>
        </p:nvSpPr>
        <p:spPr>
          <a:xfrm>
            <a:off x="548640" y="3977640"/>
            <a:ext cx="2651760" cy="77724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11" name="Text 8"/>
          <p:cNvSpPr/>
          <p:nvPr/>
        </p:nvSpPr>
        <p:spPr>
          <a:xfrm>
            <a:off x="548640" y="4005072"/>
            <a:ext cx="2651760" cy="411480"/>
          </a:xfrm>
          <a:prstGeom prst="rect">
            <a:avLst/>
          </a:prstGeom>
          <a:noFill/>
          <a:ln/>
        </p:spPr>
        <p:txBody>
          <a:bodyPr wrap="square" lIns="0" tIns="0" rIns="0" bIns="0" rtlCol="0" anchor="ctr"/>
          <a:lstStyle/>
          <a:p>
            <a:pPr algn="ctr" indent="0" marL="0">
              <a:buNone/>
            </a:pPr>
            <a:r>
              <a:rPr lang="en-US" sz="2000" b="1" dirty="0">
                <a:solidFill>
                  <a:srgbClr val="8B5A2B"/>
                </a:solidFill>
                <a:latin typeface="Georgia" pitchFamily="34" charset="0"/>
                <a:ea typeface="Georgia" pitchFamily="34" charset="-122"/>
                <a:cs typeface="Georgia" pitchFamily="34" charset="-120"/>
              </a:rPr>
              <a:t>55%-64%</a:t>
            </a:r>
            <a:endParaRPr lang="en-US" sz="2000" dirty="0"/>
          </a:p>
        </p:txBody>
      </p:sp>
      <p:sp>
        <p:nvSpPr>
          <p:cNvPr id="12" name="Text 9"/>
          <p:cNvSpPr/>
          <p:nvPr/>
        </p:nvSpPr>
        <p:spPr>
          <a:xfrm>
            <a:off x="640080" y="4416552"/>
            <a:ext cx="2468880" cy="320040"/>
          </a:xfrm>
          <a:prstGeom prst="rect">
            <a:avLst/>
          </a:prstGeom>
          <a:noFill/>
          <a:ln/>
        </p:spPr>
        <p:txBody>
          <a:bodyPr wrap="square" lIns="0" tIns="0" rIns="0" bIns="0" rtlCol="0" anchor="t"/>
          <a:lstStyle/>
          <a:p>
            <a:pPr algn="ctr" indent="0" marL="0">
              <a:buNone/>
            </a:pPr>
            <a:r>
              <a:rPr lang="en-US" sz="900" dirty="0">
                <a:solidFill>
                  <a:srgbClr val="7A6555"/>
                </a:solidFill>
                <a:latin typeface="Calibri" pitchFamily="34" charset="0"/>
                <a:ea typeface="Calibri" pitchFamily="34" charset="-122"/>
                <a:cs typeface="Calibri" pitchFamily="34" charset="-120"/>
              </a:rPr>
              <a:t>Rango de margen</a:t>
            </a:r>
            <a:endParaRPr lang="en-US" sz="900" dirty="0"/>
          </a:p>
          <a:p>
            <a:pPr algn="ctr" indent="0" marL="0">
              <a:buNone/>
            </a:pPr>
            <a:r>
              <a:rPr lang="en-US" sz="900" dirty="0">
                <a:solidFill>
                  <a:srgbClr val="7A6555"/>
                </a:solidFill>
                <a:latin typeface="Calibri" pitchFamily="34" charset="0"/>
                <a:ea typeface="Calibri" pitchFamily="34" charset="-122"/>
                <a:cs typeface="Calibri" pitchFamily="34" charset="-120"/>
              </a:rPr>
              <a:t>operativo</a:t>
            </a:r>
            <a:endParaRPr lang="en-US" sz="900" dirty="0"/>
          </a:p>
        </p:txBody>
      </p:sp>
      <p:sp>
        <p:nvSpPr>
          <p:cNvPr id="13" name="Shape 10"/>
          <p:cNvSpPr/>
          <p:nvPr/>
        </p:nvSpPr>
        <p:spPr>
          <a:xfrm>
            <a:off x="3429000" y="3977640"/>
            <a:ext cx="2651760" cy="77724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14" name="Text 11"/>
          <p:cNvSpPr/>
          <p:nvPr/>
        </p:nvSpPr>
        <p:spPr>
          <a:xfrm>
            <a:off x="3429000" y="4005072"/>
            <a:ext cx="2651760" cy="411480"/>
          </a:xfrm>
          <a:prstGeom prst="rect">
            <a:avLst/>
          </a:prstGeom>
          <a:noFill/>
          <a:ln/>
        </p:spPr>
        <p:txBody>
          <a:bodyPr wrap="square" lIns="0" tIns="0" rIns="0" bIns="0" rtlCol="0" anchor="ctr"/>
          <a:lstStyle/>
          <a:p>
            <a:pPr algn="ctr" indent="0" marL="0">
              <a:buNone/>
            </a:pPr>
            <a:r>
              <a:rPr lang="en-US" sz="2000" b="1" dirty="0">
                <a:solidFill>
                  <a:srgbClr val="8B5A2B"/>
                </a:solidFill>
                <a:latin typeface="Georgia" pitchFamily="34" charset="0"/>
                <a:ea typeface="Georgia" pitchFamily="34" charset="-122"/>
                <a:cs typeface="Georgia" pitchFamily="34" charset="-120"/>
              </a:rPr>
              <a:t>10-20 TM</a:t>
            </a:r>
            <a:endParaRPr lang="en-US" sz="2000" dirty="0"/>
          </a:p>
        </p:txBody>
      </p:sp>
      <p:sp>
        <p:nvSpPr>
          <p:cNvPr id="15" name="Text 12"/>
          <p:cNvSpPr/>
          <p:nvPr/>
        </p:nvSpPr>
        <p:spPr>
          <a:xfrm>
            <a:off x="3520440" y="4416552"/>
            <a:ext cx="2468880" cy="320040"/>
          </a:xfrm>
          <a:prstGeom prst="rect">
            <a:avLst/>
          </a:prstGeom>
          <a:noFill/>
          <a:ln/>
        </p:spPr>
        <p:txBody>
          <a:bodyPr wrap="square" lIns="0" tIns="0" rIns="0" bIns="0" rtlCol="0" anchor="t"/>
          <a:lstStyle/>
          <a:p>
            <a:pPr algn="ctr" indent="0" marL="0">
              <a:buNone/>
            </a:pPr>
            <a:r>
              <a:rPr lang="en-US" sz="900" dirty="0">
                <a:solidFill>
                  <a:srgbClr val="7A6555"/>
                </a:solidFill>
                <a:latin typeface="Calibri" pitchFamily="34" charset="0"/>
                <a:ea typeface="Calibri" pitchFamily="34" charset="-122"/>
                <a:cs typeface="Calibri" pitchFamily="34" charset="-120"/>
              </a:rPr>
              <a:t>Rango de punto de</a:t>
            </a:r>
            <a:endParaRPr lang="en-US" sz="900" dirty="0"/>
          </a:p>
          <a:p>
            <a:pPr algn="ctr" indent="0" marL="0">
              <a:buNone/>
            </a:pPr>
            <a:r>
              <a:rPr lang="en-US" sz="900" dirty="0">
                <a:solidFill>
                  <a:srgbClr val="7A6555"/>
                </a:solidFill>
                <a:latin typeface="Calibri" pitchFamily="34" charset="0"/>
                <a:ea typeface="Calibri" pitchFamily="34" charset="-122"/>
                <a:cs typeface="Calibri" pitchFamily="34" charset="-120"/>
              </a:rPr>
              <a:t>equilibrio/mes</a:t>
            </a:r>
            <a:endParaRPr lang="en-US" sz="900" dirty="0"/>
          </a:p>
        </p:txBody>
      </p:sp>
      <p:sp>
        <p:nvSpPr>
          <p:cNvPr id="16" name="Shape 13"/>
          <p:cNvSpPr/>
          <p:nvPr/>
        </p:nvSpPr>
        <p:spPr>
          <a:xfrm>
            <a:off x="6309360" y="3977640"/>
            <a:ext cx="2651760" cy="77724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17" name="Text 14"/>
          <p:cNvSpPr/>
          <p:nvPr/>
        </p:nvSpPr>
        <p:spPr>
          <a:xfrm>
            <a:off x="6309360" y="4005072"/>
            <a:ext cx="2651760" cy="411480"/>
          </a:xfrm>
          <a:prstGeom prst="rect">
            <a:avLst/>
          </a:prstGeom>
          <a:noFill/>
          <a:ln/>
        </p:spPr>
        <p:txBody>
          <a:bodyPr wrap="square" lIns="0" tIns="0" rIns="0" bIns="0" rtlCol="0" anchor="ctr"/>
          <a:lstStyle/>
          <a:p>
            <a:pPr algn="ctr" indent="0" marL="0">
              <a:buNone/>
            </a:pPr>
            <a:r>
              <a:rPr lang="en-US" sz="2000" b="1" dirty="0">
                <a:solidFill>
                  <a:srgbClr val="8B5A2B"/>
                </a:solidFill>
                <a:latin typeface="Georgia" pitchFamily="34" charset="0"/>
                <a:ea typeface="Georgia" pitchFamily="34" charset="-122"/>
                <a:cs typeface="Georgia" pitchFamily="34" charset="-120"/>
              </a:rPr>
              <a:t>&lt;7%</a:t>
            </a:r>
            <a:endParaRPr lang="en-US" sz="2000" dirty="0"/>
          </a:p>
        </p:txBody>
      </p:sp>
      <p:sp>
        <p:nvSpPr>
          <p:cNvPr id="18" name="Text 15"/>
          <p:cNvSpPr/>
          <p:nvPr/>
        </p:nvSpPr>
        <p:spPr>
          <a:xfrm>
            <a:off x="6400800" y="4416552"/>
            <a:ext cx="2468880" cy="320040"/>
          </a:xfrm>
          <a:prstGeom prst="rect">
            <a:avLst/>
          </a:prstGeom>
          <a:noFill/>
          <a:ln/>
        </p:spPr>
        <p:txBody>
          <a:bodyPr wrap="square" lIns="0" tIns="0" rIns="0" bIns="0" rtlCol="0" anchor="t"/>
          <a:lstStyle/>
          <a:p>
            <a:pPr algn="ctr" indent="0" marL="0">
              <a:buNone/>
            </a:pPr>
            <a:r>
              <a:rPr lang="en-US" sz="900" dirty="0">
                <a:solidFill>
                  <a:srgbClr val="7A6555"/>
                </a:solidFill>
                <a:latin typeface="Calibri" pitchFamily="34" charset="0"/>
                <a:ea typeface="Calibri" pitchFamily="34" charset="-122"/>
                <a:cs typeface="Calibri" pitchFamily="34" charset="-120"/>
              </a:rPr>
              <a:t>Break-even como</a:t>
            </a:r>
            <a:endParaRPr lang="en-US" sz="900" dirty="0"/>
          </a:p>
          <a:p>
            <a:pPr algn="ctr" indent="0" marL="0">
              <a:buNone/>
            </a:pPr>
            <a:r>
              <a:rPr lang="en-US" sz="900" dirty="0">
                <a:solidFill>
                  <a:srgbClr val="7A6555"/>
                </a:solidFill>
                <a:latin typeface="Calibri" pitchFamily="34" charset="0"/>
                <a:ea typeface="Calibri" pitchFamily="34" charset="-122"/>
                <a:cs typeface="Calibri" pitchFamily="34" charset="-120"/>
              </a:rPr>
              <a:t>% de capacidad</a:t>
            </a:r>
            <a:endParaRPr lang="en-US" sz="900" dirty="0"/>
          </a:p>
        </p:txBody>
      </p:sp>
      <p:sp>
        <p:nvSpPr>
          <p:cNvPr id="20" name="TextBox 19"/>
          <p:cNvSpPr txBox="1"/>
          <p:nvPr/>
        </p:nvSpPr>
        <p:spPr>
          <a:xfrm>
            <a:off x="548640" y="3794760"/>
            <a:ext cx="7498079" cy="182880"/>
          </a:xfrm>
          <a:prstGeom prst="rect">
            <a:avLst/>
          </a:prstGeom>
          <a:noFill/>
        </p:spPr>
        <p:txBody>
          <a:bodyPr wrap="square">
            <a:spAutoFit/>
          </a:bodyPr>
          <a:lstStyle/>
          <a:p>
            <a:pPr algn="l"/>
            <a:r>
              <a:rPr sz="800" b="1">
                <a:solidFill>
                  <a:srgbClr val="B87333"/>
                </a:solidFill>
                <a:latin typeface="Calibri"/>
              </a:rPr>
              <a:t>+ Linea de cobre a capacidad maxima: $561K - $1.05M/ano de ingreso adicional</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9">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22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3E2C1C"/>
                </a:solidFill>
                <a:latin typeface="Georgia" pitchFamily="34" charset="0"/>
                <a:ea typeface="Georgia" pitchFamily="34" charset="-122"/>
                <a:cs typeface="Georgia" pitchFamily="34" charset="-120"/>
              </a:rPr>
              <a:t>PUNTO DE EQUILIBRIO</a:t>
            </a:r>
            <a:endParaRPr lang="en-US" sz="2800" dirty="0"/>
          </a:p>
        </p:txBody>
      </p:sp>
      <p:sp>
        <p:nvSpPr>
          <p:cNvPr id="5" name="Text 3"/>
          <p:cNvSpPr/>
          <p:nvPr/>
        </p:nvSpPr>
        <p:spPr>
          <a:xfrm>
            <a:off x="548640" y="777240"/>
            <a:ext cx="8046720" cy="411480"/>
          </a:xfrm>
          <a:prstGeom prst="rect">
            <a:avLst/>
          </a:prstGeom>
          <a:noFill/>
          <a:ln/>
        </p:spPr>
        <p:txBody>
          <a:bodyPr wrap="square" lIns="0" tIns="0" rIns="0" bIns="0" rtlCol="0" anchor="ctr"/>
          <a:lstStyle/>
          <a:p>
            <a:pPr indent="0" marL="0">
              <a:buNone/>
            </a:pPr>
            <a:r>
              <a:rPr lang="en-US" sz="1400" dirty="0">
                <a:solidFill>
                  <a:srgbClr val="5C4033"/>
                </a:solidFill>
                <a:latin typeface="Calibri" pitchFamily="34" charset="0"/>
                <a:ea typeface="Calibri" pitchFamily="34" charset="-122"/>
                <a:cs typeface="Calibri" pitchFamily="34" charset="-120"/>
              </a:rPr>
              <a:t xml:space="preserve">Break-even estimado: </a:t>
            </a:r>
            <a:pPr indent="0" marL="0">
              <a:buNone/>
            </a:pPr>
            <a:r>
              <a:rPr lang="en-US" sz="2000" b="1" dirty="0">
                <a:solidFill>
                  <a:srgbClr val="8B5A2B"/>
                </a:solidFill>
                <a:latin typeface="Georgia" pitchFamily="34" charset="0"/>
                <a:ea typeface="Georgia" pitchFamily="34" charset="-122"/>
                <a:cs typeface="Georgia" pitchFamily="34" charset="-120"/>
              </a:rPr>
              <a:t>10-20 TM/mes</a:t>
            </a:r>
            <a:pPr indent="0" marL="0">
              <a:buNone/>
            </a:pPr>
            <a:r>
              <a:rPr lang="en-US" sz="1400" dirty="0">
                <a:solidFill>
                  <a:srgbClr val="5C4033"/>
                </a:solidFill>
                <a:latin typeface="Calibri" pitchFamily="34" charset="0"/>
                <a:ea typeface="Calibri" pitchFamily="34" charset="-122"/>
                <a:cs typeface="Calibri" pitchFamily="34" charset="-120"/>
              </a:rPr>
              <a:t xml:space="preserve"> — menos del 7% de la produccion comprobada</a:t>
            </a:r>
            <a:endParaRPr lang="en-US" sz="1400" dirty="0"/>
          </a:p>
        </p:txBody>
      </p:sp>
      <p:sp>
        <p:nvSpPr>
          <p:cNvPr id="6" name="Shape 4"/>
          <p:cNvSpPr/>
          <p:nvPr/>
        </p:nvSpPr>
        <p:spPr>
          <a:xfrm>
            <a:off x="548640" y="1508760"/>
            <a:ext cx="8046720" cy="914400"/>
          </a:xfrm>
          <a:prstGeom prst="rect">
            <a:avLst/>
          </a:prstGeom>
          <a:solidFill>
            <a:srgbClr val="EDE8E0"/>
          </a:solidFill>
          <a:ln w="12700">
            <a:solidFill>
              <a:srgbClr val="D4C5B2"/>
            </a:solidFill>
            <a:prstDash val="solid"/>
          </a:ln>
        </p:spPr>
        <p:txBody>
          <a:bodyPr/>
          <a:p/>
        </p:txBody>
      </p:sp>
      <p:sp>
        <p:nvSpPr>
          <p:cNvPr id="7" name="Shape 5"/>
          <p:cNvSpPr/>
          <p:nvPr/>
        </p:nvSpPr>
        <p:spPr>
          <a:xfrm>
            <a:off x="548640" y="1508760"/>
            <a:ext cx="731520" cy="914400"/>
          </a:xfrm>
          <a:prstGeom prst="rect">
            <a:avLst/>
          </a:prstGeom>
          <a:solidFill>
            <a:srgbClr val="B83B3B">
              <a:alpha val="80000"/>
            </a:srgbClr>
          </a:solidFill>
          <a:ln/>
        </p:spPr>
        <p:txBody>
          <a:bodyPr/>
          <a:p/>
        </p:txBody>
      </p:sp>
      <p:sp>
        <p:nvSpPr>
          <p:cNvPr id="8" name="Shape 6"/>
          <p:cNvSpPr/>
          <p:nvPr/>
        </p:nvSpPr>
        <p:spPr>
          <a:xfrm>
            <a:off x="548640" y="1508760"/>
            <a:ext cx="8046720" cy="914400"/>
          </a:xfrm>
          <a:prstGeom prst="rect">
            <a:avLst/>
          </a:prstGeom>
          <a:solidFill>
            <a:srgbClr val="2D7D46">
              <a:alpha val="15000"/>
            </a:srgbClr>
          </a:solidFill>
          <a:ln/>
        </p:spPr>
        <p:txBody>
          <a:bodyPr/>
          <a:p/>
        </p:txBody>
      </p:sp>
      <p:sp>
        <p:nvSpPr>
          <p:cNvPr id="9" name="Text 7"/>
          <p:cNvSpPr/>
          <p:nvPr/>
        </p:nvSpPr>
        <p:spPr>
          <a:xfrm>
            <a:off x="594360" y="1645920"/>
            <a:ext cx="640080" cy="640080"/>
          </a:xfrm>
          <a:prstGeom prst="rect">
            <a:avLst/>
          </a:prstGeom>
          <a:noFill/>
          <a:ln/>
        </p:spPr>
        <p:txBody>
          <a:bodyPr wrap="square" lIns="0" tIns="0" rIns="0" bIns="0" rtlCol="0" anchor="ctr"/>
          <a:lstStyle/>
          <a:p>
            <a:pPr algn="ctr" indent="0" marL="0">
              <a:buNone/>
            </a:pPr>
            <a:r>
              <a:rPr lang="en-US" sz="1000" b="1" dirty="0">
                <a:solidFill>
                  <a:srgbClr val="B83B3B"/>
                </a:solidFill>
                <a:latin typeface="Calibri" pitchFamily="34" charset="0"/>
                <a:ea typeface="Calibri" pitchFamily="34" charset="-122"/>
                <a:cs typeface="Calibri" pitchFamily="34" charset="-120"/>
              </a:rPr>
              <a:t>10-20 TM</a:t>
            </a:r>
            <a:endParaRPr lang="en-US" sz="1000" dirty="0"/>
          </a:p>
          <a:p>
            <a:pPr algn="ctr" indent="0" marL="0">
              <a:buNone/>
            </a:pPr>
            <a:r>
              <a:rPr lang="en-US" sz="1000" b="1" dirty="0">
                <a:solidFill>
                  <a:srgbClr val="B83B3B"/>
                </a:solidFill>
                <a:latin typeface="Calibri" pitchFamily="34" charset="0"/>
                <a:ea typeface="Calibri" pitchFamily="34" charset="-122"/>
                <a:cs typeface="Calibri" pitchFamily="34" charset="-120"/>
              </a:rPr>
              <a:t>Break-even</a:t>
            </a:r>
            <a:endParaRPr lang="en-US" sz="1000" dirty="0"/>
          </a:p>
        </p:txBody>
      </p:sp>
      <p:sp>
        <p:nvSpPr>
          <p:cNvPr id="10" name="Text 8"/>
          <p:cNvSpPr/>
          <p:nvPr/>
        </p:nvSpPr>
        <p:spPr>
          <a:xfrm>
            <a:off x="2743200" y="1737360"/>
            <a:ext cx="4572000" cy="457200"/>
          </a:xfrm>
          <a:prstGeom prst="rect">
            <a:avLst/>
          </a:prstGeom>
          <a:noFill/>
          <a:ln/>
        </p:spPr>
        <p:txBody>
          <a:bodyPr wrap="square" lIns="0" tIns="0" rIns="0" bIns="0" rtlCol="0" anchor="ctr"/>
          <a:lstStyle/>
          <a:p>
            <a:pPr algn="ctr" indent="0" marL="0">
              <a:buNone/>
            </a:pPr>
            <a:r>
              <a:rPr lang="en-US" sz="1400" b="1" dirty="0">
                <a:solidFill>
                  <a:srgbClr val="2D7D46"/>
                </a:solidFill>
                <a:latin typeface="Georgia" pitchFamily="34" charset="0"/>
                <a:ea typeface="Georgia" pitchFamily="34" charset="-122"/>
                <a:cs typeface="Georgia" pitchFamily="34" charset="-120"/>
              </a:rPr>
              <a:t>300 TM/mes — Produccion comprobada</a:t>
            </a:r>
            <a:endParaRPr lang="en-US" sz="1400" dirty="0"/>
          </a:p>
        </p:txBody>
      </p:sp>
      <p:sp>
        <p:nvSpPr>
          <p:cNvPr id="11" name="Shape 9"/>
          <p:cNvSpPr/>
          <p:nvPr/>
        </p:nvSpPr>
        <p:spPr>
          <a:xfrm>
            <a:off x="1097280" y="2834640"/>
            <a:ext cx="6949440" cy="429768"/>
          </a:xfrm>
          <a:prstGeom prst="rect">
            <a:avLst/>
          </a:prstGeom>
          <a:solidFill>
            <a:srgbClr val="FFFFFF"/>
          </a:solidFill>
          <a:ln w="6350">
            <a:solidFill>
              <a:srgbClr val="D4C5B2"/>
            </a:solidFill>
            <a:prstDash val="solid"/>
          </a:ln>
        </p:spPr>
        <p:txBody>
          <a:bodyPr/>
          <a:p/>
        </p:txBody>
      </p:sp>
      <p:pic>
        <p:nvPicPr>
          <p:cNvPr id="12" name="Image 0" descr="preencoded.png"/>
          <p:cNvPicPr>
            <a:picLocks noChangeAspect="1"/>
          </p:cNvPicPr>
          <p:nvPr/>
        </p:nvPicPr>
        <p:blipFill>
          <a:blip r:embed="rId1"/>
          <a:stretch>
            <a:fillRect/>
          </a:stretch>
        </p:blipFill>
        <p:spPr>
          <a:xfrm>
            <a:off x="1234440" y="2907792"/>
            <a:ext cx="228600" cy="228600"/>
          </a:xfrm>
          <a:prstGeom prst="rect">
            <a:avLst/>
          </a:prstGeom>
        </p:spPr>
      </p:pic>
      <p:sp>
        <p:nvSpPr>
          <p:cNvPr id="13" name="Text 10"/>
          <p:cNvSpPr/>
          <p:nvPr/>
        </p:nvSpPr>
        <p:spPr>
          <a:xfrm>
            <a:off x="1600200" y="2834640"/>
            <a:ext cx="6263640" cy="429768"/>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Rentable desde un volumen muy bajo — margen amplio de seguridad</a:t>
            </a:r>
            <a:endParaRPr lang="en-US" sz="1000" dirty="0"/>
          </a:p>
        </p:txBody>
      </p:sp>
      <p:sp>
        <p:nvSpPr>
          <p:cNvPr id="14" name="Shape 11"/>
          <p:cNvSpPr/>
          <p:nvPr/>
        </p:nvSpPr>
        <p:spPr>
          <a:xfrm>
            <a:off x="1097280" y="3337560"/>
            <a:ext cx="6949440" cy="429768"/>
          </a:xfrm>
          <a:prstGeom prst="rect">
            <a:avLst/>
          </a:prstGeom>
          <a:solidFill>
            <a:srgbClr val="FFFFFF"/>
          </a:solidFill>
          <a:ln w="6350">
            <a:solidFill>
              <a:srgbClr val="D4C5B2"/>
            </a:solidFill>
            <a:prstDash val="solid"/>
          </a:ln>
        </p:spPr>
        <p:txBody>
          <a:bodyPr/>
          <a:p/>
        </p:txBody>
      </p:sp>
      <p:pic>
        <p:nvPicPr>
          <p:cNvPr id="15" name="Image 1" descr="preencoded.png"/>
          <p:cNvPicPr>
            <a:picLocks noChangeAspect="1"/>
          </p:cNvPicPr>
          <p:nvPr/>
        </p:nvPicPr>
        <p:blipFill>
          <a:blip r:embed="rId2"/>
          <a:stretch>
            <a:fillRect/>
          </a:stretch>
        </p:blipFill>
        <p:spPr>
          <a:xfrm>
            <a:off x="1234440" y="3410712"/>
            <a:ext cx="228600" cy="228600"/>
          </a:xfrm>
          <a:prstGeom prst="rect">
            <a:avLst/>
          </a:prstGeom>
        </p:spPr>
      </p:pic>
      <p:sp>
        <p:nvSpPr>
          <p:cNvPr id="16" name="Text 12"/>
          <p:cNvSpPr/>
          <p:nvPr/>
        </p:nvSpPr>
        <p:spPr>
          <a:xfrm>
            <a:off x="1600200" y="3337560"/>
            <a:ext cx="6263640" cy="429768"/>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El mejor mes historico fue 300 TM. El break-even es menos del 7% de esa capacidad.</a:t>
            </a:r>
            <a:endParaRPr lang="en-US" sz="1000" dirty="0"/>
          </a:p>
        </p:txBody>
      </p:sp>
      <p:sp>
        <p:nvSpPr>
          <p:cNvPr id="17" name="Shape 13"/>
          <p:cNvSpPr/>
          <p:nvPr/>
        </p:nvSpPr>
        <p:spPr>
          <a:xfrm>
            <a:off x="1097280" y="3840480"/>
            <a:ext cx="6949440" cy="429768"/>
          </a:xfrm>
          <a:prstGeom prst="rect">
            <a:avLst/>
          </a:prstGeom>
          <a:solidFill>
            <a:srgbClr val="FFFFFF"/>
          </a:solidFill>
          <a:ln w="6350">
            <a:solidFill>
              <a:srgbClr val="D4C5B2"/>
            </a:solidFill>
            <a:prstDash val="solid"/>
          </a:ln>
        </p:spPr>
        <p:txBody>
          <a:bodyPr/>
          <a:p/>
        </p:txBody>
      </p:sp>
      <p:pic>
        <p:nvPicPr>
          <p:cNvPr id="18" name="Image 2" descr="preencoded.png"/>
          <p:cNvPicPr>
            <a:picLocks noChangeAspect="1"/>
          </p:cNvPicPr>
          <p:nvPr/>
        </p:nvPicPr>
        <p:blipFill>
          <a:blip r:embed="rId3"/>
          <a:stretch>
            <a:fillRect/>
          </a:stretch>
        </p:blipFill>
        <p:spPr>
          <a:xfrm>
            <a:off x="1234440" y="3913632"/>
            <a:ext cx="228600" cy="228600"/>
          </a:xfrm>
          <a:prstGeom prst="rect">
            <a:avLst/>
          </a:prstGeom>
        </p:spPr>
      </p:pic>
      <p:sp>
        <p:nvSpPr>
          <p:cNvPr id="19" name="Text 14"/>
          <p:cNvSpPr/>
          <p:nvPr/>
        </p:nvSpPr>
        <p:spPr>
          <a:xfrm>
            <a:off x="1600200" y="3840480"/>
            <a:ext cx="6263640" cy="429768"/>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Costos fijos: $5,600-$13,100/mes (depende de escala). Variables: ~$540/TM (sujeto a precio de zinc).</a:t>
            </a:r>
            <a:endParaRPr lang="en-US" sz="1000" dirty="0"/>
          </a:p>
        </p:txBody>
      </p:sp>
      <p:sp>
        <p:nvSpPr>
          <p:cNvPr id="20" name="Shape 15"/>
          <p:cNvSpPr/>
          <p:nvPr/>
        </p:nvSpPr>
        <p:spPr>
          <a:xfrm>
            <a:off x="1097280" y="4343400"/>
            <a:ext cx="6949440" cy="429768"/>
          </a:xfrm>
          <a:prstGeom prst="rect">
            <a:avLst/>
          </a:prstGeom>
          <a:solidFill>
            <a:srgbClr val="FFFFFF"/>
          </a:solidFill>
          <a:ln w="6350">
            <a:solidFill>
              <a:srgbClr val="D4C5B2"/>
            </a:solidFill>
            <a:prstDash val="solid"/>
          </a:ln>
        </p:spPr>
        <p:txBody>
          <a:bodyPr/>
          <a:p/>
        </p:txBody>
      </p:sp>
      <p:pic>
        <p:nvPicPr>
          <p:cNvPr id="21" name="Image 3" descr="preencoded.png"/>
          <p:cNvPicPr>
            <a:picLocks noChangeAspect="1"/>
          </p:cNvPicPr>
          <p:nvPr/>
        </p:nvPicPr>
        <p:blipFill>
          <a:blip r:embed="rId4"/>
          <a:stretch>
            <a:fillRect/>
          </a:stretch>
        </p:blipFill>
        <p:spPr>
          <a:xfrm>
            <a:off x="1234440" y="4416552"/>
            <a:ext cx="228600" cy="228600"/>
          </a:xfrm>
          <a:prstGeom prst="rect">
            <a:avLst/>
          </a:prstGeom>
        </p:spPr>
      </p:pic>
      <p:sp>
        <p:nvSpPr>
          <p:cNvPr id="22" name="Text 16"/>
          <p:cNvSpPr/>
          <p:nvPr/>
        </p:nvSpPr>
        <p:spPr>
          <a:xfrm>
            <a:off x="1600200" y="4343400"/>
            <a:ext cx="6263640" cy="429768"/>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El rango depende de precio de venta ($1,200-$1,500/TM), costo de zinc, y nivel de mano de obra.</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0">
    <p:bg>
      <p:bgPr>
        <a:solidFill>
          <a:srgbClr val="F2EDE6"/>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23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3E2C1C"/>
                </a:solidFill>
                <a:latin typeface="Georgia" pitchFamily="34" charset="0"/>
                <a:ea typeface="Georgia" pitchFamily="34" charset="-122"/>
                <a:cs typeface="Georgia" pitchFamily="34" charset="-120"/>
              </a:rPr>
              <a:t>DESPLIEGUE DE CAPITAL</a:t>
            </a:r>
            <a:endParaRPr lang="en-US" sz="2800" dirty="0"/>
          </a:p>
        </p:txBody>
      </p:sp>
      <p:sp>
        <p:nvSpPr>
          <p:cNvPr id="5" name="Text 3"/>
          <p:cNvSpPr/>
          <p:nvPr/>
        </p:nvSpPr>
        <p:spPr>
          <a:xfrm>
            <a:off x="548640" y="731520"/>
            <a:ext cx="8046720" cy="274320"/>
          </a:xfrm>
          <a:prstGeom prst="rect">
            <a:avLst/>
          </a:prstGeom>
          <a:noFill/>
          <a:ln/>
        </p:spPr>
        <p:txBody>
          <a:bodyPr wrap="square" lIns="0" tIns="0" rIns="0" bIns="0" rtlCol="0" anchor="ctr"/>
          <a:lstStyle/>
          <a:p>
            <a:pPr indent="0" marL="0">
              <a:buNone/>
            </a:pPr>
            <a:r>
              <a:rPr lang="en-US" sz="1200" i="1" dirty="0">
                <a:solidFill>
                  <a:srgbClr val="8B5A2B"/>
                </a:solidFill>
                <a:latin typeface="Calibri" pitchFamily="34" charset="0"/>
                <a:ea typeface="Calibri" pitchFamily="34" charset="-122"/>
                <a:cs typeface="Calibri" pitchFamily="34" charset="-120"/>
              </a:rPr>
              <a:t>Capital de arranque por fases — cada fase financia la siguiente</a:t>
            </a:r>
            <a:endParaRPr lang="en-US" sz="1200" dirty="0"/>
          </a:p>
        </p:txBody>
      </p:sp>
      <p:sp>
        <p:nvSpPr>
          <p:cNvPr id="6" name="Shape 4"/>
          <p:cNvSpPr/>
          <p:nvPr/>
        </p:nvSpPr>
        <p:spPr>
          <a:xfrm>
            <a:off x="548640" y="1188720"/>
            <a:ext cx="8046720" cy="685800"/>
          </a:xfrm>
          <a:prstGeom prst="rect">
            <a:avLst/>
          </a:prstGeom>
          <a:solidFill>
            <a:srgbClr val="FFFFFF"/>
          </a:solidFill>
          <a:ln w="12700">
            <a:solidFill>
              <a:srgbClr val="D4C5B2"/>
            </a:solidFill>
            <a:prstDash val="solid"/>
          </a:ln>
        </p:spPr>
        <p:txBody>
          <a:bodyPr/>
          <a:p/>
        </p:txBody>
      </p:sp>
      <p:sp>
        <p:nvSpPr>
          <p:cNvPr id="7" name="Shape 5"/>
          <p:cNvSpPr/>
          <p:nvPr/>
        </p:nvSpPr>
        <p:spPr>
          <a:xfrm>
            <a:off x="548640" y="1188720"/>
            <a:ext cx="73152" cy="685800"/>
          </a:xfrm>
          <a:prstGeom prst="rect">
            <a:avLst/>
          </a:prstGeom>
          <a:solidFill>
            <a:srgbClr val="A67C52"/>
          </a:solidFill>
          <a:ln/>
        </p:spPr>
        <p:txBody>
          <a:bodyPr/>
          <a:p/>
        </p:txBody>
      </p:sp>
      <p:sp>
        <p:nvSpPr>
          <p:cNvPr id="8" name="Text 6"/>
          <p:cNvSpPr/>
          <p:nvPr/>
        </p:nvSpPr>
        <p:spPr>
          <a:xfrm>
            <a:off x="777240" y="1188720"/>
            <a:ext cx="2011680" cy="411480"/>
          </a:xfrm>
          <a:prstGeom prst="rect">
            <a:avLst/>
          </a:prstGeom>
          <a:noFill/>
          <a:ln/>
        </p:spPr>
        <p:txBody>
          <a:bodyPr wrap="square" lIns="0" tIns="0" rIns="0" bIns="0" rtlCol="0" anchor="b"/>
          <a:lstStyle/>
          <a:p>
            <a:pPr indent="0" marL="0">
              <a:buNone/>
            </a:pPr>
            <a:r>
              <a:rPr lang="en-US" sz="1100" b="1" dirty="0">
                <a:solidFill>
                  <a:srgbClr val="3E2C1C"/>
                </a:solidFill>
                <a:latin typeface="Calibri" pitchFamily="34" charset="0"/>
                <a:ea typeface="Calibri" pitchFamily="34" charset="-122"/>
                <a:cs typeface="Calibri" pitchFamily="34" charset="-120"/>
              </a:rPr>
              <a:t>Fase 1: Cuba 3.5m</a:t>
            </a:r>
            <a:endParaRPr lang="en-US" sz="1100" dirty="0"/>
          </a:p>
        </p:txBody>
      </p:sp>
      <p:sp>
        <p:nvSpPr>
          <p:cNvPr id="9" name="Text 7"/>
          <p:cNvSpPr/>
          <p:nvPr/>
        </p:nvSpPr>
        <p:spPr>
          <a:xfrm>
            <a:off x="777240" y="1554480"/>
            <a:ext cx="2011680" cy="274320"/>
          </a:xfrm>
          <a:prstGeom prst="rect">
            <a:avLst/>
          </a:prstGeom>
          <a:noFill/>
          <a:ln/>
        </p:spPr>
        <p:txBody>
          <a:bodyPr wrap="square" lIns="0" tIns="0" rIns="0" bIns="0" rtlCol="0" anchor="t"/>
          <a:lstStyle/>
          <a:p>
            <a:pPr indent="0" marL="0">
              <a:buNone/>
            </a:pPr>
            <a:r>
              <a:rPr lang="en-US" sz="800" dirty="0">
                <a:solidFill>
                  <a:srgbClr val="7A6555"/>
                </a:solidFill>
                <a:latin typeface="Calibri" pitchFamily="34" charset="0"/>
                <a:ea typeface="Calibri" pitchFamily="34" charset="-122"/>
                <a:cs typeface="Calibri" pitchFamily="34" charset="-120"/>
              </a:rPr>
              <a:t>Reparacion + 20 TM zinc</a:t>
            </a:r>
            <a:endParaRPr lang="en-US" sz="800" dirty="0"/>
          </a:p>
        </p:txBody>
      </p:sp>
      <p:sp>
        <p:nvSpPr>
          <p:cNvPr id="10" name="Text 8"/>
          <p:cNvSpPr/>
          <p:nvPr/>
        </p:nvSpPr>
        <p:spPr>
          <a:xfrm>
            <a:off x="2926080" y="1188720"/>
            <a:ext cx="1645920" cy="685800"/>
          </a:xfrm>
          <a:prstGeom prst="rect">
            <a:avLst/>
          </a:prstGeom>
          <a:noFill/>
          <a:ln/>
        </p:spPr>
        <p:txBody>
          <a:bodyPr wrap="square" lIns="0" tIns="0" rIns="0" bIns="0" rtlCol="0" anchor="ctr"/>
          <a:lstStyle/>
          <a:p>
            <a:pPr algn="ctr" indent="0" marL="0">
              <a:buNone/>
            </a:pPr>
            <a:r>
              <a:rPr lang="en-US" sz="1600" b="1" dirty="0">
                <a:solidFill>
                  <a:srgbClr val="A67C52"/>
                </a:solidFill>
                <a:latin typeface="Georgia" pitchFamily="34" charset="0"/>
                <a:ea typeface="Georgia" pitchFamily="34" charset="-122"/>
                <a:cs typeface="Georgia" pitchFamily="34" charset="-120"/>
              </a:rPr>
              <a:t>$94,400</a:t>
            </a:r>
            <a:endParaRPr lang="en-US" sz="1600" dirty="0"/>
          </a:p>
        </p:txBody>
      </p:sp>
      <p:pic>
        <p:nvPicPr>
          <p:cNvPr id="11" name="Image 0" descr="preencoded.png"/>
          <p:cNvPicPr>
            <a:picLocks noChangeAspect="1"/>
          </p:cNvPicPr>
          <p:nvPr/>
        </p:nvPicPr>
        <p:blipFill>
          <a:blip r:embed="rId1"/>
          <a:stretch>
            <a:fillRect/>
          </a:stretch>
        </p:blipFill>
        <p:spPr>
          <a:xfrm>
            <a:off x="4754880" y="1371600"/>
            <a:ext cx="274320" cy="274320"/>
          </a:xfrm>
          <a:prstGeom prst="rect">
            <a:avLst/>
          </a:prstGeom>
        </p:spPr>
      </p:pic>
      <p:sp>
        <p:nvSpPr>
          <p:cNvPr id="12" name="Text 9"/>
          <p:cNvSpPr/>
          <p:nvPr/>
        </p:nvSpPr>
        <p:spPr>
          <a:xfrm>
            <a:off x="5212080" y="1188720"/>
            <a:ext cx="3200400" cy="685800"/>
          </a:xfrm>
          <a:prstGeom prst="rect">
            <a:avLst/>
          </a:prstGeom>
          <a:noFill/>
          <a:ln/>
        </p:spPr>
        <p:txBody>
          <a:bodyPr wrap="square" lIns="0" tIns="0" rIns="0" bIns="0" rtlCol="0" anchor="ctr"/>
          <a:lstStyle/>
          <a:p>
            <a:pPr indent="0" marL="0">
              <a:buNone/>
            </a:pPr>
            <a:r>
              <a:rPr lang="en-US" sz="1400" b="1" dirty="0">
                <a:solidFill>
                  <a:srgbClr val="2D7D46"/>
                </a:solidFill>
                <a:latin typeface="Calibri" pitchFamily="34" charset="0"/>
                <a:ea typeface="Calibri" pitchFamily="34" charset="-122"/>
                <a:cs typeface="Calibri" pitchFamily="34" charset="-120"/>
              </a:rPr>
              <a:t>~$30K-$80K/mes</a:t>
            </a:r>
            <a:endParaRPr lang="en-US" sz="1400" dirty="0"/>
          </a:p>
        </p:txBody>
      </p:sp>
      <p:sp>
        <p:nvSpPr>
          <p:cNvPr id="13" name="Shape 10"/>
          <p:cNvSpPr/>
          <p:nvPr/>
        </p:nvSpPr>
        <p:spPr>
          <a:xfrm>
            <a:off x="548640" y="2011680"/>
            <a:ext cx="8046720" cy="685800"/>
          </a:xfrm>
          <a:prstGeom prst="rect">
            <a:avLst/>
          </a:prstGeom>
          <a:solidFill>
            <a:srgbClr val="FFFFFF"/>
          </a:solidFill>
          <a:ln w="12700">
            <a:solidFill>
              <a:srgbClr val="D4C5B2"/>
            </a:solidFill>
            <a:prstDash val="solid"/>
          </a:ln>
        </p:spPr>
        <p:txBody>
          <a:bodyPr/>
          <a:p/>
        </p:txBody>
      </p:sp>
      <p:sp>
        <p:nvSpPr>
          <p:cNvPr id="14" name="Shape 11"/>
          <p:cNvSpPr/>
          <p:nvPr/>
        </p:nvSpPr>
        <p:spPr>
          <a:xfrm>
            <a:off x="548640" y="2011680"/>
            <a:ext cx="73152" cy="685800"/>
          </a:xfrm>
          <a:prstGeom prst="rect">
            <a:avLst/>
          </a:prstGeom>
          <a:solidFill>
            <a:srgbClr val="B87333"/>
          </a:solidFill>
          <a:ln/>
        </p:spPr>
        <p:txBody>
          <a:bodyPr/>
          <a:p/>
        </p:txBody>
      </p:sp>
      <p:sp>
        <p:nvSpPr>
          <p:cNvPr id="15" name="Text 12"/>
          <p:cNvSpPr/>
          <p:nvPr/>
        </p:nvSpPr>
        <p:spPr>
          <a:xfrm>
            <a:off x="777240" y="2011680"/>
            <a:ext cx="2011680" cy="411480"/>
          </a:xfrm>
          <a:prstGeom prst="rect">
            <a:avLst/>
          </a:prstGeom>
          <a:noFill/>
          <a:ln/>
        </p:spPr>
        <p:txBody>
          <a:bodyPr wrap="square" lIns="0" tIns="0" rIns="0" bIns="0" rtlCol="0" anchor="b"/>
          <a:lstStyle/>
          <a:p>
            <a:pPr indent="0" marL="0">
              <a:buNone/>
            </a:pPr>
            <a:r>
              <a:rPr lang="en-US" sz="1100" b="1" dirty="0">
                <a:solidFill>
                  <a:srgbClr val="3E2C1C"/>
                </a:solidFill>
                <a:latin typeface="Calibri" pitchFamily="34" charset="0"/>
                <a:ea typeface="Calibri" pitchFamily="34" charset="-122"/>
                <a:cs typeface="Calibri" pitchFamily="34" charset="-120"/>
              </a:rPr>
              <a:t>Fase 2: Cuba 7m</a:t>
            </a:r>
            <a:endParaRPr lang="en-US" sz="1100" dirty="0"/>
          </a:p>
        </p:txBody>
      </p:sp>
      <p:sp>
        <p:nvSpPr>
          <p:cNvPr id="16" name="Text 13"/>
          <p:cNvSpPr/>
          <p:nvPr/>
        </p:nvSpPr>
        <p:spPr>
          <a:xfrm>
            <a:off x="777240" y="2377440"/>
            <a:ext cx="2011680" cy="274320"/>
          </a:xfrm>
          <a:prstGeom prst="rect">
            <a:avLst/>
          </a:prstGeom>
          <a:noFill/>
          <a:ln/>
        </p:spPr>
        <p:txBody>
          <a:bodyPr wrap="square" lIns="0" tIns="0" rIns="0" bIns="0" rtlCol="0" anchor="t"/>
          <a:lstStyle/>
          <a:p>
            <a:pPr indent="0" marL="0">
              <a:buNone/>
            </a:pPr>
            <a:r>
              <a:rPr lang="en-US" sz="800" dirty="0">
                <a:solidFill>
                  <a:srgbClr val="7A6555"/>
                </a:solidFill>
                <a:latin typeface="Calibri" pitchFamily="34" charset="0"/>
                <a:ea typeface="Calibri" pitchFamily="34" charset="-122"/>
                <a:cs typeface="Calibri" pitchFamily="34" charset="-120"/>
              </a:rPr>
              <a:t>50 TM zinc + gruas</a:t>
            </a:r>
            <a:endParaRPr lang="en-US" sz="800" dirty="0"/>
          </a:p>
        </p:txBody>
      </p:sp>
      <p:sp>
        <p:nvSpPr>
          <p:cNvPr id="17" name="Text 14"/>
          <p:cNvSpPr/>
          <p:nvPr/>
        </p:nvSpPr>
        <p:spPr>
          <a:xfrm>
            <a:off x="2926080" y="2011680"/>
            <a:ext cx="1645920" cy="685800"/>
          </a:xfrm>
          <a:prstGeom prst="rect">
            <a:avLst/>
          </a:prstGeom>
          <a:noFill/>
          <a:ln/>
        </p:spPr>
        <p:txBody>
          <a:bodyPr wrap="square" lIns="0" tIns="0" rIns="0" bIns="0" rtlCol="0" anchor="ctr"/>
          <a:lstStyle/>
          <a:p>
            <a:pPr algn="ctr" indent="0" marL="0">
              <a:buNone/>
            </a:pPr>
            <a:r>
              <a:rPr lang="en-US" sz="1600" b="1" dirty="0">
                <a:solidFill>
                  <a:srgbClr val="B87333"/>
                </a:solidFill>
                <a:latin typeface="Georgia" pitchFamily="34" charset="0"/>
                <a:ea typeface="Georgia" pitchFamily="34" charset="-122"/>
                <a:cs typeface="Georgia" pitchFamily="34" charset="-120"/>
              </a:rPr>
              <a:t>$216,000</a:t>
            </a:r>
            <a:endParaRPr lang="en-US" sz="1600" dirty="0"/>
          </a:p>
        </p:txBody>
      </p:sp>
      <p:pic>
        <p:nvPicPr>
          <p:cNvPr id="18" name="Image 1" descr="preencoded.png"/>
          <p:cNvPicPr>
            <a:picLocks noChangeAspect="1"/>
          </p:cNvPicPr>
          <p:nvPr/>
        </p:nvPicPr>
        <p:blipFill>
          <a:blip r:embed="rId2"/>
          <a:stretch>
            <a:fillRect/>
          </a:stretch>
        </p:blipFill>
        <p:spPr>
          <a:xfrm>
            <a:off x="4754880" y="2194560"/>
            <a:ext cx="274320" cy="274320"/>
          </a:xfrm>
          <a:prstGeom prst="rect">
            <a:avLst/>
          </a:prstGeom>
        </p:spPr>
      </p:pic>
      <p:sp>
        <p:nvSpPr>
          <p:cNvPr id="19" name="Text 15"/>
          <p:cNvSpPr/>
          <p:nvPr/>
        </p:nvSpPr>
        <p:spPr>
          <a:xfrm>
            <a:off x="5212080" y="2011680"/>
            <a:ext cx="3200400" cy="685800"/>
          </a:xfrm>
          <a:prstGeom prst="rect">
            <a:avLst/>
          </a:prstGeom>
          <a:noFill/>
          <a:ln/>
        </p:spPr>
        <p:txBody>
          <a:bodyPr wrap="square" lIns="0" tIns="0" rIns="0" bIns="0" rtlCol="0" anchor="ctr"/>
          <a:lstStyle/>
          <a:p>
            <a:pPr indent="0" marL="0">
              <a:buNone/>
            </a:pPr>
            <a:r>
              <a:rPr lang="en-US" sz="1400" b="1" dirty="0">
                <a:solidFill>
                  <a:srgbClr val="2D7D46"/>
                </a:solidFill>
                <a:latin typeface="Calibri" pitchFamily="34" charset="0"/>
                <a:ea typeface="Calibri" pitchFamily="34" charset="-122"/>
                <a:cs typeface="Calibri" pitchFamily="34" charset="-120"/>
              </a:rPr>
              <a:t>$90K-$275K/mes</a:t>
            </a:r>
            <a:endParaRPr lang="en-US" sz="1400" dirty="0"/>
          </a:p>
        </p:txBody>
      </p:sp>
      <p:sp>
        <p:nvSpPr>
          <p:cNvPr id="20" name="Shape 16"/>
          <p:cNvSpPr/>
          <p:nvPr/>
        </p:nvSpPr>
        <p:spPr>
          <a:xfrm>
            <a:off x="548640" y="2834640"/>
            <a:ext cx="8046720" cy="685800"/>
          </a:xfrm>
          <a:prstGeom prst="rect">
            <a:avLst/>
          </a:prstGeom>
          <a:solidFill>
            <a:srgbClr val="FFFFFF"/>
          </a:solidFill>
          <a:ln w="12700">
            <a:solidFill>
              <a:srgbClr val="D4C5B2"/>
            </a:solidFill>
            <a:prstDash val="solid"/>
          </a:ln>
        </p:spPr>
        <p:txBody>
          <a:bodyPr/>
          <a:p/>
        </p:txBody>
      </p:sp>
      <p:sp>
        <p:nvSpPr>
          <p:cNvPr id="21" name="Shape 17"/>
          <p:cNvSpPr/>
          <p:nvPr/>
        </p:nvSpPr>
        <p:spPr>
          <a:xfrm>
            <a:off x="548640" y="2834640"/>
            <a:ext cx="73152" cy="685800"/>
          </a:xfrm>
          <a:prstGeom prst="rect">
            <a:avLst/>
          </a:prstGeom>
          <a:solidFill>
            <a:srgbClr val="CD853F"/>
          </a:solidFill>
          <a:ln/>
        </p:spPr>
        <p:txBody>
          <a:bodyPr/>
          <a:p/>
        </p:txBody>
      </p:sp>
      <p:sp>
        <p:nvSpPr>
          <p:cNvPr id="22" name="Text 18"/>
          <p:cNvSpPr/>
          <p:nvPr/>
        </p:nvSpPr>
        <p:spPr>
          <a:xfrm>
            <a:off x="777240" y="2834640"/>
            <a:ext cx="2011680" cy="411480"/>
          </a:xfrm>
          <a:prstGeom prst="rect">
            <a:avLst/>
          </a:prstGeom>
          <a:noFill/>
          <a:ln/>
        </p:spPr>
        <p:txBody>
          <a:bodyPr wrap="square" lIns="0" tIns="0" rIns="0" bIns="0" rtlCol="0" anchor="b"/>
          <a:lstStyle/>
          <a:p>
            <a:pPr indent="0" marL="0">
              <a:buNone/>
            </a:pPr>
            <a:r>
              <a:rPr lang="en-US" sz="1100" b="1" dirty="0">
                <a:solidFill>
                  <a:srgbClr val="3E2C1C"/>
                </a:solidFill>
                <a:latin typeface="Calibri" pitchFamily="34" charset="0"/>
                <a:ea typeface="Calibri" pitchFamily="34" charset="-122"/>
                <a:cs typeface="Calibri" pitchFamily="34" charset="-120"/>
              </a:rPr>
              <a:t>Fase 3: Linea cobre</a:t>
            </a:r>
            <a:endParaRPr lang="en-US" sz="1100" dirty="0"/>
          </a:p>
        </p:txBody>
      </p:sp>
      <p:sp>
        <p:nvSpPr>
          <p:cNvPr id="23" name="Text 19"/>
          <p:cNvSpPr/>
          <p:nvPr/>
        </p:nvSpPr>
        <p:spPr>
          <a:xfrm>
            <a:off x="777240" y="3200400"/>
            <a:ext cx="2011680" cy="274320"/>
          </a:xfrm>
          <a:prstGeom prst="rect">
            <a:avLst/>
          </a:prstGeom>
          <a:noFill/>
          <a:ln/>
        </p:spPr>
        <p:txBody>
          <a:bodyPr wrap="square" lIns="0" tIns="0" rIns="0" bIns="0" rtlCol="0" anchor="t"/>
          <a:lstStyle/>
          <a:p>
            <a:pPr indent="0" marL="0">
              <a:buNone/>
            </a:pPr>
            <a:r>
              <a:rPr lang="en-US" sz="800" dirty="0">
                <a:solidFill>
                  <a:srgbClr val="7A6555"/>
                </a:solidFill>
                <a:latin typeface="Calibri" pitchFamily="34" charset="0"/>
                <a:ea typeface="Calibri" pitchFamily="34" charset="-122"/>
                <a:cs typeface="Calibri" pitchFamily="34" charset="-120"/>
              </a:rPr>
              <a:t>Rectificadores + tanques</a:t>
            </a:r>
            <a:endParaRPr lang="en-US" sz="800" dirty="0"/>
          </a:p>
        </p:txBody>
      </p:sp>
      <p:sp>
        <p:nvSpPr>
          <p:cNvPr id="24" name="Text 20"/>
          <p:cNvSpPr/>
          <p:nvPr/>
        </p:nvSpPr>
        <p:spPr>
          <a:xfrm>
            <a:off x="2926080" y="2834640"/>
            <a:ext cx="1645920" cy="685800"/>
          </a:xfrm>
          <a:prstGeom prst="rect">
            <a:avLst/>
          </a:prstGeom>
          <a:noFill/>
          <a:ln/>
        </p:spPr>
        <p:txBody>
          <a:bodyPr wrap="square" lIns="0" tIns="0" rIns="0" bIns="0" rtlCol="0" anchor="ctr"/>
          <a:lstStyle/>
          <a:p>
            <a:pPr algn="ctr" indent="0" marL="0">
              <a:buNone/>
            </a:pPr>
            <a:r>
              <a:rPr lang="en-US" sz="1600" b="1" dirty="0">
                <a:solidFill>
                  <a:srgbClr val="CD853F"/>
                </a:solidFill>
                <a:latin typeface="Georgia" pitchFamily="34" charset="0"/>
                <a:ea typeface="Georgia" pitchFamily="34" charset="-122"/>
                <a:cs typeface="Georgia" pitchFamily="34" charset="-120"/>
              </a:rPr>
              <a:t>$52,500</a:t>
            </a:r>
            <a:endParaRPr lang="en-US" sz="1600" dirty="0"/>
          </a:p>
        </p:txBody>
      </p:sp>
      <p:pic>
        <p:nvPicPr>
          <p:cNvPr id="25" name="Image 2" descr="preencoded.png"/>
          <p:cNvPicPr>
            <a:picLocks noChangeAspect="1"/>
          </p:cNvPicPr>
          <p:nvPr/>
        </p:nvPicPr>
        <p:blipFill>
          <a:blip r:embed="rId3"/>
          <a:stretch>
            <a:fillRect/>
          </a:stretch>
        </p:blipFill>
        <p:spPr>
          <a:xfrm>
            <a:off x="4754880" y="3017520"/>
            <a:ext cx="274320" cy="274320"/>
          </a:xfrm>
          <a:prstGeom prst="rect">
            <a:avLst/>
          </a:prstGeom>
        </p:spPr>
      </p:pic>
      <p:sp>
        <p:nvSpPr>
          <p:cNvPr id="26" name="Text 21"/>
          <p:cNvSpPr/>
          <p:nvPr/>
        </p:nvSpPr>
        <p:spPr>
          <a:xfrm>
            <a:off x="5212080" y="2834640"/>
            <a:ext cx="3200400" cy="685800"/>
          </a:xfrm>
          <a:prstGeom prst="rect">
            <a:avLst/>
          </a:prstGeom>
          <a:noFill/>
          <a:ln/>
        </p:spPr>
        <p:txBody>
          <a:bodyPr wrap="square" lIns="0" tIns="0" rIns="0" bIns="0" rtlCol="0" anchor="ctr"/>
          <a:lstStyle/>
          <a:p>
            <a:pPr indent="0" marL="0">
              <a:buNone/>
            </a:pPr>
            <a:r>
              <a:rPr lang="en-US" sz="1400" b="1" dirty="0">
                <a:solidFill>
                  <a:srgbClr val="2D7D46"/>
                </a:solidFill>
                <a:latin typeface="Calibri" pitchFamily="34" charset="0"/>
                <a:ea typeface="Calibri" pitchFamily="34" charset="-122"/>
                <a:cs typeface="Calibri" pitchFamily="34" charset="-120"/>
              </a:rPr>
              <a:t>+$30K-$56K/mes</a:t>
            </a:r>
            <a:endParaRPr lang="en-US" sz="1400" dirty="0"/>
          </a:p>
        </p:txBody>
      </p:sp>
      <p:sp>
        <p:nvSpPr>
          <p:cNvPr id="27" name="Shape 22"/>
          <p:cNvSpPr/>
          <p:nvPr/>
        </p:nvSpPr>
        <p:spPr>
          <a:xfrm>
            <a:off x="548640" y="3657600"/>
            <a:ext cx="8046720" cy="685800"/>
          </a:xfrm>
          <a:prstGeom prst="rect">
            <a:avLst/>
          </a:prstGeom>
          <a:solidFill>
            <a:srgbClr val="FFFFFF"/>
          </a:solidFill>
          <a:ln w="12700">
            <a:solidFill>
              <a:srgbClr val="D4C5B2"/>
            </a:solidFill>
            <a:prstDash val="solid"/>
          </a:ln>
        </p:spPr>
        <p:txBody>
          <a:bodyPr/>
          <a:p/>
        </p:txBody>
      </p:sp>
      <p:sp>
        <p:nvSpPr>
          <p:cNvPr id="28" name="Shape 23"/>
          <p:cNvSpPr/>
          <p:nvPr/>
        </p:nvSpPr>
        <p:spPr>
          <a:xfrm>
            <a:off x="548640" y="3657600"/>
            <a:ext cx="73152" cy="685800"/>
          </a:xfrm>
          <a:prstGeom prst="rect">
            <a:avLst/>
          </a:prstGeom>
          <a:solidFill>
            <a:srgbClr val="DAA520"/>
          </a:solidFill>
          <a:ln/>
        </p:spPr>
        <p:txBody>
          <a:bodyPr/>
          <a:p/>
        </p:txBody>
      </p:sp>
      <p:sp>
        <p:nvSpPr>
          <p:cNvPr id="29" name="Text 24"/>
          <p:cNvSpPr/>
          <p:nvPr/>
        </p:nvSpPr>
        <p:spPr>
          <a:xfrm>
            <a:off x="777240" y="3657600"/>
            <a:ext cx="2011680" cy="411480"/>
          </a:xfrm>
          <a:prstGeom prst="rect">
            <a:avLst/>
          </a:prstGeom>
          <a:noFill/>
          <a:ln/>
        </p:spPr>
        <p:txBody>
          <a:bodyPr wrap="square" lIns="0" tIns="0" rIns="0" bIns="0" rtlCol="0" anchor="b"/>
          <a:lstStyle/>
          <a:p>
            <a:pPr indent="0" marL="0">
              <a:buNone/>
            </a:pPr>
            <a:r>
              <a:rPr lang="en-US" sz="1100" b="1" dirty="0">
                <a:solidFill>
                  <a:srgbClr val="3E2C1C"/>
                </a:solidFill>
                <a:latin typeface="Calibri" pitchFamily="34" charset="0"/>
                <a:ea typeface="Calibri" pitchFamily="34" charset="-122"/>
                <a:cs typeface="Calibri" pitchFamily="34" charset="-120"/>
              </a:rPr>
              <a:t>Fase 4: Cuba 9m</a:t>
            </a:r>
            <a:endParaRPr lang="en-US" sz="1100" dirty="0"/>
          </a:p>
        </p:txBody>
      </p:sp>
      <p:sp>
        <p:nvSpPr>
          <p:cNvPr id="30" name="Text 25"/>
          <p:cNvSpPr/>
          <p:nvPr/>
        </p:nvSpPr>
        <p:spPr>
          <a:xfrm>
            <a:off x="777240" y="4023360"/>
            <a:ext cx="2011680" cy="274320"/>
          </a:xfrm>
          <a:prstGeom prst="rect">
            <a:avLst/>
          </a:prstGeom>
          <a:noFill/>
          <a:ln/>
        </p:spPr>
        <p:txBody>
          <a:bodyPr wrap="square" lIns="0" tIns="0" rIns="0" bIns="0" rtlCol="0" anchor="t"/>
          <a:lstStyle/>
          <a:p>
            <a:pPr indent="0" marL="0">
              <a:buNone/>
            </a:pPr>
            <a:r>
              <a:rPr lang="en-US" sz="800" dirty="0">
                <a:solidFill>
                  <a:srgbClr val="7A6555"/>
                </a:solidFill>
                <a:latin typeface="Calibri" pitchFamily="34" charset="0"/>
                <a:ea typeface="Calibri" pitchFamily="34" charset="-122"/>
                <a:cs typeface="Calibri" pitchFamily="34" charset="-120"/>
              </a:rPr>
              <a:t>Instalacion + zinc</a:t>
            </a:r>
            <a:endParaRPr lang="en-US" sz="800" dirty="0"/>
          </a:p>
        </p:txBody>
      </p:sp>
      <p:sp>
        <p:nvSpPr>
          <p:cNvPr id="31" name="Text 26"/>
          <p:cNvSpPr/>
          <p:nvPr/>
        </p:nvSpPr>
        <p:spPr>
          <a:xfrm>
            <a:off x="2926080" y="3657600"/>
            <a:ext cx="1645920" cy="685800"/>
          </a:xfrm>
          <a:prstGeom prst="rect">
            <a:avLst/>
          </a:prstGeom>
          <a:noFill/>
          <a:ln/>
        </p:spPr>
        <p:txBody>
          <a:bodyPr wrap="square" lIns="0" tIns="0" rIns="0" bIns="0" rtlCol="0" anchor="ctr"/>
          <a:lstStyle/>
          <a:p>
            <a:pPr algn="ctr" indent="0" marL="0">
              <a:buNone/>
            </a:pPr>
            <a:r>
              <a:rPr lang="en-US" sz="1600" b="1" dirty="0">
                <a:solidFill>
                  <a:srgbClr val="DAA520"/>
                </a:solidFill>
                <a:latin typeface="Georgia" pitchFamily="34" charset="0"/>
                <a:ea typeface="Georgia" pitchFamily="34" charset="-122"/>
                <a:cs typeface="Georgia" pitchFamily="34" charset="-120"/>
              </a:rPr>
              <a:t>TBD</a:t>
            </a:r>
            <a:endParaRPr lang="en-US" sz="1600" dirty="0"/>
          </a:p>
        </p:txBody>
      </p:sp>
      <p:pic>
        <p:nvPicPr>
          <p:cNvPr id="32" name="Image 3" descr="preencoded.png"/>
          <p:cNvPicPr>
            <a:picLocks noChangeAspect="1"/>
          </p:cNvPicPr>
          <p:nvPr/>
        </p:nvPicPr>
        <p:blipFill>
          <a:blip r:embed="rId4"/>
          <a:stretch>
            <a:fillRect/>
          </a:stretch>
        </p:blipFill>
        <p:spPr>
          <a:xfrm>
            <a:off x="4754880" y="3840480"/>
            <a:ext cx="274320" cy="274320"/>
          </a:xfrm>
          <a:prstGeom prst="rect">
            <a:avLst/>
          </a:prstGeom>
        </p:spPr>
      </p:pic>
      <p:sp>
        <p:nvSpPr>
          <p:cNvPr id="33" name="Text 27"/>
          <p:cNvSpPr/>
          <p:nvPr/>
        </p:nvSpPr>
        <p:spPr>
          <a:xfrm>
            <a:off x="5212080" y="3657600"/>
            <a:ext cx="3200400" cy="685800"/>
          </a:xfrm>
          <a:prstGeom prst="rect">
            <a:avLst/>
          </a:prstGeom>
          <a:noFill/>
          <a:ln/>
        </p:spPr>
        <p:txBody>
          <a:bodyPr wrap="square" lIns="0" tIns="0" rIns="0" bIns="0" rtlCol="0" anchor="ctr"/>
          <a:lstStyle/>
          <a:p>
            <a:pPr indent="0" marL="0">
              <a:buNone/>
            </a:pPr>
            <a:r>
              <a:rPr lang="en-US" sz="1400" b="1" dirty="0">
                <a:solidFill>
                  <a:srgbClr val="2D7D46"/>
                </a:solidFill>
                <a:latin typeface="Calibri" pitchFamily="34" charset="0"/>
                <a:ea typeface="Calibri" pitchFamily="34" charset="-122"/>
                <a:cs typeface="Calibri" pitchFamily="34" charset="-120"/>
              </a:rPr>
              <a:t>Capacidad futura</a:t>
            </a:r>
            <a:endParaRPr lang="en-US" sz="1400" dirty="0"/>
          </a:p>
        </p:txBody>
      </p:sp>
      <p:sp>
        <p:nvSpPr>
          <p:cNvPr id="34" name="Shape 28"/>
          <p:cNvSpPr/>
          <p:nvPr/>
        </p:nvSpPr>
        <p:spPr>
          <a:xfrm>
            <a:off x="548640" y="4526280"/>
            <a:ext cx="8046720" cy="457200"/>
          </a:xfrm>
          <a:prstGeom prst="rect">
            <a:avLst/>
          </a:prstGeom>
          <a:solidFill>
            <a:srgbClr val="EDE8E0"/>
          </a:solidFill>
          <a:ln w="19050">
            <a:solidFill>
              <a:srgbClr val="B87333"/>
            </a:solidFill>
            <a:prstDash val="solid"/>
          </a:ln>
        </p:spPr>
        <p:txBody>
          <a:bodyPr/>
          <a:p/>
        </p:txBody>
      </p:sp>
      <p:sp>
        <p:nvSpPr>
          <p:cNvPr id="35" name="Text 29"/>
          <p:cNvSpPr/>
          <p:nvPr/>
        </p:nvSpPr>
        <p:spPr>
          <a:xfrm>
            <a:off x="731520" y="4526280"/>
            <a:ext cx="7680960" cy="457200"/>
          </a:xfrm>
          <a:prstGeom prst="rect">
            <a:avLst/>
          </a:prstGeom>
          <a:noFill/>
          <a:ln/>
        </p:spPr>
        <p:txBody>
          <a:bodyPr wrap="square" rtlCol="0" anchor="ctr"/>
          <a:lstStyle/>
          <a:p>
            <a:pPr algn="ctr" indent="0" marL="0">
              <a:buNone/>
            </a:pPr>
            <a:r>
              <a:rPr lang="en-US" sz="1100" dirty="0">
                <a:solidFill>
                  <a:srgbClr val="5C4033"/>
                </a:solidFill>
                <a:latin typeface="Calibri" pitchFamily="34" charset="0"/>
                <a:ea typeface="Calibri" pitchFamily="34" charset="-122"/>
                <a:cs typeface="Calibri" pitchFamily="34" charset="-120"/>
              </a:rPr>
              <a:t xml:space="preserve">Inversion minima (Fases 1-2): </a:t>
            </a:r>
            <a:pPr algn="ctr" indent="0" marL="0">
              <a:buNone/>
            </a:pPr>
            <a:r>
              <a:rPr lang="en-US" sz="1400" b="1" dirty="0">
                <a:solidFill>
                  <a:srgbClr val="8B5A2B"/>
                </a:solidFill>
                <a:latin typeface="Georgia" pitchFamily="34" charset="0"/>
                <a:ea typeface="Georgia" pitchFamily="34" charset="-122"/>
                <a:cs typeface="Georgia" pitchFamily="34" charset="-120"/>
              </a:rPr>
              <a:t>$336K</a:t>
            </a:r>
            <a:pPr algn="ctr" indent="0" marL="0">
              <a:buNone/>
            </a:pPr>
            <a:r>
              <a:rPr lang="en-US" sz="1100" dirty="0">
                <a:solidFill>
                  <a:srgbClr val="5C4033"/>
                </a:solidFill>
                <a:latin typeface="Calibri" pitchFamily="34" charset="0"/>
                <a:ea typeface="Calibri" pitchFamily="34" charset="-122"/>
                <a:cs typeface="Calibri" pitchFamily="34" charset="-120"/>
              </a:rPr>
              <a:t xml:space="preserve">  →  Potencial: </a:t>
            </a:r>
            <a:pPr algn="ctr" indent="0" marL="0">
              <a:buNone/>
            </a:pPr>
            <a:r>
              <a:rPr lang="en-US" sz="1400" b="1" dirty="0">
                <a:solidFill>
                  <a:srgbClr val="2D7D46"/>
                </a:solidFill>
                <a:latin typeface="Georgia" pitchFamily="34" charset="0"/>
                <a:ea typeface="Georgia" pitchFamily="34" charset="-122"/>
                <a:cs typeface="Georgia" pitchFamily="34" charset="-120"/>
              </a:rPr>
              <a:t>$90K-$275K/mes</a:t>
            </a:r>
            <a:pPr algn="ctr" indent="0" marL="0">
              <a:buNone/>
            </a:pPr>
            <a:r>
              <a:rPr lang="en-US" sz="1000" i="1" dirty="0">
                <a:solidFill>
                  <a:srgbClr val="7A6555"/>
                </a:solidFill>
                <a:latin typeface="Calibri" pitchFamily="34" charset="0"/>
                <a:ea typeface="Calibri" pitchFamily="34" charset="-122"/>
                <a:cs typeface="Calibri" pitchFamily="34" charset="-120"/>
              </a:rPr>
              <a:t xml:space="preserve"> (depende de volumen)</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1">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24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3E2C1C"/>
                </a:solidFill>
                <a:latin typeface="Georgia" pitchFamily="34" charset="0"/>
                <a:ea typeface="Georgia" pitchFamily="34" charset="-122"/>
                <a:cs typeface="Georgia" pitchFamily="34" charset="-120"/>
              </a:rPr>
              <a:t>VALORACION DE ACTIVOS</a:t>
            </a:r>
            <a:endParaRPr lang="en-US" sz="2800" dirty="0"/>
          </a:p>
        </p:txBody>
      </p:sp>
      <p:sp>
        <p:nvSpPr>
          <p:cNvPr id="5" name="Text 3"/>
          <p:cNvSpPr/>
          <p:nvPr/>
        </p:nvSpPr>
        <p:spPr>
          <a:xfrm>
            <a:off x="548640" y="731520"/>
            <a:ext cx="8046720" cy="274320"/>
          </a:xfrm>
          <a:prstGeom prst="rect">
            <a:avLst/>
          </a:prstGeom>
          <a:noFill/>
          <a:ln/>
        </p:spPr>
        <p:txBody>
          <a:bodyPr wrap="square" lIns="0" tIns="0" rIns="0" bIns="0" rtlCol="0" anchor="ctr"/>
          <a:lstStyle/>
          <a:p>
            <a:pPr indent="0" marL="0">
              <a:buNone/>
            </a:pPr>
            <a:r>
              <a:rPr lang="en-US" sz="1200" i="1" dirty="0">
                <a:solidFill>
                  <a:srgbClr val="8B5A2B"/>
                </a:solidFill>
                <a:latin typeface="Calibri" pitchFamily="34" charset="0"/>
                <a:ea typeface="Calibri" pitchFamily="34" charset="-122"/>
                <a:cs typeface="Calibri" pitchFamily="34" charset="-120"/>
              </a:rPr>
              <a:t>Costo de reposicion — que costaria construir esto desde cero</a:t>
            </a:r>
            <a:endParaRPr lang="en-US" sz="1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143000"/>
          <a:ext cx="8046720" cy="914400"/>
        </p:xfrm>
        <a:graphic>
          <a:graphicData uri="http://schemas.openxmlformats.org/drawingml/2006/table">
            <a:tbl>
              <a:tblPr/>
              <a:tblGrid>
                <a:gridCol w="5029200"/>
                <a:gridCol w="3017520"/>
              </a:tblGrid>
              <a:tr h="32004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Categoria</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Rango de Valor</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r>
              <a:tr h="365760">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Terreno + 2 galpones (3,640 m2)</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8B5A2B"/>
                          </a:solidFill>
                          <a:latin typeface="Calibri" pitchFamily="34" charset="0"/>
                          <a:ea typeface="Calibri" pitchFamily="34" charset="-122"/>
                          <a:cs typeface="Calibri" pitchFamily="34" charset="-120"/>
                        </a:rPr>
                        <a:t>$692K - $990K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365760">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Cubas Pilling (7m + 9m + 3.5m + centrifuga)</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b="1" dirty="0">
                          <a:solidFill>
                            <a:srgbClr val="8B5A2B"/>
                          </a:solidFill>
                          <a:latin typeface="Calibri" pitchFamily="34" charset="0"/>
                          <a:ea typeface="Calibri" pitchFamily="34" charset="-122"/>
                          <a:cs typeface="Calibri" pitchFamily="34" charset="-120"/>
                        </a:rPr>
                        <a:t>$1,140K - $1,340K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r h="365760">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Linea de cobre (6 rectificadores, 10 tanques)</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8B5A2B"/>
                          </a:solidFill>
                          <a:latin typeface="Calibri" pitchFamily="34" charset="0"/>
                          <a:ea typeface="Calibri" pitchFamily="34" charset="-122"/>
                          <a:cs typeface="Calibri" pitchFamily="34" charset="-120"/>
                        </a:rPr>
                        <a:t>$100K - $200K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365760">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Gruas, montacargas, bascula industrial</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b="1" dirty="0">
                          <a:solidFill>
                            <a:srgbClr val="8B5A2B"/>
                          </a:solidFill>
                          <a:latin typeface="Calibri" pitchFamily="34" charset="0"/>
                          <a:ea typeface="Calibri" pitchFamily="34" charset="-122"/>
                          <a:cs typeface="Calibri" pitchFamily="34" charset="-120"/>
                        </a:rPr>
                        <a:t>$90K - $180K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r h="365760">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Procesamiento quimico + infraestructura</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8B5A2B"/>
                          </a:solidFill>
                          <a:latin typeface="Calibri" pitchFamily="34" charset="0"/>
                          <a:ea typeface="Calibri" pitchFamily="34" charset="-122"/>
                          <a:cs typeface="Calibri" pitchFamily="34" charset="-120"/>
                        </a:rPr>
                        <a:t>$90K - $180K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365760">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Permisos, instalacion, puesta en marcha</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b="1" dirty="0">
                          <a:solidFill>
                            <a:srgbClr val="8B5A2B"/>
                          </a:solidFill>
                          <a:latin typeface="Calibri" pitchFamily="34" charset="0"/>
                          <a:ea typeface="Calibri" pitchFamily="34" charset="-122"/>
                          <a:cs typeface="Calibri" pitchFamily="34" charset="-120"/>
                        </a:rPr>
                        <a:t>$72K - $140K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r h="41148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TOTAL COSTO DE REPOSICION</a:t>
                      </a:r>
                      <a:endParaRPr lang="en-US" sz="11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300" b="1" dirty="0">
                          <a:solidFill>
                            <a:srgbClr val="FFFFFF"/>
                          </a:solidFill>
                          <a:latin typeface="Georgia" pitchFamily="34" charset="0"/>
                          <a:ea typeface="Georgia" pitchFamily="34" charset="-122"/>
                          <a:cs typeface="Georgia" pitchFamily="34" charset="-120"/>
                        </a:rPr>
                        <a:t>$2.2M - $3.0M</a:t>
                      </a:r>
                      <a:endParaRPr lang="en-US" sz="1300" dirty="0">
                        <a:latin typeface="Georgia" charset="0"/>
                        <a:ea typeface="Georgia" charset="0"/>
                        <a:cs typeface="Georgia"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r>
            </a:tbl>
          </a:graphicData>
        </a:graphic>
      </p:graphicFrame>
      <p:sp>
        <p:nvSpPr>
          <p:cNvPr id="7" name="Text 4"/>
          <p:cNvSpPr/>
          <p:nvPr/>
        </p:nvSpPr>
        <p:spPr>
          <a:xfrm>
            <a:off x="548640" y="4297680"/>
            <a:ext cx="8046720" cy="320040"/>
          </a:xfrm>
          <a:prstGeom prst="rect">
            <a:avLst/>
          </a:prstGeom>
          <a:noFill/>
          <a:ln/>
        </p:spPr>
        <p:txBody>
          <a:bodyPr wrap="square" lIns="0" tIns="0" rIns="0" bIns="0" rtlCol="0" anchor="ctr"/>
          <a:lstStyle/>
          <a:p>
            <a:pPr algn="ctr" indent="0" marL="0">
              <a:buNone/>
            </a:pPr>
            <a:r>
              <a:rPr lang="en-US" sz="1100" i="1" dirty="0">
                <a:solidFill>
                  <a:srgbClr val="7A6555"/>
                </a:solidFill>
                <a:latin typeface="Calibri" pitchFamily="34" charset="0"/>
                <a:ea typeface="Calibri" pitchFamily="34" charset="-122"/>
                <a:cs typeface="Calibri" pitchFamily="34" charset="-120"/>
              </a:rPr>
              <a:t>Una nueva planta toma 18-36 meses de construccion. PYGLARA esta lista en 3 meses.</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2">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25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2600" b="1" dirty="0">
                <a:solidFill>
                  <a:srgbClr val="3E2C1C"/>
                </a:solidFill>
                <a:latin typeface="Georgia" pitchFamily="34" charset="0"/>
                <a:ea typeface="Georgia" pitchFamily="34" charset="-122"/>
                <a:cs typeface="Georgia" pitchFamily="34" charset="-120"/>
              </a:rPr>
              <a:t>QUE INCLUYE LA ADQUISICION</a:t>
            </a:r>
            <a:endParaRPr lang="en-US" sz="2600" dirty="0"/>
          </a:p>
        </p:txBody>
      </p:sp>
      <p:sp>
        <p:nvSpPr>
          <p:cNvPr id="5" name="Shape 3"/>
          <p:cNvSpPr/>
          <p:nvPr/>
        </p:nvSpPr>
        <p:spPr>
          <a:xfrm>
            <a:off x="457200" y="1005840"/>
            <a:ext cx="4114800" cy="548640"/>
          </a:xfrm>
          <a:prstGeom prst="rect">
            <a:avLst/>
          </a:prstGeom>
          <a:solidFill>
            <a:srgbClr val="FFFFFF"/>
          </a:solidFill>
          <a:ln w="6350">
            <a:solidFill>
              <a:srgbClr val="D4C5B2"/>
            </a:solidFill>
            <a:prstDash val="solid"/>
          </a:ln>
        </p:spPr>
        <p:txBody>
          <a:bodyPr/>
          <a:p/>
        </p:txBody>
      </p:sp>
      <p:pic>
        <p:nvPicPr>
          <p:cNvPr id="6" name="Image 0" descr="preencoded.png"/>
          <p:cNvPicPr>
            <a:picLocks noChangeAspect="1"/>
          </p:cNvPicPr>
          <p:nvPr/>
        </p:nvPicPr>
        <p:blipFill>
          <a:blip r:embed="rId1"/>
          <a:stretch>
            <a:fillRect/>
          </a:stretch>
        </p:blipFill>
        <p:spPr>
          <a:xfrm>
            <a:off x="548640" y="1115568"/>
            <a:ext cx="274320" cy="274320"/>
          </a:xfrm>
          <a:prstGeom prst="rect">
            <a:avLst/>
          </a:prstGeom>
        </p:spPr>
      </p:pic>
      <p:sp>
        <p:nvSpPr>
          <p:cNvPr id="7" name="Text 4"/>
          <p:cNvSpPr/>
          <p:nvPr/>
        </p:nvSpPr>
        <p:spPr>
          <a:xfrm>
            <a:off x="960120" y="1005840"/>
            <a:ext cx="3474720" cy="54864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100% del capital accionario (Sociedad Anonima)</a:t>
            </a:r>
            <a:endParaRPr lang="en-US" sz="1000" dirty="0"/>
          </a:p>
        </p:txBody>
      </p:sp>
      <p:sp>
        <p:nvSpPr>
          <p:cNvPr id="8" name="Shape 5"/>
          <p:cNvSpPr/>
          <p:nvPr/>
        </p:nvSpPr>
        <p:spPr>
          <a:xfrm>
            <a:off x="457200" y="1691640"/>
            <a:ext cx="4114800" cy="548640"/>
          </a:xfrm>
          <a:prstGeom prst="rect">
            <a:avLst/>
          </a:prstGeom>
          <a:solidFill>
            <a:srgbClr val="FFFFFF"/>
          </a:solidFill>
          <a:ln w="6350">
            <a:solidFill>
              <a:srgbClr val="D4C5B2"/>
            </a:solidFill>
            <a:prstDash val="solid"/>
          </a:ln>
        </p:spPr>
        <p:txBody>
          <a:bodyPr/>
          <a:p/>
        </p:txBody>
      </p:sp>
      <p:pic>
        <p:nvPicPr>
          <p:cNvPr id="9" name="Image 1" descr="preencoded.png"/>
          <p:cNvPicPr>
            <a:picLocks noChangeAspect="1"/>
          </p:cNvPicPr>
          <p:nvPr/>
        </p:nvPicPr>
        <p:blipFill>
          <a:blip r:embed="rId2"/>
          <a:stretch>
            <a:fillRect/>
          </a:stretch>
        </p:blipFill>
        <p:spPr>
          <a:xfrm>
            <a:off x="548640" y="1801368"/>
            <a:ext cx="274320" cy="274320"/>
          </a:xfrm>
          <a:prstGeom prst="rect">
            <a:avLst/>
          </a:prstGeom>
        </p:spPr>
      </p:pic>
      <p:sp>
        <p:nvSpPr>
          <p:cNvPr id="10" name="Text 6"/>
          <p:cNvSpPr/>
          <p:nvPr/>
        </p:nvSpPr>
        <p:spPr>
          <a:xfrm>
            <a:off x="960120" y="1691640"/>
            <a:ext cx="3474720" cy="54864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2 galpones industriales con titulo limpio (3,640 m2)</a:t>
            </a:r>
            <a:endParaRPr lang="en-US" sz="1000" dirty="0"/>
          </a:p>
        </p:txBody>
      </p:sp>
      <p:sp>
        <p:nvSpPr>
          <p:cNvPr id="11" name="Shape 7"/>
          <p:cNvSpPr/>
          <p:nvPr/>
        </p:nvSpPr>
        <p:spPr>
          <a:xfrm>
            <a:off x="457200" y="2377440"/>
            <a:ext cx="4114800" cy="548640"/>
          </a:xfrm>
          <a:prstGeom prst="rect">
            <a:avLst/>
          </a:prstGeom>
          <a:solidFill>
            <a:srgbClr val="FFFFFF"/>
          </a:solidFill>
          <a:ln w="6350">
            <a:solidFill>
              <a:srgbClr val="D4C5B2"/>
            </a:solidFill>
            <a:prstDash val="solid"/>
          </a:ln>
        </p:spPr>
        <p:txBody>
          <a:bodyPr/>
          <a:p/>
        </p:txBody>
      </p:sp>
      <p:pic>
        <p:nvPicPr>
          <p:cNvPr id="12" name="Image 2" descr="preencoded.png"/>
          <p:cNvPicPr>
            <a:picLocks noChangeAspect="1"/>
          </p:cNvPicPr>
          <p:nvPr/>
        </p:nvPicPr>
        <p:blipFill>
          <a:blip r:embed="rId3"/>
          <a:stretch>
            <a:fillRect/>
          </a:stretch>
        </p:blipFill>
        <p:spPr>
          <a:xfrm>
            <a:off x="548640" y="2487168"/>
            <a:ext cx="274320" cy="274320"/>
          </a:xfrm>
          <a:prstGeom prst="rect">
            <a:avLst/>
          </a:prstGeom>
        </p:spPr>
      </p:pic>
      <p:sp>
        <p:nvSpPr>
          <p:cNvPr id="13" name="Text 8"/>
          <p:cNvSpPr/>
          <p:nvPr/>
        </p:nvSpPr>
        <p:spPr>
          <a:xfrm>
            <a:off x="960120" y="2377440"/>
            <a:ext cx="3474720" cy="54864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4 cubas Pilling (Alemania) + hornos y quemadores</a:t>
            </a:r>
            <a:endParaRPr lang="en-US" sz="1000" dirty="0"/>
          </a:p>
        </p:txBody>
      </p:sp>
      <p:sp>
        <p:nvSpPr>
          <p:cNvPr id="14" name="Shape 9"/>
          <p:cNvSpPr/>
          <p:nvPr/>
        </p:nvSpPr>
        <p:spPr>
          <a:xfrm>
            <a:off x="457200" y="3063240"/>
            <a:ext cx="4114800" cy="548640"/>
          </a:xfrm>
          <a:prstGeom prst="rect">
            <a:avLst/>
          </a:prstGeom>
          <a:solidFill>
            <a:srgbClr val="FFFFFF"/>
          </a:solidFill>
          <a:ln w="6350">
            <a:solidFill>
              <a:srgbClr val="D4C5B2"/>
            </a:solidFill>
            <a:prstDash val="solid"/>
          </a:ln>
        </p:spPr>
        <p:txBody>
          <a:bodyPr/>
          <a:p/>
        </p:txBody>
      </p:sp>
      <p:pic>
        <p:nvPicPr>
          <p:cNvPr id="15" name="Image 3" descr="preencoded.png"/>
          <p:cNvPicPr>
            <a:picLocks noChangeAspect="1"/>
          </p:cNvPicPr>
          <p:nvPr/>
        </p:nvPicPr>
        <p:blipFill>
          <a:blip r:embed="rId4"/>
          <a:stretch>
            <a:fillRect/>
          </a:stretch>
        </p:blipFill>
        <p:spPr>
          <a:xfrm>
            <a:off x="548640" y="3172968"/>
            <a:ext cx="274320" cy="274320"/>
          </a:xfrm>
          <a:prstGeom prst="rect">
            <a:avLst/>
          </a:prstGeom>
        </p:spPr>
      </p:pic>
      <p:sp>
        <p:nvSpPr>
          <p:cNvPr id="16" name="Text 10"/>
          <p:cNvSpPr/>
          <p:nvPr/>
        </p:nvSpPr>
        <p:spPr>
          <a:xfrm>
            <a:off x="960120" y="3063240"/>
            <a:ext cx="3474720" cy="54864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Linea completa de cobreado electrolitico</a:t>
            </a:r>
            <a:endParaRPr lang="en-US" sz="1000" dirty="0"/>
          </a:p>
        </p:txBody>
      </p:sp>
      <p:sp>
        <p:nvSpPr>
          <p:cNvPr id="17" name="Shape 11"/>
          <p:cNvSpPr/>
          <p:nvPr/>
        </p:nvSpPr>
        <p:spPr>
          <a:xfrm>
            <a:off x="457200" y="3749040"/>
            <a:ext cx="4114800" cy="548640"/>
          </a:xfrm>
          <a:prstGeom prst="rect">
            <a:avLst/>
          </a:prstGeom>
          <a:solidFill>
            <a:srgbClr val="FFFFFF"/>
          </a:solidFill>
          <a:ln w="6350">
            <a:solidFill>
              <a:srgbClr val="D4C5B2"/>
            </a:solidFill>
            <a:prstDash val="solid"/>
          </a:ln>
        </p:spPr>
        <p:txBody>
          <a:bodyPr/>
          <a:p/>
        </p:txBody>
      </p:sp>
      <p:pic>
        <p:nvPicPr>
          <p:cNvPr id="18" name="Image 4" descr="preencoded.png"/>
          <p:cNvPicPr>
            <a:picLocks noChangeAspect="1"/>
          </p:cNvPicPr>
          <p:nvPr/>
        </p:nvPicPr>
        <p:blipFill>
          <a:blip r:embed="rId5"/>
          <a:stretch>
            <a:fillRect/>
          </a:stretch>
        </p:blipFill>
        <p:spPr>
          <a:xfrm>
            <a:off x="548640" y="3858768"/>
            <a:ext cx="274320" cy="274320"/>
          </a:xfrm>
          <a:prstGeom prst="rect">
            <a:avLst/>
          </a:prstGeom>
        </p:spPr>
      </p:pic>
      <p:sp>
        <p:nvSpPr>
          <p:cNvPr id="19" name="Text 12"/>
          <p:cNvSpPr/>
          <p:nvPr/>
        </p:nvSpPr>
        <p:spPr>
          <a:xfrm>
            <a:off x="960120" y="3749040"/>
            <a:ext cx="3474720" cy="54864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2 gruas puente + 3 montacargas Clark + bascula</a:t>
            </a:r>
            <a:endParaRPr lang="en-US" sz="1000" dirty="0"/>
          </a:p>
        </p:txBody>
      </p:sp>
      <p:sp>
        <p:nvSpPr>
          <p:cNvPr id="20" name="Shape 13"/>
          <p:cNvSpPr/>
          <p:nvPr/>
        </p:nvSpPr>
        <p:spPr>
          <a:xfrm>
            <a:off x="4846320" y="1005840"/>
            <a:ext cx="4114800" cy="548640"/>
          </a:xfrm>
          <a:prstGeom prst="rect">
            <a:avLst/>
          </a:prstGeom>
          <a:solidFill>
            <a:srgbClr val="FFFFFF"/>
          </a:solidFill>
          <a:ln w="6350">
            <a:solidFill>
              <a:srgbClr val="D4C5B2"/>
            </a:solidFill>
            <a:prstDash val="solid"/>
          </a:ln>
        </p:spPr>
        <p:txBody>
          <a:bodyPr/>
          <a:p/>
        </p:txBody>
      </p:sp>
      <p:pic>
        <p:nvPicPr>
          <p:cNvPr id="21" name="Image 5" descr="preencoded.png"/>
          <p:cNvPicPr>
            <a:picLocks noChangeAspect="1"/>
          </p:cNvPicPr>
          <p:nvPr/>
        </p:nvPicPr>
        <p:blipFill>
          <a:blip r:embed="rId6"/>
          <a:stretch>
            <a:fillRect/>
          </a:stretch>
        </p:blipFill>
        <p:spPr>
          <a:xfrm>
            <a:off x="4937760" y="1115568"/>
            <a:ext cx="274320" cy="274320"/>
          </a:xfrm>
          <a:prstGeom prst="rect">
            <a:avLst/>
          </a:prstGeom>
        </p:spPr>
      </p:pic>
      <p:sp>
        <p:nvSpPr>
          <p:cNvPr id="22" name="Text 14"/>
          <p:cNvSpPr/>
          <p:nvPr/>
        </p:nvSpPr>
        <p:spPr>
          <a:xfrm>
            <a:off x="5349240" y="1005840"/>
            <a:ext cx="3474720" cy="54864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Marca PYGLARA + 50 anos de reputacion</a:t>
            </a:r>
            <a:endParaRPr lang="en-US" sz="1000" dirty="0"/>
          </a:p>
        </p:txBody>
      </p:sp>
      <p:sp>
        <p:nvSpPr>
          <p:cNvPr id="23" name="Shape 15"/>
          <p:cNvSpPr/>
          <p:nvPr/>
        </p:nvSpPr>
        <p:spPr>
          <a:xfrm>
            <a:off x="4846320" y="1691640"/>
            <a:ext cx="4114800" cy="548640"/>
          </a:xfrm>
          <a:prstGeom prst="rect">
            <a:avLst/>
          </a:prstGeom>
          <a:solidFill>
            <a:srgbClr val="FFFFFF"/>
          </a:solidFill>
          <a:ln w="6350">
            <a:solidFill>
              <a:srgbClr val="D4C5B2"/>
            </a:solidFill>
            <a:prstDash val="solid"/>
          </a:ln>
        </p:spPr>
        <p:txBody>
          <a:bodyPr/>
          <a:p/>
        </p:txBody>
      </p:sp>
      <p:pic>
        <p:nvPicPr>
          <p:cNvPr id="24" name="Image 6" descr="preencoded.png"/>
          <p:cNvPicPr>
            <a:picLocks noChangeAspect="1"/>
          </p:cNvPicPr>
          <p:nvPr/>
        </p:nvPicPr>
        <p:blipFill>
          <a:blip r:embed="rId7"/>
          <a:stretch>
            <a:fillRect/>
          </a:stretch>
        </p:blipFill>
        <p:spPr>
          <a:xfrm>
            <a:off x="4937760" y="1801368"/>
            <a:ext cx="274320" cy="274320"/>
          </a:xfrm>
          <a:prstGeom prst="rect">
            <a:avLst/>
          </a:prstGeom>
        </p:spPr>
      </p:pic>
      <p:sp>
        <p:nvSpPr>
          <p:cNvPr id="25" name="Text 16"/>
          <p:cNvSpPr/>
          <p:nvPr/>
        </p:nvSpPr>
        <p:spPr>
          <a:xfrm>
            <a:off x="5349240" y="1691640"/>
            <a:ext cx="3474720" cy="54864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34 clientes historicos documentados</a:t>
            </a:r>
            <a:endParaRPr lang="en-US" sz="1000" dirty="0"/>
          </a:p>
        </p:txBody>
      </p:sp>
      <p:sp>
        <p:nvSpPr>
          <p:cNvPr id="26" name="Shape 17"/>
          <p:cNvSpPr/>
          <p:nvPr/>
        </p:nvSpPr>
        <p:spPr>
          <a:xfrm>
            <a:off x="4846320" y="2377440"/>
            <a:ext cx="4114800" cy="548640"/>
          </a:xfrm>
          <a:prstGeom prst="rect">
            <a:avLst/>
          </a:prstGeom>
          <a:solidFill>
            <a:srgbClr val="FFFFFF"/>
          </a:solidFill>
          <a:ln w="6350">
            <a:solidFill>
              <a:srgbClr val="D4C5B2"/>
            </a:solidFill>
            <a:prstDash val="solid"/>
          </a:ln>
        </p:spPr>
        <p:txBody>
          <a:bodyPr/>
          <a:p/>
        </p:txBody>
      </p:sp>
      <p:pic>
        <p:nvPicPr>
          <p:cNvPr id="27" name="Image 7" descr="preencoded.png"/>
          <p:cNvPicPr>
            <a:picLocks noChangeAspect="1"/>
          </p:cNvPicPr>
          <p:nvPr/>
        </p:nvPicPr>
        <p:blipFill>
          <a:blip r:embed="rId8"/>
          <a:stretch>
            <a:fillRect/>
          </a:stretch>
        </p:blipFill>
        <p:spPr>
          <a:xfrm>
            <a:off x="4937760" y="2487168"/>
            <a:ext cx="274320" cy="274320"/>
          </a:xfrm>
          <a:prstGeom prst="rect">
            <a:avLst/>
          </a:prstGeom>
        </p:spPr>
      </p:pic>
      <p:sp>
        <p:nvSpPr>
          <p:cNvPr id="28" name="Text 18"/>
          <p:cNvSpPr/>
          <p:nvPr/>
        </p:nvSpPr>
        <p:spPr>
          <a:xfrm>
            <a:off x="5349240" y="2377440"/>
            <a:ext cx="3474720" cy="54864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Permisos vigentes: RIF, licencia, contrato PDVSA Gas</a:t>
            </a:r>
            <a:endParaRPr lang="en-US" sz="1000" dirty="0"/>
          </a:p>
        </p:txBody>
      </p:sp>
      <p:sp>
        <p:nvSpPr>
          <p:cNvPr id="29" name="Shape 19"/>
          <p:cNvSpPr/>
          <p:nvPr/>
        </p:nvSpPr>
        <p:spPr>
          <a:xfrm>
            <a:off x="4846320" y="3063240"/>
            <a:ext cx="4114800" cy="548640"/>
          </a:xfrm>
          <a:prstGeom prst="rect">
            <a:avLst/>
          </a:prstGeom>
          <a:solidFill>
            <a:srgbClr val="FFFFFF"/>
          </a:solidFill>
          <a:ln w="6350">
            <a:solidFill>
              <a:srgbClr val="D4C5B2"/>
            </a:solidFill>
            <a:prstDash val="solid"/>
          </a:ln>
        </p:spPr>
        <p:txBody>
          <a:bodyPr/>
          <a:p/>
        </p:txBody>
      </p:sp>
      <p:pic>
        <p:nvPicPr>
          <p:cNvPr id="30" name="Image 8" descr="preencoded.png"/>
          <p:cNvPicPr>
            <a:picLocks noChangeAspect="1"/>
          </p:cNvPicPr>
          <p:nvPr/>
        </p:nvPicPr>
        <p:blipFill>
          <a:blip r:embed="rId9"/>
          <a:stretch>
            <a:fillRect/>
          </a:stretch>
        </p:blipFill>
        <p:spPr>
          <a:xfrm>
            <a:off x="4937760" y="3172968"/>
            <a:ext cx="274320" cy="274320"/>
          </a:xfrm>
          <a:prstGeom prst="rect">
            <a:avLst/>
          </a:prstGeom>
        </p:spPr>
      </p:pic>
      <p:sp>
        <p:nvSpPr>
          <p:cNvPr id="31" name="Text 20"/>
          <p:cNvSpPr/>
          <p:nvPr/>
        </p:nvSpPr>
        <p:spPr>
          <a:xfrm>
            <a:off x="5349240" y="3063240"/>
            <a:ext cx="3474720" cy="54864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Personal con 36+ anos de experiencia tecnica</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3">
    <p:bg>
      <p:bgPr>
        <a:solidFill>
          <a:srgbClr val="F2EDE6"/>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26 / 30</a:t>
            </a:r>
            <a:endParaRPr lang="en-US" sz="800" dirty="0"/>
          </a:p>
        </p:txBody>
      </p:sp>
      <p:sp>
        <p:nvSpPr>
          <p:cNvPr id="4" name="Text 2"/>
          <p:cNvSpPr/>
          <p:nvPr/>
        </p:nvSpPr>
        <p:spPr>
          <a:xfrm>
            <a:off x="548640" y="274320"/>
            <a:ext cx="8046720" cy="594360"/>
          </a:xfrm>
          <a:prstGeom prst="rect">
            <a:avLst/>
          </a:prstGeom>
          <a:noFill/>
          <a:ln/>
        </p:spPr>
        <p:txBody>
          <a:bodyPr wrap="square" lIns="0" tIns="0" rIns="0" bIns="0" rtlCol="0" anchor="ctr"/>
          <a:lstStyle/>
          <a:p>
            <a:pPr indent="0" marL="0">
              <a:buNone/>
            </a:pPr>
            <a:r>
              <a:rPr lang="en-US" sz="3400" b="1" dirty="0">
                <a:solidFill>
                  <a:srgbClr val="3E2C1C"/>
                </a:solidFill>
                <a:latin typeface="Georgia" pitchFamily="34" charset="0"/>
                <a:ea typeface="Georgia" pitchFamily="34" charset="-122"/>
                <a:cs typeface="Georgia" pitchFamily="34" charset="-120"/>
              </a:rPr>
              <a:t>PROXIMOS PASOS</a:t>
            </a:r>
            <a:endParaRPr lang="en-US" sz="3400" dirty="0"/>
          </a:p>
        </p:txBody>
      </p:sp>
      <p:sp>
        <p:nvSpPr>
          <p:cNvPr id="5" name="Shape 3"/>
          <p:cNvSpPr/>
          <p:nvPr/>
        </p:nvSpPr>
        <p:spPr>
          <a:xfrm>
            <a:off x="731520" y="1280160"/>
            <a:ext cx="640080" cy="640080"/>
          </a:xfrm>
          <a:prstGeom prst="oval">
            <a:avLst/>
          </a:prstGeom>
          <a:solidFill>
            <a:srgbClr val="B87333"/>
          </a:solidFill>
          <a:ln/>
        </p:spPr>
        <p:txBody>
          <a:bodyPr/>
          <a:p/>
        </p:txBody>
      </p:sp>
      <p:sp>
        <p:nvSpPr>
          <p:cNvPr id="6" name="Text 4"/>
          <p:cNvSpPr/>
          <p:nvPr/>
        </p:nvSpPr>
        <p:spPr>
          <a:xfrm>
            <a:off x="731520" y="12801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01</a:t>
            </a:r>
            <a:endParaRPr lang="en-US" sz="1800" dirty="0"/>
          </a:p>
        </p:txBody>
      </p:sp>
      <p:sp>
        <p:nvSpPr>
          <p:cNvPr id="7" name="Text 5"/>
          <p:cNvSpPr/>
          <p:nvPr/>
        </p:nvSpPr>
        <p:spPr>
          <a:xfrm>
            <a:off x="1645920" y="1188720"/>
            <a:ext cx="6858000" cy="411480"/>
          </a:xfrm>
          <a:prstGeom prst="rect">
            <a:avLst/>
          </a:prstGeom>
          <a:noFill/>
          <a:ln/>
        </p:spPr>
        <p:txBody>
          <a:bodyPr wrap="square" lIns="0" tIns="0" rIns="0" bIns="0" rtlCol="0" anchor="b"/>
          <a:lstStyle/>
          <a:p>
            <a:pPr indent="0" marL="0">
              <a:buNone/>
            </a:pPr>
            <a:r>
              <a:rPr lang="en-US" sz="1800" b="1" dirty="0">
                <a:solidFill>
                  <a:srgbClr val="8B5A2B"/>
                </a:solidFill>
                <a:latin typeface="Georgia" pitchFamily="34" charset="0"/>
                <a:ea typeface="Georgia" pitchFamily="34" charset="-122"/>
                <a:cs typeface="Georgia" pitchFamily="34" charset="-120"/>
              </a:rPr>
              <a:t>Visite la planta</a:t>
            </a:r>
            <a:endParaRPr lang="en-US" sz="1800" dirty="0"/>
          </a:p>
        </p:txBody>
      </p:sp>
      <p:sp>
        <p:nvSpPr>
          <p:cNvPr id="8" name="Text 6"/>
          <p:cNvSpPr/>
          <p:nvPr/>
        </p:nvSpPr>
        <p:spPr>
          <a:xfrm>
            <a:off x="1645920" y="1645920"/>
            <a:ext cx="6858000" cy="320040"/>
          </a:xfrm>
          <a:prstGeom prst="rect">
            <a:avLst/>
          </a:prstGeom>
          <a:noFill/>
          <a:ln/>
        </p:spPr>
        <p:txBody>
          <a:bodyPr wrap="square" lIns="0" tIns="0" rIns="0" bIns="0" rtlCol="0" anchor="ctr"/>
          <a:lstStyle/>
          <a:p>
            <a:pPr indent="0" marL="0">
              <a:buNone/>
            </a:pPr>
            <a:r>
              <a:rPr lang="en-US" sz="1200" dirty="0">
                <a:solidFill>
                  <a:srgbClr val="7A6555"/>
                </a:solidFill>
                <a:latin typeface="Calibri" pitchFamily="34" charset="0"/>
                <a:ea typeface="Calibri" pitchFamily="34" charset="-122"/>
                <a:cs typeface="Calibri" pitchFamily="34" charset="-120"/>
              </a:rPr>
              <a:t>Vera los equipos Pilling de primera mano</a:t>
            </a:r>
            <a:endParaRPr lang="en-US" sz="1200" dirty="0"/>
          </a:p>
        </p:txBody>
      </p:sp>
      <p:sp>
        <p:nvSpPr>
          <p:cNvPr id="9" name="Shape 7"/>
          <p:cNvSpPr/>
          <p:nvPr/>
        </p:nvSpPr>
        <p:spPr>
          <a:xfrm>
            <a:off x="731520" y="2423160"/>
            <a:ext cx="640080" cy="640080"/>
          </a:xfrm>
          <a:prstGeom prst="oval">
            <a:avLst/>
          </a:prstGeom>
          <a:solidFill>
            <a:srgbClr val="B87333"/>
          </a:solidFill>
          <a:ln/>
        </p:spPr>
        <p:txBody>
          <a:bodyPr/>
          <a:p/>
        </p:txBody>
      </p:sp>
      <p:sp>
        <p:nvSpPr>
          <p:cNvPr id="10" name="Text 8"/>
          <p:cNvSpPr/>
          <p:nvPr/>
        </p:nvSpPr>
        <p:spPr>
          <a:xfrm>
            <a:off x="731520" y="24231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02</a:t>
            </a:r>
            <a:endParaRPr lang="en-US" sz="1800" dirty="0"/>
          </a:p>
        </p:txBody>
      </p:sp>
      <p:sp>
        <p:nvSpPr>
          <p:cNvPr id="11" name="Text 9"/>
          <p:cNvSpPr/>
          <p:nvPr/>
        </p:nvSpPr>
        <p:spPr>
          <a:xfrm>
            <a:off x="1645920" y="2331720"/>
            <a:ext cx="6858000" cy="411480"/>
          </a:xfrm>
          <a:prstGeom prst="rect">
            <a:avLst/>
          </a:prstGeom>
          <a:noFill/>
          <a:ln/>
        </p:spPr>
        <p:txBody>
          <a:bodyPr wrap="square" lIns="0" tIns="0" rIns="0" bIns="0" rtlCol="0" anchor="b"/>
          <a:lstStyle/>
          <a:p>
            <a:pPr indent="0" marL="0">
              <a:buNone/>
            </a:pPr>
            <a:r>
              <a:rPr lang="en-US" sz="1800" b="1" dirty="0">
                <a:solidFill>
                  <a:srgbClr val="8B5A2B"/>
                </a:solidFill>
                <a:latin typeface="Georgia" pitchFamily="34" charset="0"/>
                <a:ea typeface="Georgia" pitchFamily="34" charset="-122"/>
                <a:cs typeface="Georgia" pitchFamily="34" charset="-120"/>
              </a:rPr>
              <a:t>Revise el documento completo</a:t>
            </a:r>
            <a:endParaRPr lang="en-US" sz="1800" dirty="0"/>
          </a:p>
        </p:txBody>
      </p:sp>
      <p:sp>
        <p:nvSpPr>
          <p:cNvPr id="12" name="Text 10"/>
          <p:cNvSpPr/>
          <p:nvPr/>
        </p:nvSpPr>
        <p:spPr>
          <a:xfrm>
            <a:off x="1645920" y="2788920"/>
            <a:ext cx="6858000" cy="320040"/>
          </a:xfrm>
          <a:prstGeom prst="rect">
            <a:avLst/>
          </a:prstGeom>
          <a:noFill/>
          <a:ln/>
        </p:spPr>
        <p:txBody>
          <a:bodyPr wrap="square" lIns="0" tIns="0" rIns="0" bIns="0" rtlCol="0" anchor="ctr"/>
          <a:lstStyle/>
          <a:p>
            <a:pPr indent="0" marL="0">
              <a:buNone/>
            </a:pPr>
            <a:r>
              <a:rPr lang="en-US" sz="1200" dirty="0">
                <a:solidFill>
                  <a:srgbClr val="7A6555"/>
                </a:solidFill>
                <a:latin typeface="Calibri" pitchFamily="34" charset="0"/>
                <a:ea typeface="Calibri" pitchFamily="34" charset="-122"/>
                <a:cs typeface="Calibri" pitchFamily="34" charset="-120"/>
              </a:rPr>
              <a:t>Documento de inversion de 25-35 paginas con todo el detalle</a:t>
            </a:r>
            <a:endParaRPr lang="en-US" sz="1200" dirty="0"/>
          </a:p>
        </p:txBody>
      </p:sp>
      <p:sp>
        <p:nvSpPr>
          <p:cNvPr id="13" name="Shape 11"/>
          <p:cNvSpPr/>
          <p:nvPr/>
        </p:nvSpPr>
        <p:spPr>
          <a:xfrm>
            <a:off x="731520" y="3566160"/>
            <a:ext cx="640080" cy="640080"/>
          </a:xfrm>
          <a:prstGeom prst="oval">
            <a:avLst/>
          </a:prstGeom>
          <a:solidFill>
            <a:srgbClr val="B87333"/>
          </a:solidFill>
          <a:ln/>
        </p:spPr>
        <p:txBody>
          <a:bodyPr/>
          <a:p/>
        </p:txBody>
      </p:sp>
      <p:sp>
        <p:nvSpPr>
          <p:cNvPr id="14" name="Text 12"/>
          <p:cNvSpPr/>
          <p:nvPr/>
        </p:nvSpPr>
        <p:spPr>
          <a:xfrm>
            <a:off x="731520" y="35661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03</a:t>
            </a:r>
            <a:endParaRPr lang="en-US" sz="1800" dirty="0"/>
          </a:p>
        </p:txBody>
      </p:sp>
      <p:sp>
        <p:nvSpPr>
          <p:cNvPr id="15" name="Text 13"/>
          <p:cNvSpPr/>
          <p:nvPr/>
        </p:nvSpPr>
        <p:spPr>
          <a:xfrm>
            <a:off x="1645920" y="3474720"/>
            <a:ext cx="6858000" cy="411480"/>
          </a:xfrm>
          <a:prstGeom prst="rect">
            <a:avLst/>
          </a:prstGeom>
          <a:noFill/>
          <a:ln/>
        </p:spPr>
        <p:txBody>
          <a:bodyPr wrap="square" lIns="0" tIns="0" rIns="0" bIns="0" rtlCol="0" anchor="b"/>
          <a:lstStyle/>
          <a:p>
            <a:pPr indent="0" marL="0">
              <a:buNone/>
            </a:pPr>
            <a:r>
              <a:rPr lang="en-US" sz="1800" b="1" dirty="0">
                <a:solidFill>
                  <a:srgbClr val="8B5A2B"/>
                </a:solidFill>
                <a:latin typeface="Georgia" pitchFamily="34" charset="0"/>
                <a:ea typeface="Georgia" pitchFamily="34" charset="-122"/>
                <a:cs typeface="Georgia" pitchFamily="34" charset="-120"/>
              </a:rPr>
              <a:t>Discusion de terminos</a:t>
            </a:r>
            <a:endParaRPr lang="en-US" sz="1800" dirty="0"/>
          </a:p>
        </p:txBody>
      </p:sp>
      <p:sp>
        <p:nvSpPr>
          <p:cNvPr id="16" name="Text 14"/>
          <p:cNvSpPr/>
          <p:nvPr/>
        </p:nvSpPr>
        <p:spPr>
          <a:xfrm>
            <a:off x="1645920" y="3931920"/>
            <a:ext cx="6858000" cy="320040"/>
          </a:xfrm>
          <a:prstGeom prst="rect">
            <a:avLst/>
          </a:prstGeom>
          <a:noFill/>
          <a:ln/>
        </p:spPr>
        <p:txBody>
          <a:bodyPr wrap="square" lIns="0" tIns="0" rIns="0" bIns="0" rtlCol="0" anchor="ctr"/>
          <a:lstStyle/>
          <a:p>
            <a:pPr indent="0" marL="0">
              <a:buNone/>
            </a:pPr>
            <a:r>
              <a:rPr lang="en-US" sz="1200" dirty="0">
                <a:solidFill>
                  <a:srgbClr val="7A6555"/>
                </a:solidFill>
                <a:latin typeface="Calibri" pitchFamily="34" charset="0"/>
                <a:ea typeface="Calibri" pitchFamily="34" charset="-122"/>
                <a:cs typeface="Calibri" pitchFamily="34" charset="-120"/>
              </a:rPr>
              <a:t>Proceso de due diligence y negociacion</a:t>
            </a:r>
            <a:endParaRPr lang="en-US" sz="1200" dirty="0"/>
          </a:p>
        </p:txBody>
      </p:sp>
      <p:sp>
        <p:nvSpPr>
          <p:cNvPr id="17" name="Shape 15"/>
          <p:cNvSpPr/>
          <p:nvPr/>
        </p:nvSpPr>
        <p:spPr>
          <a:xfrm>
            <a:off x="548640" y="4434840"/>
            <a:ext cx="8046720" cy="502920"/>
          </a:xfrm>
          <a:prstGeom prst="rect">
            <a:avLst/>
          </a:prstGeom>
          <a:solidFill>
            <a:srgbClr val="EDE8E0"/>
          </a:solidFill>
          <a:ln w="25400">
            <a:solidFill>
              <a:srgbClr val="B87333"/>
            </a:solidFill>
            <a:prstDash val="solid"/>
          </a:ln>
        </p:spPr>
        <p:txBody>
          <a:bodyPr/>
          <a:p/>
        </p:txBody>
      </p:sp>
      <p:sp>
        <p:nvSpPr>
          <p:cNvPr id="18" name="Text 16"/>
          <p:cNvSpPr/>
          <p:nvPr/>
        </p:nvSpPr>
        <p:spPr>
          <a:xfrm>
            <a:off x="731520" y="4434840"/>
            <a:ext cx="7680960" cy="502920"/>
          </a:xfrm>
          <a:prstGeom prst="rect">
            <a:avLst/>
          </a:prstGeom>
          <a:noFill/>
          <a:ln/>
        </p:spPr>
        <p:txBody>
          <a:bodyPr wrap="square" rtlCol="0" anchor="ctr"/>
          <a:lstStyle/>
          <a:p>
            <a:pPr algn="ctr" indent="0" marL="0">
              <a:buNone/>
            </a:pPr>
            <a:r>
              <a:rPr lang="en-US" sz="1300" b="1" i="1" dirty="0">
                <a:solidFill>
                  <a:srgbClr val="8B5A2B"/>
                </a:solidFill>
                <a:latin typeface="Calibri" pitchFamily="34" charset="0"/>
                <a:ea typeface="Calibri" pitchFamily="34" charset="-122"/>
                <a:cs typeface="Calibri" pitchFamily="34" charset="-120"/>
              </a:rPr>
              <a:t>"Esta planta esta lista. Los clientes estan esperando. Solo falta el zinc."</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4">
    <p:bg>
      <p:bgPr>
        <a:solidFill>
          <a:srgbClr val="2A1F10"/>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731520" y="365760"/>
            <a:ext cx="4572000" cy="548640"/>
          </a:xfrm>
          <a:prstGeom prst="rect">
            <a:avLst/>
          </a:prstGeom>
          <a:noFill/>
          <a:ln/>
        </p:spPr>
        <p:txBody>
          <a:bodyPr wrap="square" lIns="0" tIns="0" rIns="0" bIns="0" rtlCol="0" anchor="ctr"/>
          <a:lstStyle/>
          <a:p>
            <a:pPr indent="0" marL="0">
              <a:buNone/>
            </a:pPr>
            <a:r>
              <a:rPr lang="en-US" sz="3600" b="1" spc="600" kern="0" dirty="0">
                <a:solidFill>
                  <a:srgbClr val="FFFFFF"/>
                </a:solidFill>
                <a:latin typeface="Georgia" pitchFamily="34" charset="0"/>
                <a:ea typeface="Georgia" pitchFamily="34" charset="-122"/>
                <a:cs typeface="Georgia" pitchFamily="34" charset="-120"/>
              </a:rPr>
              <a:t>PYGLARA</a:t>
            </a:r>
            <a:endParaRPr lang="en-US" sz="3600" dirty="0"/>
          </a:p>
        </p:txBody>
      </p:sp>
      <p:sp>
        <p:nvSpPr>
          <p:cNvPr id="4" name="Text 2"/>
          <p:cNvSpPr/>
          <p:nvPr/>
        </p:nvSpPr>
        <p:spPr>
          <a:xfrm>
            <a:off x="731520" y="914400"/>
            <a:ext cx="4572000" cy="274320"/>
          </a:xfrm>
          <a:prstGeom prst="rect">
            <a:avLst/>
          </a:prstGeom>
          <a:noFill/>
          <a:ln/>
        </p:spPr>
        <p:txBody>
          <a:bodyPr wrap="square" lIns="0" tIns="0" rIns="0" bIns="0" rtlCol="0" anchor="ctr"/>
          <a:lstStyle/>
          <a:p>
            <a:pPr indent="0" marL="0">
              <a:buNone/>
            </a:pPr>
            <a:r>
              <a:rPr lang="en-US" sz="1200" dirty="0">
                <a:solidFill>
                  <a:srgbClr val="D4954A"/>
                </a:solidFill>
                <a:latin typeface="Calibri" pitchFamily="34" charset="0"/>
                <a:ea typeface="Calibri" pitchFamily="34" charset="-122"/>
                <a:cs typeface="Calibri" pitchFamily="34" charset="-120"/>
              </a:rPr>
              <a:t>Prensados y Galvanizados de Lara, S.A.</a:t>
            </a:r>
            <a:endParaRPr lang="en-US" sz="1200" dirty="0"/>
          </a:p>
        </p:txBody>
      </p:sp>
      <p:sp>
        <p:nvSpPr>
          <p:cNvPr id="5" name="Shape 3"/>
          <p:cNvSpPr/>
          <p:nvPr/>
        </p:nvSpPr>
        <p:spPr>
          <a:xfrm>
            <a:off x="731520" y="1463040"/>
            <a:ext cx="4572000" cy="3017520"/>
          </a:xfrm>
          <a:prstGeom prst="rect">
            <a:avLst/>
          </a:prstGeom>
          <a:solidFill>
            <a:srgbClr val="2A2015"/>
          </a:solidFill>
          <a:ln w="12700">
            <a:solidFill>
              <a:srgbClr val="B87333"/>
            </a:solidFill>
            <a:prstDash val="solid"/>
          </a:ln>
        </p:spPr>
        <p:txBody>
          <a:bodyPr/>
          <a:p/>
        </p:txBody>
      </p:sp>
      <p:sp>
        <p:nvSpPr>
          <p:cNvPr id="6" name="Text 4"/>
          <p:cNvSpPr/>
          <p:nvPr/>
        </p:nvSpPr>
        <p:spPr>
          <a:xfrm>
            <a:off x="914400" y="1600200"/>
            <a:ext cx="4206240" cy="365760"/>
          </a:xfrm>
          <a:prstGeom prst="rect">
            <a:avLst/>
          </a:prstGeom>
          <a:noFill/>
          <a:ln/>
        </p:spPr>
        <p:txBody>
          <a:bodyPr wrap="square" lIns="0" tIns="0" rIns="0" bIns="0"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Andres Montbrun</a:t>
            </a:r>
            <a:endParaRPr lang="en-US" sz="1800" dirty="0"/>
          </a:p>
        </p:txBody>
      </p:sp>
      <p:sp>
        <p:nvSpPr>
          <p:cNvPr id="7" name="Text 5"/>
          <p:cNvSpPr/>
          <p:nvPr/>
        </p:nvSpPr>
        <p:spPr>
          <a:xfrm>
            <a:off x="914400" y="1965960"/>
            <a:ext cx="4206240" cy="228600"/>
          </a:xfrm>
          <a:prstGeom prst="rect">
            <a:avLst/>
          </a:prstGeom>
          <a:noFill/>
          <a:ln/>
        </p:spPr>
        <p:txBody>
          <a:bodyPr wrap="square" lIns="0" tIns="0" rIns="0" bIns="0" rtlCol="0" anchor="ctr"/>
          <a:lstStyle/>
          <a:p>
            <a:pPr indent="0" marL="0">
              <a:buNone/>
            </a:pPr>
            <a:r>
              <a:rPr lang="en-US" sz="1100" dirty="0">
                <a:solidFill>
                  <a:srgbClr val="D4954A"/>
                </a:solidFill>
                <a:latin typeface="Calibri" pitchFamily="34" charset="0"/>
                <a:ea typeface="Calibri" pitchFamily="34" charset="-122"/>
                <a:cs typeface="Calibri" pitchFamily="34" charset="-120"/>
              </a:rPr>
              <a:t>Representante Comercial</a:t>
            </a:r>
            <a:endParaRPr lang="en-US" sz="1100" dirty="0"/>
          </a:p>
        </p:txBody>
      </p:sp>
      <p:pic>
        <p:nvPicPr>
          <p:cNvPr id="8" name="Image 0" descr="preencoded.png"/>
          <p:cNvPicPr>
            <a:picLocks noChangeAspect="1"/>
          </p:cNvPicPr>
          <p:nvPr/>
        </p:nvPicPr>
        <p:blipFill>
          <a:blip r:embed="rId1"/>
          <a:stretch>
            <a:fillRect/>
          </a:stretch>
        </p:blipFill>
        <p:spPr>
          <a:xfrm>
            <a:off x="1005840" y="2423160"/>
            <a:ext cx="228600" cy="228600"/>
          </a:xfrm>
          <a:prstGeom prst="rect">
            <a:avLst/>
          </a:prstGeom>
        </p:spPr>
      </p:pic>
      <p:sp>
        <p:nvSpPr>
          <p:cNvPr id="9" name="Text 6"/>
          <p:cNvSpPr/>
          <p:nvPr/>
        </p:nvSpPr>
        <p:spPr>
          <a:xfrm>
            <a:off x="1371600" y="2377440"/>
            <a:ext cx="3657600" cy="320040"/>
          </a:xfrm>
          <a:prstGeom prst="rect">
            <a:avLst/>
          </a:prstGeom>
          <a:noFill/>
          <a:ln/>
        </p:spPr>
        <p:txBody>
          <a:bodyPr wrap="square" lIns="0" tIns="0" rIns="0" bIns="0" rtlCol="0" anchor="ctr"/>
          <a:lstStyle/>
          <a:p>
            <a:pPr indent="0" marL="0">
              <a:buNone/>
            </a:pPr>
            <a:r>
              <a:rPr lang="en-US" sz="1000" dirty="0">
                <a:solidFill>
                  <a:srgbClr val="C0B0A0"/>
                </a:solidFill>
                <a:latin typeface="Calibri" pitchFamily="34" charset="0"/>
                <a:ea typeface="Calibri" pitchFamily="34" charset="-122"/>
                <a:cs typeface="Calibri" pitchFamily="34" charset="-120"/>
              </a:rPr>
              <a:t>+1 786 354 6586</a:t>
            </a:r>
            <a:endParaRPr lang="en-US" sz="1000" dirty="0"/>
          </a:p>
        </p:txBody>
      </p:sp>
      <p:pic>
        <p:nvPicPr>
          <p:cNvPr id="10" name="Image 1" descr="preencoded.png"/>
          <p:cNvPicPr>
            <a:picLocks noChangeAspect="1"/>
          </p:cNvPicPr>
          <p:nvPr/>
        </p:nvPicPr>
        <p:blipFill>
          <a:blip r:embed="rId2"/>
          <a:stretch>
            <a:fillRect/>
          </a:stretch>
        </p:blipFill>
        <p:spPr>
          <a:xfrm>
            <a:off x="1005840" y="3063240"/>
            <a:ext cx="228600" cy="228600"/>
          </a:xfrm>
          <a:prstGeom prst="rect">
            <a:avLst/>
          </a:prstGeom>
        </p:spPr>
      </p:pic>
      <p:sp>
        <p:nvSpPr>
          <p:cNvPr id="11" name="Text 7"/>
          <p:cNvSpPr/>
          <p:nvPr/>
        </p:nvSpPr>
        <p:spPr>
          <a:xfrm>
            <a:off x="1371600" y="3017520"/>
            <a:ext cx="3657600" cy="320040"/>
          </a:xfrm>
          <a:prstGeom prst="rect">
            <a:avLst/>
          </a:prstGeom>
          <a:noFill/>
          <a:ln/>
        </p:spPr>
        <p:txBody>
          <a:bodyPr wrap="square" lIns="0" tIns="0" rIns="0" bIns="0" rtlCol="0" anchor="ctr"/>
          <a:lstStyle/>
          <a:p>
            <a:pPr indent="0" marL="0">
              <a:buNone/>
            </a:pPr>
            <a:r>
              <a:rPr lang="en-US" sz="1000" dirty="0">
                <a:solidFill>
                  <a:srgbClr val="C0B0A0"/>
                </a:solidFill>
                <a:latin typeface="Calibri" pitchFamily="34" charset="0"/>
                <a:ea typeface="Calibri" pitchFamily="34" charset="-122"/>
                <a:cs typeface="Calibri" pitchFamily="34" charset="-120"/>
              </a:rPr>
              <a:t>andymontbrun@propozl.com</a:t>
            </a:r>
            <a:endParaRPr lang="en-US" sz="1000" dirty="0"/>
          </a:p>
        </p:txBody>
      </p:sp>
      <p:pic>
        <p:nvPicPr>
          <p:cNvPr id="12" name="Image 2" descr="preencoded.png"/>
          <p:cNvPicPr>
            <a:picLocks noChangeAspect="1"/>
          </p:cNvPicPr>
          <p:nvPr/>
        </p:nvPicPr>
        <p:blipFill>
          <a:blip r:embed="rId3"/>
          <a:stretch>
            <a:fillRect/>
          </a:stretch>
        </p:blipFill>
        <p:spPr>
          <a:xfrm>
            <a:off x="1005840" y="3703320"/>
            <a:ext cx="228600" cy="228600"/>
          </a:xfrm>
          <a:prstGeom prst="rect">
            <a:avLst/>
          </a:prstGeom>
        </p:spPr>
      </p:pic>
      <p:sp>
        <p:nvSpPr>
          <p:cNvPr id="13" name="Text 8"/>
          <p:cNvSpPr/>
          <p:nvPr/>
        </p:nvSpPr>
        <p:spPr>
          <a:xfrm>
            <a:off x="1371600" y="3657600"/>
            <a:ext cx="3657600" cy="685800"/>
          </a:xfrm>
          <a:prstGeom prst="rect">
            <a:avLst/>
          </a:prstGeom>
          <a:noFill/>
          <a:ln/>
        </p:spPr>
        <p:txBody>
          <a:bodyPr wrap="square" lIns="0" tIns="0" rIns="0" bIns="0" rtlCol="0" anchor="ctr"/>
          <a:lstStyle/>
          <a:p>
            <a:pPr indent="0" marL="0">
              <a:buNone/>
            </a:pPr>
            <a:r>
              <a:rPr lang="en-US" sz="1000" dirty="0">
                <a:solidFill>
                  <a:srgbClr val="C0B0A0"/>
                </a:solidFill>
                <a:latin typeface="Calibri" pitchFamily="34" charset="0"/>
                <a:ea typeface="Calibri" pitchFamily="34" charset="-122"/>
                <a:cs typeface="Calibri" pitchFamily="34" charset="-120"/>
              </a:rPr>
              <a:t>Calle 26, entre Av. 1ra y 2da</a:t>
            </a:r>
            <a:endParaRPr lang="en-US" sz="1000" dirty="0"/>
          </a:p>
          <a:p>
            <a:pPr indent="0" marL="0">
              <a:buNone/>
            </a:pPr>
            <a:r>
              <a:rPr lang="en-US" sz="1000" dirty="0">
                <a:solidFill>
                  <a:srgbClr val="C0B0A0"/>
                </a:solidFill>
                <a:latin typeface="Calibri" pitchFamily="34" charset="0"/>
                <a:ea typeface="Calibri" pitchFamily="34" charset="-122"/>
                <a:cs typeface="Calibri" pitchFamily="34" charset="-120"/>
              </a:rPr>
              <a:t>Galpon 25-90, Zona Industrial I</a:t>
            </a:r>
            <a:endParaRPr lang="en-US" sz="1000" dirty="0"/>
          </a:p>
          <a:p>
            <a:pPr indent="0" marL="0">
              <a:buNone/>
            </a:pPr>
            <a:r>
              <a:rPr lang="en-US" sz="1000" dirty="0">
                <a:solidFill>
                  <a:srgbClr val="C0B0A0"/>
                </a:solidFill>
                <a:latin typeface="Calibri" pitchFamily="34" charset="0"/>
                <a:ea typeface="Calibri" pitchFamily="34" charset="-122"/>
                <a:cs typeface="Calibri" pitchFamily="34" charset="-120"/>
              </a:rPr>
              <a:t>Barquisimeto 3001, Venezuela</a:t>
            </a:r>
            <a:endParaRPr lang="en-US" sz="1000" dirty="0"/>
          </a:p>
        </p:txBody>
      </p:sp>
      <p:pic>
        <p:nvPicPr>
          <p:cNvPr id="14" name="Image 3" descr="/sessions/sweet-gallant-wright/pyglara-deck/qr_whatsapp.png"/>
          <p:cNvPicPr>
            <a:picLocks noChangeAspect="1"/>
          </p:cNvPicPr>
          <p:nvPr/>
        </p:nvPicPr>
        <p:blipFill>
          <a:blip r:embed="rId4"/>
          <a:stretch>
            <a:fillRect/>
          </a:stretch>
        </p:blipFill>
        <p:spPr>
          <a:xfrm>
            <a:off x="6217920" y="1463040"/>
            <a:ext cx="2011680" cy="2011680"/>
          </a:xfrm>
          <a:prstGeom prst="rect">
            <a:avLst/>
          </a:prstGeom>
        </p:spPr>
      </p:pic>
      <p:sp>
        <p:nvSpPr>
          <p:cNvPr id="15" name="Text 9"/>
          <p:cNvSpPr/>
          <p:nvPr/>
        </p:nvSpPr>
        <p:spPr>
          <a:xfrm>
            <a:off x="6217920" y="3520440"/>
            <a:ext cx="2011680" cy="228600"/>
          </a:xfrm>
          <a:prstGeom prst="rect">
            <a:avLst/>
          </a:prstGeom>
          <a:noFill/>
          <a:ln/>
        </p:spPr>
        <p:txBody>
          <a:bodyPr wrap="square" lIns="0" tIns="0" rIns="0" bIns="0" rtlCol="0" anchor="ctr"/>
          <a:lstStyle/>
          <a:p>
            <a:pPr algn="ctr" indent="0" marL="0">
              <a:buNone/>
            </a:pPr>
            <a:r>
              <a:rPr lang="en-US" sz="1100" b="1" dirty="0">
                <a:solidFill>
                  <a:srgbClr val="D4954A"/>
                </a:solidFill>
                <a:latin typeface="Calibri" pitchFamily="34" charset="0"/>
                <a:ea typeface="Calibri" pitchFamily="34" charset="-122"/>
                <a:cs typeface="Calibri" pitchFamily="34" charset="-120"/>
              </a:rPr>
              <a:t>WhatsApp</a:t>
            </a:r>
            <a:endParaRPr lang="en-US" sz="1100" dirty="0"/>
          </a:p>
        </p:txBody>
      </p:sp>
      <p:sp>
        <p:nvSpPr>
          <p:cNvPr id="16" name="Text 10"/>
          <p:cNvSpPr/>
          <p:nvPr/>
        </p:nvSpPr>
        <p:spPr>
          <a:xfrm>
            <a:off x="6217920" y="3749040"/>
            <a:ext cx="2011680" cy="182880"/>
          </a:xfrm>
          <a:prstGeom prst="rect">
            <a:avLst/>
          </a:prstGeom>
          <a:noFill/>
          <a:ln/>
        </p:spPr>
        <p:txBody>
          <a:bodyPr wrap="square" lIns="0" tIns="0" rIns="0" bIns="0" rtlCol="0" anchor="ctr"/>
          <a:lstStyle/>
          <a:p>
            <a:pPr algn="ctr" indent="0" marL="0">
              <a:buNone/>
            </a:pPr>
            <a:r>
              <a:rPr lang="en-US" sz="900" dirty="0">
                <a:solidFill>
                  <a:srgbClr val="8B7B6B"/>
                </a:solidFill>
                <a:latin typeface="Calibri" pitchFamily="34" charset="0"/>
                <a:ea typeface="Calibri" pitchFamily="34" charset="-122"/>
                <a:cs typeface="Calibri" pitchFamily="34" charset="-120"/>
              </a:rPr>
              <a:t>Escanee para contactar</a:t>
            </a:r>
            <a:endParaRPr lang="en-US" sz="900" dirty="0"/>
          </a:p>
        </p:txBody>
      </p:sp>
      <p:sp>
        <p:nvSpPr>
          <p:cNvPr id="17" name="Shape 11"/>
          <p:cNvSpPr/>
          <p:nvPr/>
        </p:nvSpPr>
        <p:spPr>
          <a:xfrm>
            <a:off x="0" y="4754880"/>
            <a:ext cx="9144000" cy="388620"/>
          </a:xfrm>
          <a:prstGeom prst="rect">
            <a:avLst/>
          </a:prstGeom>
          <a:solidFill>
            <a:srgbClr val="1E1508"/>
          </a:solidFill>
          <a:ln/>
        </p:spPr>
        <p:txBody>
          <a:bodyPr/>
          <a:p/>
        </p:txBody>
      </p:sp>
      <p:sp>
        <p:nvSpPr>
          <p:cNvPr id="18" name="Text 12"/>
          <p:cNvSpPr/>
          <p:nvPr/>
        </p:nvSpPr>
        <p:spPr>
          <a:xfrm>
            <a:off x="731520" y="4754880"/>
            <a:ext cx="7680960" cy="365760"/>
          </a:xfrm>
          <a:prstGeom prst="rect">
            <a:avLst/>
          </a:prstGeom>
          <a:noFill/>
          <a:ln/>
        </p:spPr>
        <p:txBody>
          <a:bodyPr wrap="square" rtlCol="0" anchor="ctr"/>
          <a:lstStyle/>
          <a:p>
            <a:pPr algn="ctr" indent="0" marL="0">
              <a:buNone/>
            </a:pPr>
            <a:r>
              <a:rPr lang="en-US" sz="900" spc="400" kern="0" dirty="0">
                <a:solidFill>
                  <a:srgbClr val="B87333"/>
                </a:solidFill>
                <a:latin typeface="Calibri" pitchFamily="34" charset="0"/>
                <a:ea typeface="Calibri" pitchFamily="34" charset="-122"/>
                <a:cs typeface="Calibri" pitchFamily="34" charset="-120"/>
              </a:rPr>
              <a:t>CONFIDENCIAL</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5">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28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3E2C1C"/>
                </a:solidFill>
                <a:latin typeface="Georgia" pitchFamily="34" charset="0"/>
                <a:ea typeface="Georgia" pitchFamily="34" charset="-122"/>
                <a:cs typeface="Georgia" pitchFamily="34" charset="-120"/>
              </a:rPr>
              <a:t>OFAC COMPLIANCE FRAMEWORK</a:t>
            </a:r>
            <a:endParaRPr lang="en-US" sz="2800" dirty="0"/>
          </a:p>
        </p:txBody>
      </p:sp>
      <p:sp>
        <p:nvSpPr>
          <p:cNvPr id="5" name="Shape 3"/>
          <p:cNvSpPr/>
          <p:nvPr/>
        </p:nvSpPr>
        <p:spPr>
          <a:xfrm>
            <a:off x="548640" y="1005840"/>
            <a:ext cx="8046720" cy="640080"/>
          </a:xfrm>
          <a:prstGeom prst="rect">
            <a:avLst/>
          </a:prstGeom>
          <a:solidFill>
            <a:srgbClr val="FFFFFF"/>
          </a:solidFill>
          <a:ln w="6350">
            <a:solidFill>
              <a:srgbClr val="D4C5B2"/>
            </a:solidFill>
            <a:prstDash val="solid"/>
          </a:ln>
        </p:spPr>
        <p:txBody>
          <a:bodyPr/>
          <a:p/>
        </p:txBody>
      </p:sp>
      <p:sp>
        <p:nvSpPr>
          <p:cNvPr id="6" name="Shape 4"/>
          <p:cNvSpPr/>
          <p:nvPr/>
        </p:nvSpPr>
        <p:spPr>
          <a:xfrm>
            <a:off x="548640" y="1005840"/>
            <a:ext cx="54864" cy="640080"/>
          </a:xfrm>
          <a:prstGeom prst="rect">
            <a:avLst/>
          </a:prstGeom>
          <a:solidFill>
            <a:srgbClr val="B87333"/>
          </a:solidFill>
          <a:ln/>
        </p:spPr>
        <p:txBody>
          <a:bodyPr/>
          <a:p/>
        </p:txBody>
      </p:sp>
      <p:pic>
        <p:nvPicPr>
          <p:cNvPr id="7" name="Image 0" descr="preencoded.png"/>
          <p:cNvPicPr>
            <a:picLocks noChangeAspect="1"/>
          </p:cNvPicPr>
          <p:nvPr/>
        </p:nvPicPr>
        <p:blipFill>
          <a:blip r:embed="rId1"/>
          <a:stretch>
            <a:fillRect/>
          </a:stretch>
        </p:blipFill>
        <p:spPr>
          <a:xfrm>
            <a:off x="777240" y="1143000"/>
            <a:ext cx="320040" cy="320040"/>
          </a:xfrm>
          <a:prstGeom prst="rect">
            <a:avLst/>
          </a:prstGeom>
        </p:spPr>
      </p:pic>
      <p:sp>
        <p:nvSpPr>
          <p:cNvPr id="8" name="Text 5"/>
          <p:cNvSpPr/>
          <p:nvPr/>
        </p:nvSpPr>
        <p:spPr>
          <a:xfrm>
            <a:off x="1280160" y="1005840"/>
            <a:ext cx="2560320" cy="640080"/>
          </a:xfrm>
          <a:prstGeom prst="rect">
            <a:avLst/>
          </a:prstGeom>
          <a:noFill/>
          <a:ln/>
        </p:spPr>
        <p:txBody>
          <a:bodyPr wrap="square" lIns="0" tIns="0" rIns="0" bIns="0" rtlCol="0" anchor="ctr"/>
          <a:lstStyle/>
          <a:p>
            <a:pPr indent="0" marL="0">
              <a:buNone/>
            </a:pPr>
            <a:r>
              <a:rPr lang="en-US" sz="1200" b="1" dirty="0">
                <a:solidFill>
                  <a:srgbClr val="8B5A2B"/>
                </a:solidFill>
                <a:latin typeface="Calibri" pitchFamily="34" charset="0"/>
                <a:ea typeface="Calibri" pitchFamily="34" charset="-122"/>
                <a:cs typeface="Calibri" pitchFamily="34" charset="-120"/>
              </a:rPr>
              <a:t>General License 50A</a:t>
            </a:r>
            <a:endParaRPr lang="en-US" sz="1200" dirty="0"/>
          </a:p>
        </p:txBody>
      </p:sp>
      <p:sp>
        <p:nvSpPr>
          <p:cNvPr id="9" name="Text 6"/>
          <p:cNvSpPr/>
          <p:nvPr/>
        </p:nvSpPr>
        <p:spPr>
          <a:xfrm>
            <a:off x="3931920" y="1005840"/>
            <a:ext cx="4572000" cy="64008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Permits certain transactions related to Venezuela</a:t>
            </a:r>
            <a:endParaRPr lang="en-US" sz="1000" dirty="0"/>
          </a:p>
        </p:txBody>
      </p:sp>
      <p:sp>
        <p:nvSpPr>
          <p:cNvPr id="10" name="Shape 7"/>
          <p:cNvSpPr/>
          <p:nvPr/>
        </p:nvSpPr>
        <p:spPr>
          <a:xfrm>
            <a:off x="548640" y="1783080"/>
            <a:ext cx="8046720" cy="640080"/>
          </a:xfrm>
          <a:prstGeom prst="rect">
            <a:avLst/>
          </a:prstGeom>
          <a:solidFill>
            <a:srgbClr val="EDE8E0"/>
          </a:solidFill>
          <a:ln w="6350">
            <a:solidFill>
              <a:srgbClr val="D4C5B2"/>
            </a:solidFill>
            <a:prstDash val="solid"/>
          </a:ln>
        </p:spPr>
        <p:txBody>
          <a:bodyPr/>
          <a:p/>
        </p:txBody>
      </p:sp>
      <p:sp>
        <p:nvSpPr>
          <p:cNvPr id="11" name="Shape 8"/>
          <p:cNvSpPr/>
          <p:nvPr/>
        </p:nvSpPr>
        <p:spPr>
          <a:xfrm>
            <a:off x="548640" y="1783080"/>
            <a:ext cx="54864" cy="640080"/>
          </a:xfrm>
          <a:prstGeom prst="rect">
            <a:avLst/>
          </a:prstGeom>
          <a:solidFill>
            <a:srgbClr val="B87333"/>
          </a:solidFill>
          <a:ln/>
        </p:spPr>
        <p:txBody>
          <a:bodyPr/>
          <a:p/>
        </p:txBody>
      </p:sp>
      <p:pic>
        <p:nvPicPr>
          <p:cNvPr id="12" name="Image 1" descr="preencoded.png"/>
          <p:cNvPicPr>
            <a:picLocks noChangeAspect="1"/>
          </p:cNvPicPr>
          <p:nvPr/>
        </p:nvPicPr>
        <p:blipFill>
          <a:blip r:embed="rId2"/>
          <a:stretch>
            <a:fillRect/>
          </a:stretch>
        </p:blipFill>
        <p:spPr>
          <a:xfrm>
            <a:off x="777240" y="1920240"/>
            <a:ext cx="320040" cy="320040"/>
          </a:xfrm>
          <a:prstGeom prst="rect">
            <a:avLst/>
          </a:prstGeom>
        </p:spPr>
      </p:pic>
      <p:sp>
        <p:nvSpPr>
          <p:cNvPr id="13" name="Text 9"/>
          <p:cNvSpPr/>
          <p:nvPr/>
        </p:nvSpPr>
        <p:spPr>
          <a:xfrm>
            <a:off x="1280160" y="1783080"/>
            <a:ext cx="2560320" cy="640080"/>
          </a:xfrm>
          <a:prstGeom prst="rect">
            <a:avLst/>
          </a:prstGeom>
          <a:noFill/>
          <a:ln/>
        </p:spPr>
        <p:txBody>
          <a:bodyPr wrap="square" lIns="0" tIns="0" rIns="0" bIns="0" rtlCol="0" anchor="ctr"/>
          <a:lstStyle/>
          <a:p>
            <a:pPr indent="0" marL="0">
              <a:buNone/>
            </a:pPr>
            <a:r>
              <a:rPr lang="en-US" sz="1200" b="1" dirty="0">
                <a:solidFill>
                  <a:srgbClr val="8B5A2B"/>
                </a:solidFill>
                <a:latin typeface="Calibri" pitchFamily="34" charset="0"/>
                <a:ea typeface="Calibri" pitchFamily="34" charset="-122"/>
                <a:cs typeface="Calibri" pitchFamily="34" charset="-120"/>
              </a:rPr>
              <a:t>Non-Sanctioned Activity</a:t>
            </a:r>
            <a:endParaRPr lang="en-US" sz="1200" dirty="0"/>
          </a:p>
        </p:txBody>
      </p:sp>
      <p:sp>
        <p:nvSpPr>
          <p:cNvPr id="14" name="Text 10"/>
          <p:cNvSpPr/>
          <p:nvPr/>
        </p:nvSpPr>
        <p:spPr>
          <a:xfrm>
            <a:off x="3931920" y="1783080"/>
            <a:ext cx="4572000" cy="64008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Industrial galvanizing services are NOT sanctioned</a:t>
            </a:r>
            <a:endParaRPr lang="en-US" sz="1000" dirty="0"/>
          </a:p>
        </p:txBody>
      </p:sp>
      <p:sp>
        <p:nvSpPr>
          <p:cNvPr id="15" name="Shape 11"/>
          <p:cNvSpPr/>
          <p:nvPr/>
        </p:nvSpPr>
        <p:spPr>
          <a:xfrm>
            <a:off x="548640" y="2560320"/>
            <a:ext cx="8046720" cy="640080"/>
          </a:xfrm>
          <a:prstGeom prst="rect">
            <a:avLst/>
          </a:prstGeom>
          <a:solidFill>
            <a:srgbClr val="FFFFFF"/>
          </a:solidFill>
          <a:ln w="6350">
            <a:solidFill>
              <a:srgbClr val="D4C5B2"/>
            </a:solidFill>
            <a:prstDash val="solid"/>
          </a:ln>
        </p:spPr>
        <p:txBody>
          <a:bodyPr/>
          <a:p/>
        </p:txBody>
      </p:sp>
      <p:sp>
        <p:nvSpPr>
          <p:cNvPr id="16" name="Shape 12"/>
          <p:cNvSpPr/>
          <p:nvPr/>
        </p:nvSpPr>
        <p:spPr>
          <a:xfrm>
            <a:off x="548640" y="2560320"/>
            <a:ext cx="54864" cy="640080"/>
          </a:xfrm>
          <a:prstGeom prst="rect">
            <a:avLst/>
          </a:prstGeom>
          <a:solidFill>
            <a:srgbClr val="B87333"/>
          </a:solidFill>
          <a:ln/>
        </p:spPr>
        <p:txBody>
          <a:bodyPr/>
          <a:p/>
        </p:txBody>
      </p:sp>
      <p:pic>
        <p:nvPicPr>
          <p:cNvPr id="17" name="Image 2" descr="preencoded.png"/>
          <p:cNvPicPr>
            <a:picLocks noChangeAspect="1"/>
          </p:cNvPicPr>
          <p:nvPr/>
        </p:nvPicPr>
        <p:blipFill>
          <a:blip r:embed="rId3"/>
          <a:stretch>
            <a:fillRect/>
          </a:stretch>
        </p:blipFill>
        <p:spPr>
          <a:xfrm>
            <a:off x="777240" y="2697480"/>
            <a:ext cx="320040" cy="320040"/>
          </a:xfrm>
          <a:prstGeom prst="rect">
            <a:avLst/>
          </a:prstGeom>
        </p:spPr>
      </p:pic>
      <p:sp>
        <p:nvSpPr>
          <p:cNvPr id="18" name="Text 13"/>
          <p:cNvSpPr/>
          <p:nvPr/>
        </p:nvSpPr>
        <p:spPr>
          <a:xfrm>
            <a:off x="1280160" y="2560320"/>
            <a:ext cx="2560320" cy="640080"/>
          </a:xfrm>
          <a:prstGeom prst="rect">
            <a:avLst/>
          </a:prstGeom>
          <a:noFill/>
          <a:ln/>
        </p:spPr>
        <p:txBody>
          <a:bodyPr wrap="square" lIns="0" tIns="0" rIns="0" bIns="0" rtlCol="0" anchor="ctr"/>
          <a:lstStyle/>
          <a:p>
            <a:pPr indent="0" marL="0">
              <a:buNone/>
            </a:pPr>
            <a:r>
              <a:rPr lang="en-US" sz="1200" b="1" dirty="0">
                <a:solidFill>
                  <a:srgbClr val="8B5A2B"/>
                </a:solidFill>
                <a:latin typeface="Calibri" pitchFamily="34" charset="0"/>
                <a:ea typeface="Calibri" pitchFamily="34" charset="-122"/>
                <a:cs typeface="Calibri" pitchFamily="34" charset="-120"/>
              </a:rPr>
              <a:t>100% Private Capital</a:t>
            </a:r>
            <a:endParaRPr lang="en-US" sz="1200" dirty="0"/>
          </a:p>
        </p:txBody>
      </p:sp>
      <p:sp>
        <p:nvSpPr>
          <p:cNvPr id="19" name="Text 14"/>
          <p:cNvSpPr/>
          <p:nvPr/>
        </p:nvSpPr>
        <p:spPr>
          <a:xfrm>
            <a:off x="3931920" y="2560320"/>
            <a:ext cx="4572000" cy="64008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No government ownership whatsoever</a:t>
            </a:r>
            <a:endParaRPr lang="en-US" sz="1000" dirty="0"/>
          </a:p>
        </p:txBody>
      </p:sp>
      <p:sp>
        <p:nvSpPr>
          <p:cNvPr id="20" name="Shape 15"/>
          <p:cNvSpPr/>
          <p:nvPr/>
        </p:nvSpPr>
        <p:spPr>
          <a:xfrm>
            <a:off x="548640" y="3337560"/>
            <a:ext cx="8046720" cy="640080"/>
          </a:xfrm>
          <a:prstGeom prst="rect">
            <a:avLst/>
          </a:prstGeom>
          <a:solidFill>
            <a:srgbClr val="EDE8E0"/>
          </a:solidFill>
          <a:ln w="6350">
            <a:solidFill>
              <a:srgbClr val="D4C5B2"/>
            </a:solidFill>
            <a:prstDash val="solid"/>
          </a:ln>
        </p:spPr>
        <p:txBody>
          <a:bodyPr/>
          <a:p/>
        </p:txBody>
      </p:sp>
      <p:sp>
        <p:nvSpPr>
          <p:cNvPr id="21" name="Shape 16"/>
          <p:cNvSpPr/>
          <p:nvPr/>
        </p:nvSpPr>
        <p:spPr>
          <a:xfrm>
            <a:off x="548640" y="3337560"/>
            <a:ext cx="54864" cy="640080"/>
          </a:xfrm>
          <a:prstGeom prst="rect">
            <a:avLst/>
          </a:prstGeom>
          <a:solidFill>
            <a:srgbClr val="B87333"/>
          </a:solidFill>
          <a:ln/>
        </p:spPr>
        <p:txBody>
          <a:bodyPr/>
          <a:p/>
        </p:txBody>
      </p:sp>
      <p:pic>
        <p:nvPicPr>
          <p:cNvPr id="22" name="Image 3" descr="preencoded.png"/>
          <p:cNvPicPr>
            <a:picLocks noChangeAspect="1"/>
          </p:cNvPicPr>
          <p:nvPr/>
        </p:nvPicPr>
        <p:blipFill>
          <a:blip r:embed="rId4"/>
          <a:stretch>
            <a:fillRect/>
          </a:stretch>
        </p:blipFill>
        <p:spPr>
          <a:xfrm>
            <a:off x="777240" y="3474720"/>
            <a:ext cx="320040" cy="320040"/>
          </a:xfrm>
          <a:prstGeom prst="rect">
            <a:avLst/>
          </a:prstGeom>
        </p:spPr>
      </p:pic>
      <p:sp>
        <p:nvSpPr>
          <p:cNvPr id="23" name="Text 17"/>
          <p:cNvSpPr/>
          <p:nvPr/>
        </p:nvSpPr>
        <p:spPr>
          <a:xfrm>
            <a:off x="1280160" y="3337560"/>
            <a:ext cx="2560320" cy="640080"/>
          </a:xfrm>
          <a:prstGeom prst="rect">
            <a:avLst/>
          </a:prstGeom>
          <a:noFill/>
          <a:ln/>
        </p:spPr>
        <p:txBody>
          <a:bodyPr wrap="square" lIns="0" tIns="0" rIns="0" bIns="0" rtlCol="0" anchor="ctr"/>
          <a:lstStyle/>
          <a:p>
            <a:pPr indent="0" marL="0">
              <a:buNone/>
            </a:pPr>
            <a:r>
              <a:rPr lang="en-US" sz="1200" b="1" dirty="0">
                <a:solidFill>
                  <a:srgbClr val="8B5A2B"/>
                </a:solidFill>
                <a:latin typeface="Calibri" pitchFamily="34" charset="0"/>
                <a:ea typeface="Calibri" pitchFamily="34" charset="-122"/>
                <a:cs typeface="Calibri" pitchFamily="34" charset="-120"/>
              </a:rPr>
              <a:t>No Sanctioned Entities</a:t>
            </a:r>
            <a:endParaRPr lang="en-US" sz="1200" dirty="0"/>
          </a:p>
        </p:txBody>
      </p:sp>
      <p:sp>
        <p:nvSpPr>
          <p:cNvPr id="24" name="Text 18"/>
          <p:cNvSpPr/>
          <p:nvPr/>
        </p:nvSpPr>
        <p:spPr>
          <a:xfrm>
            <a:off x="3931920" y="3337560"/>
            <a:ext cx="4572000" cy="64008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No involvement with PDVSA beyond standard gas utility</a:t>
            </a:r>
            <a:endParaRPr lang="en-US" sz="1000" dirty="0"/>
          </a:p>
        </p:txBody>
      </p:sp>
      <p:sp>
        <p:nvSpPr>
          <p:cNvPr id="25" name="Shape 19"/>
          <p:cNvSpPr/>
          <p:nvPr/>
        </p:nvSpPr>
        <p:spPr>
          <a:xfrm>
            <a:off x="548640" y="4114800"/>
            <a:ext cx="8046720" cy="640080"/>
          </a:xfrm>
          <a:prstGeom prst="rect">
            <a:avLst/>
          </a:prstGeom>
          <a:solidFill>
            <a:srgbClr val="FFFFFF"/>
          </a:solidFill>
          <a:ln w="6350">
            <a:solidFill>
              <a:srgbClr val="D4C5B2"/>
            </a:solidFill>
            <a:prstDash val="solid"/>
          </a:ln>
        </p:spPr>
        <p:txBody>
          <a:bodyPr/>
          <a:p/>
        </p:txBody>
      </p:sp>
      <p:sp>
        <p:nvSpPr>
          <p:cNvPr id="26" name="Shape 20"/>
          <p:cNvSpPr/>
          <p:nvPr/>
        </p:nvSpPr>
        <p:spPr>
          <a:xfrm>
            <a:off x="548640" y="4114800"/>
            <a:ext cx="54864" cy="640080"/>
          </a:xfrm>
          <a:prstGeom prst="rect">
            <a:avLst/>
          </a:prstGeom>
          <a:solidFill>
            <a:srgbClr val="B87333"/>
          </a:solidFill>
          <a:ln/>
        </p:spPr>
        <p:txBody>
          <a:bodyPr/>
          <a:p/>
        </p:txBody>
      </p:sp>
      <p:pic>
        <p:nvPicPr>
          <p:cNvPr id="27" name="Image 4" descr="preencoded.png"/>
          <p:cNvPicPr>
            <a:picLocks noChangeAspect="1"/>
          </p:cNvPicPr>
          <p:nvPr/>
        </p:nvPicPr>
        <p:blipFill>
          <a:blip r:embed="rId5"/>
          <a:stretch>
            <a:fillRect/>
          </a:stretch>
        </p:blipFill>
        <p:spPr>
          <a:xfrm>
            <a:off x="777240" y="4251960"/>
            <a:ext cx="320040" cy="320040"/>
          </a:xfrm>
          <a:prstGeom prst="rect">
            <a:avLst/>
          </a:prstGeom>
        </p:spPr>
      </p:pic>
      <p:sp>
        <p:nvSpPr>
          <p:cNvPr id="28" name="Text 21"/>
          <p:cNvSpPr/>
          <p:nvPr/>
        </p:nvSpPr>
        <p:spPr>
          <a:xfrm>
            <a:off x="1280160" y="4114800"/>
            <a:ext cx="2560320" cy="640080"/>
          </a:xfrm>
          <a:prstGeom prst="rect">
            <a:avLst/>
          </a:prstGeom>
          <a:noFill/>
          <a:ln/>
        </p:spPr>
        <p:txBody>
          <a:bodyPr wrap="square" lIns="0" tIns="0" rIns="0" bIns="0" rtlCol="0" anchor="ctr"/>
          <a:lstStyle/>
          <a:p>
            <a:pPr indent="0" marL="0">
              <a:buNone/>
            </a:pPr>
            <a:r>
              <a:rPr lang="en-US" sz="1200" b="1" dirty="0">
                <a:solidFill>
                  <a:srgbClr val="8B5A2B"/>
                </a:solidFill>
                <a:latin typeface="Calibri" pitchFamily="34" charset="0"/>
                <a:ea typeface="Calibri" pitchFamily="34" charset="-122"/>
                <a:cs typeface="Calibri" pitchFamily="34" charset="-120"/>
              </a:rPr>
              <a:t>Legal Counsel</a:t>
            </a:r>
            <a:endParaRPr lang="en-US" sz="1200" dirty="0"/>
          </a:p>
        </p:txBody>
      </p:sp>
      <p:sp>
        <p:nvSpPr>
          <p:cNvPr id="29" name="Text 22"/>
          <p:cNvSpPr/>
          <p:nvPr/>
        </p:nvSpPr>
        <p:spPr>
          <a:xfrm>
            <a:off x="3931920" y="4114800"/>
            <a:ext cx="4572000" cy="64008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Consult Venezuela-experienced counsel for specific guidance</a:t>
            </a:r>
            <a:endParaRPr lang="en-US" sz="1000" dirty="0"/>
          </a:p>
        </p:txBody>
      </p:sp>
      <p:sp>
        <p:nvSpPr>
          <p:cNvPr id="30" name="Text 23"/>
          <p:cNvSpPr/>
          <p:nvPr/>
        </p:nvSpPr>
        <p:spPr>
          <a:xfrm>
            <a:off x="548640" y="4754880"/>
            <a:ext cx="8046720" cy="228600"/>
          </a:xfrm>
          <a:prstGeom prst="rect">
            <a:avLst/>
          </a:prstGeom>
          <a:noFill/>
          <a:ln/>
        </p:spPr>
        <p:txBody>
          <a:bodyPr wrap="square" lIns="0" tIns="0" rIns="0" bIns="0" rtlCol="0" anchor="ctr"/>
          <a:lstStyle/>
          <a:p>
            <a:pPr algn="ctr" indent="0" marL="0">
              <a:buNone/>
            </a:pPr>
            <a:r>
              <a:rPr lang="en-US" sz="900" i="1" dirty="0">
                <a:solidFill>
                  <a:srgbClr val="8C8C8C"/>
                </a:solidFill>
                <a:latin typeface="Calibri" pitchFamily="34" charset="0"/>
                <a:ea typeface="Calibri" pitchFamily="34" charset="-122"/>
                <a:cs typeface="Calibri" pitchFamily="34" charset="-120"/>
              </a:rPr>
              <a:t>This presentation does not constitute legal advice.</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6">
    <p:bg>
      <p:bgPr>
        <a:solidFill>
          <a:srgbClr val="F2EDE6"/>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29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3E2C1C"/>
                </a:solidFill>
                <a:latin typeface="Georgia" pitchFamily="34" charset="0"/>
                <a:ea typeface="Georgia" pitchFamily="34" charset="-122"/>
                <a:cs typeface="Georgia" pitchFamily="34" charset="-120"/>
              </a:rPr>
              <a:t>USD REPATRIATION MECHANISM</a:t>
            </a:r>
            <a:endParaRPr lang="en-US" sz="2800" dirty="0"/>
          </a:p>
        </p:txBody>
      </p:sp>
      <p:sp>
        <p:nvSpPr>
          <p:cNvPr id="5" name="Shape 3"/>
          <p:cNvSpPr/>
          <p:nvPr/>
        </p:nvSpPr>
        <p:spPr>
          <a:xfrm>
            <a:off x="548640" y="1097280"/>
            <a:ext cx="2286000" cy="1371600"/>
          </a:xfrm>
          <a:prstGeom prst="rect">
            <a:avLst/>
          </a:prstGeom>
          <a:solidFill>
            <a:srgbClr val="FFFFFF"/>
          </a:solidFill>
          <a:ln w="19050">
            <a:solidFill>
              <a:srgbClr val="B87333"/>
            </a:solidFill>
            <a:prstDash val="solid"/>
          </a:ln>
          <a:effectLst>
            <a:outerShdw sx="100000" sy="100000" kx="0" ky="0" algn="bl" rotWithShape="0" blurRad="50800" dist="25400" dir="8100000">
              <a:srgbClr val="000000">
                <a:alpha val="8000"/>
              </a:srgbClr>
            </a:outerShdw>
          </a:effectLst>
        </p:spPr>
        <p:txBody>
          <a:bodyPr/>
          <a:p/>
        </p:txBody>
      </p:sp>
      <p:sp>
        <p:nvSpPr>
          <p:cNvPr id="6" name="Text 4"/>
          <p:cNvSpPr/>
          <p:nvPr/>
        </p:nvSpPr>
        <p:spPr>
          <a:xfrm>
            <a:off x="548640" y="1143000"/>
            <a:ext cx="2286000" cy="777240"/>
          </a:xfrm>
          <a:prstGeom prst="rect">
            <a:avLst/>
          </a:prstGeom>
          <a:noFill/>
          <a:ln/>
        </p:spPr>
        <p:txBody>
          <a:bodyPr wrap="square" lIns="0" tIns="0" rIns="0" bIns="0" rtlCol="0" anchor="ctr"/>
          <a:lstStyle/>
          <a:p>
            <a:pPr algn="ctr" indent="0" marL="0">
              <a:buNone/>
            </a:pPr>
            <a:r>
              <a:rPr lang="en-US" sz="1200" b="1" dirty="0">
                <a:solidFill>
                  <a:srgbClr val="8B5A2B"/>
                </a:solidFill>
                <a:latin typeface="Georgia" pitchFamily="34" charset="0"/>
                <a:ea typeface="Georgia" pitchFamily="34" charset="-122"/>
                <a:cs typeface="Georgia" pitchFamily="34" charset="-120"/>
              </a:rPr>
              <a:t>Revenue</a:t>
            </a:r>
            <a:endParaRPr lang="en-US" sz="1200" dirty="0"/>
          </a:p>
          <a:p>
            <a:pPr algn="ctr" indent="0" marL="0">
              <a:buNone/>
            </a:pPr>
            <a:r>
              <a:rPr lang="en-US" sz="1200" b="1" dirty="0">
                <a:solidFill>
                  <a:srgbClr val="8B5A2B"/>
                </a:solidFill>
                <a:latin typeface="Georgia" pitchFamily="34" charset="0"/>
                <a:ea typeface="Georgia" pitchFamily="34" charset="-122"/>
                <a:cs typeface="Georgia" pitchFamily="34" charset="-120"/>
              </a:rPr>
              <a:t>(USD-equivalent)</a:t>
            </a:r>
            <a:endParaRPr lang="en-US" sz="1200" dirty="0"/>
          </a:p>
        </p:txBody>
      </p:sp>
      <p:sp>
        <p:nvSpPr>
          <p:cNvPr id="7" name="Text 5"/>
          <p:cNvSpPr/>
          <p:nvPr/>
        </p:nvSpPr>
        <p:spPr>
          <a:xfrm>
            <a:off x="640080" y="1920240"/>
            <a:ext cx="2103120" cy="457200"/>
          </a:xfrm>
          <a:prstGeom prst="rect">
            <a:avLst/>
          </a:prstGeom>
          <a:noFill/>
          <a:ln/>
        </p:spPr>
        <p:txBody>
          <a:bodyPr wrap="square" lIns="0" tIns="0" rIns="0" bIns="0" rtlCol="0" anchor="t"/>
          <a:lstStyle/>
          <a:p>
            <a:pPr algn="ctr" indent="0" marL="0">
              <a:buNone/>
            </a:pPr>
            <a:r>
              <a:rPr lang="en-US" sz="900" dirty="0">
                <a:solidFill>
                  <a:srgbClr val="7A6555"/>
                </a:solidFill>
                <a:latin typeface="Calibri" pitchFamily="34" charset="0"/>
                <a:ea typeface="Calibri" pitchFamily="34" charset="-122"/>
                <a:cs typeface="Calibri" pitchFamily="34" charset="-120"/>
              </a:rPr>
              <a:t>Clients pay based</a:t>
            </a:r>
            <a:endParaRPr lang="en-US" sz="900" dirty="0"/>
          </a:p>
          <a:p>
            <a:pPr algn="ctr" indent="0" marL="0">
              <a:buNone/>
            </a:pPr>
            <a:r>
              <a:rPr lang="en-US" sz="900" dirty="0">
                <a:solidFill>
                  <a:srgbClr val="7A6555"/>
                </a:solidFill>
                <a:latin typeface="Calibri" pitchFamily="34" charset="0"/>
                <a:ea typeface="Calibri" pitchFamily="34" charset="-122"/>
                <a:cs typeface="Calibri" pitchFamily="34" charset="-120"/>
              </a:rPr>
              <a:t>on exchange rate</a:t>
            </a:r>
            <a:endParaRPr lang="en-US" sz="900" dirty="0"/>
          </a:p>
        </p:txBody>
      </p:sp>
      <p:pic>
        <p:nvPicPr>
          <p:cNvPr id="8" name="Image 0" descr="preencoded.png"/>
          <p:cNvPicPr>
            <a:picLocks noChangeAspect="1"/>
          </p:cNvPicPr>
          <p:nvPr/>
        </p:nvPicPr>
        <p:blipFill>
          <a:blip r:embed="rId1"/>
          <a:stretch>
            <a:fillRect/>
          </a:stretch>
        </p:blipFill>
        <p:spPr>
          <a:xfrm>
            <a:off x="3017520" y="1554480"/>
            <a:ext cx="365760" cy="365760"/>
          </a:xfrm>
          <a:prstGeom prst="rect">
            <a:avLst/>
          </a:prstGeom>
        </p:spPr>
      </p:pic>
      <p:sp>
        <p:nvSpPr>
          <p:cNvPr id="9" name="Shape 6"/>
          <p:cNvSpPr/>
          <p:nvPr/>
        </p:nvSpPr>
        <p:spPr>
          <a:xfrm>
            <a:off x="3474720" y="1097280"/>
            <a:ext cx="2286000" cy="1371600"/>
          </a:xfrm>
          <a:prstGeom prst="rect">
            <a:avLst/>
          </a:prstGeom>
          <a:solidFill>
            <a:srgbClr val="FFFFFF"/>
          </a:solidFill>
          <a:ln w="19050">
            <a:solidFill>
              <a:srgbClr val="B87333"/>
            </a:solidFill>
            <a:prstDash val="solid"/>
          </a:ln>
          <a:effectLst>
            <a:outerShdw sx="100000" sy="100000" kx="0" ky="0" algn="bl" rotWithShape="0" blurRad="50800" dist="25400" dir="8100000">
              <a:srgbClr val="000000">
                <a:alpha val="8000"/>
              </a:srgbClr>
            </a:outerShdw>
          </a:effectLst>
        </p:spPr>
        <p:txBody>
          <a:bodyPr/>
          <a:p/>
        </p:txBody>
      </p:sp>
      <p:sp>
        <p:nvSpPr>
          <p:cNvPr id="10" name="Text 7"/>
          <p:cNvSpPr/>
          <p:nvPr/>
        </p:nvSpPr>
        <p:spPr>
          <a:xfrm>
            <a:off x="3474720" y="1143000"/>
            <a:ext cx="2286000" cy="777240"/>
          </a:xfrm>
          <a:prstGeom prst="rect">
            <a:avLst/>
          </a:prstGeom>
          <a:noFill/>
          <a:ln/>
        </p:spPr>
        <p:txBody>
          <a:bodyPr wrap="square" lIns="0" tIns="0" rIns="0" bIns="0" rtlCol="0" anchor="ctr"/>
          <a:lstStyle/>
          <a:p>
            <a:pPr algn="ctr" indent="0" marL="0">
              <a:buNone/>
            </a:pPr>
            <a:r>
              <a:rPr lang="en-US" sz="1200" b="1" dirty="0">
                <a:solidFill>
                  <a:srgbClr val="8B5A2B"/>
                </a:solidFill>
                <a:latin typeface="Georgia" pitchFamily="34" charset="0"/>
                <a:ea typeface="Georgia" pitchFamily="34" charset="-122"/>
                <a:cs typeface="Georgia" pitchFamily="34" charset="-120"/>
              </a:rPr>
              <a:t>Casa de Cambio</a:t>
            </a:r>
            <a:endParaRPr lang="en-US" sz="1200" dirty="0"/>
          </a:p>
          <a:p>
            <a:pPr algn="ctr" indent="0" marL="0">
              <a:buNone/>
            </a:pPr>
            <a:r>
              <a:rPr lang="en-US" sz="1200" b="1" dirty="0">
                <a:solidFill>
                  <a:srgbClr val="8B5A2B"/>
                </a:solidFill>
                <a:latin typeface="Georgia" pitchFamily="34" charset="0"/>
                <a:ea typeface="Georgia" pitchFamily="34" charset="-122"/>
                <a:cs typeface="Georgia" pitchFamily="34" charset="-120"/>
              </a:rPr>
              <a:t>or Mercantil Panama</a:t>
            </a:r>
            <a:endParaRPr lang="en-US" sz="1200" dirty="0"/>
          </a:p>
        </p:txBody>
      </p:sp>
      <p:sp>
        <p:nvSpPr>
          <p:cNvPr id="11" name="Text 8"/>
          <p:cNvSpPr/>
          <p:nvPr/>
        </p:nvSpPr>
        <p:spPr>
          <a:xfrm>
            <a:off x="3566160" y="1920240"/>
            <a:ext cx="2103120" cy="457200"/>
          </a:xfrm>
          <a:prstGeom prst="rect">
            <a:avLst/>
          </a:prstGeom>
          <a:noFill/>
          <a:ln/>
        </p:spPr>
        <p:txBody>
          <a:bodyPr wrap="square" lIns="0" tIns="0" rIns="0" bIns="0" rtlCol="0" anchor="t"/>
          <a:lstStyle/>
          <a:p>
            <a:pPr algn="ctr" indent="0" marL="0">
              <a:buNone/>
            </a:pPr>
            <a:r>
              <a:rPr lang="en-US" sz="900" dirty="0">
                <a:solidFill>
                  <a:srgbClr val="7A6555"/>
                </a:solidFill>
                <a:latin typeface="Calibri" pitchFamily="34" charset="0"/>
                <a:ea typeface="Calibri" pitchFamily="34" charset="-122"/>
                <a:cs typeface="Calibri" pitchFamily="34" charset="-120"/>
              </a:rPr>
              <a:t>~1.5% fee normally</a:t>
            </a:r>
            <a:endParaRPr lang="en-US" sz="900" dirty="0"/>
          </a:p>
          <a:p>
            <a:pPr algn="ctr" indent="0" marL="0">
              <a:buNone/>
            </a:pPr>
            <a:r>
              <a:rPr lang="en-US" sz="900" dirty="0">
                <a:solidFill>
                  <a:srgbClr val="7A6555"/>
                </a:solidFill>
                <a:latin typeface="Calibri" pitchFamily="34" charset="0"/>
                <a:ea typeface="Calibri" pitchFamily="34" charset="-122"/>
                <a:cs typeface="Calibri" pitchFamily="34" charset="-120"/>
              </a:rPr>
              <a:t>standard FX channel</a:t>
            </a:r>
            <a:endParaRPr lang="en-US" sz="900" dirty="0"/>
          </a:p>
        </p:txBody>
      </p:sp>
      <p:pic>
        <p:nvPicPr>
          <p:cNvPr id="12" name="Image 1" descr="preencoded.png"/>
          <p:cNvPicPr>
            <a:picLocks noChangeAspect="1"/>
          </p:cNvPicPr>
          <p:nvPr/>
        </p:nvPicPr>
        <p:blipFill>
          <a:blip r:embed="rId2"/>
          <a:stretch>
            <a:fillRect/>
          </a:stretch>
        </p:blipFill>
        <p:spPr>
          <a:xfrm>
            <a:off x="5943600" y="1554480"/>
            <a:ext cx="365760" cy="365760"/>
          </a:xfrm>
          <a:prstGeom prst="rect">
            <a:avLst/>
          </a:prstGeom>
        </p:spPr>
      </p:pic>
      <p:sp>
        <p:nvSpPr>
          <p:cNvPr id="13" name="Shape 9"/>
          <p:cNvSpPr/>
          <p:nvPr/>
        </p:nvSpPr>
        <p:spPr>
          <a:xfrm>
            <a:off x="6400800" y="1097280"/>
            <a:ext cx="2286000" cy="1371600"/>
          </a:xfrm>
          <a:prstGeom prst="rect">
            <a:avLst/>
          </a:prstGeom>
          <a:solidFill>
            <a:srgbClr val="FFFFFF"/>
          </a:solidFill>
          <a:ln w="19050">
            <a:solidFill>
              <a:srgbClr val="B87333"/>
            </a:solidFill>
            <a:prstDash val="solid"/>
          </a:ln>
          <a:effectLst>
            <a:outerShdw sx="100000" sy="100000" kx="0" ky="0" algn="bl" rotWithShape="0" blurRad="50800" dist="25400" dir="8100000">
              <a:srgbClr val="000000">
                <a:alpha val="8000"/>
              </a:srgbClr>
            </a:outerShdw>
          </a:effectLst>
        </p:spPr>
        <p:txBody>
          <a:bodyPr/>
          <a:p/>
        </p:txBody>
      </p:sp>
      <p:sp>
        <p:nvSpPr>
          <p:cNvPr id="14" name="Text 10"/>
          <p:cNvSpPr/>
          <p:nvPr/>
        </p:nvSpPr>
        <p:spPr>
          <a:xfrm>
            <a:off x="6400800" y="1143000"/>
            <a:ext cx="2286000" cy="777240"/>
          </a:xfrm>
          <a:prstGeom prst="rect">
            <a:avLst/>
          </a:prstGeom>
          <a:noFill/>
          <a:ln/>
        </p:spPr>
        <p:txBody>
          <a:bodyPr wrap="square" lIns="0" tIns="0" rIns="0" bIns="0" rtlCol="0" anchor="ctr"/>
          <a:lstStyle/>
          <a:p>
            <a:pPr algn="ctr" indent="0" marL="0">
              <a:buNone/>
            </a:pPr>
            <a:r>
              <a:rPr lang="en-US" sz="1200" b="1" dirty="0">
                <a:solidFill>
                  <a:srgbClr val="8B5A2B"/>
                </a:solidFill>
                <a:latin typeface="Georgia" pitchFamily="34" charset="0"/>
                <a:ea typeface="Georgia" pitchFamily="34" charset="-122"/>
                <a:cs typeface="Georgia" pitchFamily="34" charset="-120"/>
              </a:rPr>
              <a:t>International</a:t>
            </a:r>
            <a:endParaRPr lang="en-US" sz="1200" dirty="0"/>
          </a:p>
          <a:p>
            <a:pPr algn="ctr" indent="0" marL="0">
              <a:buNone/>
            </a:pPr>
            <a:r>
              <a:rPr lang="en-US" sz="1200" b="1" dirty="0">
                <a:solidFill>
                  <a:srgbClr val="8B5A2B"/>
                </a:solidFill>
                <a:latin typeface="Georgia" pitchFamily="34" charset="0"/>
                <a:ea typeface="Georgia" pitchFamily="34" charset="-122"/>
                <a:cs typeface="Georgia" pitchFamily="34" charset="-120"/>
              </a:rPr>
              <a:t>Transfer</a:t>
            </a:r>
            <a:endParaRPr lang="en-US" sz="1200" dirty="0"/>
          </a:p>
        </p:txBody>
      </p:sp>
      <p:sp>
        <p:nvSpPr>
          <p:cNvPr id="15" name="Text 11"/>
          <p:cNvSpPr/>
          <p:nvPr/>
        </p:nvSpPr>
        <p:spPr>
          <a:xfrm>
            <a:off x="6492240" y="1920240"/>
            <a:ext cx="2103120" cy="457200"/>
          </a:xfrm>
          <a:prstGeom prst="rect">
            <a:avLst/>
          </a:prstGeom>
          <a:noFill/>
          <a:ln/>
        </p:spPr>
        <p:txBody>
          <a:bodyPr wrap="square" lIns="0" tIns="0" rIns="0" bIns="0" rtlCol="0" anchor="t"/>
          <a:lstStyle/>
          <a:p>
            <a:pPr algn="ctr" indent="0" marL="0">
              <a:buNone/>
            </a:pPr>
            <a:r>
              <a:rPr lang="en-US" sz="900" dirty="0">
                <a:solidFill>
                  <a:srgbClr val="7A6555"/>
                </a:solidFill>
                <a:latin typeface="Calibri" pitchFamily="34" charset="0"/>
                <a:ea typeface="Calibri" pitchFamily="34" charset="-122"/>
                <a:cs typeface="Calibri" pitchFamily="34" charset="-120"/>
              </a:rPr>
              <a:t>USD repatriation</a:t>
            </a:r>
            <a:endParaRPr lang="en-US" sz="900" dirty="0"/>
          </a:p>
          <a:p>
            <a:pPr algn="ctr" indent="0" marL="0">
              <a:buNone/>
            </a:pPr>
            <a:r>
              <a:rPr lang="en-US" sz="900" dirty="0">
                <a:solidFill>
                  <a:srgbClr val="7A6555"/>
                </a:solidFill>
                <a:latin typeface="Calibri" pitchFamily="34" charset="0"/>
                <a:ea typeface="Calibri" pitchFamily="34" charset="-122"/>
                <a:cs typeface="Calibri" pitchFamily="34" charset="-120"/>
              </a:rPr>
              <a:t>to investor</a:t>
            </a:r>
            <a:endParaRPr lang="en-US" sz="900" dirty="0"/>
          </a:p>
        </p:txBody>
      </p:sp>
      <p:pic>
        <p:nvPicPr>
          <p:cNvPr id="16" name="Image 2" descr="preencoded.png"/>
          <p:cNvPicPr>
            <a:picLocks noChangeAspect="1"/>
          </p:cNvPicPr>
          <p:nvPr/>
        </p:nvPicPr>
        <p:blipFill>
          <a:blip r:embed="rId3"/>
          <a:stretch>
            <a:fillRect/>
          </a:stretch>
        </p:blipFill>
        <p:spPr>
          <a:xfrm>
            <a:off x="731520" y="2971800"/>
            <a:ext cx="228600" cy="228600"/>
          </a:xfrm>
          <a:prstGeom prst="rect">
            <a:avLst/>
          </a:prstGeom>
        </p:spPr>
      </p:pic>
      <p:sp>
        <p:nvSpPr>
          <p:cNvPr id="17" name="Text 12"/>
          <p:cNvSpPr/>
          <p:nvPr/>
        </p:nvSpPr>
        <p:spPr>
          <a:xfrm>
            <a:off x="1097280" y="2926080"/>
            <a:ext cx="7315200" cy="36576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Revenue denominated in USD-equivalent pricing</a:t>
            </a:r>
            <a:endParaRPr lang="en-US" sz="1000" dirty="0"/>
          </a:p>
        </p:txBody>
      </p:sp>
      <p:pic>
        <p:nvPicPr>
          <p:cNvPr id="18" name="Image 3" descr="preencoded.png"/>
          <p:cNvPicPr>
            <a:picLocks noChangeAspect="1"/>
          </p:cNvPicPr>
          <p:nvPr/>
        </p:nvPicPr>
        <p:blipFill>
          <a:blip r:embed="rId4"/>
          <a:stretch>
            <a:fillRect/>
          </a:stretch>
        </p:blipFill>
        <p:spPr>
          <a:xfrm>
            <a:off x="731520" y="3429000"/>
            <a:ext cx="228600" cy="228600"/>
          </a:xfrm>
          <a:prstGeom prst="rect">
            <a:avLst/>
          </a:prstGeom>
        </p:spPr>
      </p:pic>
      <p:sp>
        <p:nvSpPr>
          <p:cNvPr id="19" name="Text 13"/>
          <p:cNvSpPr/>
          <p:nvPr/>
        </p:nvSpPr>
        <p:spPr>
          <a:xfrm>
            <a:off x="1097280" y="3383280"/>
            <a:ext cx="7315200" cy="36576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Casa de cambio or Mercantil Panama — ~1.5% fee (standard)</a:t>
            </a:r>
            <a:endParaRPr lang="en-US" sz="1000" dirty="0"/>
          </a:p>
        </p:txBody>
      </p:sp>
      <p:pic>
        <p:nvPicPr>
          <p:cNvPr id="20" name="Image 4" descr="preencoded.png"/>
          <p:cNvPicPr>
            <a:picLocks noChangeAspect="1"/>
          </p:cNvPicPr>
          <p:nvPr/>
        </p:nvPicPr>
        <p:blipFill>
          <a:blip r:embed="rId5"/>
          <a:stretch>
            <a:fillRect/>
          </a:stretch>
        </p:blipFill>
        <p:spPr>
          <a:xfrm>
            <a:off x="731520" y="3886200"/>
            <a:ext cx="228600" cy="228600"/>
          </a:xfrm>
          <a:prstGeom prst="rect">
            <a:avLst/>
          </a:prstGeom>
        </p:spPr>
      </p:pic>
      <p:sp>
        <p:nvSpPr>
          <p:cNvPr id="21" name="Text 14"/>
          <p:cNvSpPr/>
          <p:nvPr/>
        </p:nvSpPr>
        <p:spPr>
          <a:xfrm>
            <a:off x="1097280" y="3840480"/>
            <a:ext cx="7315200" cy="36576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Post-January 2026 government has normalized foreign exchange</a:t>
            </a:r>
            <a:endParaRPr lang="en-US" sz="1000" dirty="0"/>
          </a:p>
        </p:txBody>
      </p:sp>
      <p:pic>
        <p:nvPicPr>
          <p:cNvPr id="22" name="Image 5" descr="preencoded.png"/>
          <p:cNvPicPr>
            <a:picLocks noChangeAspect="1"/>
          </p:cNvPicPr>
          <p:nvPr/>
        </p:nvPicPr>
        <p:blipFill>
          <a:blip r:embed="rId6"/>
          <a:stretch>
            <a:fillRect/>
          </a:stretch>
        </p:blipFill>
        <p:spPr>
          <a:xfrm>
            <a:off x="731520" y="4343400"/>
            <a:ext cx="228600" cy="228600"/>
          </a:xfrm>
          <a:prstGeom prst="rect">
            <a:avLst/>
          </a:prstGeom>
        </p:spPr>
      </p:pic>
      <p:sp>
        <p:nvSpPr>
          <p:cNvPr id="23" name="Text 15"/>
          <p:cNvSpPr/>
          <p:nvPr/>
        </p:nvSpPr>
        <p:spPr>
          <a:xfrm>
            <a:off x="1097280" y="4297680"/>
            <a:ext cx="7315200" cy="36576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Multiple private companies currently repatriating profits via same channels</a:t>
            </a:r>
            <a:endParaRPr lang="en-US" sz="1000" dirty="0"/>
          </a:p>
        </p:txBody>
      </p:sp>
      <p:sp>
        <p:nvSpPr>
          <p:cNvPr id="24" name="Text 16"/>
          <p:cNvSpPr/>
          <p:nvPr/>
        </p:nvSpPr>
        <p:spPr>
          <a:xfrm>
            <a:off x="548640" y="4709160"/>
            <a:ext cx="8046720" cy="228600"/>
          </a:xfrm>
          <a:prstGeom prst="rect">
            <a:avLst/>
          </a:prstGeom>
          <a:noFill/>
          <a:ln/>
        </p:spPr>
        <p:txBody>
          <a:bodyPr wrap="square" lIns="0" tIns="0" rIns="0" bIns="0" rtlCol="0" anchor="ctr"/>
          <a:lstStyle/>
          <a:p>
            <a:pPr algn="ctr" indent="0" marL="0">
              <a:buNone/>
            </a:pPr>
            <a:r>
              <a:rPr lang="en-US" sz="900" i="1" dirty="0">
                <a:solidFill>
                  <a:srgbClr val="C47F17"/>
                </a:solidFill>
                <a:latin typeface="Calibri" pitchFamily="34" charset="0"/>
                <a:ea typeface="Calibri" pitchFamily="34" charset="-122"/>
                <a:cs typeface="Calibri" pitchFamily="34" charset="-120"/>
              </a:rPr>
              <a:t>Currency volatility exists but is mitigated by USD-equivalent pricing model.</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7">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30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3E2C1C"/>
                </a:solidFill>
                <a:latin typeface="Georgia" pitchFamily="34" charset="0"/>
                <a:ea typeface="Georgia" pitchFamily="34" charset="-122"/>
                <a:cs typeface="Georgia" pitchFamily="34" charset="-120"/>
              </a:rPr>
              <a:t>KEY RISKS AND MITIGATION</a:t>
            </a:r>
            <a:endParaRPr lang="en-US" sz="28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914400"/>
          <a:ext cx="8046720" cy="914400"/>
        </p:xfrm>
        <a:graphic>
          <a:graphicData uri="http://schemas.openxmlformats.org/drawingml/2006/table">
            <a:tbl>
              <a:tblPr/>
              <a:tblGrid>
                <a:gridCol w="2011680"/>
                <a:gridCol w="914400"/>
                <a:gridCol w="5120640"/>
              </a:tblGrid>
              <a:tr h="32004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Risk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Impact</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Mitigation</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r>
              <a:tr h="457200">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Zinc price volatility</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47F17"/>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Pass-through cost — client pays based on absorption rate</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457200">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Regulatory margin cap (30%)</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b="1" dirty="0">
                          <a:solidFill>
                            <a:srgbClr val="2D7D46"/>
                          </a:solidFill>
                          <a:latin typeface="Calibri" pitchFamily="34" charset="0"/>
                          <a:ea typeface="Calibri" pitchFamily="34" charset="-122"/>
                          <a:cs typeface="Calibri" pitchFamily="34" charset="-120"/>
                        </a:rPr>
                        <a:t>Low</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Market achieves ~50% actual. 30% is legal floor.</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r h="457200">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Political/regulatory change</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47F17"/>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Infrastructure is bipartisan. Post-Jan 2026 govt is oil-friendly.</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457200">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Client volume below forecast</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b="1" dirty="0">
                          <a:solidFill>
                            <a:srgbClr val="2D7D46"/>
                          </a:solidFill>
                          <a:latin typeface="Calibri" pitchFamily="34" charset="0"/>
                          <a:ea typeface="Calibri" pitchFamily="34" charset="-122"/>
                          <a:cs typeface="Calibri" pitchFamily="34" charset="-120"/>
                        </a:rPr>
                        <a:t>Low</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Break-even at 14 TM/month (4.5% of proven capacity).</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r h="457200">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Equipment failure</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D7D46"/>
                          </a:solidFill>
                          <a:latin typeface="Calibri" pitchFamily="34" charset="0"/>
                          <a:ea typeface="Calibri" pitchFamily="34" charset="-122"/>
                          <a:cs typeface="Calibri" pitchFamily="34" charset="-120"/>
                        </a:rPr>
                        <a:t>Low</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$25-50K maint. budget. 36+ years of technical expertise on staff.</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457200">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Currency/exchange risk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b="1" dirty="0">
                          <a:solidFill>
                            <a:srgbClr val="C47F17"/>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USD-equivalent pricing. Revenue follows exchange rate.</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bl>
          </a:graphicData>
        </a:graphic>
      </p:graphicFrame>
      <p:sp>
        <p:nvSpPr>
          <p:cNvPr id="6" name="Shape 3"/>
          <p:cNvSpPr/>
          <p:nvPr/>
        </p:nvSpPr>
        <p:spPr>
          <a:xfrm>
            <a:off x="548640" y="4251960"/>
            <a:ext cx="8046720" cy="594360"/>
          </a:xfrm>
          <a:prstGeom prst="rect">
            <a:avLst/>
          </a:prstGeom>
          <a:solidFill>
            <a:srgbClr val="EDE8E0"/>
          </a:solidFill>
          <a:ln w="12700">
            <a:solidFill>
              <a:srgbClr val="B87333"/>
            </a:solidFill>
            <a:prstDash val="solid"/>
          </a:ln>
        </p:spPr>
        <p:txBody>
          <a:bodyPr/>
          <a:p/>
        </p:txBody>
      </p:sp>
      <p:sp>
        <p:nvSpPr>
          <p:cNvPr id="7" name="Text 4"/>
          <p:cNvSpPr/>
          <p:nvPr/>
        </p:nvSpPr>
        <p:spPr>
          <a:xfrm>
            <a:off x="731520" y="4251960"/>
            <a:ext cx="7680960" cy="594360"/>
          </a:xfrm>
          <a:prstGeom prst="rect">
            <a:avLst/>
          </a:prstGeom>
          <a:noFill/>
          <a:ln/>
        </p:spPr>
        <p:txBody>
          <a:bodyPr wrap="square" rtlCol="0" anchor="ctr"/>
          <a:lstStyle/>
          <a:p>
            <a:pPr algn="ctr" indent="0" marL="0">
              <a:buNone/>
            </a:pPr>
            <a:r>
              <a:rPr lang="en-US" sz="1000" i="1" dirty="0">
                <a:solidFill>
                  <a:srgbClr val="8B5A2B"/>
                </a:solidFill>
                <a:latin typeface="Calibri" pitchFamily="34" charset="0"/>
                <a:ea typeface="Calibri" pitchFamily="34" charset="-122"/>
                <a:cs typeface="Calibri" pitchFamily="34" charset="-120"/>
              </a:rPr>
              <a:t>The core risk is macro. The core mitigation is that PYGLARA is an infrastructure play — whoever governs needs galvanized steel.</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PYGLARA - Oportunidad de Inversion</dc:title>
  <dc:subject>PptxGenJS Presentation</dc:subject>
  <dc:creator>Andres Montbrun</dc:creator>
  <cp:lastModifiedBy>Andres Montbrun</cp:lastModifiedBy>
  <cp:revision>1</cp:revision>
  <dcterms:created xsi:type="dcterms:W3CDTF">2026-04-06T16:08:54Z</dcterms:created>
  <dcterms:modified xsi:type="dcterms:W3CDTF">2026-04-06T16:08:54Z</dcterms:modified>
</cp:coreProperties>
</file>