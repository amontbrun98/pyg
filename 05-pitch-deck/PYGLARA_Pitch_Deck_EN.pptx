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11-1.jpg" ContentType="image/jpg"/>
  <Override PartName="/ppt/media/image-12-1.jpg" ContentType="image/jpg"/>
  <Override PartName="/ppt/media/image-15-1.jpg" ContentType="image/jpg"/>
  <Override PartName="/ppt/media/image-5-6.jpg" ContentType="image/jpg"/>
  <Override PartName="/ppt/media/image-8-1.jpg" ContentType="image/jpg"/>
  <Override PartName="/ppt/media/image-8-2.jpg" ContentType="image/jpg"/>
  <Override PartName="/ppt/media/image-8-3.jpg" ContentType="image/jpg"/>
  <Override PartName="/ppt/media/image-8-4.jpg" ContentType="image/jpg"/>
  <Override PartName="/ppt/media/image-9-5.jpg" ContentType="image/jpg"/>
  <Override PartName="/ppt/media/image-9-6.jpg" ContentType="image/jpg"/>
  <Override PartName="/ppt/media/image-9-7.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83" r:id="rId34"/>
    <p:sldId id="284" r:id="rId35"/>
    <p:sldId id="285" r:id="rId36"/>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7.xml"/><Relationship Id="rId6" Type="http://schemas.openxmlformats.org/officeDocument/2006/relationships/slide" Target="slides/slide8.xml"/><Relationship Id="rId7" Type="http://schemas.openxmlformats.org/officeDocument/2006/relationships/slide" Target="slides/slide9.xml"/><Relationship Id="rId8" Type="http://schemas.openxmlformats.org/officeDocument/2006/relationships/slide" Target="slides/slide10.xml"/><Relationship Id="rId9" Type="http://schemas.openxmlformats.org/officeDocument/2006/relationships/slide" Target="slides/slide11.xml"/><Relationship Id="rId10" Type="http://schemas.openxmlformats.org/officeDocument/2006/relationships/slide" Target="slides/slide12.xml"/><Relationship Id="rId11" Type="http://schemas.openxmlformats.org/officeDocument/2006/relationships/slide" Target="slides/slide13.xml"/><Relationship Id="rId12" Type="http://schemas.openxmlformats.org/officeDocument/2006/relationships/slide" Target="slides/slide14.xml"/><Relationship Id="rId13" Type="http://schemas.openxmlformats.org/officeDocument/2006/relationships/slide" Target="slides/slide15.xml"/><Relationship Id="rId14" Type="http://schemas.openxmlformats.org/officeDocument/2006/relationships/slide" Target="slides/slide16.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slide" Target="slides/slide19.xml"/><Relationship Id="rId18" Type="http://schemas.openxmlformats.org/officeDocument/2006/relationships/slide" Target="slides/slide20.xml"/><Relationship Id="rId19" Type="http://schemas.openxmlformats.org/officeDocument/2006/relationships/slide" Target="slides/slide21.xml"/><Relationship Id="rId20" Type="http://schemas.openxmlformats.org/officeDocument/2006/relationships/slide" Target="slides/slide22.xml"/><Relationship Id="rId21" Type="http://schemas.openxmlformats.org/officeDocument/2006/relationships/slide" Target="slides/slide23.xml"/><Relationship Id="rId22" Type="http://schemas.openxmlformats.org/officeDocument/2006/relationships/slide" Target="slides/slide24.xml"/><Relationship Id="rId23" Type="http://schemas.openxmlformats.org/officeDocument/2006/relationships/slide" Target="slides/slide25.xml"/><Relationship Id="rId24" Type="http://schemas.openxmlformats.org/officeDocument/2006/relationships/slide" Target="slides/slide26.xml"/><Relationship Id="rId25" Type="http://schemas.openxmlformats.org/officeDocument/2006/relationships/slide" Target="slides/slide27.xml"/><Relationship Id="rId26" Type="http://schemas.openxmlformats.org/officeDocument/2006/relationships/slide" Target="slides/slide28.xml"/><Relationship Id="rId27" Type="http://schemas.openxmlformats.org/officeDocument/2006/relationships/slide" Target="slides/slide29.xml"/><Relationship Id="rId28" Type="http://schemas.openxmlformats.org/officeDocument/2006/relationships/slide" Target="slides/slide30.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slide" Target="slides/slide4.xml"/><Relationship Id="rId35" Type="http://schemas.openxmlformats.org/officeDocument/2006/relationships/slide" Target="slides/slide5.xml"/><Relationship Id="rId36"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My name is Andres Montbrun, commercial representative of PYGLARA. I am going to present you with a unique opportunity in the Venezuelan industrial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this plant from scratch today would cost between $2.2 and $3 million. It has German Pilling equipment, proven 300 tons per month, and a UNIQUE copper line in Venezuela.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Venezuela's oil sector needs galvanized steel for EVERYTHING surrounding the pipelines. There are only 2 commercial hot-dip galvanizing service providers in the entire country: ALF Galvanizados in Valencia (~9,000 TM/year) and PYGLARA. PDVSA's transmission pipelines use specialized coatings (FBE/3LPE), not galvanizing. However, ALL structural steel surrounding those pipelines — pipe racks, cable trays, platforms, handrails, grating, and stairs — is hot-dip galvanized per ASTM A123. That structural steel is our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Hot-dip galvanizing creates a metallurgical bond between zinc and steel. Unlike paint, zinc self-heals: if scratched, surrounding zinc cathodically protects exposed steel. Service life is 50-100 years vs. 3-5 for paint, and lifecycle cost is ~70% 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planta esta en el corazon de la Zona Industrial I de Barquisimeto. Titulo limpio, contrato de gas con PDVSA activo, todo listo para operar.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of Venezuela showing Barquisimeto (PYGLARA), Puerto Cabello (2.5h), Caracas (3h) and Maracaibo (oil). Coverage of 8 western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geographic advantages: Puerto Cabello 2.5h, Caracas 3h, Zulia oil 4h, 8-state coverage, clients in same complex, industrial gas/energy pricing.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Pilling kettles from world-leading manufacturer since 1873. Proven production: 300 MT/mo with 7-meter kettle.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 Pilling Riepe GmbH is the world-leading manufacturer of galvanizing kettles since 1873. Its kettles use electroslag welding with walls up to 80mm. They last decades. PYGLARA kettles alone are worth over $1.1 million at replacement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PYGLARA can galvanize any steel piece. Main sectors are electrical, oil, construction, renewable energy, infrastructure and agriculture. Note: Oil &amp; gas pipelines use specialized coatings (FBE/3LPE), not galvanizing. Our O&amp;G market is the structural steel surrounding the pipelines — pipe racks, cable trays, platforms, grating, and handrails. Mechanically stabilized earth is a retaining wall system using galvanized steel strips — Freyssinet/Geoquest is a historical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is NO other manufacturer of copper grounding rods in Venezuela. Everything is imported. ENELVEN (now CORPOELEC) purchased 20,000 units in 2004-2005. The global copper ground rod market is valued at $2.5 billion (2025) and growing at 7% CAGR. Key growth drivers are exactly our sectors: telecommunications (5G towers), renewable energy (solar installations), and electrical infrastructure rehabilitation. Every 5G tower, solar installation, and electrical substation requires copper grounding. All copper ground rods currently used in Venezuela are imported.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PYGLARA operates under COVENIN 1212-81, ASTM A123 and ASTM A153. In the certificate shown, thickness achieved was 101 um — 55% above the minimum specification of 65 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Founder Ing. Francisco Ballesteros led PYGLARA 50+ years through 70%+ economic contractions. Ing. Miriam Armas: 36+ years of technical experience. Workers on piece-rate — payroll scales with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Financial data was declared to SENIAT and is verifiable. Top 3 years exceeded $1.7M in sales. CORPOELEC, SASGO, Marullo, Freyssinet, INDUESCA and DISMACA are historical clients. 34 documented clients, 6 interested in reactivating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planta tiene inventario de materia prima: 2 toneladas de zinc, 4.6 toneladas de HCl, 500 kg de NH4Cl. Tres montacargas, dos gruas, bascula. La centrifuga de 65cm esta activa produciendo clavos.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verified this through web research in April 2026. The only other commercial hot-dip galvanizing service provider is ALF Galvanizados in Valencia (~9,000 TM/year, Grupo SUGACA). SIGALCA/MAPLOCA galvanizes its own sheet products — not a third-party service. DISMACA has internal galvanizing for its own EPC projects but doesn't offer it commercially. No other commercial service provider was found in the entire country. Building a new plant costs over $2 million and takes 18-36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Variable costs: $540/MT. Fixed: $5,600-$13,100/mo. Net margin: $529-$916/MT depending on volume and pricing. Zinc and selling price are key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scenarios by volume. Conservative: 100 MT/mo → $53K-$90K profit. Moderate: 200 MT → $119K-$186K. Best historical: 300 MT → $178K-$275K. Break-even: 10-20 MT/mo.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Break-even: 10-20 MT/mo depending on pricing and costs. Less than 7% of proven production of 300 MT/mo.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$336K startup. Potential: $90K-$275K/mo depending on volume. Each phase funds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Solo las cubas Pilling cuestan mas de un millon. El terreno con galpones vale entre $700K y un millon.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inversionista obtiene TODO: planta, equipos, marca, clientes, permisos, 50 anos de reputacion.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unico que falta es zinc en la cuba.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PYGLARA is a private Venezuelan company with zero government ownership. Industrial galvanizing is not a sanctioned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is priced in USD-equivalent terms. Conversion through casa de cambio at ~1.5% 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investment has risks. PYGLARA is an infrastructure play. Break-even is only 4.5% of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not projections — these are signed deals and public announcements with dates. The companies investing billions will need galvanized structural steel for every platform, pipe rack, cable tray, handrail, and grating panel they build. Sources: Rystad Energy (Jan 6 2026), CNBC/Chevron Q4 earnings (Jan 30 2026), Reuters/Repsol (Jan 9-10 2026), Telefonica (Feb 4 2025), CONATEL (Sep 2025), OilPrice.com (Mar 25 2026), Bloomberg (Feb 12 2026), Reuters (Mar 11 2026).</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misconception is that galvanizing serves the pipeline itself. In reality, oil &amp; gas pipelines use specialized coatings like FBE or 3LPE. But every refinery, pumping station, terminal, and drilling platform needs thousands of tons of galvanized structural steel for the infrastructure that supports those pipelines. Pipe racks, cable trays, grating, handrails, platforms — all hot-dip galvanized per ASTM A123. These are 3-12 meter pieces that fit perfectly in our 7m and 9m Pilling kettles. Rystad Energy projects $41B in fabrication &amp; construction, $10B+ in materials &amp; metals, and $10B+ in electrical &amp; instrumentation.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Telefonica announced $500 million for Venezuela on February 4, 2025. The CONATEL National Telecom Plan 2025-2031 calls for 1,500 new 4G stations, 500 5G stations, reinforcement of 3,000 existing stations, and 36,000 km of fiber optic. Each of those stations needs a galvanized tower and copper grounding. PYGLARA is the only company that can supply both products domestically.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jp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jpg"/><Relationship Id="rId6" Type="http://schemas.openxmlformats.org/officeDocument/2006/relationships/image" Target="../media/image-9-6.jpg"/><Relationship Id="rId7" Type="http://schemas.openxmlformats.org/officeDocument/2006/relationships/image" Target="../media/image-9-7.jp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slideLayout" Target="../slideLayouts/slideLayout1.xml"/><Relationship Id="rId11"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F10"/>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731520" y="914400"/>
            <a:ext cx="7680960" cy="1005840"/>
          </a:xfrm>
          <a:prstGeom prst="rect">
            <a:avLst/>
          </a:prstGeom>
          <a:noFill/>
          <a:ln/>
        </p:spPr>
        <p:txBody>
          <a:bodyPr wrap="square" lIns="0" tIns="0" rIns="0" bIns="0" rtlCol="0" anchor="ctr"/>
          <a:lstStyle/>
          <a:p>
            <a:pPr algn="l" indent="0" marL="0">
              <a:buNone/>
            </a:pPr>
            <a:r>
              <a:rPr lang="en-US" sz="5600" b="1" spc="600" kern="0" dirty="0">
                <a:solidFill>
                  <a:srgbClr val="FFFFFF"/>
                </a:solidFill>
                <a:latin typeface="Georgia" pitchFamily="34" charset="0"/>
                <a:ea typeface="Georgia" pitchFamily="34" charset="-122"/>
                <a:cs typeface="Georgia" pitchFamily="34" charset="-120"/>
              </a:rPr>
              <a:t>PYGLARA</a:t>
            </a:r>
            <a:endParaRPr lang="en-US" sz="5600" dirty="0"/>
          </a:p>
        </p:txBody>
      </p:sp>
      <p:sp>
        <p:nvSpPr>
          <p:cNvPr id="4" name="Text 2"/>
          <p:cNvSpPr/>
          <p:nvPr/>
        </p:nvSpPr>
        <p:spPr>
          <a:xfrm>
            <a:off x="731520" y="1874520"/>
            <a:ext cx="7680960" cy="411480"/>
          </a:xfrm>
          <a:prstGeom prst="rect">
            <a:avLst/>
          </a:prstGeom>
          <a:noFill/>
          <a:ln/>
        </p:spPr>
        <p:txBody>
          <a:bodyPr wrap="square" lIns="0" tIns="0" rIns="0" bIns="0" rtlCol="0" anchor="ctr"/>
          <a:lstStyle/>
          <a:p>
            <a:pPr algn="l" indent="0" marL="0">
              <a:buNone/>
            </a:pPr>
            <a:r>
              <a:rPr lang="en-US" sz="1800" dirty="0">
                <a:solidFill>
                  <a:srgbClr val="D4954A"/>
                </a:solidFill>
                <a:latin typeface="Calibri" pitchFamily="34" charset="0"/>
                <a:ea typeface="Calibri" pitchFamily="34" charset="-122"/>
                <a:cs typeface="Calibri" pitchFamily="34" charset="-120"/>
              </a:rPr>
              <a:t>Prensados y Galvanizados de Lara, S.A.</a:t>
            </a:r>
            <a:endParaRPr lang="en-US" sz="1800" dirty="0"/>
          </a:p>
        </p:txBody>
      </p:sp>
      <p:sp>
        <p:nvSpPr>
          <p:cNvPr id="5" name="Text 3"/>
          <p:cNvSpPr/>
          <p:nvPr/>
        </p:nvSpPr>
        <p:spPr>
          <a:xfrm>
            <a:off x="731520" y="2423160"/>
            <a:ext cx="5943600" cy="411480"/>
          </a:xfrm>
          <a:prstGeom prst="rect">
            <a:avLst/>
          </a:prstGeom>
          <a:noFill/>
          <a:ln/>
        </p:spPr>
        <p:txBody>
          <a:bodyPr wrap="square" lIns="0" tIns="0" rIns="0" bIns="0" rtlCol="0" anchor="ctr"/>
          <a:lstStyle/>
          <a:p>
            <a:pPr algn="l" indent="0" marL="0">
              <a:buNone/>
            </a:pPr>
            <a:r>
              <a:rPr lang="en-US" sz="1300" i="1" dirty="0">
                <a:solidFill>
                  <a:srgbClr val="C0B0A0"/>
                </a:solidFill>
                <a:latin typeface="Calibri" pitchFamily="34" charset="0"/>
                <a:ea typeface="Calibri" pitchFamily="34" charset="-122"/>
                <a:cs typeface="Calibri" pitchFamily="34" charset="-120"/>
              </a:rPr>
              <a:t>The largest galvanizing plant in central-western Venezuela</a:t>
            </a:r>
            <a:endParaRPr lang="en-US" sz="1300" dirty="0"/>
          </a:p>
        </p:txBody>
      </p:sp>
      <p:pic>
        <p:nvPicPr>
          <p:cNvPr id="6" name="Image 0" descr="/sessions/sweet-gallant-wright/pyglara-deck/images/cuba9m.jpg"/>
          <p:cNvPicPr>
            <a:picLocks noChangeAspect="1"/>
          </p:cNvPicPr>
          <p:nvPr/>
        </p:nvPicPr>
        <p:blipFill>
          <a:blip r:embed="rId1"/>
          <a:srcRect l="0" r="0" t="0" b="0"/>
          <a:stretch/>
        </p:blipFill>
        <p:spPr>
          <a:xfrm>
            <a:off x="5303520" y="914400"/>
            <a:ext cx="3291840" cy="2286000"/>
          </a:xfrm>
          <a:prstGeom prst="rect">
            <a:avLst/>
          </a:prstGeom>
        </p:spPr>
      </p:pic>
      <p:sp>
        <p:nvSpPr>
          <p:cNvPr id="7" name="Shape 4"/>
          <p:cNvSpPr/>
          <p:nvPr/>
        </p:nvSpPr>
        <p:spPr>
          <a:xfrm>
            <a:off x="5303520" y="914400"/>
            <a:ext cx="3291840" cy="2286000"/>
          </a:xfrm>
          <a:prstGeom prst="rect">
            <a:avLst/>
          </a:prstGeom>
          <a:ln w="19050">
            <a:solidFill>
              <a:srgbClr val="B87333"/>
            </a:solidFill>
            <a:prstDash val="solid"/>
          </a:ln>
        </p:spPr>
        <p:txBody>
          <a:bodyPr/>
          <a:p/>
        </p:txBody>
      </p:sp>
      <p:sp>
        <p:nvSpPr>
          <p:cNvPr id="8" name="Shape 5"/>
          <p:cNvSpPr/>
          <p:nvPr/>
        </p:nvSpPr>
        <p:spPr>
          <a:xfrm>
            <a:off x="0" y="4023360"/>
            <a:ext cx="9144000" cy="1120140"/>
          </a:xfrm>
          <a:prstGeom prst="rect">
            <a:avLst/>
          </a:prstGeom>
          <a:solidFill>
            <a:srgbClr val="1E1508"/>
          </a:solidFill>
          <a:ln/>
        </p:spPr>
        <p:txBody>
          <a:bodyPr/>
          <a:p/>
        </p:txBody>
      </p:sp>
      <p:sp>
        <p:nvSpPr>
          <p:cNvPr id="9" name="Shape 6"/>
          <p:cNvSpPr/>
          <p:nvPr/>
        </p:nvSpPr>
        <p:spPr>
          <a:xfrm>
            <a:off x="0" y="4023360"/>
            <a:ext cx="9144000" cy="22860"/>
          </a:xfrm>
          <a:prstGeom prst="rect">
            <a:avLst/>
          </a:prstGeom>
          <a:solidFill>
            <a:srgbClr val="B87333"/>
          </a:solidFill>
          <a:ln/>
        </p:spPr>
        <p:txBody>
          <a:bodyPr/>
          <a:p/>
        </p:txBody>
      </p:sp>
      <p:sp>
        <p:nvSpPr>
          <p:cNvPr id="10" name="Text 7"/>
          <p:cNvSpPr/>
          <p:nvPr/>
        </p:nvSpPr>
        <p:spPr>
          <a:xfrm>
            <a:off x="731520" y="4160520"/>
            <a:ext cx="4572000" cy="320040"/>
          </a:xfrm>
          <a:prstGeom prst="rect">
            <a:avLst/>
          </a:prstGeom>
          <a:noFill/>
          <a:ln/>
        </p:spPr>
        <p:txBody>
          <a:bodyPr wrap="square" lIns="0" tIns="0" rIns="0" bIns="0" rtlCol="0" anchor="ctr"/>
          <a:lstStyle/>
          <a:p>
            <a:pPr algn="l" indent="0" marL="0">
              <a:buNone/>
            </a:pPr>
            <a:r>
              <a:rPr lang="en-US" sz="1200" dirty="0">
                <a:solidFill>
                  <a:srgbClr val="A09080"/>
                </a:solidFill>
                <a:latin typeface="Calibri" pitchFamily="34" charset="0"/>
                <a:ea typeface="Calibri" pitchFamily="34" charset="-122"/>
                <a:cs typeface="Calibri" pitchFamily="34" charset="-120"/>
              </a:rPr>
              <a:t>Investment Opportunity  |  April 2026</a:t>
            </a:r>
            <a:endParaRPr lang="en-US" sz="1200" dirty="0"/>
          </a:p>
        </p:txBody>
      </p:sp>
      <p:sp>
        <p:nvSpPr>
          <p:cNvPr id="11" name="Text 8"/>
          <p:cNvSpPr/>
          <p:nvPr/>
        </p:nvSpPr>
        <p:spPr>
          <a:xfrm>
            <a:off x="5486400" y="4160520"/>
            <a:ext cx="2926080" cy="320040"/>
          </a:xfrm>
          <a:prstGeom prst="rect">
            <a:avLst/>
          </a:prstGeom>
          <a:noFill/>
          <a:ln/>
        </p:spPr>
        <p:txBody>
          <a:bodyPr wrap="square" lIns="0" tIns="0" rIns="0" bIns="0" rtlCol="0" anchor="ctr"/>
          <a:lstStyle/>
          <a:p>
            <a:pPr algn="r" indent="0" marL="0">
              <a:buNone/>
            </a:pPr>
            <a:r>
              <a:rPr lang="en-US" sz="1100" b="1" spc="400" kern="0" dirty="0">
                <a:solidFill>
                  <a:srgbClr val="B87333"/>
                </a:solidFill>
                <a:latin typeface="Calibri" pitchFamily="34" charset="0"/>
                <a:ea typeface="Calibri" pitchFamily="34" charset="-122"/>
                <a:cs typeface="Calibri" pitchFamily="34" charset="-120"/>
              </a:rPr>
              <a:t>CONFIDENTIAL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 / 30</a:t>
            </a:r>
            <a:endParaRPr lang="en-US" sz="800" dirty="0"/>
          </a:p>
        </p:txBody>
      </p:sp>
      <p:sp>
        <p:nvSpPr>
          <p:cNvPr id="4" name="Text 2"/>
          <p:cNvSpPr/>
          <p:nvPr/>
        </p:nvSpPr>
        <p:spPr>
          <a:xfrm>
            <a:off x="548640" y="274320"/>
            <a:ext cx="8046720" cy="594360"/>
          </a:xfrm>
          <a:prstGeom prst="rect">
            <a:avLst/>
          </a:prstGeom>
          <a:noFill/>
          <a:ln/>
        </p:spPr>
        <p:txBody>
          <a:bodyPr wrap="square" lIns="0" tIns="0" rIns="0" bIns="0" rtlCol="0" anchor="ctr"/>
          <a:lstStyle/>
          <a:p>
            <a:pPr indent="0" marL="0">
              <a:buNone/>
            </a:pPr>
            <a:r>
              <a:rPr lang="en-US" sz="3400" b="1" dirty="0">
                <a:solidFill>
                  <a:srgbClr val="3E2C1C"/>
                </a:solidFill>
                <a:latin typeface="Georgia" pitchFamily="34" charset="0"/>
                <a:ea typeface="Georgia" pitchFamily="34" charset="-122"/>
                <a:cs typeface="Georgia" pitchFamily="34" charset="-120"/>
              </a:rPr>
              <a:t>THE OPPORTUNITY</a:t>
            </a:r>
            <a:endParaRPr lang="en-US" sz="3400" dirty="0"/>
          </a:p>
        </p:txBody>
      </p:sp>
      <p:sp>
        <p:nvSpPr>
          <p:cNvPr id="5" name="Text 3"/>
          <p:cNvSpPr/>
          <p:nvPr/>
        </p:nvSpPr>
        <p:spPr>
          <a:xfrm>
            <a:off x="548640" y="868680"/>
            <a:ext cx="8046720" cy="365760"/>
          </a:xfrm>
          <a:prstGeom prst="rect">
            <a:avLst/>
          </a:prstGeom>
          <a:noFill/>
          <a:ln/>
        </p:spPr>
        <p:txBody>
          <a:bodyPr wrap="square" lIns="0" tIns="0" rIns="0" bIns="0" rtlCol="0" anchor="ctr"/>
          <a:lstStyle/>
          <a:p>
            <a:pPr indent="0" marL="0">
              <a:buNone/>
            </a:pPr>
            <a:r>
              <a:rPr lang="en-US" sz="1300" i="1" dirty="0">
                <a:solidFill>
                  <a:srgbClr val="8B5A2B"/>
                </a:solidFill>
                <a:latin typeface="Calibri" pitchFamily="34" charset="0"/>
                <a:ea typeface="Calibri" pitchFamily="34" charset="-122"/>
                <a:cs typeface="Calibri" pitchFamily="34" charset="-120"/>
              </a:rPr>
              <a:t>A 50-year industrial plant with world-class German equipment</a:t>
            </a:r>
            <a:endParaRPr lang="en-US" sz="1300" dirty="0"/>
          </a:p>
        </p:txBody>
      </p:sp>
      <p:sp>
        <p:nvSpPr>
          <p:cNvPr id="6" name="Shape 4"/>
          <p:cNvSpPr/>
          <p:nvPr/>
        </p:nvSpPr>
        <p:spPr>
          <a:xfrm>
            <a:off x="548640" y="146304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7" name="Shape 5"/>
          <p:cNvSpPr/>
          <p:nvPr/>
        </p:nvSpPr>
        <p:spPr>
          <a:xfrm>
            <a:off x="548640" y="1463040"/>
            <a:ext cx="3749040" cy="36576"/>
          </a:xfrm>
          <a:prstGeom prst="rect">
            <a:avLst/>
          </a:prstGeom>
          <a:solidFill>
            <a:srgbClr val="B87333"/>
          </a:solidFill>
          <a:ln/>
        </p:spPr>
        <p:txBody>
          <a:bodyPr/>
          <a:p/>
        </p:txBody>
      </p:sp>
      <p:sp>
        <p:nvSpPr>
          <p:cNvPr id="8" name="Text 6"/>
          <p:cNvSpPr/>
          <p:nvPr/>
        </p:nvSpPr>
        <p:spPr>
          <a:xfrm>
            <a:off x="548640" y="1645920"/>
            <a:ext cx="3749040" cy="637794"/>
          </a:xfrm>
          <a:prstGeom prst="rect">
            <a:avLst/>
          </a:prstGeom>
          <a:noFill/>
          <a:ln/>
        </p:spPr>
        <p:txBody>
          <a:bodyPr wrap="square" lIns="0" tIns="0" rIns="0" bIns="0" rtlCol="0" anchor="ctr"/>
          <a:lstStyle/>
          <a:p>
            <a:pPr algn="ctr" indent="0" marL="0">
              <a:buNone/>
            </a:pPr>
            <a:r>
              <a:rPr lang="en-US" sz="2800" b="1" dirty="0">
                <a:solidFill>
                  <a:srgbClr val="8B5A2B"/>
                </a:solidFill>
                <a:latin typeface="Georgia" pitchFamily="34" charset="0"/>
                <a:ea typeface="Georgia" pitchFamily="34" charset="-122"/>
                <a:cs typeface="Georgia" pitchFamily="34" charset="-120"/>
              </a:rPr>
              <a:t>$2.2M-$3.0M</a:t>
            </a:r>
            <a:endParaRPr lang="en-US" sz="2800" dirty="0"/>
          </a:p>
        </p:txBody>
      </p:sp>
      <p:sp>
        <p:nvSpPr>
          <p:cNvPr id="9" name="Text 7"/>
          <p:cNvSpPr/>
          <p:nvPr/>
        </p:nvSpPr>
        <p:spPr>
          <a:xfrm>
            <a:off x="685800" y="224256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Replacement cost</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(build from scratch)</a:t>
            </a:r>
            <a:endParaRPr lang="en-US" sz="1000" dirty="0"/>
          </a:p>
        </p:txBody>
      </p:sp>
      <p:sp>
        <p:nvSpPr>
          <p:cNvPr id="10" name="Shape 8"/>
          <p:cNvSpPr/>
          <p:nvPr/>
        </p:nvSpPr>
        <p:spPr>
          <a:xfrm>
            <a:off x="4663440" y="146304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11" name="Shape 9"/>
          <p:cNvSpPr/>
          <p:nvPr/>
        </p:nvSpPr>
        <p:spPr>
          <a:xfrm>
            <a:off x="4663440" y="1463040"/>
            <a:ext cx="3749040" cy="36576"/>
          </a:xfrm>
          <a:prstGeom prst="rect">
            <a:avLst/>
          </a:prstGeom>
          <a:solidFill>
            <a:srgbClr val="B87333"/>
          </a:solidFill>
          <a:ln/>
        </p:spPr>
        <p:txBody>
          <a:bodyPr/>
          <a:p/>
        </p:txBody>
      </p:sp>
      <p:sp>
        <p:nvSpPr>
          <p:cNvPr id="12" name="Text 10"/>
          <p:cNvSpPr/>
          <p:nvPr/>
        </p:nvSpPr>
        <p:spPr>
          <a:xfrm>
            <a:off x="4663440" y="1645920"/>
            <a:ext cx="3749040" cy="637794"/>
          </a:xfrm>
          <a:prstGeom prst="rect">
            <a:avLst/>
          </a:prstGeom>
          <a:noFill/>
          <a:ln/>
        </p:spPr>
        <p:txBody>
          <a:bodyPr wrap="square" lIns="0" tIns="0" rIns="0" bIns="0" rtlCol="0" anchor="ctr"/>
          <a:lstStyle/>
          <a:p>
            <a:pPr algn="ctr" indent="0" marL="0">
              <a:buNone/>
            </a:pPr>
            <a:r>
              <a:rPr lang="en-US" sz="2800" b="1" dirty="0">
                <a:solidFill>
                  <a:srgbClr val="8B5A2B"/>
                </a:solidFill>
                <a:latin typeface="Georgia" pitchFamily="34" charset="0"/>
                <a:ea typeface="Georgia" pitchFamily="34" charset="-122"/>
                <a:cs typeface="Georgia" pitchFamily="34" charset="-120"/>
              </a:rPr>
              <a:t>300 TM/mes</a:t>
            </a:r>
            <a:endParaRPr lang="en-US" sz="2800" dirty="0"/>
          </a:p>
        </p:txBody>
      </p:sp>
      <p:sp>
        <p:nvSpPr>
          <p:cNvPr id="13" name="Text 11"/>
          <p:cNvSpPr/>
          <p:nvPr/>
        </p:nvSpPr>
        <p:spPr>
          <a:xfrm>
            <a:off x="4800600" y="224256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Proven production</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(best historical month)</a:t>
            </a:r>
            <a:endParaRPr lang="en-US" sz="1000" dirty="0"/>
          </a:p>
        </p:txBody>
      </p:sp>
      <p:sp>
        <p:nvSpPr>
          <p:cNvPr id="14" name="Shape 12"/>
          <p:cNvSpPr/>
          <p:nvPr/>
        </p:nvSpPr>
        <p:spPr>
          <a:xfrm>
            <a:off x="548640" y="315468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15" name="Shape 13"/>
          <p:cNvSpPr/>
          <p:nvPr/>
        </p:nvSpPr>
        <p:spPr>
          <a:xfrm>
            <a:off x="548640" y="3154680"/>
            <a:ext cx="3749040" cy="36576"/>
          </a:xfrm>
          <a:prstGeom prst="rect">
            <a:avLst/>
          </a:prstGeom>
          <a:solidFill>
            <a:srgbClr val="B87333"/>
          </a:solidFill>
          <a:ln/>
        </p:spPr>
        <p:txBody>
          <a:bodyPr/>
          <a:p/>
        </p:txBody>
      </p:sp>
      <p:sp>
        <p:nvSpPr>
          <p:cNvPr id="16" name="Text 14"/>
          <p:cNvSpPr/>
          <p:nvPr/>
        </p:nvSpPr>
        <p:spPr>
          <a:xfrm>
            <a:off x="548640" y="3337560"/>
            <a:ext cx="3749040" cy="637794"/>
          </a:xfrm>
          <a:prstGeom prst="rect">
            <a:avLst/>
          </a:prstGeom>
          <a:noFill/>
          <a:ln/>
        </p:spPr>
        <p:txBody>
          <a:bodyPr wrap="square" lIns="0" tIns="0" rIns="0" bIns="0" rtlCol="0" anchor="ctr"/>
          <a:lstStyle/>
          <a:p>
            <a:pPr algn="ctr" indent="0" marL="0">
              <a:buNone/>
            </a:pPr>
            <a:r>
              <a:rPr lang="en-US" sz="2800" b="1" dirty="0">
                <a:solidFill>
                  <a:srgbClr val="8B5A2B"/>
                </a:solidFill>
                <a:latin typeface="Georgia" pitchFamily="34" charset="0"/>
                <a:ea typeface="Georgia" pitchFamily="34" charset="-122"/>
                <a:cs typeface="Georgia" pitchFamily="34" charset="-120"/>
              </a:rPr>
              <a:t>936 varillas/dia</a:t>
            </a:r>
            <a:endParaRPr lang="en-US" sz="2800" dirty="0"/>
          </a:p>
        </p:txBody>
      </p:sp>
      <p:sp>
        <p:nvSpPr>
          <p:cNvPr id="17" name="Text 15"/>
          <p:cNvSpPr/>
          <p:nvPr/>
        </p:nvSpPr>
        <p:spPr>
          <a:xfrm>
            <a:off x="685800" y="393420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Copper line with no</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domestic competitor</a:t>
            </a:r>
            <a:endParaRPr lang="en-US" sz="1000" dirty="0"/>
          </a:p>
        </p:txBody>
      </p:sp>
      <p:sp>
        <p:nvSpPr>
          <p:cNvPr id="18" name="Shape 16"/>
          <p:cNvSpPr/>
          <p:nvPr/>
        </p:nvSpPr>
        <p:spPr>
          <a:xfrm>
            <a:off x="4663440" y="315468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19" name="Shape 17"/>
          <p:cNvSpPr/>
          <p:nvPr/>
        </p:nvSpPr>
        <p:spPr>
          <a:xfrm>
            <a:off x="4663440" y="3154680"/>
            <a:ext cx="3749040" cy="36576"/>
          </a:xfrm>
          <a:prstGeom prst="rect">
            <a:avLst/>
          </a:prstGeom>
          <a:solidFill>
            <a:srgbClr val="B87333"/>
          </a:solidFill>
          <a:ln/>
        </p:spPr>
        <p:txBody>
          <a:bodyPr/>
          <a:p/>
        </p:txBody>
      </p:sp>
      <p:sp>
        <p:nvSpPr>
          <p:cNvPr id="20" name="Text 18"/>
          <p:cNvSpPr/>
          <p:nvPr/>
        </p:nvSpPr>
        <p:spPr>
          <a:xfrm>
            <a:off x="4663440" y="3337560"/>
            <a:ext cx="3749040" cy="637794"/>
          </a:xfrm>
          <a:prstGeom prst="rect">
            <a:avLst/>
          </a:prstGeom>
          <a:noFill/>
          <a:ln/>
        </p:spPr>
        <p:txBody>
          <a:bodyPr wrap="square" lIns="0" tIns="0" rIns="0" bIns="0" rtlCol="0" anchor="ctr"/>
          <a:lstStyle/>
          <a:p>
            <a:pPr algn="ctr" indent="0" marL="0">
              <a:buNone/>
            </a:pPr>
            <a:r>
              <a:rPr lang="en-US" sz="2800" b="1" dirty="0">
                <a:solidFill>
                  <a:srgbClr val="8B5A2B"/>
                </a:solidFill>
                <a:latin typeface="Georgia" pitchFamily="34" charset="0"/>
                <a:ea typeface="Georgia" pitchFamily="34" charset="-122"/>
                <a:cs typeface="Georgia" pitchFamily="34" charset="-120"/>
              </a:rPr>
              <a:t>3 meses</a:t>
            </a:r>
            <a:endParaRPr lang="en-US" sz="2800" dirty="0"/>
          </a:p>
        </p:txBody>
      </p:sp>
      <p:sp>
        <p:nvSpPr>
          <p:cNvPr id="21" name="Text 19"/>
          <p:cNvSpPr/>
          <p:nvPr/>
        </p:nvSpPr>
        <p:spPr>
          <a:xfrm>
            <a:off x="4800600" y="393420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From investment to</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revenue generation</a:t>
            </a:r>
            <a:endParaRPr lang="en-US" sz="1000" dirty="0"/>
          </a:p>
        </p:txBody>
      </p:sp>
      <p:sp>
        <p:nvSpPr>
          <p:cNvPr id="22" name="Text 20"/>
          <p:cNvSpPr/>
          <p:nvPr/>
        </p:nvSpPr>
        <p:spPr>
          <a:xfrm>
            <a:off x="548640" y="4754880"/>
            <a:ext cx="8046720" cy="228600"/>
          </a:xfrm>
          <a:prstGeom prst="rect">
            <a:avLst/>
          </a:prstGeom>
          <a:noFill/>
          <a:ln/>
        </p:spPr>
        <p:txBody>
          <a:bodyPr wrap="square" lIns="0" tIns="0" rIns="0" bIns="0" rtlCol="0" anchor="ctr"/>
          <a:lstStyle/>
          <a:p>
            <a:pPr algn="ctr" indent="0" marL="0">
              <a:buNone/>
            </a:pPr>
            <a:r>
              <a:rPr lang="en-US" sz="1100" i="1" dirty="0">
                <a:solidFill>
                  <a:srgbClr val="7A6555"/>
                </a:solidFill>
                <a:latin typeface="Calibri" pitchFamily="34" charset="0"/>
                <a:ea typeface="Calibri" pitchFamily="34" charset="-122"/>
                <a:cs typeface="Calibri" pitchFamily="34" charset="-120"/>
              </a:rPr>
              <a:t>Assets valued in the millions. Operational in one quarter.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3 / 30</a:t>
            </a:r>
            <a:endParaRPr lang="en-US" sz="800" dirty="0"/>
          </a:p>
        </p:txBody>
      </p:sp>
      <p:sp>
        <p:nvSpPr>
          <p:cNvPr id="4" name="Text 2"/>
          <p:cNvSpPr/>
          <p:nvPr/>
        </p:nvSpPr>
        <p:spPr>
          <a:xfrm>
            <a:off x="548640" y="274320"/>
            <a:ext cx="8046720" cy="594360"/>
          </a:xfrm>
          <a:prstGeom prst="rect">
            <a:avLst/>
          </a:prstGeom>
          <a:noFill/>
          <a:ln/>
        </p:spPr>
        <p:txBody>
          <a:bodyPr wrap="square" lIns="0" tIns="0" rIns="0" bIns="0" rtlCol="0" anchor="ctr"/>
          <a:lstStyle/>
          <a:p>
            <a:pPr indent="0" marL="0">
              <a:buNone/>
            </a:pPr>
            <a:r>
              <a:rPr lang="en-US" sz="3400" b="1" dirty="0">
                <a:solidFill>
                  <a:srgbClr val="3E2C1C"/>
                </a:solidFill>
                <a:latin typeface="Georgia" pitchFamily="34" charset="0"/>
                <a:ea typeface="Georgia" pitchFamily="34" charset="-122"/>
                <a:cs typeface="Georgia" pitchFamily="34" charset="-120"/>
              </a:rPr>
              <a:t>WHY NOW</a:t>
            </a:r>
            <a:endParaRPr lang="en-US" sz="3400" dirty="0"/>
          </a:p>
        </p:txBody>
      </p:sp>
      <p:sp>
        <p:nvSpPr>
          <p:cNvPr id="5" name="Text 3"/>
          <p:cNvSpPr/>
          <p:nvPr/>
        </p:nvSpPr>
        <p:spPr>
          <a:xfrm>
            <a:off x="548640" y="868680"/>
            <a:ext cx="8046720" cy="36576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Venezuela reopens its oil sector — demand for galvanized steel explodes</a:t>
            </a:r>
            <a:endParaRPr lang="en-US" sz="1200" dirty="0"/>
          </a:p>
        </p:txBody>
      </p:sp>
      <p:sp>
        <p:nvSpPr>
          <p:cNvPr id="6" name="Shape 4"/>
          <p:cNvSpPr/>
          <p:nvPr/>
        </p:nvSpPr>
        <p:spPr>
          <a:xfrm>
            <a:off x="548640" y="146304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7" name="Shape 5"/>
          <p:cNvSpPr/>
          <p:nvPr/>
        </p:nvSpPr>
        <p:spPr>
          <a:xfrm>
            <a:off x="548640" y="1463040"/>
            <a:ext cx="54864" cy="1417320"/>
          </a:xfrm>
          <a:prstGeom prst="rect">
            <a:avLst/>
          </a:prstGeom>
          <a:solidFill>
            <a:srgbClr val="B87333"/>
          </a:solidFill>
          <a:ln/>
        </p:spPr>
        <p:txBody>
          <a:bodyPr/>
          <a:p/>
        </p:txBody>
      </p:sp>
      <p:sp>
        <p:nvSpPr>
          <p:cNvPr id="8" name="Text 6"/>
          <p:cNvSpPr/>
          <p:nvPr/>
        </p:nvSpPr>
        <p:spPr>
          <a:xfrm>
            <a:off x="685800" y="1600200"/>
            <a:ext cx="3474720" cy="680314"/>
          </a:xfrm>
          <a:prstGeom prst="rect">
            <a:avLst/>
          </a:prstGeom>
          <a:noFill/>
          <a:ln/>
        </p:spPr>
        <p:txBody>
          <a:bodyPr wrap="square" lIns="0" tIns="0" rIns="0" bIns="0" rtlCol="0" anchor="ctr"/>
          <a:lstStyle/>
          <a:p>
            <a:pPr algn="ctr" indent="0" marL="0">
              <a:buNone/>
            </a:pPr>
            <a:r>
              <a:rPr lang="en-US" sz="2600" b="1" dirty="0">
                <a:solidFill>
                  <a:srgbClr val="8B5A2B"/>
                </a:solidFill>
                <a:latin typeface="Georgia" pitchFamily="34" charset="0"/>
                <a:ea typeface="Georgia" pitchFamily="34" charset="-122"/>
                <a:cs typeface="Georgia" pitchFamily="34" charset="-120"/>
              </a:rPr>
              <a:t>$183 BN</a:t>
            </a:r>
            <a:endParaRPr lang="en-US" sz="2600" dirty="0"/>
          </a:p>
        </p:txBody>
      </p:sp>
      <p:sp>
        <p:nvSpPr>
          <p:cNvPr id="9" name="Text 7"/>
          <p:cNvSpPr/>
          <p:nvPr/>
        </p:nvSpPr>
        <p:spPr>
          <a:xfrm>
            <a:off x="685800" y="224256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Oil capex projected</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through 2040 (Rystad Energy)</a:t>
            </a:r>
            <a:endParaRPr lang="en-US" sz="1000" dirty="0"/>
          </a:p>
        </p:txBody>
      </p:sp>
      <p:sp>
        <p:nvSpPr>
          <p:cNvPr id="10" name="Shape 8"/>
          <p:cNvSpPr/>
          <p:nvPr/>
        </p:nvSpPr>
        <p:spPr>
          <a:xfrm>
            <a:off x="4663440" y="146304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11" name="Shape 9"/>
          <p:cNvSpPr/>
          <p:nvPr/>
        </p:nvSpPr>
        <p:spPr>
          <a:xfrm>
            <a:off x="4663440" y="1463040"/>
            <a:ext cx="54864" cy="1417320"/>
          </a:xfrm>
          <a:prstGeom prst="rect">
            <a:avLst/>
          </a:prstGeom>
          <a:solidFill>
            <a:srgbClr val="B87333"/>
          </a:solidFill>
          <a:ln/>
        </p:spPr>
        <p:txBody>
          <a:bodyPr/>
          <a:p/>
        </p:txBody>
      </p:sp>
      <p:sp>
        <p:nvSpPr>
          <p:cNvPr id="12" name="Text 10"/>
          <p:cNvSpPr/>
          <p:nvPr/>
        </p:nvSpPr>
        <p:spPr>
          <a:xfrm>
            <a:off x="4800600" y="1600200"/>
            <a:ext cx="3474720" cy="680314"/>
          </a:xfrm>
          <a:prstGeom prst="rect">
            <a:avLst/>
          </a:prstGeom>
          <a:noFill/>
          <a:ln/>
        </p:spPr>
        <p:txBody>
          <a:bodyPr wrap="square" lIns="0" tIns="0" rIns="0" bIns="0" rtlCol="0" anchor="ctr"/>
          <a:lstStyle/>
          <a:p>
            <a:pPr algn="ctr" indent="0" marL="0">
              <a:buNone/>
            </a:pPr>
            <a:r>
              <a:rPr lang="en-US" sz="2600" b="1" dirty="0">
                <a:solidFill>
                  <a:srgbClr val="8B5A2B"/>
                </a:solidFill>
                <a:latin typeface="Georgia" pitchFamily="34" charset="0"/>
                <a:ea typeface="Georgia" pitchFamily="34" charset="-122"/>
                <a:cs typeface="Georgia" pitchFamily="34" charset="-120"/>
              </a:rPr>
              <a:t>$41 BN</a:t>
            </a:r>
            <a:endParaRPr lang="en-US" sz="2600" dirty="0"/>
          </a:p>
        </p:txBody>
      </p:sp>
      <p:sp>
        <p:nvSpPr>
          <p:cNvPr id="13" name="Text 11"/>
          <p:cNvSpPr/>
          <p:nvPr/>
        </p:nvSpPr>
        <p:spPr>
          <a:xfrm>
            <a:off x="4800600" y="224256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Fabrication &amp; construction</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#1 service segment</a:t>
            </a:r>
            <a:endParaRPr lang="en-US" sz="1000" dirty="0"/>
          </a:p>
        </p:txBody>
      </p:sp>
      <p:sp>
        <p:nvSpPr>
          <p:cNvPr id="14" name="Shape 12"/>
          <p:cNvSpPr/>
          <p:nvPr/>
        </p:nvSpPr>
        <p:spPr>
          <a:xfrm>
            <a:off x="548640" y="315468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15" name="Shape 13"/>
          <p:cNvSpPr/>
          <p:nvPr/>
        </p:nvSpPr>
        <p:spPr>
          <a:xfrm>
            <a:off x="548640" y="3154680"/>
            <a:ext cx="54864" cy="1417320"/>
          </a:xfrm>
          <a:prstGeom prst="rect">
            <a:avLst/>
          </a:prstGeom>
          <a:solidFill>
            <a:srgbClr val="B87333"/>
          </a:solidFill>
          <a:ln/>
        </p:spPr>
        <p:txBody>
          <a:bodyPr/>
          <a:p/>
        </p:txBody>
      </p:sp>
      <p:sp>
        <p:nvSpPr>
          <p:cNvPr id="16" name="Text 14"/>
          <p:cNvSpPr/>
          <p:nvPr/>
        </p:nvSpPr>
        <p:spPr>
          <a:xfrm>
            <a:off x="685800" y="3291840"/>
            <a:ext cx="3474720" cy="680314"/>
          </a:xfrm>
          <a:prstGeom prst="rect">
            <a:avLst/>
          </a:prstGeom>
          <a:noFill/>
          <a:ln/>
        </p:spPr>
        <p:txBody>
          <a:bodyPr wrap="square" lIns="0" tIns="0" rIns="0" bIns="0" rtlCol="0" anchor="ctr"/>
          <a:lstStyle/>
          <a:p>
            <a:pPr algn="ctr" indent="0" marL="0">
              <a:buNone/>
            </a:pPr>
            <a:r>
              <a:rPr lang="en-US" sz="2600" b="1" dirty="0">
                <a:solidFill>
                  <a:srgbClr val="8B5A2B"/>
                </a:solidFill>
                <a:latin typeface="Georgia" pitchFamily="34" charset="0"/>
                <a:ea typeface="Georgia" pitchFamily="34" charset="-122"/>
                <a:cs typeface="Georgia" pitchFamily="34" charset="-120"/>
              </a:rPr>
              <a:t>50 YEARS</a:t>
            </a:r>
            <a:endParaRPr lang="en-US" sz="2600" dirty="0"/>
          </a:p>
        </p:txBody>
      </p:sp>
      <p:sp>
        <p:nvSpPr>
          <p:cNvPr id="17" name="Text 15"/>
          <p:cNvSpPr/>
          <p:nvPr/>
        </p:nvSpPr>
        <p:spPr>
          <a:xfrm>
            <a:off x="685800" y="393420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Without updating</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PDVSA infrastructure</a:t>
            </a:r>
            <a:endParaRPr lang="en-US" sz="1000" dirty="0"/>
          </a:p>
        </p:txBody>
      </p:sp>
      <p:sp>
        <p:nvSpPr>
          <p:cNvPr id="18" name="Shape 16"/>
          <p:cNvSpPr/>
          <p:nvPr/>
        </p:nvSpPr>
        <p:spPr>
          <a:xfrm>
            <a:off x="4663440" y="315468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19" name="Shape 17"/>
          <p:cNvSpPr/>
          <p:nvPr/>
        </p:nvSpPr>
        <p:spPr>
          <a:xfrm>
            <a:off x="4663440" y="3154680"/>
            <a:ext cx="54864" cy="1417320"/>
          </a:xfrm>
          <a:prstGeom prst="rect">
            <a:avLst/>
          </a:prstGeom>
          <a:solidFill>
            <a:srgbClr val="B87333"/>
          </a:solidFill>
          <a:ln/>
        </p:spPr>
        <p:txBody>
          <a:bodyPr/>
          <a:p/>
        </p:txBody>
      </p:sp>
      <p:sp>
        <p:nvSpPr>
          <p:cNvPr id="20" name="Text 18"/>
          <p:cNvSpPr/>
          <p:nvPr/>
        </p:nvSpPr>
        <p:spPr>
          <a:xfrm>
            <a:off x="4800600" y="3291840"/>
            <a:ext cx="3474720" cy="680314"/>
          </a:xfrm>
          <a:prstGeom prst="rect">
            <a:avLst/>
          </a:prstGeom>
          <a:noFill/>
          <a:ln/>
        </p:spPr>
        <p:txBody>
          <a:bodyPr wrap="square" lIns="0" tIns="0" rIns="0" bIns="0" rtlCol="0" anchor="ctr"/>
          <a:lstStyle/>
          <a:p>
            <a:pPr algn="ctr" indent="0" marL="0">
              <a:buNone/>
            </a:pPr>
            <a:r>
              <a:rPr lang="en-US" sz="2600" b="1" dirty="0">
                <a:solidFill>
                  <a:srgbClr val="8B5A2B"/>
                </a:solidFill>
                <a:latin typeface="Georgia" pitchFamily="34" charset="0"/>
                <a:ea typeface="Georgia" pitchFamily="34" charset="-122"/>
                <a:cs typeface="Georgia" pitchFamily="34" charset="-120"/>
              </a:rPr>
              <a:t>ONLY 2</a:t>
            </a:r>
            <a:endParaRPr lang="en-US" sz="2600" dirty="0"/>
          </a:p>
        </p:txBody>
      </p:sp>
      <p:sp>
        <p:nvSpPr>
          <p:cNvPr id="21" name="Text 19"/>
          <p:cNvSpPr/>
          <p:nvPr/>
        </p:nvSpPr>
        <p:spPr>
          <a:xfrm>
            <a:off x="4800600" y="393420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Commercial galvanizing service</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providers in all of Venezuela</a:t>
            </a:r>
            <a:endParaRPr lang="en-US" sz="1000" dirty="0"/>
          </a:p>
        </p:txBody>
      </p:sp>
      <p:sp>
        <p:nvSpPr>
          <p:cNvPr id="22" name="Text 20"/>
          <p:cNvSpPr/>
          <p:nvPr/>
        </p:nvSpPr>
        <p:spPr>
          <a:xfrm>
            <a:off x="548640" y="4754880"/>
            <a:ext cx="8046720" cy="228600"/>
          </a:xfrm>
          <a:prstGeom prst="rect">
            <a:avLst/>
          </a:prstGeom>
          <a:noFill/>
          <a:ln/>
        </p:spPr>
        <p:txBody>
          <a:bodyPr wrap="square" lIns="0" tIns="0" rIns="0" bIns="0" rtlCol="0" anchor="ctr"/>
          <a:lstStyle/>
          <a:p>
            <a:pPr algn="r" indent="0" marL="0">
              <a:buNone/>
            </a:pPr>
            <a:r>
              <a:rPr lang="en-US" sz="900" i="1" dirty="0">
                <a:solidFill>
                  <a:srgbClr val="8C8C8C"/>
                </a:solidFill>
                <a:latin typeface="Calibri" pitchFamily="34" charset="0"/>
                <a:ea typeface="Calibri" pitchFamily="34" charset="-122"/>
                <a:cs typeface="Calibri" pitchFamily="34" charset="-120"/>
              </a:rPr>
              <a:t>Fuente: Rystad Energy, Oil &amp; Gas Capex Outlook</a:t>
            </a:r>
            <a:endParaRPr lang="en-US" sz="9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C2C2C"/>
        </a:solidFill>
        <a:effectLst/>
      </p:bgPr>
    </p:bg>
    <p:spTree>
      <p:nvGrpSpPr>
        <p:cNvPr id="1" name=""/>
        <p:cNvGrpSpPr/>
        <p:nvPr/>
      </p:nvGrpSpPr>
      <p:grpSpPr/>
      <p:sp>
        <p:nvSpPr>
          <p:cNvPr id="2" name="Rectangle 1"/>
          <p:cNvSpPr/>
          <p:nvPr/>
        </p:nvSpPr>
        <p:spPr>
          <a:xfrm>
            <a:off x="0" y="0"/>
            <a:ext cx="9144000" cy="45720"/>
          </a:xfrm>
          <a:prstGeom prst="rect">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7315200" cy="502920"/>
          </a:xfrm>
          <a:prstGeom prst="rect">
            <a:avLst/>
          </a:prstGeom>
          <a:noFill/>
        </p:spPr>
        <p:txBody>
          <a:bodyPr wrap="square">
            <a:spAutoFit/>
          </a:bodyPr>
          <a:lstStyle/>
          <a:p>
            <a:pPr algn="l"/>
            <a:r>
              <a:rPr sz="2800" b="1">
                <a:solidFill>
                  <a:srgbClr val="B87333"/>
                </a:solidFill>
                <a:latin typeface="Georgia"/>
              </a:rPr>
              <a:t>THE DEMAND IS ALREADY HERE</a:t>
            </a:r>
          </a:p>
        </p:txBody>
      </p:sp>
      <p:sp>
        <p:nvSpPr>
          <p:cNvPr id="4" name="TextBox 3"/>
          <p:cNvSpPr txBox="1"/>
          <p:nvPr/>
        </p:nvSpPr>
        <p:spPr>
          <a:xfrm>
            <a:off x="548640" y="685800"/>
            <a:ext cx="7315200" cy="320040"/>
          </a:xfrm>
          <a:prstGeom prst="rect">
            <a:avLst/>
          </a:prstGeom>
          <a:noFill/>
        </p:spPr>
        <p:txBody>
          <a:bodyPr wrap="square">
            <a:spAutoFit/>
          </a:bodyPr>
          <a:lstStyle/>
          <a:p>
            <a:pPr algn="l"/>
            <a:r>
              <a:rPr sz="1200" b="0">
                <a:solidFill>
                  <a:srgbClr val="CCCCCC"/>
                </a:solidFill>
                <a:latin typeface="Calibri"/>
              </a:rPr>
              <a:t>Concrete investments announced since January 2026</a:t>
            </a:r>
          </a:p>
        </p:txBody>
      </p:sp>
      <p:sp>
        <p:nvSpPr>
          <p:cNvPr id="5" name="TextBox 4"/>
          <p:cNvSpPr txBox="1"/>
          <p:nvPr/>
        </p:nvSpPr>
        <p:spPr>
          <a:xfrm>
            <a:off x="548640" y="1143000"/>
            <a:ext cx="1371600" cy="384048"/>
          </a:xfrm>
          <a:prstGeom prst="rect">
            <a:avLst/>
          </a:prstGeom>
          <a:noFill/>
        </p:spPr>
        <p:txBody>
          <a:bodyPr wrap="square">
            <a:spAutoFit/>
          </a:bodyPr>
          <a:lstStyle/>
          <a:p>
            <a:pPr algn="l"/>
            <a:r>
              <a:rPr sz="900" b="1">
                <a:solidFill>
                  <a:srgbClr val="B87333"/>
                </a:solidFill>
                <a:latin typeface="Calibri"/>
              </a:rPr>
              <a:t>Jan 3, 2026</a:t>
            </a:r>
          </a:p>
        </p:txBody>
      </p:sp>
      <p:sp>
        <p:nvSpPr>
          <p:cNvPr id="6" name="TextBox 5"/>
          <p:cNvSpPr txBox="1"/>
          <p:nvPr/>
        </p:nvSpPr>
        <p:spPr>
          <a:xfrm>
            <a:off x="2011680" y="1143000"/>
            <a:ext cx="3200400" cy="384048"/>
          </a:xfrm>
          <a:prstGeom prst="rect">
            <a:avLst/>
          </a:prstGeom>
          <a:noFill/>
        </p:spPr>
        <p:txBody>
          <a:bodyPr wrap="square">
            <a:spAutoFit/>
          </a:bodyPr>
          <a:lstStyle/>
          <a:p>
            <a:pPr algn="l"/>
            <a:r>
              <a:rPr sz="900" b="1">
                <a:solidFill>
                  <a:srgbClr val="FFFFFF"/>
                </a:solidFill>
                <a:latin typeface="Calibri"/>
              </a:rPr>
              <a:t>Regime change in Venezuela</a:t>
            </a:r>
          </a:p>
        </p:txBody>
      </p:sp>
      <p:sp>
        <p:nvSpPr>
          <p:cNvPr id="7" name="TextBox 6"/>
          <p:cNvSpPr txBox="1"/>
          <p:nvPr/>
        </p:nvSpPr>
        <p:spPr>
          <a:xfrm>
            <a:off x="5303520" y="1143000"/>
            <a:ext cx="3200400" cy="384048"/>
          </a:xfrm>
          <a:prstGeom prst="rect">
            <a:avLst/>
          </a:prstGeom>
          <a:noFill/>
        </p:spPr>
        <p:txBody>
          <a:bodyPr wrap="square">
            <a:spAutoFit/>
          </a:bodyPr>
          <a:lstStyle/>
          <a:p>
            <a:pPr algn="l"/>
            <a:r>
              <a:rPr sz="800" b="0">
                <a:solidFill>
                  <a:srgbClr val="AAAAAA"/>
                </a:solidFill>
                <a:latin typeface="Calibri"/>
              </a:rPr>
              <a:t>Oil sector opens to private investment</a:t>
            </a:r>
          </a:p>
        </p:txBody>
      </p:sp>
      <p:sp>
        <p:nvSpPr>
          <p:cNvPr id="8" name="TextBox 7"/>
          <p:cNvSpPr txBox="1"/>
          <p:nvPr/>
        </p:nvSpPr>
        <p:spPr>
          <a:xfrm>
            <a:off x="548640" y="1527048"/>
            <a:ext cx="1371600" cy="384048"/>
          </a:xfrm>
          <a:prstGeom prst="rect">
            <a:avLst/>
          </a:prstGeom>
          <a:noFill/>
        </p:spPr>
        <p:txBody>
          <a:bodyPr wrap="square">
            <a:spAutoFit/>
          </a:bodyPr>
          <a:lstStyle/>
          <a:p>
            <a:pPr algn="l"/>
            <a:r>
              <a:rPr sz="900" b="1">
                <a:solidFill>
                  <a:srgbClr val="B87333"/>
                </a:solidFill>
                <a:latin typeface="Calibri"/>
              </a:rPr>
              <a:t>Jan 6, 2026</a:t>
            </a:r>
          </a:p>
        </p:txBody>
      </p:sp>
      <p:sp>
        <p:nvSpPr>
          <p:cNvPr id="9" name="TextBox 8"/>
          <p:cNvSpPr txBox="1"/>
          <p:nvPr/>
        </p:nvSpPr>
        <p:spPr>
          <a:xfrm>
            <a:off x="2011680" y="1527048"/>
            <a:ext cx="3200400" cy="384048"/>
          </a:xfrm>
          <a:prstGeom prst="rect">
            <a:avLst/>
          </a:prstGeom>
          <a:noFill/>
        </p:spPr>
        <p:txBody>
          <a:bodyPr wrap="square">
            <a:spAutoFit/>
          </a:bodyPr>
          <a:lstStyle/>
          <a:p>
            <a:pPr algn="l"/>
            <a:r>
              <a:rPr sz="900" b="1">
                <a:solidFill>
                  <a:srgbClr val="FFFFFF"/>
                </a:solidFill>
                <a:latin typeface="Calibri"/>
              </a:rPr>
              <a:t>Rystad Energy: $183B oil capex 2026-2040</a:t>
            </a:r>
          </a:p>
        </p:txBody>
      </p:sp>
      <p:sp>
        <p:nvSpPr>
          <p:cNvPr id="10" name="TextBox 9"/>
          <p:cNvSpPr txBox="1"/>
          <p:nvPr/>
        </p:nvSpPr>
        <p:spPr>
          <a:xfrm>
            <a:off x="5303520" y="1527048"/>
            <a:ext cx="3200400" cy="384048"/>
          </a:xfrm>
          <a:prstGeom prst="rect">
            <a:avLst/>
          </a:prstGeom>
          <a:noFill/>
        </p:spPr>
        <p:txBody>
          <a:bodyPr wrap="square">
            <a:spAutoFit/>
          </a:bodyPr>
          <a:lstStyle/>
          <a:p>
            <a:pPr algn="l"/>
            <a:r>
              <a:rPr sz="800" b="0">
                <a:solidFill>
                  <a:srgbClr val="AAAAAA"/>
                </a:solidFill>
                <a:latin typeface="Calibri"/>
              </a:rPr>
              <a:t>$41B in fabrication &amp; construction alone</a:t>
            </a:r>
          </a:p>
        </p:txBody>
      </p:sp>
      <p:sp>
        <p:nvSpPr>
          <p:cNvPr id="11" name="TextBox 10"/>
          <p:cNvSpPr txBox="1"/>
          <p:nvPr/>
        </p:nvSpPr>
        <p:spPr>
          <a:xfrm>
            <a:off x="548640" y="1911096"/>
            <a:ext cx="1371600" cy="384048"/>
          </a:xfrm>
          <a:prstGeom prst="rect">
            <a:avLst/>
          </a:prstGeom>
          <a:noFill/>
        </p:spPr>
        <p:txBody>
          <a:bodyPr wrap="square">
            <a:spAutoFit/>
          </a:bodyPr>
          <a:lstStyle/>
          <a:p>
            <a:pPr algn="l"/>
            <a:r>
              <a:rPr sz="900" b="1">
                <a:solidFill>
                  <a:srgbClr val="B87333"/>
                </a:solidFill>
                <a:latin typeface="Calibri"/>
              </a:rPr>
              <a:t>Jan 9-10, 2026</a:t>
            </a:r>
          </a:p>
        </p:txBody>
      </p:sp>
      <p:sp>
        <p:nvSpPr>
          <p:cNvPr id="12" name="TextBox 11"/>
          <p:cNvSpPr txBox="1"/>
          <p:nvPr/>
        </p:nvSpPr>
        <p:spPr>
          <a:xfrm>
            <a:off x="2011680" y="1911096"/>
            <a:ext cx="3200400" cy="384048"/>
          </a:xfrm>
          <a:prstGeom prst="rect">
            <a:avLst/>
          </a:prstGeom>
          <a:noFill/>
        </p:spPr>
        <p:txBody>
          <a:bodyPr wrap="square">
            <a:spAutoFit/>
          </a:bodyPr>
          <a:lstStyle/>
          <a:p>
            <a:pPr algn="l"/>
            <a:r>
              <a:rPr sz="900" b="1">
                <a:solidFill>
                  <a:srgbClr val="FFFFFF"/>
                </a:solidFill>
                <a:latin typeface="Calibri"/>
              </a:rPr>
              <a:t>Repsol: triple production to 135,000 bpd</a:t>
            </a:r>
          </a:p>
        </p:txBody>
      </p:sp>
      <p:sp>
        <p:nvSpPr>
          <p:cNvPr id="13" name="TextBox 12"/>
          <p:cNvSpPr txBox="1"/>
          <p:nvPr/>
        </p:nvSpPr>
        <p:spPr>
          <a:xfrm>
            <a:off x="5303520" y="1911096"/>
            <a:ext cx="3200400" cy="384048"/>
          </a:xfrm>
          <a:prstGeom prst="rect">
            <a:avLst/>
          </a:prstGeom>
          <a:noFill/>
        </p:spPr>
        <p:txBody>
          <a:bodyPr wrap="square">
            <a:spAutoFit/>
          </a:bodyPr>
          <a:lstStyle/>
          <a:p>
            <a:pPr algn="l"/>
            <a:r>
              <a:rPr sz="800" b="0">
                <a:solidFill>
                  <a:srgbClr val="AAAAAA"/>
                </a:solidFill>
                <a:latin typeface="Calibri"/>
              </a:rPr>
              <a:t>New blocks in Orinoco Belt = new infrastructure</a:t>
            </a:r>
          </a:p>
        </p:txBody>
      </p:sp>
      <p:sp>
        <p:nvSpPr>
          <p:cNvPr id="14" name="TextBox 13"/>
          <p:cNvSpPr txBox="1"/>
          <p:nvPr/>
        </p:nvSpPr>
        <p:spPr>
          <a:xfrm>
            <a:off x="548640" y="2295144"/>
            <a:ext cx="1371600" cy="384048"/>
          </a:xfrm>
          <a:prstGeom prst="rect">
            <a:avLst/>
          </a:prstGeom>
          <a:noFill/>
        </p:spPr>
        <p:txBody>
          <a:bodyPr wrap="square">
            <a:spAutoFit/>
          </a:bodyPr>
          <a:lstStyle/>
          <a:p>
            <a:pPr algn="l"/>
            <a:r>
              <a:rPr sz="900" b="1">
                <a:solidFill>
                  <a:srgbClr val="B87333"/>
                </a:solidFill>
                <a:latin typeface="Calibri"/>
              </a:rPr>
              <a:t>Jan 30, 2026</a:t>
            </a:r>
          </a:p>
        </p:txBody>
      </p:sp>
      <p:sp>
        <p:nvSpPr>
          <p:cNvPr id="15" name="TextBox 14"/>
          <p:cNvSpPr txBox="1"/>
          <p:nvPr/>
        </p:nvSpPr>
        <p:spPr>
          <a:xfrm>
            <a:off x="2011680" y="2295144"/>
            <a:ext cx="3200400" cy="384048"/>
          </a:xfrm>
          <a:prstGeom prst="rect">
            <a:avLst/>
          </a:prstGeom>
          <a:noFill/>
        </p:spPr>
        <p:txBody>
          <a:bodyPr wrap="square">
            <a:spAutoFit/>
          </a:bodyPr>
          <a:lstStyle/>
          <a:p>
            <a:pPr algn="l"/>
            <a:r>
              <a:rPr sz="900" b="1">
                <a:solidFill>
                  <a:srgbClr val="FFFFFF"/>
                </a:solidFill>
                <a:latin typeface="Calibri"/>
              </a:rPr>
              <a:t>Chevron Q4: 240,000 bpd, +50% in 18 months</a:t>
            </a:r>
          </a:p>
        </p:txBody>
      </p:sp>
      <p:sp>
        <p:nvSpPr>
          <p:cNvPr id="16" name="TextBox 15"/>
          <p:cNvSpPr txBox="1"/>
          <p:nvPr/>
        </p:nvSpPr>
        <p:spPr>
          <a:xfrm>
            <a:off x="5303520" y="2295144"/>
            <a:ext cx="3200400" cy="384048"/>
          </a:xfrm>
          <a:prstGeom prst="rect">
            <a:avLst/>
          </a:prstGeom>
          <a:noFill/>
        </p:spPr>
        <p:txBody>
          <a:bodyPr wrap="square">
            <a:spAutoFit/>
          </a:bodyPr>
          <a:lstStyle/>
          <a:p>
            <a:pPr algn="l"/>
            <a:r>
              <a:rPr sz="800" b="0">
                <a:solidFill>
                  <a:srgbClr val="AAAAAA"/>
                </a:solidFill>
                <a:latin typeface="Calibri"/>
              </a:rPr>
              <a:t>Expansion of existing facilities</a:t>
            </a:r>
          </a:p>
        </p:txBody>
      </p:sp>
      <p:sp>
        <p:nvSpPr>
          <p:cNvPr id="17" name="TextBox 16"/>
          <p:cNvSpPr txBox="1"/>
          <p:nvPr/>
        </p:nvSpPr>
        <p:spPr>
          <a:xfrm>
            <a:off x="548640" y="2679192"/>
            <a:ext cx="1371600" cy="384048"/>
          </a:xfrm>
          <a:prstGeom prst="rect">
            <a:avLst/>
          </a:prstGeom>
          <a:noFill/>
        </p:spPr>
        <p:txBody>
          <a:bodyPr wrap="square">
            <a:spAutoFit/>
          </a:bodyPr>
          <a:lstStyle/>
          <a:p>
            <a:pPr algn="l"/>
            <a:r>
              <a:rPr sz="900" b="1">
                <a:solidFill>
                  <a:srgbClr val="B87333"/>
                </a:solidFill>
                <a:latin typeface="Calibri"/>
              </a:rPr>
              <a:t>Feb 4, 2025</a:t>
            </a:r>
          </a:p>
        </p:txBody>
      </p:sp>
      <p:sp>
        <p:nvSpPr>
          <p:cNvPr id="18" name="TextBox 17"/>
          <p:cNvSpPr txBox="1"/>
          <p:nvPr/>
        </p:nvSpPr>
        <p:spPr>
          <a:xfrm>
            <a:off x="2011680" y="2679192"/>
            <a:ext cx="3200400" cy="384048"/>
          </a:xfrm>
          <a:prstGeom prst="rect">
            <a:avLst/>
          </a:prstGeom>
          <a:noFill/>
        </p:spPr>
        <p:txBody>
          <a:bodyPr wrap="square">
            <a:spAutoFit/>
          </a:bodyPr>
          <a:lstStyle/>
          <a:p>
            <a:pPr algn="l"/>
            <a:r>
              <a:rPr sz="900" b="1">
                <a:solidFill>
                  <a:srgbClr val="FFFFFF"/>
                </a:solidFill>
                <a:latin typeface="Calibri"/>
              </a:rPr>
              <a:t>Movistar/Telefonica: $500M investment</a:t>
            </a:r>
          </a:p>
        </p:txBody>
      </p:sp>
      <p:sp>
        <p:nvSpPr>
          <p:cNvPr id="19" name="TextBox 18"/>
          <p:cNvSpPr txBox="1"/>
          <p:nvPr/>
        </p:nvSpPr>
        <p:spPr>
          <a:xfrm>
            <a:off x="5303520" y="2679192"/>
            <a:ext cx="3200400" cy="384048"/>
          </a:xfrm>
          <a:prstGeom prst="rect">
            <a:avLst/>
          </a:prstGeom>
          <a:noFill/>
        </p:spPr>
        <p:txBody>
          <a:bodyPr wrap="square">
            <a:spAutoFit/>
          </a:bodyPr>
          <a:lstStyle/>
          <a:p>
            <a:pPr algn="l"/>
            <a:r>
              <a:rPr sz="800" b="0">
                <a:solidFill>
                  <a:srgbClr val="AAAAAA"/>
                </a:solidFill>
                <a:latin typeface="Calibri"/>
              </a:rPr>
              <a:t>805 nodes 5G + 500 base stations = galvanized towers</a:t>
            </a:r>
          </a:p>
        </p:txBody>
      </p:sp>
      <p:sp>
        <p:nvSpPr>
          <p:cNvPr id="20" name="TextBox 19"/>
          <p:cNvSpPr txBox="1"/>
          <p:nvPr/>
        </p:nvSpPr>
        <p:spPr>
          <a:xfrm>
            <a:off x="548640" y="3063240"/>
            <a:ext cx="1371600" cy="384048"/>
          </a:xfrm>
          <a:prstGeom prst="rect">
            <a:avLst/>
          </a:prstGeom>
          <a:noFill/>
        </p:spPr>
        <p:txBody>
          <a:bodyPr wrap="square">
            <a:spAutoFit/>
          </a:bodyPr>
          <a:lstStyle/>
          <a:p>
            <a:pPr algn="l"/>
            <a:r>
              <a:rPr sz="900" b="1">
                <a:solidFill>
                  <a:srgbClr val="B87333"/>
                </a:solidFill>
                <a:latin typeface="Calibri"/>
              </a:rPr>
              <a:t>Mar 11, 2026</a:t>
            </a:r>
          </a:p>
        </p:txBody>
      </p:sp>
      <p:sp>
        <p:nvSpPr>
          <p:cNvPr id="21" name="TextBox 20"/>
          <p:cNvSpPr txBox="1"/>
          <p:nvPr/>
        </p:nvSpPr>
        <p:spPr>
          <a:xfrm>
            <a:off x="2011680" y="3063240"/>
            <a:ext cx="3200400" cy="384048"/>
          </a:xfrm>
          <a:prstGeom prst="rect">
            <a:avLst/>
          </a:prstGeom>
          <a:noFill/>
        </p:spPr>
        <p:txBody>
          <a:bodyPr wrap="square">
            <a:spAutoFit/>
          </a:bodyPr>
          <a:lstStyle/>
          <a:p>
            <a:pPr algn="l"/>
            <a:r>
              <a:rPr sz="900" b="1">
                <a:solidFill>
                  <a:srgbClr val="FFFFFF"/>
                </a:solidFill>
                <a:latin typeface="Calibri"/>
              </a:rPr>
              <a:t>Reuters: Chevron &amp; Shell close first major deals</a:t>
            </a:r>
          </a:p>
        </p:txBody>
      </p:sp>
      <p:sp>
        <p:nvSpPr>
          <p:cNvPr id="22" name="TextBox 21"/>
          <p:cNvSpPr txBox="1"/>
          <p:nvPr/>
        </p:nvSpPr>
        <p:spPr>
          <a:xfrm>
            <a:off x="5303520" y="3063240"/>
            <a:ext cx="3200400" cy="384048"/>
          </a:xfrm>
          <a:prstGeom prst="rect">
            <a:avLst/>
          </a:prstGeom>
          <a:noFill/>
        </p:spPr>
        <p:txBody>
          <a:bodyPr wrap="square">
            <a:spAutoFit/>
          </a:bodyPr>
          <a:lstStyle/>
          <a:p>
            <a:pPr algn="l"/>
            <a:r>
              <a:rPr sz="800" b="0">
                <a:solidFill>
                  <a:srgbClr val="AAAAAA"/>
                </a:solidFill>
                <a:latin typeface="Calibri"/>
              </a:rPr>
              <a:t>Production contracts = immediate structural steel demand</a:t>
            </a:r>
          </a:p>
        </p:txBody>
      </p:sp>
      <p:sp>
        <p:nvSpPr>
          <p:cNvPr id="23" name="TextBox 22"/>
          <p:cNvSpPr txBox="1"/>
          <p:nvPr/>
        </p:nvSpPr>
        <p:spPr>
          <a:xfrm>
            <a:off x="548640" y="3447288"/>
            <a:ext cx="1371600" cy="384048"/>
          </a:xfrm>
          <a:prstGeom prst="rect">
            <a:avLst/>
          </a:prstGeom>
          <a:noFill/>
        </p:spPr>
        <p:txBody>
          <a:bodyPr wrap="square">
            <a:spAutoFit/>
          </a:bodyPr>
          <a:lstStyle/>
          <a:p>
            <a:pPr algn="l"/>
            <a:r>
              <a:rPr sz="900" b="1">
                <a:solidFill>
                  <a:srgbClr val="B87333"/>
                </a:solidFill>
                <a:latin typeface="Calibri"/>
              </a:rPr>
              <a:t>Sep 2025</a:t>
            </a:r>
          </a:p>
        </p:txBody>
      </p:sp>
      <p:sp>
        <p:nvSpPr>
          <p:cNvPr id="24" name="TextBox 23"/>
          <p:cNvSpPr txBox="1"/>
          <p:nvPr/>
        </p:nvSpPr>
        <p:spPr>
          <a:xfrm>
            <a:off x="2011680" y="3447288"/>
            <a:ext cx="3200400" cy="384048"/>
          </a:xfrm>
          <a:prstGeom prst="rect">
            <a:avLst/>
          </a:prstGeom>
          <a:noFill/>
        </p:spPr>
        <p:txBody>
          <a:bodyPr wrap="square">
            <a:spAutoFit/>
          </a:bodyPr>
          <a:lstStyle/>
          <a:p>
            <a:pPr algn="l"/>
            <a:r>
              <a:rPr sz="900" b="1">
                <a:solidFill>
                  <a:srgbClr val="FFFFFF"/>
                </a:solidFill>
                <a:latin typeface="Calibri"/>
              </a:rPr>
              <a:t>CONATEL: National Telecom Plan 2025-2031</a:t>
            </a:r>
          </a:p>
        </p:txBody>
      </p:sp>
      <p:sp>
        <p:nvSpPr>
          <p:cNvPr id="25" name="TextBox 24"/>
          <p:cNvSpPr txBox="1"/>
          <p:nvPr/>
        </p:nvSpPr>
        <p:spPr>
          <a:xfrm>
            <a:off x="5303520" y="3447288"/>
            <a:ext cx="3200400" cy="384048"/>
          </a:xfrm>
          <a:prstGeom prst="rect">
            <a:avLst/>
          </a:prstGeom>
          <a:noFill/>
        </p:spPr>
        <p:txBody>
          <a:bodyPr wrap="square">
            <a:spAutoFit/>
          </a:bodyPr>
          <a:lstStyle/>
          <a:p>
            <a:pPr algn="l"/>
            <a:r>
              <a:rPr sz="800" b="0">
                <a:solidFill>
                  <a:srgbClr val="AAAAAA"/>
                </a:solidFill>
                <a:latin typeface="Calibri"/>
              </a:rPr>
              <a:t>1,500 4G + 500 5G stations + 36,000 km fiber optic</a:t>
            </a:r>
          </a:p>
        </p:txBody>
      </p:sp>
      <p:sp>
        <p:nvSpPr>
          <p:cNvPr id="26" name="TextBox 25"/>
          <p:cNvSpPr txBox="1"/>
          <p:nvPr/>
        </p:nvSpPr>
        <p:spPr>
          <a:xfrm>
            <a:off x="548640" y="3831336"/>
            <a:ext cx="1371600" cy="384048"/>
          </a:xfrm>
          <a:prstGeom prst="rect">
            <a:avLst/>
          </a:prstGeom>
          <a:noFill/>
        </p:spPr>
        <p:txBody>
          <a:bodyPr wrap="square">
            <a:spAutoFit/>
          </a:bodyPr>
          <a:lstStyle/>
          <a:p>
            <a:pPr algn="l"/>
            <a:r>
              <a:rPr sz="900" b="1">
                <a:solidFill>
                  <a:srgbClr val="B87333"/>
                </a:solidFill>
                <a:latin typeface="Calibri"/>
              </a:rPr>
              <a:t>Mar 2026</a:t>
            </a:r>
          </a:p>
        </p:txBody>
      </p:sp>
      <p:sp>
        <p:nvSpPr>
          <p:cNvPr id="27" name="TextBox 26"/>
          <p:cNvSpPr txBox="1"/>
          <p:nvPr/>
        </p:nvSpPr>
        <p:spPr>
          <a:xfrm>
            <a:off x="2011680" y="3831336"/>
            <a:ext cx="3200400" cy="384048"/>
          </a:xfrm>
          <a:prstGeom prst="rect">
            <a:avLst/>
          </a:prstGeom>
          <a:noFill/>
        </p:spPr>
        <p:txBody>
          <a:bodyPr wrap="square">
            <a:spAutoFit/>
          </a:bodyPr>
          <a:lstStyle/>
          <a:p>
            <a:pPr algn="l"/>
            <a:r>
              <a:rPr sz="900" b="1">
                <a:solidFill>
                  <a:srgbClr val="FFFFFF"/>
                </a:solidFill>
                <a:latin typeface="Calibri"/>
              </a:rPr>
              <a:t>Venezuela reaches 1.1M bpd production</a:t>
            </a:r>
          </a:p>
        </p:txBody>
      </p:sp>
      <p:sp>
        <p:nvSpPr>
          <p:cNvPr id="28" name="TextBox 27"/>
          <p:cNvSpPr txBox="1"/>
          <p:nvPr/>
        </p:nvSpPr>
        <p:spPr>
          <a:xfrm>
            <a:off x="5303520" y="3831336"/>
            <a:ext cx="3200400" cy="384048"/>
          </a:xfrm>
          <a:prstGeom prst="rect">
            <a:avLst/>
          </a:prstGeom>
          <a:noFill/>
        </p:spPr>
        <p:txBody>
          <a:bodyPr wrap="square">
            <a:spAutoFit/>
          </a:bodyPr>
          <a:lstStyle/>
          <a:p>
            <a:pPr algn="l"/>
            <a:r>
              <a:rPr sz="800" b="0">
                <a:solidFill>
                  <a:srgbClr val="AAAAAA"/>
                </a:solidFill>
                <a:latin typeface="Calibri"/>
              </a:rPr>
              <a:t>Oil recovery underway</a:t>
            </a:r>
          </a:p>
        </p:txBody>
      </p:sp>
      <p:sp>
        <p:nvSpPr>
          <p:cNvPr id="29" name="TextBox 28"/>
          <p:cNvSpPr txBox="1"/>
          <p:nvPr/>
        </p:nvSpPr>
        <p:spPr>
          <a:xfrm>
            <a:off x="548640" y="4297680"/>
            <a:ext cx="7315200" cy="274320"/>
          </a:xfrm>
          <a:prstGeom prst="rect">
            <a:avLst/>
          </a:prstGeom>
          <a:noFill/>
        </p:spPr>
        <p:txBody>
          <a:bodyPr wrap="square">
            <a:spAutoFit/>
          </a:bodyPr>
          <a:lstStyle/>
          <a:p>
            <a:pPr algn="l"/>
            <a:r>
              <a:rPr sz="900" b="0">
                <a:solidFill>
                  <a:srgbClr val="B87333"/>
                </a:solidFill>
                <a:latin typeface="Calibri"/>
              </a:rPr>
              <a:t>These are not projections — these are signed deals and public announcements with dates.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6F1"/>
        </a:solidFill>
        <a:effectLst/>
      </p:bgPr>
    </p:bg>
    <p:spTree>
      <p:nvGrpSpPr>
        <p:cNvPr id="1" name=""/>
        <p:cNvGrpSpPr/>
        <p:nvPr/>
      </p:nvGrpSpPr>
      <p:grpSpPr/>
      <p:sp>
        <p:nvSpPr>
          <p:cNvPr id="2" name="Rectangle 1"/>
          <p:cNvSpPr/>
          <p:nvPr/>
        </p:nvSpPr>
        <p:spPr>
          <a:xfrm>
            <a:off x="0" y="0"/>
            <a:ext cx="9144000" cy="45720"/>
          </a:xfrm>
          <a:prstGeom prst="rect">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7315200" cy="457200"/>
          </a:xfrm>
          <a:prstGeom prst="rect">
            <a:avLst/>
          </a:prstGeom>
          <a:noFill/>
        </p:spPr>
        <p:txBody>
          <a:bodyPr wrap="square">
            <a:spAutoFit/>
          </a:bodyPr>
          <a:lstStyle/>
          <a:p>
            <a:pPr algn="l"/>
            <a:r>
              <a:rPr sz="2400" b="1">
                <a:solidFill>
                  <a:srgbClr val="2C2C2C"/>
                </a:solidFill>
                <a:latin typeface="Georgia"/>
              </a:rPr>
              <a:t>WHAT THE OIL SECTOR ACTUALLY GALVANIZES</a:t>
            </a:r>
          </a:p>
        </p:txBody>
      </p:sp>
      <p:sp>
        <p:nvSpPr>
          <p:cNvPr id="4" name="TextBox 3"/>
          <p:cNvSpPr txBox="1"/>
          <p:nvPr/>
        </p:nvSpPr>
        <p:spPr>
          <a:xfrm>
            <a:off x="548640" y="914400"/>
            <a:ext cx="7315200" cy="274320"/>
          </a:xfrm>
          <a:prstGeom prst="rect">
            <a:avLst/>
          </a:prstGeom>
          <a:noFill/>
        </p:spPr>
        <p:txBody>
          <a:bodyPr wrap="square">
            <a:spAutoFit/>
          </a:bodyPr>
          <a:lstStyle/>
          <a:p>
            <a:pPr algn="l"/>
            <a:r>
              <a:rPr sz="1200" b="0">
                <a:solidFill>
                  <a:srgbClr val="7A6555"/>
                </a:solidFill>
                <a:latin typeface="Calibri"/>
              </a:rPr>
              <a:t>Not the pipelines — everything around them</a:t>
            </a:r>
          </a:p>
        </p:txBody>
      </p:sp>
      <p:sp>
        <p:nvSpPr>
          <p:cNvPr id="5" name="Oval 4"/>
          <p:cNvSpPr/>
          <p:nvPr/>
        </p:nvSpPr>
        <p:spPr>
          <a:xfrm>
            <a:off x="548640" y="1399032"/>
            <a:ext cx="109728" cy="109728"/>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1828800" cy="438912"/>
          </a:xfrm>
          <a:prstGeom prst="rect">
            <a:avLst/>
          </a:prstGeom>
          <a:noFill/>
        </p:spPr>
        <p:txBody>
          <a:bodyPr wrap="square">
            <a:spAutoFit/>
          </a:bodyPr>
          <a:lstStyle/>
          <a:p>
            <a:pPr algn="l"/>
            <a:r>
              <a:rPr sz="1100" b="1">
                <a:solidFill>
                  <a:srgbClr val="2C2C2C"/>
                </a:solidFill>
                <a:latin typeface="Calibri"/>
              </a:rPr>
              <a:t>Pipe racks</a:t>
            </a:r>
          </a:p>
        </p:txBody>
      </p:sp>
      <p:sp>
        <p:nvSpPr>
          <p:cNvPr id="7" name="TextBox 6"/>
          <p:cNvSpPr txBox="1"/>
          <p:nvPr/>
        </p:nvSpPr>
        <p:spPr>
          <a:xfrm>
            <a:off x="2651760" y="1325880"/>
            <a:ext cx="1371600" cy="438912"/>
          </a:xfrm>
          <a:prstGeom prst="rect">
            <a:avLst/>
          </a:prstGeom>
          <a:noFill/>
        </p:spPr>
        <p:txBody>
          <a:bodyPr wrap="square">
            <a:spAutoFit/>
          </a:bodyPr>
          <a:lstStyle/>
          <a:p>
            <a:pPr algn="l"/>
            <a:r>
              <a:rPr sz="900" b="0">
                <a:solidFill>
                  <a:srgbClr val="7A6555"/>
                </a:solidFill>
                <a:latin typeface="Calibri"/>
              </a:rPr>
              <a:t>3m-12m pieces</a:t>
            </a:r>
          </a:p>
        </p:txBody>
      </p:sp>
      <p:sp>
        <p:nvSpPr>
          <p:cNvPr id="8" name="TextBox 7"/>
          <p:cNvSpPr txBox="1"/>
          <p:nvPr/>
        </p:nvSpPr>
        <p:spPr>
          <a:xfrm>
            <a:off x="3931920" y="1325880"/>
            <a:ext cx="1371600" cy="438912"/>
          </a:xfrm>
          <a:prstGeom prst="rect">
            <a:avLst/>
          </a:prstGeom>
          <a:noFill/>
        </p:spPr>
        <p:txBody>
          <a:bodyPr wrap="square">
            <a:spAutoFit/>
          </a:bodyPr>
          <a:lstStyle/>
          <a:p>
            <a:pPr algn="l"/>
            <a:r>
              <a:rPr sz="900" b="1">
                <a:solidFill>
                  <a:srgbClr val="B87333"/>
                </a:solidFill>
                <a:latin typeface="Calibri"/>
              </a:rPr>
              <a:t>→ 7m / 9m kettle</a:t>
            </a:r>
          </a:p>
        </p:txBody>
      </p:sp>
      <p:sp>
        <p:nvSpPr>
          <p:cNvPr id="9" name="Oval 8"/>
          <p:cNvSpPr/>
          <p:nvPr/>
        </p:nvSpPr>
        <p:spPr>
          <a:xfrm>
            <a:off x="548640" y="1837944"/>
            <a:ext cx="109728" cy="109728"/>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764792"/>
            <a:ext cx="1828800" cy="438912"/>
          </a:xfrm>
          <a:prstGeom prst="rect">
            <a:avLst/>
          </a:prstGeom>
          <a:noFill/>
        </p:spPr>
        <p:txBody>
          <a:bodyPr wrap="square">
            <a:spAutoFit/>
          </a:bodyPr>
          <a:lstStyle/>
          <a:p>
            <a:pPr algn="l"/>
            <a:r>
              <a:rPr sz="1100" b="1">
                <a:solidFill>
                  <a:srgbClr val="2C2C2C"/>
                </a:solidFill>
                <a:latin typeface="Calibri"/>
              </a:rPr>
              <a:t>Cable trays</a:t>
            </a:r>
          </a:p>
        </p:txBody>
      </p:sp>
      <p:sp>
        <p:nvSpPr>
          <p:cNvPr id="11" name="TextBox 10"/>
          <p:cNvSpPr txBox="1"/>
          <p:nvPr/>
        </p:nvSpPr>
        <p:spPr>
          <a:xfrm>
            <a:off x="2651760" y="1764792"/>
            <a:ext cx="1371600" cy="438912"/>
          </a:xfrm>
          <a:prstGeom prst="rect">
            <a:avLst/>
          </a:prstGeom>
          <a:noFill/>
        </p:spPr>
        <p:txBody>
          <a:bodyPr wrap="square">
            <a:spAutoFit/>
          </a:bodyPr>
          <a:lstStyle/>
          <a:p>
            <a:pPr algn="l"/>
            <a:r>
              <a:rPr sz="900" b="0">
                <a:solidFill>
                  <a:srgbClr val="7A6555"/>
                </a:solidFill>
                <a:latin typeface="Calibri"/>
              </a:rPr>
              <a:t>2.4m-6m sections</a:t>
            </a:r>
          </a:p>
        </p:txBody>
      </p:sp>
      <p:sp>
        <p:nvSpPr>
          <p:cNvPr id="12" name="TextBox 11"/>
          <p:cNvSpPr txBox="1"/>
          <p:nvPr/>
        </p:nvSpPr>
        <p:spPr>
          <a:xfrm>
            <a:off x="3931920" y="1764792"/>
            <a:ext cx="1371600" cy="438912"/>
          </a:xfrm>
          <a:prstGeom prst="rect">
            <a:avLst/>
          </a:prstGeom>
          <a:noFill/>
        </p:spPr>
        <p:txBody>
          <a:bodyPr wrap="square">
            <a:spAutoFit/>
          </a:bodyPr>
          <a:lstStyle/>
          <a:p>
            <a:pPr algn="l"/>
            <a:r>
              <a:rPr sz="900" b="1">
                <a:solidFill>
                  <a:srgbClr val="B87333"/>
                </a:solidFill>
                <a:latin typeface="Calibri"/>
              </a:rPr>
              <a:t>→ 3.5m / 7m kettle</a:t>
            </a:r>
          </a:p>
        </p:txBody>
      </p:sp>
      <p:sp>
        <p:nvSpPr>
          <p:cNvPr id="13" name="Oval 12"/>
          <p:cNvSpPr/>
          <p:nvPr/>
        </p:nvSpPr>
        <p:spPr>
          <a:xfrm>
            <a:off x="548640" y="2276856"/>
            <a:ext cx="109728" cy="109728"/>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3704"/>
            <a:ext cx="1828800" cy="438912"/>
          </a:xfrm>
          <a:prstGeom prst="rect">
            <a:avLst/>
          </a:prstGeom>
          <a:noFill/>
        </p:spPr>
        <p:txBody>
          <a:bodyPr wrap="square">
            <a:spAutoFit/>
          </a:bodyPr>
          <a:lstStyle/>
          <a:p>
            <a:pPr algn="l"/>
            <a:r>
              <a:rPr sz="1100" b="1">
                <a:solidFill>
                  <a:srgbClr val="2C2C2C"/>
                </a:solidFill>
                <a:latin typeface="Calibri"/>
              </a:rPr>
              <a:t>Platforms &amp; walkways</a:t>
            </a:r>
          </a:p>
        </p:txBody>
      </p:sp>
      <p:sp>
        <p:nvSpPr>
          <p:cNvPr id="15" name="TextBox 14"/>
          <p:cNvSpPr txBox="1"/>
          <p:nvPr/>
        </p:nvSpPr>
        <p:spPr>
          <a:xfrm>
            <a:off x="2651760" y="2203704"/>
            <a:ext cx="1371600" cy="438912"/>
          </a:xfrm>
          <a:prstGeom prst="rect">
            <a:avLst/>
          </a:prstGeom>
          <a:noFill/>
        </p:spPr>
        <p:txBody>
          <a:bodyPr wrap="square">
            <a:spAutoFit/>
          </a:bodyPr>
          <a:lstStyle/>
          <a:p>
            <a:pPr algn="l"/>
            <a:r>
              <a:rPr sz="900" b="0">
                <a:solidFill>
                  <a:srgbClr val="7A6555"/>
                </a:solidFill>
                <a:latin typeface="Calibri"/>
              </a:rPr>
              <a:t>Panels up to 6m</a:t>
            </a:r>
          </a:p>
        </p:txBody>
      </p:sp>
      <p:sp>
        <p:nvSpPr>
          <p:cNvPr id="16" name="TextBox 15"/>
          <p:cNvSpPr txBox="1"/>
          <p:nvPr/>
        </p:nvSpPr>
        <p:spPr>
          <a:xfrm>
            <a:off x="3931920" y="2203704"/>
            <a:ext cx="1371600" cy="438912"/>
          </a:xfrm>
          <a:prstGeom prst="rect">
            <a:avLst/>
          </a:prstGeom>
          <a:noFill/>
        </p:spPr>
        <p:txBody>
          <a:bodyPr wrap="square">
            <a:spAutoFit/>
          </a:bodyPr>
          <a:lstStyle/>
          <a:p>
            <a:pPr algn="l"/>
            <a:r>
              <a:rPr sz="900" b="1">
                <a:solidFill>
                  <a:srgbClr val="B87333"/>
                </a:solidFill>
                <a:latin typeface="Calibri"/>
              </a:rPr>
              <a:t>→ 7m kettle</a:t>
            </a:r>
          </a:p>
        </p:txBody>
      </p:sp>
      <p:sp>
        <p:nvSpPr>
          <p:cNvPr id="17" name="Oval 16"/>
          <p:cNvSpPr/>
          <p:nvPr/>
        </p:nvSpPr>
        <p:spPr>
          <a:xfrm>
            <a:off x="548640" y="2715768"/>
            <a:ext cx="109728" cy="109728"/>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642616"/>
            <a:ext cx="1828800" cy="438912"/>
          </a:xfrm>
          <a:prstGeom prst="rect">
            <a:avLst/>
          </a:prstGeom>
          <a:noFill/>
        </p:spPr>
        <p:txBody>
          <a:bodyPr wrap="square">
            <a:spAutoFit/>
          </a:bodyPr>
          <a:lstStyle/>
          <a:p>
            <a:pPr algn="l"/>
            <a:r>
              <a:rPr sz="1100" b="1">
                <a:solidFill>
                  <a:srgbClr val="2C2C2C"/>
                </a:solidFill>
                <a:latin typeface="Calibri"/>
              </a:rPr>
              <a:t>Handrails &amp; stairs</a:t>
            </a:r>
          </a:p>
        </p:txBody>
      </p:sp>
      <p:sp>
        <p:nvSpPr>
          <p:cNvPr id="19" name="TextBox 18"/>
          <p:cNvSpPr txBox="1"/>
          <p:nvPr/>
        </p:nvSpPr>
        <p:spPr>
          <a:xfrm>
            <a:off x="2651760" y="2642616"/>
            <a:ext cx="1371600" cy="438912"/>
          </a:xfrm>
          <a:prstGeom prst="rect">
            <a:avLst/>
          </a:prstGeom>
          <a:noFill/>
        </p:spPr>
        <p:txBody>
          <a:bodyPr wrap="square">
            <a:spAutoFit/>
          </a:bodyPr>
          <a:lstStyle/>
          <a:p>
            <a:pPr algn="l"/>
            <a:r>
              <a:rPr sz="900" b="0">
                <a:solidFill>
                  <a:srgbClr val="7A6555"/>
                </a:solidFill>
                <a:latin typeface="Calibri"/>
              </a:rPr>
              <a:t>3m-6m sections</a:t>
            </a:r>
          </a:p>
        </p:txBody>
      </p:sp>
      <p:sp>
        <p:nvSpPr>
          <p:cNvPr id="20" name="TextBox 19"/>
          <p:cNvSpPr txBox="1"/>
          <p:nvPr/>
        </p:nvSpPr>
        <p:spPr>
          <a:xfrm>
            <a:off x="3931920" y="2642616"/>
            <a:ext cx="1371600" cy="438912"/>
          </a:xfrm>
          <a:prstGeom prst="rect">
            <a:avLst/>
          </a:prstGeom>
          <a:noFill/>
        </p:spPr>
        <p:txBody>
          <a:bodyPr wrap="square">
            <a:spAutoFit/>
          </a:bodyPr>
          <a:lstStyle/>
          <a:p>
            <a:pPr algn="l"/>
            <a:r>
              <a:rPr sz="900" b="1">
                <a:solidFill>
                  <a:srgbClr val="B87333"/>
                </a:solidFill>
                <a:latin typeface="Calibri"/>
              </a:rPr>
              <a:t>→ 7m kettle</a:t>
            </a:r>
          </a:p>
        </p:txBody>
      </p:sp>
      <p:sp>
        <p:nvSpPr>
          <p:cNvPr id="21" name="Oval 20"/>
          <p:cNvSpPr/>
          <p:nvPr/>
        </p:nvSpPr>
        <p:spPr>
          <a:xfrm>
            <a:off x="548640" y="3154680"/>
            <a:ext cx="109728" cy="109728"/>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081528"/>
            <a:ext cx="1828800" cy="438912"/>
          </a:xfrm>
          <a:prstGeom prst="rect">
            <a:avLst/>
          </a:prstGeom>
          <a:noFill/>
        </p:spPr>
        <p:txBody>
          <a:bodyPr wrap="square">
            <a:spAutoFit/>
          </a:bodyPr>
          <a:lstStyle/>
          <a:p>
            <a:pPr algn="l"/>
            <a:r>
              <a:rPr sz="1100" b="1">
                <a:solidFill>
                  <a:srgbClr val="2C2C2C"/>
                </a:solidFill>
                <a:latin typeface="Calibri"/>
              </a:rPr>
              <a:t>Grating (floor panels)</a:t>
            </a:r>
          </a:p>
        </p:txBody>
      </p:sp>
      <p:sp>
        <p:nvSpPr>
          <p:cNvPr id="23" name="TextBox 22"/>
          <p:cNvSpPr txBox="1"/>
          <p:nvPr/>
        </p:nvSpPr>
        <p:spPr>
          <a:xfrm>
            <a:off x="2651760" y="3081528"/>
            <a:ext cx="1371600" cy="438912"/>
          </a:xfrm>
          <a:prstGeom prst="rect">
            <a:avLst/>
          </a:prstGeom>
          <a:noFill/>
        </p:spPr>
        <p:txBody>
          <a:bodyPr wrap="square">
            <a:spAutoFit/>
          </a:bodyPr>
          <a:lstStyle/>
          <a:p>
            <a:pPr algn="l"/>
            <a:r>
              <a:rPr sz="900" b="0">
                <a:solidFill>
                  <a:srgbClr val="7A6555"/>
                </a:solidFill>
                <a:latin typeface="Calibri"/>
              </a:rPr>
              <a:t>Standard panels</a:t>
            </a:r>
          </a:p>
        </p:txBody>
      </p:sp>
      <p:sp>
        <p:nvSpPr>
          <p:cNvPr id="24" name="TextBox 23"/>
          <p:cNvSpPr txBox="1"/>
          <p:nvPr/>
        </p:nvSpPr>
        <p:spPr>
          <a:xfrm>
            <a:off x="3931920" y="3081528"/>
            <a:ext cx="1371600" cy="438912"/>
          </a:xfrm>
          <a:prstGeom prst="rect">
            <a:avLst/>
          </a:prstGeom>
          <a:noFill/>
        </p:spPr>
        <p:txBody>
          <a:bodyPr wrap="square">
            <a:spAutoFit/>
          </a:bodyPr>
          <a:lstStyle/>
          <a:p>
            <a:pPr algn="l"/>
            <a:r>
              <a:rPr sz="900" b="1">
                <a:solidFill>
                  <a:srgbClr val="B87333"/>
                </a:solidFill>
                <a:latin typeface="Calibri"/>
              </a:rPr>
              <a:t>→ 7m kettle</a:t>
            </a:r>
          </a:p>
        </p:txBody>
      </p:sp>
      <p:sp>
        <p:nvSpPr>
          <p:cNvPr id="25" name="Oval 24"/>
          <p:cNvSpPr/>
          <p:nvPr/>
        </p:nvSpPr>
        <p:spPr>
          <a:xfrm>
            <a:off x="548640" y="3593592"/>
            <a:ext cx="109728" cy="109728"/>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3520440"/>
            <a:ext cx="1828800" cy="438912"/>
          </a:xfrm>
          <a:prstGeom prst="rect">
            <a:avLst/>
          </a:prstGeom>
          <a:noFill/>
        </p:spPr>
        <p:txBody>
          <a:bodyPr wrap="square">
            <a:spAutoFit/>
          </a:bodyPr>
          <a:lstStyle/>
          <a:p>
            <a:pPr algn="l"/>
            <a:r>
              <a:rPr sz="1100" b="1">
                <a:solidFill>
                  <a:srgbClr val="2C2C2C"/>
                </a:solidFill>
                <a:latin typeface="Calibri"/>
              </a:rPr>
              <a:t>Bolts, nuts, hardware</a:t>
            </a:r>
          </a:p>
        </p:txBody>
      </p:sp>
      <p:sp>
        <p:nvSpPr>
          <p:cNvPr id="27" name="TextBox 26"/>
          <p:cNvSpPr txBox="1"/>
          <p:nvPr/>
        </p:nvSpPr>
        <p:spPr>
          <a:xfrm>
            <a:off x="2651760" y="3520440"/>
            <a:ext cx="1371600" cy="438912"/>
          </a:xfrm>
          <a:prstGeom prst="rect">
            <a:avLst/>
          </a:prstGeom>
          <a:noFill/>
        </p:spPr>
        <p:txBody>
          <a:bodyPr wrap="square">
            <a:spAutoFit/>
          </a:bodyPr>
          <a:lstStyle/>
          <a:p>
            <a:pPr algn="l"/>
            <a:r>
              <a:rPr sz="900" b="0">
                <a:solidFill>
                  <a:srgbClr val="7A6555"/>
                </a:solidFill>
                <a:latin typeface="Calibri"/>
              </a:rPr>
              <a:t>Per ASTM A153</a:t>
            </a:r>
          </a:p>
        </p:txBody>
      </p:sp>
      <p:sp>
        <p:nvSpPr>
          <p:cNvPr id="28" name="TextBox 27"/>
          <p:cNvSpPr txBox="1"/>
          <p:nvPr/>
        </p:nvSpPr>
        <p:spPr>
          <a:xfrm>
            <a:off x="3931920" y="3520440"/>
            <a:ext cx="1371600" cy="438912"/>
          </a:xfrm>
          <a:prstGeom prst="rect">
            <a:avLst/>
          </a:prstGeom>
          <a:noFill/>
        </p:spPr>
        <p:txBody>
          <a:bodyPr wrap="square">
            <a:spAutoFit/>
          </a:bodyPr>
          <a:lstStyle/>
          <a:p>
            <a:pPr algn="l"/>
            <a:r>
              <a:rPr sz="900" b="1">
                <a:solidFill>
                  <a:srgbClr val="B87333"/>
                </a:solidFill>
                <a:latin typeface="Calibri"/>
              </a:rPr>
              <a:t>→ 65cm centrifuge</a:t>
            </a:r>
          </a:p>
        </p:txBody>
      </p:sp>
      <p:sp>
        <p:nvSpPr>
          <p:cNvPr id="29" name="TextBox 28"/>
          <p:cNvSpPr txBox="1"/>
          <p:nvPr/>
        </p:nvSpPr>
        <p:spPr>
          <a:xfrm>
            <a:off x="5669280" y="1417320"/>
            <a:ext cx="2286000" cy="548640"/>
          </a:xfrm>
          <a:prstGeom prst="rect">
            <a:avLst/>
          </a:prstGeom>
          <a:noFill/>
        </p:spPr>
        <p:txBody>
          <a:bodyPr wrap="square">
            <a:spAutoFit/>
          </a:bodyPr>
          <a:lstStyle/>
          <a:p>
            <a:pPr algn="ctr"/>
            <a:r>
              <a:rPr sz="3600" b="1">
                <a:solidFill>
                  <a:srgbClr val="B87333"/>
                </a:solidFill>
                <a:latin typeface="Georgia"/>
              </a:rPr>
              <a:t>$41B</a:t>
            </a:r>
          </a:p>
        </p:txBody>
      </p:sp>
      <p:sp>
        <p:nvSpPr>
          <p:cNvPr id="30" name="TextBox 29"/>
          <p:cNvSpPr txBox="1"/>
          <p:nvPr/>
        </p:nvSpPr>
        <p:spPr>
          <a:xfrm>
            <a:off x="5669280" y="1920240"/>
            <a:ext cx="2286000" cy="457200"/>
          </a:xfrm>
          <a:prstGeom prst="rect">
            <a:avLst/>
          </a:prstGeom>
          <a:noFill/>
        </p:spPr>
        <p:txBody>
          <a:bodyPr wrap="square">
            <a:spAutoFit/>
          </a:bodyPr>
          <a:lstStyle/>
          <a:p>
            <a:pPr algn="ctr"/>
            <a:r>
              <a:rPr sz="900" b="0">
                <a:solidFill>
                  <a:srgbClr val="5A4A3A"/>
                </a:solidFill>
                <a:latin typeface="Calibri"/>
              </a:rPr>
              <a:t>Fabrication &amp; construction
(Rystad Energy, Jan 2026)</a:t>
            </a:r>
          </a:p>
        </p:txBody>
      </p:sp>
      <p:sp>
        <p:nvSpPr>
          <p:cNvPr id="31" name="TextBox 30"/>
          <p:cNvSpPr txBox="1"/>
          <p:nvPr/>
        </p:nvSpPr>
        <p:spPr>
          <a:xfrm>
            <a:off x="5669280" y="2514600"/>
            <a:ext cx="2286000" cy="548640"/>
          </a:xfrm>
          <a:prstGeom prst="rect">
            <a:avLst/>
          </a:prstGeom>
          <a:noFill/>
        </p:spPr>
        <p:txBody>
          <a:bodyPr wrap="square">
            <a:spAutoFit/>
          </a:bodyPr>
          <a:lstStyle/>
          <a:p>
            <a:pPr algn="ctr"/>
            <a:r>
              <a:rPr sz="2800" b="1">
                <a:solidFill>
                  <a:srgbClr val="5A4A3A"/>
                </a:solidFill>
                <a:latin typeface="Georgia"/>
              </a:rPr>
              <a:t>$10B+</a:t>
            </a:r>
          </a:p>
        </p:txBody>
      </p:sp>
      <p:sp>
        <p:nvSpPr>
          <p:cNvPr id="32" name="TextBox 31"/>
          <p:cNvSpPr txBox="1"/>
          <p:nvPr/>
        </p:nvSpPr>
        <p:spPr>
          <a:xfrm>
            <a:off x="5669280" y="3017520"/>
            <a:ext cx="2286000" cy="457200"/>
          </a:xfrm>
          <a:prstGeom prst="rect">
            <a:avLst/>
          </a:prstGeom>
          <a:noFill/>
        </p:spPr>
        <p:txBody>
          <a:bodyPr wrap="square">
            <a:spAutoFit/>
          </a:bodyPr>
          <a:lstStyle/>
          <a:p>
            <a:pPr algn="ctr"/>
            <a:r>
              <a:rPr sz="900" b="0">
                <a:solidFill>
                  <a:srgbClr val="7A6555"/>
                </a:solidFill>
                <a:latin typeface="Calibri"/>
              </a:rPr>
              <a:t>Materials &amp; metals</a:t>
            </a:r>
          </a:p>
        </p:txBody>
      </p:sp>
      <p:sp>
        <p:nvSpPr>
          <p:cNvPr id="33" name="TextBox 32"/>
          <p:cNvSpPr txBox="1"/>
          <p:nvPr/>
        </p:nvSpPr>
        <p:spPr>
          <a:xfrm>
            <a:off x="5669280" y="3246120"/>
            <a:ext cx="2286000" cy="548640"/>
          </a:xfrm>
          <a:prstGeom prst="rect">
            <a:avLst/>
          </a:prstGeom>
          <a:noFill/>
        </p:spPr>
        <p:txBody>
          <a:bodyPr wrap="square">
            <a:spAutoFit/>
          </a:bodyPr>
          <a:lstStyle/>
          <a:p>
            <a:pPr algn="ctr"/>
            <a:r>
              <a:rPr sz="2800" b="1">
                <a:solidFill>
                  <a:srgbClr val="5A4A3A"/>
                </a:solidFill>
                <a:latin typeface="Georgia"/>
              </a:rPr>
              <a:t>$10B+</a:t>
            </a:r>
          </a:p>
        </p:txBody>
      </p:sp>
      <p:sp>
        <p:nvSpPr>
          <p:cNvPr id="34" name="TextBox 33"/>
          <p:cNvSpPr txBox="1"/>
          <p:nvPr/>
        </p:nvSpPr>
        <p:spPr>
          <a:xfrm>
            <a:off x="5669280" y="3749040"/>
            <a:ext cx="2286000" cy="457200"/>
          </a:xfrm>
          <a:prstGeom prst="rect">
            <a:avLst/>
          </a:prstGeom>
          <a:noFill/>
        </p:spPr>
        <p:txBody>
          <a:bodyPr wrap="square">
            <a:spAutoFit/>
          </a:bodyPr>
          <a:lstStyle/>
          <a:p>
            <a:pPr algn="ctr"/>
            <a:r>
              <a:rPr sz="900" b="0">
                <a:solidFill>
                  <a:srgbClr val="7A6555"/>
                </a:solidFill>
                <a:latin typeface="Calibri"/>
              </a:rPr>
              <a:t>Electrical &amp; instrumentation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C2C2C"/>
        </a:solidFill>
        <a:effectLst/>
      </p:bgPr>
    </p:bg>
    <p:spTree>
      <p:nvGrpSpPr>
        <p:cNvPr id="1" name=""/>
        <p:cNvGrpSpPr/>
        <p:nvPr/>
      </p:nvGrpSpPr>
      <p:grpSpPr/>
      <p:sp>
        <p:nvSpPr>
          <p:cNvPr id="2" name="Rectangle 1"/>
          <p:cNvSpPr/>
          <p:nvPr/>
        </p:nvSpPr>
        <p:spPr>
          <a:xfrm>
            <a:off x="0" y="0"/>
            <a:ext cx="9144000" cy="45720"/>
          </a:xfrm>
          <a:prstGeom prst="rect">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7315200" cy="502920"/>
          </a:xfrm>
          <a:prstGeom prst="rect">
            <a:avLst/>
          </a:prstGeom>
          <a:noFill/>
        </p:spPr>
        <p:txBody>
          <a:bodyPr wrap="square">
            <a:spAutoFit/>
          </a:bodyPr>
          <a:lstStyle/>
          <a:p>
            <a:pPr algn="l"/>
            <a:r>
              <a:rPr sz="2600" b="1">
                <a:solidFill>
                  <a:srgbClr val="B87333"/>
                </a:solidFill>
                <a:latin typeface="Georgia"/>
              </a:rPr>
              <a:t>TELECOMMUNICATIONS: 2,000+ NEW TOWERS</a:t>
            </a:r>
          </a:p>
        </p:txBody>
      </p:sp>
      <p:sp>
        <p:nvSpPr>
          <p:cNvPr id="4" name="TextBox 3"/>
          <p:cNvSpPr txBox="1"/>
          <p:nvPr/>
        </p:nvSpPr>
        <p:spPr>
          <a:xfrm>
            <a:off x="365760" y="1097280"/>
            <a:ext cx="2377440" cy="548640"/>
          </a:xfrm>
          <a:prstGeom prst="rect">
            <a:avLst/>
          </a:prstGeom>
          <a:noFill/>
        </p:spPr>
        <p:txBody>
          <a:bodyPr wrap="square">
            <a:spAutoFit/>
          </a:bodyPr>
          <a:lstStyle/>
          <a:p>
            <a:pPr algn="ctr"/>
            <a:r>
              <a:rPr sz="4000" b="1">
                <a:solidFill>
                  <a:srgbClr val="B87333"/>
                </a:solidFill>
                <a:latin typeface="Georgia"/>
              </a:rPr>
              <a:t>$500M</a:t>
            </a:r>
          </a:p>
        </p:txBody>
      </p:sp>
      <p:sp>
        <p:nvSpPr>
          <p:cNvPr id="5" name="TextBox 4"/>
          <p:cNvSpPr txBox="1"/>
          <p:nvPr/>
        </p:nvSpPr>
        <p:spPr>
          <a:xfrm>
            <a:off x="365760" y="1645920"/>
            <a:ext cx="2377440" cy="548640"/>
          </a:xfrm>
          <a:prstGeom prst="rect">
            <a:avLst/>
          </a:prstGeom>
          <a:noFill/>
        </p:spPr>
        <p:txBody>
          <a:bodyPr wrap="square">
            <a:spAutoFit/>
          </a:bodyPr>
          <a:lstStyle/>
          <a:p>
            <a:pPr algn="ctr"/>
            <a:r>
              <a:rPr sz="1000" b="0">
                <a:solidFill>
                  <a:srgbClr val="CCCCCC"/>
                </a:solidFill>
                <a:latin typeface="Calibri"/>
              </a:rPr>
              <a:t>Movistar/Telefonica
investment (Feb 2025)</a:t>
            </a:r>
          </a:p>
        </p:txBody>
      </p:sp>
      <p:sp>
        <p:nvSpPr>
          <p:cNvPr id="6" name="TextBox 5"/>
          <p:cNvSpPr txBox="1"/>
          <p:nvPr/>
        </p:nvSpPr>
        <p:spPr>
          <a:xfrm>
            <a:off x="2926080" y="1097280"/>
            <a:ext cx="2377440" cy="548640"/>
          </a:xfrm>
          <a:prstGeom prst="rect">
            <a:avLst/>
          </a:prstGeom>
          <a:noFill/>
        </p:spPr>
        <p:txBody>
          <a:bodyPr wrap="square">
            <a:spAutoFit/>
          </a:bodyPr>
          <a:lstStyle/>
          <a:p>
            <a:pPr algn="ctr"/>
            <a:r>
              <a:rPr sz="4000" b="1">
                <a:solidFill>
                  <a:srgbClr val="B87333"/>
                </a:solidFill>
                <a:latin typeface="Georgia"/>
              </a:rPr>
              <a:t>2,000+</a:t>
            </a:r>
          </a:p>
        </p:txBody>
      </p:sp>
      <p:sp>
        <p:nvSpPr>
          <p:cNvPr id="7" name="TextBox 6"/>
          <p:cNvSpPr txBox="1"/>
          <p:nvPr/>
        </p:nvSpPr>
        <p:spPr>
          <a:xfrm>
            <a:off x="2926080" y="1645920"/>
            <a:ext cx="2377440" cy="548640"/>
          </a:xfrm>
          <a:prstGeom prst="rect">
            <a:avLst/>
          </a:prstGeom>
          <a:noFill/>
        </p:spPr>
        <p:txBody>
          <a:bodyPr wrap="square">
            <a:spAutoFit/>
          </a:bodyPr>
          <a:lstStyle/>
          <a:p>
            <a:pPr algn="ctr"/>
            <a:r>
              <a:rPr sz="1000" b="0">
                <a:solidFill>
                  <a:srgbClr val="CCCCCC"/>
                </a:solidFill>
                <a:latin typeface="Calibri"/>
              </a:rPr>
              <a:t>New 4G and 5G
base stations</a:t>
            </a:r>
          </a:p>
        </p:txBody>
      </p:sp>
      <p:sp>
        <p:nvSpPr>
          <p:cNvPr id="8" name="TextBox 7"/>
          <p:cNvSpPr txBox="1"/>
          <p:nvPr/>
        </p:nvSpPr>
        <p:spPr>
          <a:xfrm>
            <a:off x="5486400" y="1097280"/>
            <a:ext cx="2377440" cy="548640"/>
          </a:xfrm>
          <a:prstGeom prst="rect">
            <a:avLst/>
          </a:prstGeom>
          <a:noFill/>
        </p:spPr>
        <p:txBody>
          <a:bodyPr wrap="square">
            <a:spAutoFit/>
          </a:bodyPr>
          <a:lstStyle/>
          <a:p>
            <a:pPr algn="ctr"/>
            <a:r>
              <a:rPr sz="4000" b="1">
                <a:solidFill>
                  <a:srgbClr val="B87333"/>
                </a:solidFill>
                <a:latin typeface="Georgia"/>
              </a:rPr>
              <a:t>36,000 km</a:t>
            </a:r>
          </a:p>
        </p:txBody>
      </p:sp>
      <p:sp>
        <p:nvSpPr>
          <p:cNvPr id="9" name="TextBox 8"/>
          <p:cNvSpPr txBox="1"/>
          <p:nvPr/>
        </p:nvSpPr>
        <p:spPr>
          <a:xfrm>
            <a:off x="5486400" y="1645920"/>
            <a:ext cx="2377440" cy="548640"/>
          </a:xfrm>
          <a:prstGeom prst="rect">
            <a:avLst/>
          </a:prstGeom>
          <a:noFill/>
        </p:spPr>
        <p:txBody>
          <a:bodyPr wrap="square">
            <a:spAutoFit/>
          </a:bodyPr>
          <a:lstStyle/>
          <a:p>
            <a:pPr algn="ctr"/>
            <a:r>
              <a:rPr sz="1000" b="0">
                <a:solidFill>
                  <a:srgbClr val="CCCCCC"/>
                </a:solidFill>
                <a:latin typeface="Calibri"/>
              </a:rPr>
              <a:t>Fiber optic deployment
(support structures)</a:t>
            </a:r>
          </a:p>
        </p:txBody>
      </p:sp>
      <p:sp>
        <p:nvSpPr>
          <p:cNvPr id="10" name="TextBox 9"/>
          <p:cNvSpPr txBox="1"/>
          <p:nvPr/>
        </p:nvSpPr>
        <p:spPr>
          <a:xfrm>
            <a:off x="548640" y="2560320"/>
            <a:ext cx="7315200" cy="640080"/>
          </a:xfrm>
          <a:prstGeom prst="rect">
            <a:avLst/>
          </a:prstGeom>
          <a:noFill/>
        </p:spPr>
        <p:txBody>
          <a:bodyPr wrap="square">
            <a:spAutoFit/>
          </a:bodyPr>
          <a:lstStyle/>
          <a:p>
            <a:pPr algn="ctr"/>
            <a:r>
              <a:rPr sz="1300" b="0">
                <a:solidFill>
                  <a:srgbClr val="FFFFFF"/>
                </a:solidFill>
                <a:latin typeface="Calibri"/>
              </a:rPr>
              <a:t>Every cell tower requires galvanized steel structure. Every base station needs copper grounding rods. PYGLARA serves BOTH needs — the only company in Venezuela that can.</a:t>
            </a:r>
          </a:p>
        </p:txBody>
      </p:sp>
      <p:sp>
        <p:nvSpPr>
          <p:cNvPr id="11" name="Rectangle 10"/>
          <p:cNvSpPr/>
          <p:nvPr/>
        </p:nvSpPr>
        <p:spPr>
          <a:xfrm>
            <a:off x="1828800" y="3291840"/>
            <a:ext cx="4700016" cy="18288"/>
          </a:xfrm>
          <a:prstGeom prst="rect">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474720"/>
            <a:ext cx="6583680" cy="274320"/>
          </a:xfrm>
          <a:prstGeom prst="rect">
            <a:avLst/>
          </a:prstGeom>
          <a:noFill/>
        </p:spPr>
        <p:txBody>
          <a:bodyPr wrap="square">
            <a:spAutoFit/>
          </a:bodyPr>
          <a:lstStyle/>
          <a:p>
            <a:pPr algn="l"/>
            <a:r>
              <a:rPr sz="900" b="0">
                <a:solidFill>
                  <a:srgbClr val="AAAAAA"/>
                </a:solidFill>
                <a:latin typeface="Calibri"/>
              </a:rPr>
              <a:t>  CONATEL National Telecom Plan 2025-2031: 1,500 new 4G + 500 5G stations</a:t>
            </a:r>
          </a:p>
        </p:txBody>
      </p:sp>
      <p:sp>
        <p:nvSpPr>
          <p:cNvPr id="13" name="TextBox 12"/>
          <p:cNvSpPr txBox="1"/>
          <p:nvPr/>
        </p:nvSpPr>
        <p:spPr>
          <a:xfrm>
            <a:off x="914400" y="3749040"/>
            <a:ext cx="6583680" cy="274320"/>
          </a:xfrm>
          <a:prstGeom prst="rect">
            <a:avLst/>
          </a:prstGeom>
          <a:noFill/>
        </p:spPr>
        <p:txBody>
          <a:bodyPr wrap="square">
            <a:spAutoFit/>
          </a:bodyPr>
          <a:lstStyle/>
          <a:p>
            <a:pPr algn="l"/>
            <a:r>
              <a:rPr sz="900" b="0">
                <a:solidFill>
                  <a:srgbClr val="AAAAAA"/>
                </a:solidFill>
                <a:latin typeface="Calibri"/>
              </a:rPr>
              <a:t>  Reinforcement of 3,000 existing stations across the country</a:t>
            </a:r>
          </a:p>
        </p:txBody>
      </p:sp>
      <p:sp>
        <p:nvSpPr>
          <p:cNvPr id="14" name="TextBox 13"/>
          <p:cNvSpPr txBox="1"/>
          <p:nvPr/>
        </p:nvSpPr>
        <p:spPr>
          <a:xfrm>
            <a:off x="914400" y="4023360"/>
            <a:ext cx="6583680" cy="274320"/>
          </a:xfrm>
          <a:prstGeom prst="rect">
            <a:avLst/>
          </a:prstGeom>
          <a:noFill/>
        </p:spPr>
        <p:txBody>
          <a:bodyPr wrap="square">
            <a:spAutoFit/>
          </a:bodyPr>
          <a:lstStyle/>
          <a:p>
            <a:pPr algn="l"/>
            <a:r>
              <a:rPr sz="900" b="0">
                <a:solidFill>
                  <a:srgbClr val="AAAAAA"/>
                </a:solidFill>
                <a:latin typeface="Calibri"/>
              </a:rPr>
              <a:t>  36,000 km fiber optic backbone — all requiring galvanized support structures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7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3000" b="1" dirty="0">
                <a:solidFill>
                  <a:srgbClr val="3E2C1C"/>
                </a:solidFill>
                <a:latin typeface="Georgia" pitchFamily="34" charset="0"/>
                <a:ea typeface="Georgia" pitchFamily="34" charset="-122"/>
                <a:cs typeface="Georgia" pitchFamily="34" charset="-120"/>
              </a:rPr>
              <a:t>WHY GALVANIZING</a:t>
            </a:r>
            <a:endParaRPr lang="en-US" sz="30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Hot-dip galvanizing outperforms paint in every aspect</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914400"/>
        </p:xfrm>
        <a:graphic>
          <a:graphicData uri="http://schemas.openxmlformats.org/drawingml/2006/table">
            <a:tbl>
              <a:tblPr/>
              <a:tblGrid>
                <a:gridCol w="2377440"/>
                <a:gridCol w="2834640"/>
                <a:gridCol w="2834640"/>
              </a:tblGrid>
              <a:tr h="32004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FEATURE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GALVANIZED</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2D7D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PAINT</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B83B3B"/>
                    </a:solidFill>
                  </a:tcPr>
                </a:tc>
              </a:tr>
              <a:tr h="384048">
                <a:tc>
                  <a:txBody>
                    <a:bodyPr/>
                    <a:lstStyle/>
                    <a:p>
                      <a:pPr algn="l" indent="0" marL="0">
                        <a:buNone/>
                      </a:pPr>
                      <a:r>
                        <a:rPr lang="en-US" sz="1000" b="1" dirty="0">
                          <a:solidFill>
                            <a:srgbClr val="5C4033"/>
                          </a:solidFill>
                          <a:latin typeface="Calibri" pitchFamily="34" charset="0"/>
                          <a:ea typeface="Calibri" pitchFamily="34" charset="-122"/>
                          <a:cs typeface="Calibri" pitchFamily="34" charset="-120"/>
                        </a:rPr>
                        <a:t>Service life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D7D46"/>
                          </a:solidFill>
                          <a:latin typeface="Calibri" pitchFamily="34" charset="0"/>
                          <a:ea typeface="Calibri" pitchFamily="34" charset="-122"/>
                          <a:cs typeface="Calibri" pitchFamily="34" charset="-120"/>
                        </a:rPr>
                        <a:t>50-100 years</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B83B3B"/>
                          </a:solidFill>
                          <a:latin typeface="Calibri" pitchFamily="34" charset="0"/>
                          <a:ea typeface="Calibri" pitchFamily="34" charset="-122"/>
                          <a:cs typeface="Calibri" pitchFamily="34" charset="-120"/>
                        </a:rPr>
                        <a:t>3-5 years (requires repainting)</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5C4033"/>
                          </a:solidFill>
                          <a:latin typeface="Calibri" pitchFamily="34" charset="0"/>
                          <a:ea typeface="Calibri" pitchFamily="34" charset="-122"/>
                          <a:cs typeface="Calibri" pitchFamily="34" charset="-120"/>
                        </a:rPr>
                        <a:t>Bond type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950" b="1" dirty="0">
                          <a:solidFill>
                            <a:srgbClr val="2D7D46"/>
                          </a:solidFill>
                          <a:latin typeface="Calibri" pitchFamily="34" charset="0"/>
                          <a:ea typeface="Calibri" pitchFamily="34" charset="-122"/>
                          <a:cs typeface="Calibri" pitchFamily="34" charset="-120"/>
                        </a:rPr>
                        <a:t>Metallurgical bond (zinc-iron)</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950" dirty="0">
                          <a:solidFill>
                            <a:srgbClr val="B83B3B"/>
                          </a:solidFill>
                          <a:latin typeface="Calibri" pitchFamily="34" charset="0"/>
                          <a:ea typeface="Calibri" pitchFamily="34" charset="-122"/>
                          <a:cs typeface="Calibri" pitchFamily="34" charset="-120"/>
                        </a:rPr>
                        <a:t>Surface adhesion (peels off)</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84048">
                <a:tc>
                  <a:txBody>
                    <a:bodyPr/>
                    <a:lstStyle/>
                    <a:p>
                      <a:pPr algn="l" indent="0" marL="0">
                        <a:buNone/>
                      </a:pPr>
                      <a:r>
                        <a:rPr lang="en-US" sz="1000" b="1" dirty="0">
                          <a:solidFill>
                            <a:srgbClr val="5C4033"/>
                          </a:solidFill>
                          <a:latin typeface="Calibri" pitchFamily="34" charset="0"/>
                          <a:ea typeface="Calibri" pitchFamily="34" charset="-122"/>
                          <a:cs typeface="Calibri" pitchFamily="34" charset="-120"/>
                        </a:rPr>
                        <a:t>Self-healing</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D7D46"/>
                          </a:solidFill>
                          <a:latin typeface="Calibri" pitchFamily="34" charset="0"/>
                          <a:ea typeface="Calibri" pitchFamily="34" charset="-122"/>
                          <a:cs typeface="Calibri" pitchFamily="34" charset="-120"/>
                        </a:rPr>
                        <a:t>YES — zinc protects cuts and scratches</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B83B3B"/>
                          </a:solidFill>
                          <a:latin typeface="Calibri" pitchFamily="34" charset="0"/>
                          <a:ea typeface="Calibri" pitchFamily="34" charset="-122"/>
                          <a:cs typeface="Calibri" pitchFamily="34" charset="-120"/>
                        </a:rPr>
                        <a:t>NO — any damage exposes the steel</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5C4033"/>
                          </a:solidFill>
                          <a:latin typeface="Calibri" pitchFamily="34" charset="0"/>
                          <a:ea typeface="Calibri" pitchFamily="34" charset="-122"/>
                          <a:cs typeface="Calibri" pitchFamily="34" charset="-120"/>
                        </a:rPr>
                        <a:t>Lifecycle cost</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950" b="1" dirty="0">
                          <a:solidFill>
                            <a:srgbClr val="2D7D46"/>
                          </a:solidFill>
                          <a:latin typeface="Calibri" pitchFamily="34" charset="0"/>
                          <a:ea typeface="Calibri" pitchFamily="34" charset="-122"/>
                          <a:cs typeface="Calibri" pitchFamily="34" charset="-120"/>
                        </a:rPr>
                        <a:t>~70% cheaper long-term</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950" dirty="0">
                          <a:solidFill>
                            <a:srgbClr val="B83B3B"/>
                          </a:solidFill>
                          <a:latin typeface="Calibri" pitchFamily="34" charset="0"/>
                          <a:ea typeface="Calibri" pitchFamily="34" charset="-122"/>
                          <a:cs typeface="Calibri" pitchFamily="34" charset="-120"/>
                        </a:rPr>
                        <a:t>Repainting every 3-5 years adds up</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84048">
                <a:tc>
                  <a:txBody>
                    <a:bodyPr/>
                    <a:lstStyle/>
                    <a:p>
                      <a:pPr algn="l" indent="0" marL="0">
                        <a:buNone/>
                      </a:pPr>
                      <a:r>
                        <a:rPr lang="en-US" sz="1000" b="1" dirty="0">
                          <a:solidFill>
                            <a:srgbClr val="5C4033"/>
                          </a:solidFill>
                          <a:latin typeface="Calibri" pitchFamily="34" charset="0"/>
                          <a:ea typeface="Calibri" pitchFamily="34" charset="-122"/>
                          <a:cs typeface="Calibri" pitchFamily="34" charset="-120"/>
                        </a:rPr>
                        <a:t>Impact resistance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D7D46"/>
                          </a:solidFill>
                          <a:latin typeface="Calibri" pitchFamily="34" charset="0"/>
                          <a:ea typeface="Calibri" pitchFamily="34" charset="-122"/>
                          <a:cs typeface="Calibri" pitchFamily="34" charset="-120"/>
                        </a:rPr>
                        <a:t>Excellent — no bubbles, flakes</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B83B3B"/>
                          </a:solidFill>
                          <a:latin typeface="Calibri" pitchFamily="34" charset="0"/>
                          <a:ea typeface="Calibri" pitchFamily="34" charset="-122"/>
                          <a:cs typeface="Calibri" pitchFamily="34" charset="-120"/>
                        </a:rPr>
                        <a:t>Cracks, blisters and peels</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5C4033"/>
                          </a:solidFill>
                          <a:latin typeface="Calibri" pitchFamily="34" charset="0"/>
                          <a:ea typeface="Calibri" pitchFamily="34" charset="-122"/>
                          <a:cs typeface="Calibri" pitchFamily="34" charset="-120"/>
                        </a:rPr>
                        <a:t>Corner protection</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950" b="1" dirty="0">
                          <a:solidFill>
                            <a:srgbClr val="2D7D46"/>
                          </a:solidFill>
                          <a:latin typeface="Calibri" pitchFamily="34" charset="0"/>
                          <a:ea typeface="Calibri" pitchFamily="34" charset="-122"/>
                          <a:cs typeface="Calibri" pitchFamily="34" charset="-120"/>
                        </a:rPr>
                        <a:t>Corners receive MORE zinc (galvanic)</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950" dirty="0">
                          <a:solidFill>
                            <a:srgbClr val="B83B3B"/>
                          </a:solidFill>
                          <a:latin typeface="Calibri" pitchFamily="34" charset="0"/>
                          <a:ea typeface="Calibri" pitchFamily="34" charset="-122"/>
                          <a:cs typeface="Calibri" pitchFamily="34" charset="-120"/>
                        </a:rPr>
                        <a:t>Corners receive LESS paint</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84048">
                <a:tc>
                  <a:txBody>
                    <a:bodyPr/>
                    <a:lstStyle/>
                    <a:p>
                      <a:pPr algn="l" indent="0" marL="0">
                        <a:buNone/>
                      </a:pPr>
                      <a:r>
                        <a:rPr lang="en-US" sz="1000" b="1" dirty="0">
                          <a:solidFill>
                            <a:srgbClr val="5C4033"/>
                          </a:solidFill>
                          <a:latin typeface="Calibri" pitchFamily="34" charset="0"/>
                          <a:ea typeface="Calibri" pitchFamily="34" charset="-122"/>
                          <a:cs typeface="Calibri" pitchFamily="34" charset="-120"/>
                        </a:rPr>
                        <a:t>Maintenance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D7D46"/>
                          </a:solidFill>
                          <a:latin typeface="Calibri" pitchFamily="34" charset="0"/>
                          <a:ea typeface="Calibri" pitchFamily="34" charset="-122"/>
                          <a:cs typeface="Calibri" pitchFamily="34" charset="-120"/>
                        </a:rPr>
                        <a:t>Zero for decades</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B83B3B"/>
                          </a:solidFill>
                          <a:latin typeface="Calibri" pitchFamily="34" charset="0"/>
                          <a:ea typeface="Calibri" pitchFamily="34" charset="-122"/>
                          <a:cs typeface="Calibri" pitchFamily="34" charset="-120"/>
                        </a:rPr>
                        <a:t>Constant inspection and repainting</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389120"/>
            <a:ext cx="8046720" cy="548640"/>
          </a:xfrm>
          <a:prstGeom prst="rect">
            <a:avLst/>
          </a:prstGeom>
          <a:solidFill>
            <a:srgbClr val="EDE8E0"/>
          </a:solidFill>
          <a:ln w="19050">
            <a:solidFill>
              <a:srgbClr val="B87333"/>
            </a:solidFill>
            <a:prstDash val="solid"/>
          </a:ln>
        </p:spPr>
        <p:txBody>
          <a:bodyPr/>
          <a:p/>
        </p:txBody>
      </p:sp>
      <p:sp>
        <p:nvSpPr>
          <p:cNvPr id="8" name="Text 5"/>
          <p:cNvSpPr/>
          <p:nvPr/>
        </p:nvSpPr>
        <p:spPr>
          <a:xfrm>
            <a:off x="731520" y="4389120"/>
            <a:ext cx="7680960" cy="548640"/>
          </a:xfrm>
          <a:prstGeom prst="rect">
            <a:avLst/>
          </a:prstGeom>
          <a:noFill/>
          <a:ln/>
        </p:spPr>
        <p:txBody>
          <a:bodyPr wrap="square" rtlCol="0" anchor="ctr"/>
          <a:lstStyle/>
          <a:p>
            <a:pPr algn="ctr" indent="0" marL="0">
              <a:buNone/>
            </a:pPr>
            <a:r>
              <a:rPr lang="en-US" sz="1050" b="1" i="1" dirty="0">
                <a:solidFill>
                  <a:srgbClr val="8B5A2B"/>
                </a:solidFill>
                <a:latin typeface="Calibri" pitchFamily="34" charset="0"/>
                <a:ea typeface="Calibri" pitchFamily="34" charset="-122"/>
                <a:cs typeface="Calibri" pitchFamily="34" charset="-120"/>
              </a:rPr>
              <a:t>Galvanizing is not a coating — it is a permanent metallurgical bond between zinc and steel. The zinc sacrifices itself to protect the iron (cathodic protection).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8 / 30</a:t>
            </a:r>
            <a:endParaRPr lang="en-US" sz="800" dirty="0"/>
          </a:p>
        </p:txBody>
      </p:sp>
      <p:sp>
        <p:nvSpPr>
          <p:cNvPr id="4" name="Text 2"/>
          <p:cNvSpPr/>
          <p:nvPr/>
        </p:nvSpPr>
        <p:spPr>
          <a:xfrm>
            <a:off x="548640" y="274320"/>
            <a:ext cx="4114800" cy="594360"/>
          </a:xfrm>
          <a:prstGeom prst="rect">
            <a:avLst/>
          </a:prstGeom>
          <a:noFill/>
          <a:ln/>
        </p:spPr>
        <p:txBody>
          <a:bodyPr wrap="square" lIns="0" tIns="0" rIns="0" bIns="0" rtlCol="0" anchor="ctr"/>
          <a:lstStyle/>
          <a:p>
            <a:pPr indent="0" marL="0">
              <a:buNone/>
            </a:pPr>
            <a:r>
              <a:rPr lang="en-US" sz="3400" b="1" dirty="0">
                <a:solidFill>
                  <a:srgbClr val="3E2C1C"/>
                </a:solidFill>
                <a:latin typeface="Georgia" pitchFamily="34" charset="0"/>
                <a:ea typeface="Georgia" pitchFamily="34" charset="-122"/>
                <a:cs typeface="Georgia" pitchFamily="34" charset="-120"/>
              </a:rPr>
              <a:t>THE PLANT</a:t>
            </a:r>
            <a:endParaRPr lang="en-US" sz="3400" dirty="0"/>
          </a:p>
        </p:txBody>
      </p:sp>
      <p:sp>
        <p:nvSpPr>
          <p:cNvPr id="5" name="Text 3"/>
          <p:cNvSpPr/>
          <p:nvPr/>
        </p:nvSpPr>
        <p:spPr>
          <a:xfrm>
            <a:off x="548640" y="822960"/>
            <a:ext cx="4114800" cy="320040"/>
          </a:xfrm>
          <a:prstGeom prst="rect">
            <a:avLst/>
          </a:prstGeom>
          <a:noFill/>
          <a:ln/>
        </p:spPr>
        <p:txBody>
          <a:bodyPr wrap="square" lIns="0" tIns="0" rIns="0" bIns="0" rtlCol="0" anchor="ctr"/>
          <a:lstStyle/>
          <a:p>
            <a:pPr indent="0" marL="0">
              <a:buNone/>
            </a:pPr>
            <a:r>
              <a:rPr lang="en-US" sz="1300" i="1" dirty="0">
                <a:solidFill>
                  <a:srgbClr val="8B5A2B"/>
                </a:solidFill>
                <a:latin typeface="Calibri" pitchFamily="34" charset="0"/>
                <a:ea typeface="Calibri" pitchFamily="34" charset="-122"/>
                <a:cs typeface="Calibri" pitchFamily="34" charset="-120"/>
              </a:rPr>
              <a:t>50 years of industrial operations</a:t>
            </a:r>
            <a:endParaRPr lang="en-US" sz="1300" dirty="0"/>
          </a:p>
        </p:txBody>
      </p:sp>
      <p:pic>
        <p:nvPicPr>
          <p:cNvPr id="6" name="Image 0" descr="preencoded.png"/>
          <p:cNvPicPr>
            <a:picLocks noChangeAspect="1"/>
          </p:cNvPicPr>
          <p:nvPr/>
        </p:nvPicPr>
        <p:blipFill>
          <a:blip r:embed="rId1"/>
          <a:stretch>
            <a:fillRect/>
          </a:stretch>
        </p:blipFill>
        <p:spPr>
          <a:xfrm>
            <a:off x="640080" y="1463040"/>
            <a:ext cx="292608" cy="292608"/>
          </a:xfrm>
          <a:prstGeom prst="rect">
            <a:avLst/>
          </a:prstGeom>
        </p:spPr>
      </p:pic>
      <p:sp>
        <p:nvSpPr>
          <p:cNvPr id="7" name="Text 4"/>
          <p:cNvSpPr/>
          <p:nvPr/>
        </p:nvSpPr>
        <p:spPr>
          <a:xfrm>
            <a:off x="1097280" y="1417320"/>
            <a:ext cx="3474720" cy="502920"/>
          </a:xfrm>
          <a:prstGeom prst="rect">
            <a:avLst/>
          </a:prstGeom>
          <a:noFill/>
          <a:ln/>
        </p:spPr>
        <p:txBody>
          <a:bodyPr wrap="square" lIns="0" tIns="0" rIns="0" bIns="0" rtlCol="0" anchor="ctr"/>
          <a:lstStyle/>
          <a:p>
            <a:pPr indent="0" marL="0">
              <a:buNone/>
            </a:pPr>
            <a:r>
              <a:rPr lang="en-US" sz="1100" dirty="0">
                <a:solidFill>
                  <a:srgbClr val="5C4033"/>
                </a:solidFill>
                <a:latin typeface="Calibri" pitchFamily="34" charset="0"/>
                <a:ea typeface="Calibri" pitchFamily="34" charset="-122"/>
                <a:cs typeface="Calibri" pitchFamily="34" charset="-120"/>
              </a:rPr>
              <a:t>Zona Industrial I, Barquisimeto, Estado Lara</a:t>
            </a:r>
            <a:endParaRPr lang="en-US" sz="1100" dirty="0"/>
          </a:p>
        </p:txBody>
      </p:sp>
      <p:pic>
        <p:nvPicPr>
          <p:cNvPr id="8" name="Image 1" descr="preencoded.png"/>
          <p:cNvPicPr>
            <a:picLocks noChangeAspect="1"/>
          </p:cNvPicPr>
          <p:nvPr/>
        </p:nvPicPr>
        <p:blipFill>
          <a:blip r:embed="rId2"/>
          <a:stretch>
            <a:fillRect/>
          </a:stretch>
        </p:blipFill>
        <p:spPr>
          <a:xfrm>
            <a:off x="640080" y="2121408"/>
            <a:ext cx="292608" cy="292608"/>
          </a:xfrm>
          <a:prstGeom prst="rect">
            <a:avLst/>
          </a:prstGeom>
        </p:spPr>
      </p:pic>
      <p:sp>
        <p:nvSpPr>
          <p:cNvPr id="9" name="Text 5"/>
          <p:cNvSpPr/>
          <p:nvPr/>
        </p:nvSpPr>
        <p:spPr>
          <a:xfrm>
            <a:off x="1097280" y="2075688"/>
            <a:ext cx="3474720" cy="502920"/>
          </a:xfrm>
          <a:prstGeom prst="rect">
            <a:avLst/>
          </a:prstGeom>
          <a:noFill/>
          <a:ln/>
        </p:spPr>
        <p:txBody>
          <a:bodyPr wrap="square" lIns="0" tIns="0" rIns="0" bIns="0" rtlCol="0" anchor="ctr"/>
          <a:lstStyle/>
          <a:p>
            <a:pPr indent="0" marL="0">
              <a:buNone/>
            </a:pPr>
            <a:r>
              <a:rPr lang="en-US" sz="1100" dirty="0">
                <a:solidFill>
                  <a:srgbClr val="5C4033"/>
                </a:solidFill>
                <a:latin typeface="Calibri" pitchFamily="34" charset="0"/>
                <a:ea typeface="Calibri" pitchFamily="34" charset="-122"/>
                <a:cs typeface="Calibri" pitchFamily="34" charset="-120"/>
              </a:rPr>
              <a:t>3,640 m2 across 2 industrial warehouses</a:t>
            </a:r>
            <a:endParaRPr lang="en-US" sz="1100" dirty="0"/>
          </a:p>
        </p:txBody>
      </p:sp>
      <p:pic>
        <p:nvPicPr>
          <p:cNvPr id="10" name="Image 2" descr="preencoded.png"/>
          <p:cNvPicPr>
            <a:picLocks noChangeAspect="1"/>
          </p:cNvPicPr>
          <p:nvPr/>
        </p:nvPicPr>
        <p:blipFill>
          <a:blip r:embed="rId3"/>
          <a:stretch>
            <a:fillRect/>
          </a:stretch>
        </p:blipFill>
        <p:spPr>
          <a:xfrm>
            <a:off x="640080" y="2779776"/>
            <a:ext cx="292608" cy="292608"/>
          </a:xfrm>
          <a:prstGeom prst="rect">
            <a:avLst/>
          </a:prstGeom>
        </p:spPr>
      </p:pic>
      <p:sp>
        <p:nvSpPr>
          <p:cNvPr id="11" name="Text 6"/>
          <p:cNvSpPr/>
          <p:nvPr/>
        </p:nvSpPr>
        <p:spPr>
          <a:xfrm>
            <a:off x="1097280" y="2734056"/>
            <a:ext cx="3474720" cy="502920"/>
          </a:xfrm>
          <a:prstGeom prst="rect">
            <a:avLst/>
          </a:prstGeom>
          <a:noFill/>
          <a:ln/>
        </p:spPr>
        <p:txBody>
          <a:bodyPr wrap="square" lIns="0" tIns="0" rIns="0" bIns="0" rtlCol="0" anchor="ctr"/>
          <a:lstStyle/>
          <a:p>
            <a:pPr indent="0" marL="0">
              <a:buNone/>
            </a:pPr>
            <a:r>
              <a:rPr lang="en-US" sz="1100" dirty="0">
                <a:solidFill>
                  <a:srgbClr val="5C4033"/>
                </a:solidFill>
                <a:latin typeface="Calibri" pitchFamily="34" charset="0"/>
                <a:ea typeface="Calibri" pitchFamily="34" charset="-122"/>
                <a:cs typeface="Calibri" pitchFamily="34" charset="-120"/>
              </a:rPr>
              <a:t>Property title: clean</a:t>
            </a:r>
            <a:endParaRPr lang="en-US" sz="1100" dirty="0"/>
          </a:p>
        </p:txBody>
      </p:sp>
      <p:pic>
        <p:nvPicPr>
          <p:cNvPr id="12" name="Image 3" descr="preencoded.png"/>
          <p:cNvPicPr>
            <a:picLocks noChangeAspect="1"/>
          </p:cNvPicPr>
          <p:nvPr/>
        </p:nvPicPr>
        <p:blipFill>
          <a:blip r:embed="rId4"/>
          <a:stretch>
            <a:fillRect/>
          </a:stretch>
        </p:blipFill>
        <p:spPr>
          <a:xfrm>
            <a:off x="640080" y="3438144"/>
            <a:ext cx="292608" cy="292608"/>
          </a:xfrm>
          <a:prstGeom prst="rect">
            <a:avLst/>
          </a:prstGeom>
        </p:spPr>
      </p:pic>
      <p:sp>
        <p:nvSpPr>
          <p:cNvPr id="13" name="Text 7"/>
          <p:cNvSpPr/>
          <p:nvPr/>
        </p:nvSpPr>
        <p:spPr>
          <a:xfrm>
            <a:off x="1097280" y="3392424"/>
            <a:ext cx="3474720" cy="502920"/>
          </a:xfrm>
          <a:prstGeom prst="rect">
            <a:avLst/>
          </a:prstGeom>
          <a:noFill/>
          <a:ln/>
        </p:spPr>
        <p:txBody>
          <a:bodyPr wrap="square" lIns="0" tIns="0" rIns="0" bIns="0" rtlCol="0" anchor="ctr"/>
          <a:lstStyle/>
          <a:p>
            <a:pPr indent="0" marL="0">
              <a:buNone/>
            </a:pPr>
            <a:r>
              <a:rPr lang="en-US" sz="1100" dirty="0">
                <a:solidFill>
                  <a:srgbClr val="5C4033"/>
                </a:solidFill>
                <a:latin typeface="Calibri" pitchFamily="34" charset="0"/>
                <a:ea typeface="Calibri" pitchFamily="34" charset="-122"/>
                <a:cs typeface="Calibri" pitchFamily="34" charset="-120"/>
              </a:rPr>
              <a:t>PDVSA gas (active contract), 66 kVA, industrial water</a:t>
            </a:r>
            <a:endParaRPr lang="en-US" sz="1100" dirty="0"/>
          </a:p>
        </p:txBody>
      </p:sp>
      <p:pic>
        <p:nvPicPr>
          <p:cNvPr id="14" name="Image 4" descr="preencoded.png"/>
          <p:cNvPicPr>
            <a:picLocks noChangeAspect="1"/>
          </p:cNvPicPr>
          <p:nvPr/>
        </p:nvPicPr>
        <p:blipFill>
          <a:blip r:embed="rId5"/>
          <a:stretch>
            <a:fillRect/>
          </a:stretch>
        </p:blipFill>
        <p:spPr>
          <a:xfrm>
            <a:off x="640080" y="4096512"/>
            <a:ext cx="292608" cy="292608"/>
          </a:xfrm>
          <a:prstGeom prst="rect">
            <a:avLst/>
          </a:prstGeom>
        </p:spPr>
      </p:pic>
      <p:sp>
        <p:nvSpPr>
          <p:cNvPr id="15" name="Text 8"/>
          <p:cNvSpPr/>
          <p:nvPr/>
        </p:nvSpPr>
        <p:spPr>
          <a:xfrm>
            <a:off x="1097280" y="4050792"/>
            <a:ext cx="3474720" cy="502920"/>
          </a:xfrm>
          <a:prstGeom prst="rect">
            <a:avLst/>
          </a:prstGeom>
          <a:noFill/>
          <a:ln/>
        </p:spPr>
        <p:txBody>
          <a:bodyPr wrap="square" lIns="0" tIns="0" rIns="0" bIns="0" rtlCol="0" anchor="ctr"/>
          <a:lstStyle/>
          <a:p>
            <a:pPr indent="0" marL="0">
              <a:buNone/>
            </a:pPr>
            <a:r>
              <a:rPr lang="en-US" sz="1100" dirty="0">
                <a:solidFill>
                  <a:srgbClr val="5C4033"/>
                </a:solidFill>
                <a:latin typeface="Calibri" pitchFamily="34" charset="0"/>
                <a:ea typeface="Calibri" pitchFamily="34" charset="-122"/>
                <a:cs typeface="Calibri" pitchFamily="34" charset="-120"/>
              </a:rPr>
              <a:t>RIF: J-07014488-0 | Active municipal license</a:t>
            </a:r>
            <a:endParaRPr lang="en-US" sz="1100" dirty="0"/>
          </a:p>
        </p:txBody>
      </p:sp>
      <p:pic>
        <p:nvPicPr>
          <p:cNvPr id="16" name="Image 5" descr="/sessions/sweet-gallant-wright/pyglara-deck/images/exterior.jpg"/>
          <p:cNvPicPr>
            <a:picLocks noChangeAspect="1"/>
          </p:cNvPicPr>
          <p:nvPr/>
        </p:nvPicPr>
        <p:blipFill>
          <a:blip r:embed="rId6"/>
          <a:srcRect l="0" r="0" t="0" b="0"/>
          <a:stretch/>
        </p:blipFill>
        <p:spPr>
          <a:xfrm>
            <a:off x="5029200" y="548640"/>
            <a:ext cx="3657600" cy="4023360"/>
          </a:xfrm>
          <a:prstGeom prst="rect">
            <a:avLst/>
          </a:prstGeom>
        </p:spPr>
      </p:pic>
      <p:sp>
        <p:nvSpPr>
          <p:cNvPr id="17" name="Shape 9"/>
          <p:cNvSpPr/>
          <p:nvPr/>
        </p:nvSpPr>
        <p:spPr>
          <a:xfrm>
            <a:off x="5029200" y="548640"/>
            <a:ext cx="3657600" cy="4023360"/>
          </a:xfrm>
          <a:prstGeom prst="rect">
            <a:avLst/>
          </a:prstGeom>
          <a:ln w="19050">
            <a:solidFill>
              <a:srgbClr val="B87333"/>
            </a:solidFill>
            <a:prstDash val="solid"/>
          </a:ln>
        </p:spPr>
        <p:txBody>
          <a:body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9 / 30</a:t>
            </a:r>
            <a:endParaRPr lang="en-US" sz="800" dirty="0"/>
          </a:p>
        </p:txBody>
      </p:sp>
      <p:sp>
        <p:nvSpPr>
          <p:cNvPr id="4" name="Text 2"/>
          <p:cNvSpPr/>
          <p:nvPr/>
        </p:nvSpPr>
        <p:spPr>
          <a:xfrm>
            <a:off x="548640" y="137160"/>
            <a:ext cx="8046720" cy="45720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STRATEGIC LOCATION</a:t>
            </a:r>
            <a:endParaRPr lang="en-US" sz="2800" dirty="0"/>
          </a:p>
        </p:txBody>
      </p:sp>
      <p:sp>
        <p:nvSpPr>
          <p:cNvPr id="5" name="Text 3"/>
          <p:cNvSpPr/>
          <p:nvPr/>
        </p:nvSpPr>
        <p:spPr>
          <a:xfrm>
            <a:off x="548640" y="594360"/>
            <a:ext cx="8046720" cy="228600"/>
          </a:xfrm>
          <a:prstGeom prst="rect">
            <a:avLst/>
          </a:prstGeom>
          <a:noFill/>
          <a:ln/>
        </p:spPr>
        <p:txBody>
          <a:bodyPr wrap="square" lIns="0" tIns="0" rIns="0" bIns="0" rtlCol="0" anchor="ctr"/>
          <a:lstStyle/>
          <a:p>
            <a:pPr indent="0" marL="0">
              <a:buNone/>
            </a:pPr>
            <a:r>
              <a:rPr lang="en-US" sz="1100" i="1" dirty="0">
                <a:solidFill>
                  <a:srgbClr val="8B5A2B"/>
                </a:solidFill>
                <a:latin typeface="Calibri" pitchFamily="34" charset="0"/>
                <a:ea typeface="Calibri" pitchFamily="34" charset="-122"/>
                <a:cs typeface="Calibri" pitchFamily="34" charset="-120"/>
              </a:rPr>
              <a:t>Barquisimeto: logistics hub of central-western Venezuela</a:t>
            </a:r>
            <a:endParaRPr lang="en-US" sz="1100" dirty="0"/>
          </a:p>
        </p:txBody>
      </p:sp>
      <p:pic>
        <p:nvPicPr>
          <p:cNvPr id="6" name="Image 0" descr="/sessions/sweet-gallant-wright/pyglara-deck/images/map_venezuela_real.png"/>
          <p:cNvPicPr>
            <a:picLocks noChangeAspect="1"/>
          </p:cNvPicPr>
          <p:nvPr/>
        </p:nvPicPr>
        <p:blipFill>
          <a:blip r:embed="rId1"/>
          <a:srcRect l="0" r="0" t="0" b="0"/>
          <a:stretch/>
        </p:blipFill>
        <p:spPr>
          <a:xfrm>
            <a:off x="274320" y="868680"/>
            <a:ext cx="8595360" cy="42062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10 / 30</a:t>
            </a:r>
            <a:endParaRPr lang="en-US" sz="800" dirty="0"/>
          </a:p>
        </p:txBody>
      </p:sp>
      <p:sp>
        <p:nvSpPr>
          <p:cNvPr id="4" name="Text 2"/>
          <p:cNvSpPr/>
          <p:nvPr/>
        </p:nvSpPr>
        <p:spPr>
          <a:xfrm>
            <a:off x="548640" y="137160"/>
            <a:ext cx="8046720" cy="45720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GEOGRAPHIC ADVANTAGES</a:t>
            </a:r>
            <a:endParaRPr lang="en-US" sz="2800" dirty="0"/>
          </a:p>
        </p:txBody>
      </p:sp>
      <p:sp>
        <p:nvSpPr>
          <p:cNvPr id="5" name="Text 3"/>
          <p:cNvSpPr/>
          <p:nvPr/>
        </p:nvSpPr>
        <p:spPr>
          <a:xfrm>
            <a:off x="548640" y="594360"/>
            <a:ext cx="8046720" cy="228600"/>
          </a:xfrm>
          <a:prstGeom prst="rect">
            <a:avLst/>
          </a:prstGeom>
          <a:noFill/>
          <a:ln/>
        </p:spPr>
        <p:txBody>
          <a:bodyPr wrap="square" lIns="0" tIns="0" rIns="0" bIns="0" rtlCol="0" anchor="ctr"/>
          <a:lstStyle/>
          <a:p>
            <a:pPr indent="0" marL="0">
              <a:buNone/>
            </a:pPr>
            <a:r>
              <a:rPr lang="en-US" sz="1100" i="1" dirty="0">
                <a:solidFill>
                  <a:srgbClr val="8B5A2B"/>
                </a:solidFill>
                <a:latin typeface="Calibri" pitchFamily="34" charset="0"/>
                <a:ea typeface="Calibri" pitchFamily="34" charset="-122"/>
                <a:cs typeface="Calibri" pitchFamily="34" charset="-120"/>
              </a:rPr>
              <a:t>What our location means for the plant</a:t>
            </a:r>
            <a:endParaRPr lang="en-US" sz="1100" dirty="0"/>
          </a:p>
        </p:txBody>
      </p:sp>
      <p:sp>
        <p:nvSpPr>
          <p:cNvPr id="6" name="Shape 4"/>
          <p:cNvSpPr/>
          <p:nvPr/>
        </p:nvSpPr>
        <p:spPr>
          <a:xfrm>
            <a:off x="548640" y="1005840"/>
            <a:ext cx="393192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7" name="Shape 5"/>
          <p:cNvSpPr/>
          <p:nvPr/>
        </p:nvSpPr>
        <p:spPr>
          <a:xfrm>
            <a:off x="548640" y="1005840"/>
            <a:ext cx="54864" cy="1097280"/>
          </a:xfrm>
          <a:prstGeom prst="rect">
            <a:avLst/>
          </a:prstGeom>
          <a:solidFill>
            <a:srgbClr val="B87333"/>
          </a:solidFill>
          <a:ln/>
        </p:spPr>
        <p:txBody>
          <a:bodyPr/>
          <a:p/>
        </p:txBody>
      </p:sp>
      <p:pic>
        <p:nvPicPr>
          <p:cNvPr id="8" name="Image 0" descr="preencoded.png"/>
          <p:cNvPicPr>
            <a:picLocks noChangeAspect="1"/>
          </p:cNvPicPr>
          <p:nvPr/>
        </p:nvPicPr>
        <p:blipFill>
          <a:blip r:embed="rId1"/>
          <a:stretch>
            <a:fillRect/>
          </a:stretch>
        </p:blipFill>
        <p:spPr>
          <a:xfrm>
            <a:off x="731520" y="1143000"/>
            <a:ext cx="365760" cy="365760"/>
          </a:xfrm>
          <a:prstGeom prst="rect">
            <a:avLst/>
          </a:prstGeom>
        </p:spPr>
      </p:pic>
      <p:sp>
        <p:nvSpPr>
          <p:cNvPr id="9" name="Text 6"/>
          <p:cNvSpPr/>
          <p:nvPr/>
        </p:nvSpPr>
        <p:spPr>
          <a:xfrm>
            <a:off x="1234440" y="1078992"/>
            <a:ext cx="3017520" cy="320040"/>
          </a:xfrm>
          <a:prstGeom prst="rect">
            <a:avLst/>
          </a:prstGeom>
          <a:noFill/>
          <a:ln/>
        </p:spPr>
        <p:txBody>
          <a:bodyPr wrap="square" lIns="0" tIns="0" rIns="0" bIns="0" rtlCol="0" anchor="ctr"/>
          <a:lstStyle/>
          <a:p>
            <a:pPr indent="0" marL="0">
              <a:buNone/>
            </a:pPr>
            <a:r>
              <a:rPr lang="en-US" sz="1100" b="1" dirty="0">
                <a:solidFill>
                  <a:srgbClr val="8B5A2B"/>
                </a:solidFill>
                <a:latin typeface="Calibri" pitchFamily="34" charset="0"/>
                <a:ea typeface="Calibri" pitchFamily="34" charset="-122"/>
                <a:cs typeface="Calibri" pitchFamily="34" charset="-120"/>
              </a:rPr>
              <a:t>Puerto Cabello — 2.5 hours</a:t>
            </a:r>
            <a:endParaRPr lang="en-US" sz="1100" dirty="0"/>
          </a:p>
        </p:txBody>
      </p:sp>
      <p:sp>
        <p:nvSpPr>
          <p:cNvPr id="10" name="Text 7"/>
          <p:cNvSpPr/>
          <p:nvPr/>
        </p:nvSpPr>
        <p:spPr>
          <a:xfrm>
            <a:off x="1234440" y="1417320"/>
            <a:ext cx="3017520" cy="59436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Main zinc import port in the country. Reduces raw material delivery costs and lead times.</a:t>
            </a:r>
            <a:endParaRPr lang="en-US" sz="900" dirty="0"/>
          </a:p>
        </p:txBody>
      </p:sp>
      <p:sp>
        <p:nvSpPr>
          <p:cNvPr id="11" name="Shape 8"/>
          <p:cNvSpPr/>
          <p:nvPr/>
        </p:nvSpPr>
        <p:spPr>
          <a:xfrm>
            <a:off x="4754880" y="1005840"/>
            <a:ext cx="393192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2" name="Shape 9"/>
          <p:cNvSpPr/>
          <p:nvPr/>
        </p:nvSpPr>
        <p:spPr>
          <a:xfrm>
            <a:off x="4754880" y="1005840"/>
            <a:ext cx="54864" cy="1097280"/>
          </a:xfrm>
          <a:prstGeom prst="rect">
            <a:avLst/>
          </a:prstGeom>
          <a:solidFill>
            <a:srgbClr val="B87333"/>
          </a:solidFill>
          <a:ln/>
        </p:spPr>
        <p:txBody>
          <a:bodyPr/>
          <a:p/>
        </p:txBody>
      </p:sp>
      <p:pic>
        <p:nvPicPr>
          <p:cNvPr id="13" name="Image 1" descr="preencoded.png"/>
          <p:cNvPicPr>
            <a:picLocks noChangeAspect="1"/>
          </p:cNvPicPr>
          <p:nvPr/>
        </p:nvPicPr>
        <p:blipFill>
          <a:blip r:embed="rId2"/>
          <a:stretch>
            <a:fillRect/>
          </a:stretch>
        </p:blipFill>
        <p:spPr>
          <a:xfrm>
            <a:off x="4937760" y="1143000"/>
            <a:ext cx="365760" cy="365760"/>
          </a:xfrm>
          <a:prstGeom prst="rect">
            <a:avLst/>
          </a:prstGeom>
        </p:spPr>
      </p:pic>
      <p:sp>
        <p:nvSpPr>
          <p:cNvPr id="14" name="Text 10"/>
          <p:cNvSpPr/>
          <p:nvPr/>
        </p:nvSpPr>
        <p:spPr>
          <a:xfrm>
            <a:off x="5440680" y="1078992"/>
            <a:ext cx="3017520" cy="320040"/>
          </a:xfrm>
          <a:prstGeom prst="rect">
            <a:avLst/>
          </a:prstGeom>
          <a:noFill/>
          <a:ln/>
        </p:spPr>
        <p:txBody>
          <a:bodyPr wrap="square" lIns="0" tIns="0" rIns="0" bIns="0" rtlCol="0" anchor="ctr"/>
          <a:lstStyle/>
          <a:p>
            <a:pPr indent="0" marL="0">
              <a:buNone/>
            </a:pPr>
            <a:r>
              <a:rPr lang="en-US" sz="1100" b="1" dirty="0">
                <a:solidFill>
                  <a:srgbClr val="8B5A2B"/>
                </a:solidFill>
                <a:latin typeface="Calibri" pitchFamily="34" charset="0"/>
                <a:ea typeface="Calibri" pitchFamily="34" charset="-122"/>
                <a:cs typeface="Calibri" pitchFamily="34" charset="-120"/>
              </a:rPr>
              <a:t>Caracas — 3 hours</a:t>
            </a:r>
            <a:endParaRPr lang="en-US" sz="1100" dirty="0"/>
          </a:p>
        </p:txBody>
      </p:sp>
      <p:sp>
        <p:nvSpPr>
          <p:cNvPr id="15" name="Text 11"/>
          <p:cNvSpPr/>
          <p:nvPr/>
        </p:nvSpPr>
        <p:spPr>
          <a:xfrm>
            <a:off x="5440680" y="1417320"/>
            <a:ext cx="3017520" cy="59436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Direct highway connection to the capital. Access to construction and infrastructure clients.</a:t>
            </a:r>
            <a:endParaRPr lang="en-US" sz="900" dirty="0"/>
          </a:p>
        </p:txBody>
      </p:sp>
      <p:sp>
        <p:nvSpPr>
          <p:cNvPr id="16" name="Shape 12"/>
          <p:cNvSpPr/>
          <p:nvPr/>
        </p:nvSpPr>
        <p:spPr>
          <a:xfrm>
            <a:off x="548640" y="2286000"/>
            <a:ext cx="393192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7" name="Shape 13"/>
          <p:cNvSpPr/>
          <p:nvPr/>
        </p:nvSpPr>
        <p:spPr>
          <a:xfrm>
            <a:off x="548640" y="2286000"/>
            <a:ext cx="54864" cy="1097280"/>
          </a:xfrm>
          <a:prstGeom prst="rect">
            <a:avLst/>
          </a:prstGeom>
          <a:solidFill>
            <a:srgbClr val="B87333"/>
          </a:solidFill>
          <a:ln/>
        </p:spPr>
        <p:txBody>
          <a:bodyPr/>
          <a:p/>
        </p:txBody>
      </p:sp>
      <p:pic>
        <p:nvPicPr>
          <p:cNvPr id="18" name="Image 2" descr="preencoded.png"/>
          <p:cNvPicPr>
            <a:picLocks noChangeAspect="1"/>
          </p:cNvPicPr>
          <p:nvPr/>
        </p:nvPicPr>
        <p:blipFill>
          <a:blip r:embed="rId3"/>
          <a:stretch>
            <a:fillRect/>
          </a:stretch>
        </p:blipFill>
        <p:spPr>
          <a:xfrm>
            <a:off x="731520" y="2423160"/>
            <a:ext cx="365760" cy="365760"/>
          </a:xfrm>
          <a:prstGeom prst="rect">
            <a:avLst/>
          </a:prstGeom>
        </p:spPr>
      </p:pic>
      <p:sp>
        <p:nvSpPr>
          <p:cNvPr id="19" name="Text 14"/>
          <p:cNvSpPr/>
          <p:nvPr/>
        </p:nvSpPr>
        <p:spPr>
          <a:xfrm>
            <a:off x="1234440" y="2359152"/>
            <a:ext cx="3017520" cy="320040"/>
          </a:xfrm>
          <a:prstGeom prst="rect">
            <a:avLst/>
          </a:prstGeom>
          <a:noFill/>
          <a:ln/>
        </p:spPr>
        <p:txBody>
          <a:bodyPr wrap="square" lIns="0" tIns="0" rIns="0" bIns="0" rtlCol="0" anchor="ctr"/>
          <a:lstStyle/>
          <a:p>
            <a:pPr indent="0" marL="0">
              <a:buNone/>
            </a:pPr>
            <a:r>
              <a:rPr lang="en-US" sz="1100" b="1" dirty="0">
                <a:solidFill>
                  <a:srgbClr val="8B5A2B"/>
                </a:solidFill>
                <a:latin typeface="Calibri" pitchFamily="34" charset="0"/>
                <a:ea typeface="Calibri" pitchFamily="34" charset="-122"/>
                <a:cs typeface="Calibri" pitchFamily="34" charset="-120"/>
              </a:rPr>
              <a:t>Oil sector — Zulia 4 hours</a:t>
            </a:r>
            <a:endParaRPr lang="en-US" sz="1100" dirty="0"/>
          </a:p>
        </p:txBody>
      </p:sp>
      <p:sp>
        <p:nvSpPr>
          <p:cNvPr id="20" name="Text 15"/>
          <p:cNvSpPr/>
          <p:nvPr/>
        </p:nvSpPr>
        <p:spPr>
          <a:xfrm>
            <a:off x="1234440" y="2697480"/>
            <a:ext cx="3017520" cy="59436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Direct access to Lake Maracaibo oil region. PDVSA and contractors need galvanized steel.</a:t>
            </a:r>
            <a:endParaRPr lang="en-US" sz="900" dirty="0"/>
          </a:p>
        </p:txBody>
      </p:sp>
      <p:sp>
        <p:nvSpPr>
          <p:cNvPr id="21" name="Shape 16"/>
          <p:cNvSpPr/>
          <p:nvPr/>
        </p:nvSpPr>
        <p:spPr>
          <a:xfrm>
            <a:off x="4754880" y="2286000"/>
            <a:ext cx="393192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22" name="Shape 17"/>
          <p:cNvSpPr/>
          <p:nvPr/>
        </p:nvSpPr>
        <p:spPr>
          <a:xfrm>
            <a:off x="4754880" y="2286000"/>
            <a:ext cx="54864" cy="1097280"/>
          </a:xfrm>
          <a:prstGeom prst="rect">
            <a:avLst/>
          </a:prstGeom>
          <a:solidFill>
            <a:srgbClr val="B87333"/>
          </a:solidFill>
          <a:ln/>
        </p:spPr>
        <p:txBody>
          <a:bodyPr/>
          <a:p/>
        </p:txBody>
      </p:sp>
      <p:pic>
        <p:nvPicPr>
          <p:cNvPr id="23" name="Image 3" descr="preencoded.png"/>
          <p:cNvPicPr>
            <a:picLocks noChangeAspect="1"/>
          </p:cNvPicPr>
          <p:nvPr/>
        </p:nvPicPr>
        <p:blipFill>
          <a:blip r:embed="rId4"/>
          <a:stretch>
            <a:fillRect/>
          </a:stretch>
        </p:blipFill>
        <p:spPr>
          <a:xfrm>
            <a:off x="4937760" y="2423160"/>
            <a:ext cx="365760" cy="365760"/>
          </a:xfrm>
          <a:prstGeom prst="rect">
            <a:avLst/>
          </a:prstGeom>
        </p:spPr>
      </p:pic>
      <p:sp>
        <p:nvSpPr>
          <p:cNvPr id="24" name="Text 18"/>
          <p:cNvSpPr/>
          <p:nvPr/>
        </p:nvSpPr>
        <p:spPr>
          <a:xfrm>
            <a:off x="5440680" y="2359152"/>
            <a:ext cx="3017520" cy="320040"/>
          </a:xfrm>
          <a:prstGeom prst="rect">
            <a:avLst/>
          </a:prstGeom>
          <a:noFill/>
          <a:ln/>
        </p:spPr>
        <p:txBody>
          <a:bodyPr wrap="square" lIns="0" tIns="0" rIns="0" bIns="0" rtlCol="0" anchor="ctr"/>
          <a:lstStyle/>
          <a:p>
            <a:pPr indent="0" marL="0">
              <a:buNone/>
            </a:pPr>
            <a:r>
              <a:rPr lang="en-US" sz="1100" b="1" dirty="0">
                <a:solidFill>
                  <a:srgbClr val="8B5A2B"/>
                </a:solidFill>
                <a:latin typeface="Calibri" pitchFamily="34" charset="0"/>
                <a:ea typeface="Calibri" pitchFamily="34" charset="-122"/>
                <a:cs typeface="Calibri" pitchFamily="34" charset="-120"/>
              </a:rPr>
              <a:t>Coverage of 8 states</a:t>
            </a:r>
            <a:endParaRPr lang="en-US" sz="1100" dirty="0"/>
          </a:p>
        </p:txBody>
      </p:sp>
      <p:sp>
        <p:nvSpPr>
          <p:cNvPr id="25" name="Text 19"/>
          <p:cNvSpPr/>
          <p:nvPr/>
        </p:nvSpPr>
        <p:spPr>
          <a:xfrm>
            <a:off x="5440680" y="2697480"/>
            <a:ext cx="3017520" cy="59436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Lara, Yaracuy, Portuguesa, Falcon, Trujillo, Barinas, Merida, and Zulia. No nearby competitor in the entire region.</a:t>
            </a:r>
            <a:endParaRPr lang="en-US" sz="900" dirty="0"/>
          </a:p>
        </p:txBody>
      </p:sp>
      <p:sp>
        <p:nvSpPr>
          <p:cNvPr id="26" name="Shape 20"/>
          <p:cNvSpPr/>
          <p:nvPr/>
        </p:nvSpPr>
        <p:spPr>
          <a:xfrm>
            <a:off x="548640" y="3566160"/>
            <a:ext cx="393192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27" name="Shape 21"/>
          <p:cNvSpPr/>
          <p:nvPr/>
        </p:nvSpPr>
        <p:spPr>
          <a:xfrm>
            <a:off x="548640" y="3566160"/>
            <a:ext cx="54864" cy="1097280"/>
          </a:xfrm>
          <a:prstGeom prst="rect">
            <a:avLst/>
          </a:prstGeom>
          <a:solidFill>
            <a:srgbClr val="B87333"/>
          </a:solidFill>
          <a:ln/>
        </p:spPr>
        <p:txBody>
          <a:bodyPr/>
          <a:p/>
        </p:txBody>
      </p:sp>
      <p:pic>
        <p:nvPicPr>
          <p:cNvPr id="28" name="Image 4" descr="preencoded.png"/>
          <p:cNvPicPr>
            <a:picLocks noChangeAspect="1"/>
          </p:cNvPicPr>
          <p:nvPr/>
        </p:nvPicPr>
        <p:blipFill>
          <a:blip r:embed="rId5"/>
          <a:stretch>
            <a:fillRect/>
          </a:stretch>
        </p:blipFill>
        <p:spPr>
          <a:xfrm>
            <a:off x="731520" y="3703320"/>
            <a:ext cx="365760" cy="365760"/>
          </a:xfrm>
          <a:prstGeom prst="rect">
            <a:avLst/>
          </a:prstGeom>
        </p:spPr>
      </p:pic>
      <p:sp>
        <p:nvSpPr>
          <p:cNvPr id="29" name="Text 22"/>
          <p:cNvSpPr/>
          <p:nvPr/>
        </p:nvSpPr>
        <p:spPr>
          <a:xfrm>
            <a:off x="1234440" y="3639312"/>
            <a:ext cx="3017520" cy="320040"/>
          </a:xfrm>
          <a:prstGeom prst="rect">
            <a:avLst/>
          </a:prstGeom>
          <a:noFill/>
          <a:ln/>
        </p:spPr>
        <p:txBody>
          <a:bodyPr wrap="square" lIns="0" tIns="0" rIns="0" bIns="0" rtlCol="0" anchor="ctr"/>
          <a:lstStyle/>
          <a:p>
            <a:pPr indent="0" marL="0">
              <a:buNone/>
            </a:pPr>
            <a:r>
              <a:rPr lang="en-US" sz="1100" b="1" dirty="0">
                <a:solidFill>
                  <a:srgbClr val="8B5A2B"/>
                </a:solidFill>
                <a:latin typeface="Calibri" pitchFamily="34" charset="0"/>
                <a:ea typeface="Calibri" pitchFamily="34" charset="-122"/>
                <a:cs typeface="Calibri" pitchFamily="34" charset="-120"/>
              </a:rPr>
              <a:t>Industrial Zone I — clients meters away</a:t>
            </a:r>
            <a:endParaRPr lang="en-US" sz="1100" dirty="0"/>
          </a:p>
        </p:txBody>
      </p:sp>
      <p:sp>
        <p:nvSpPr>
          <p:cNvPr id="30" name="Text 23"/>
          <p:cNvSpPr/>
          <p:nvPr/>
        </p:nvSpPr>
        <p:spPr>
          <a:xfrm>
            <a:off x="1234440" y="3977640"/>
            <a:ext cx="3017520" cy="59436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CORPOELEC, SASGO, Marullo and INDUESCA are in the SAME industrial complex. Zero transport costs.</a:t>
            </a:r>
            <a:endParaRPr lang="en-US" sz="900" dirty="0"/>
          </a:p>
        </p:txBody>
      </p:sp>
      <p:sp>
        <p:nvSpPr>
          <p:cNvPr id="31" name="Shape 24"/>
          <p:cNvSpPr/>
          <p:nvPr/>
        </p:nvSpPr>
        <p:spPr>
          <a:xfrm>
            <a:off x="4754880" y="3566160"/>
            <a:ext cx="393192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32" name="Shape 25"/>
          <p:cNvSpPr/>
          <p:nvPr/>
        </p:nvSpPr>
        <p:spPr>
          <a:xfrm>
            <a:off x="4754880" y="3566160"/>
            <a:ext cx="54864" cy="1097280"/>
          </a:xfrm>
          <a:prstGeom prst="rect">
            <a:avLst/>
          </a:prstGeom>
          <a:solidFill>
            <a:srgbClr val="B87333"/>
          </a:solidFill>
          <a:ln/>
        </p:spPr>
        <p:txBody>
          <a:bodyPr/>
          <a:p/>
        </p:txBody>
      </p:sp>
      <p:pic>
        <p:nvPicPr>
          <p:cNvPr id="33" name="Image 5" descr="preencoded.png"/>
          <p:cNvPicPr>
            <a:picLocks noChangeAspect="1"/>
          </p:cNvPicPr>
          <p:nvPr/>
        </p:nvPicPr>
        <p:blipFill>
          <a:blip r:embed="rId6"/>
          <a:stretch>
            <a:fillRect/>
          </a:stretch>
        </p:blipFill>
        <p:spPr>
          <a:xfrm>
            <a:off x="4937760" y="3703320"/>
            <a:ext cx="365760" cy="365760"/>
          </a:xfrm>
          <a:prstGeom prst="rect">
            <a:avLst/>
          </a:prstGeom>
        </p:spPr>
      </p:pic>
      <p:sp>
        <p:nvSpPr>
          <p:cNvPr id="34" name="Text 26"/>
          <p:cNvSpPr/>
          <p:nvPr/>
        </p:nvSpPr>
        <p:spPr>
          <a:xfrm>
            <a:off x="5440680" y="3639312"/>
            <a:ext cx="3017520" cy="320040"/>
          </a:xfrm>
          <a:prstGeom prst="rect">
            <a:avLst/>
          </a:prstGeom>
          <a:noFill/>
          <a:ln/>
        </p:spPr>
        <p:txBody>
          <a:bodyPr wrap="square" lIns="0" tIns="0" rIns="0" bIns="0" rtlCol="0" anchor="ctr"/>
          <a:lstStyle/>
          <a:p>
            <a:pPr indent="0" marL="0">
              <a:buNone/>
            </a:pPr>
            <a:r>
              <a:rPr lang="en-US" sz="1100" b="1" dirty="0">
                <a:solidFill>
                  <a:srgbClr val="8B5A2B"/>
                </a:solidFill>
                <a:latin typeface="Calibri" pitchFamily="34" charset="0"/>
                <a:ea typeface="Calibri" pitchFamily="34" charset="-122"/>
                <a:cs typeface="Calibri" pitchFamily="34" charset="-120"/>
              </a:rPr>
              <a:t>Industrial gas and energy pricing</a:t>
            </a:r>
            <a:endParaRPr lang="en-US" sz="1100" dirty="0"/>
          </a:p>
        </p:txBody>
      </p:sp>
      <p:sp>
        <p:nvSpPr>
          <p:cNvPr id="35" name="Text 27"/>
          <p:cNvSpPr/>
          <p:nvPr/>
        </p:nvSpPr>
        <p:spPr>
          <a:xfrm>
            <a:off x="5440680" y="3977640"/>
            <a:ext cx="3017520" cy="59436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PDVSA Gas rate for industrial zone. Regulated electricity pricing — very competitive fixed costs.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11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WORLD-CLASS EQUIPMENT</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100" i="1" dirty="0">
                <a:solidFill>
                  <a:srgbClr val="8B5A2B"/>
                </a:solidFill>
                <a:latin typeface="Calibri" pitchFamily="34" charset="0"/>
                <a:ea typeface="Calibri" pitchFamily="34" charset="-122"/>
                <a:cs typeface="Calibri" pitchFamily="34" charset="-120"/>
              </a:rPr>
              <a:t>Pilling Kettles — W. Pilling Riepe GmbH &amp; Co. KG, Germany (since 1873)</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914400"/>
        </p:xfrm>
        <a:graphic>
          <a:graphicData uri="http://schemas.openxmlformats.org/drawingml/2006/table">
            <a:tbl>
              <a:tblPr/>
              <a:tblGrid>
                <a:gridCol w="1828800"/>
                <a:gridCol w="3474720"/>
                <a:gridCol w="2743200"/>
              </a:tblGrid>
              <a:tr h="347472">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KETTLE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STATUS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APPLICATION</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r h="384048">
                <a:tc>
                  <a:txBody>
                    <a:bodyPr/>
                    <a:lstStyle/>
                    <a:p>
                      <a:pPr algn="l" indent="0" marL="0">
                        <a:buNone/>
                      </a:pPr>
                      <a:r>
                        <a:rPr lang="en-US" sz="1000" b="1" dirty="0">
                          <a:solidFill>
                            <a:srgbClr val="8B5A2B"/>
                          </a:solidFill>
                          <a:latin typeface="Calibri" pitchFamily="34" charset="0"/>
                          <a:ea typeface="Calibri" pitchFamily="34" charset="-122"/>
                          <a:cs typeface="Calibri" pitchFamily="34" charset="-120"/>
                        </a:rPr>
                        <a:t>7 meters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Installed, burners OK, awaiting zinc</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Towers, poles, structures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8B5A2B"/>
                          </a:solidFill>
                          <a:latin typeface="Calibri" pitchFamily="34" charset="0"/>
                          <a:ea typeface="Calibri" pitchFamily="34" charset="-122"/>
                          <a:cs typeface="Calibri" pitchFamily="34" charset="-120"/>
                        </a:rPr>
                        <a:t>9 meters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Pending installation (valued $570K)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Oversized work pieces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84048">
                <a:tc>
                  <a:txBody>
                    <a:bodyPr/>
                    <a:lstStyle/>
                    <a:p>
                      <a:pPr algn="l" indent="0" marL="0">
                        <a:buNone/>
                      </a:pPr>
                      <a:r>
                        <a:rPr lang="en-US" sz="1000" b="1" dirty="0">
                          <a:solidFill>
                            <a:srgbClr val="8B5A2B"/>
                          </a:solidFill>
                          <a:latin typeface="Calibri" pitchFamily="34" charset="0"/>
                          <a:ea typeface="Calibri" pitchFamily="34" charset="-122"/>
                          <a:cs typeface="Calibri" pitchFamily="34" charset="-120"/>
                        </a:rPr>
                        <a:t>3.5 meters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Inactive — needs repair</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Cable trays, supports, barriers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8B5A2B"/>
                          </a:solidFill>
                          <a:latin typeface="Calibri" pitchFamily="34" charset="0"/>
                          <a:ea typeface="Calibri" pitchFamily="34" charset="-122"/>
                          <a:cs typeface="Calibri" pitchFamily="34" charset="-120"/>
                        </a:rPr>
                        <a:t>Centrifuga 65cm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l" indent="0" marL="0">
                        <a:buNone/>
                      </a:pPr>
                      <a:r>
                        <a:rPr lang="en-US" sz="1000" b="1" dirty="0">
                          <a:solidFill>
                            <a:srgbClr val="2D7D46"/>
                          </a:solidFill>
                          <a:latin typeface="Calibri" pitchFamily="34" charset="0"/>
                          <a:ea typeface="Calibri" pitchFamily="34" charset="-122"/>
                          <a:cs typeface="Calibri" pitchFamily="34" charset="-120"/>
                        </a:rPr>
                        <a:t>ACTIVE, good condition</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Nails, hardware, bolts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bl>
          </a:graphicData>
        </a:graphic>
      </p:graphicFrame>
      <p:sp>
        <p:nvSpPr>
          <p:cNvPr id="7" name="Shape 4"/>
          <p:cNvSpPr/>
          <p:nvPr/>
        </p:nvSpPr>
        <p:spPr>
          <a:xfrm>
            <a:off x="548640" y="3383280"/>
            <a:ext cx="8046720" cy="100584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8" name="Text 5"/>
          <p:cNvSpPr/>
          <p:nvPr/>
        </p:nvSpPr>
        <p:spPr>
          <a:xfrm>
            <a:off x="731520" y="3429000"/>
            <a:ext cx="7680960" cy="457200"/>
          </a:xfrm>
          <a:prstGeom prst="rect">
            <a:avLst/>
          </a:prstGeom>
          <a:noFill/>
          <a:ln/>
        </p:spPr>
        <p:txBody>
          <a:bodyPr wrap="square" rtlCol="0" anchor="ctr"/>
          <a:lstStyle/>
          <a:p>
            <a:pPr indent="0" marL="0">
              <a:buNone/>
            </a:pPr>
            <a:r>
              <a:rPr lang="en-US" sz="1200" dirty="0">
                <a:solidFill>
                  <a:srgbClr val="5C4033"/>
                </a:solidFill>
                <a:latin typeface="Calibri" pitchFamily="34" charset="0"/>
                <a:ea typeface="Calibri" pitchFamily="34" charset="-122"/>
                <a:cs typeface="Calibri" pitchFamily="34" charset="-120"/>
              </a:rPr>
              <a:t xml:space="preserve">Proven production (7m): </a:t>
            </a:r>
            <a:pPr indent="0" marL="0">
              <a:buNone/>
            </a:pPr>
            <a:r>
              <a:rPr lang="en-US" sz="1800" b="1" dirty="0">
                <a:solidFill>
                  <a:srgbClr val="8B5A2B"/>
                </a:solidFill>
                <a:latin typeface="Georgia" pitchFamily="34" charset="0"/>
                <a:ea typeface="Georgia" pitchFamily="34" charset="-122"/>
                <a:cs typeface="Georgia" pitchFamily="34" charset="-120"/>
              </a:rPr>
              <a:t>300 TM/mes</a:t>
            </a:r>
            <a:endParaRPr lang="en-US" sz="1200" dirty="0"/>
          </a:p>
        </p:txBody>
      </p:sp>
      <p:sp>
        <p:nvSpPr>
          <p:cNvPr id="9" name="Text 6"/>
          <p:cNvSpPr/>
          <p:nvPr/>
        </p:nvSpPr>
        <p:spPr>
          <a:xfrm>
            <a:off x="731520" y="3886200"/>
            <a:ext cx="7680960" cy="365760"/>
          </a:xfrm>
          <a:prstGeom prst="rect">
            <a:avLst/>
          </a:prstGeom>
          <a:noFill/>
          <a:ln/>
        </p:spPr>
        <p:txBody>
          <a:bodyPr wrap="square" lIns="0" tIns="0" rIns="0" bIns="0" rtlCol="0" anchor="ctr"/>
          <a:lstStyle/>
          <a:p>
            <a:pPr indent="0" marL="0">
              <a:buNone/>
            </a:pPr>
            <a:r>
              <a:rPr lang="en-US" sz="900" i="1" dirty="0">
                <a:solidFill>
                  <a:srgbClr val="5C4033"/>
                </a:solidFill>
                <a:latin typeface="Calibri" pitchFamily="34" charset="0"/>
                <a:ea typeface="Calibri" pitchFamily="34" charset="-122"/>
                <a:cs typeface="Calibri" pitchFamily="34" charset="-120"/>
              </a:rPr>
              <a:t>Mejor mes historico. La cuba de 9m (pendiente de instalar) y la de 3.5m (en reparacion) representan capacidad adicional futura.</a:t>
            </a:r>
            <a:endParaRPr lang="en-US" sz="900" dirty="0"/>
          </a:p>
        </p:txBody>
      </p:sp>
      <p:pic>
        <p:nvPicPr>
          <p:cNvPr id="10" name="Image 0" descr="/sessions/sweet-gallant-wright/pyglara-deck/images/cuba7m.jpg"/>
          <p:cNvPicPr>
            <a:picLocks noChangeAspect="1"/>
          </p:cNvPicPr>
          <p:nvPr/>
        </p:nvPicPr>
        <p:blipFill>
          <a:blip r:embed="rId1"/>
          <a:srcRect l="0" r="0" t="0" b="0"/>
          <a:stretch/>
        </p:blipFill>
        <p:spPr>
          <a:xfrm>
            <a:off x="475488" y="3977640"/>
            <a:ext cx="1965960" cy="1234440"/>
          </a:xfrm>
          <a:prstGeom prst="rect">
            <a:avLst/>
          </a:prstGeom>
        </p:spPr>
      </p:pic>
      <p:sp>
        <p:nvSpPr>
          <p:cNvPr id="11" name="Shape 7"/>
          <p:cNvSpPr/>
          <p:nvPr/>
        </p:nvSpPr>
        <p:spPr>
          <a:xfrm>
            <a:off x="475488" y="3977640"/>
            <a:ext cx="1965960" cy="1234440"/>
          </a:xfrm>
          <a:prstGeom prst="rect">
            <a:avLst/>
          </a:prstGeom>
          <a:ln w="9525">
            <a:solidFill>
              <a:srgbClr val="B87333"/>
            </a:solidFill>
            <a:prstDash val="solid"/>
          </a:ln>
        </p:spPr>
        <p:txBody>
          <a:bodyPr/>
          <a:p/>
        </p:txBody>
      </p:sp>
      <p:pic>
        <p:nvPicPr>
          <p:cNvPr id="12" name="Image 1" descr="/sessions/sweet-gallant-wright/pyglara-deck/images/cuba9m.jpg"/>
          <p:cNvPicPr>
            <a:picLocks noChangeAspect="1"/>
          </p:cNvPicPr>
          <p:nvPr/>
        </p:nvPicPr>
        <p:blipFill>
          <a:blip r:embed="rId2"/>
          <a:srcRect l="0" r="0" t="0" b="0"/>
          <a:stretch/>
        </p:blipFill>
        <p:spPr>
          <a:xfrm>
            <a:off x="2551176" y="3977640"/>
            <a:ext cx="1965960" cy="1234440"/>
          </a:xfrm>
          <a:prstGeom prst="rect">
            <a:avLst/>
          </a:prstGeom>
        </p:spPr>
      </p:pic>
      <p:sp>
        <p:nvSpPr>
          <p:cNvPr id="13" name="Shape 8"/>
          <p:cNvSpPr/>
          <p:nvPr/>
        </p:nvSpPr>
        <p:spPr>
          <a:xfrm>
            <a:off x="2551176" y="3977640"/>
            <a:ext cx="1965960" cy="1234440"/>
          </a:xfrm>
          <a:prstGeom prst="rect">
            <a:avLst/>
          </a:prstGeom>
          <a:ln w="9525">
            <a:solidFill>
              <a:srgbClr val="B87333"/>
            </a:solidFill>
            <a:prstDash val="solid"/>
          </a:ln>
        </p:spPr>
        <p:txBody>
          <a:bodyPr/>
          <a:p/>
        </p:txBody>
      </p:sp>
      <p:pic>
        <p:nvPicPr>
          <p:cNvPr id="14" name="Image 2" descr="/sessions/sweet-gallant-wright/pyglara-deck/images/centrifuga.jpg"/>
          <p:cNvPicPr>
            <a:picLocks noChangeAspect="1"/>
          </p:cNvPicPr>
          <p:nvPr/>
        </p:nvPicPr>
        <p:blipFill>
          <a:blip r:embed="rId3"/>
          <a:srcRect l="0" r="0" t="0" b="0"/>
          <a:stretch/>
        </p:blipFill>
        <p:spPr>
          <a:xfrm>
            <a:off x="4626864" y="3977640"/>
            <a:ext cx="1965960" cy="1234440"/>
          </a:xfrm>
          <a:prstGeom prst="rect">
            <a:avLst/>
          </a:prstGeom>
        </p:spPr>
      </p:pic>
      <p:sp>
        <p:nvSpPr>
          <p:cNvPr id="15" name="Shape 9"/>
          <p:cNvSpPr/>
          <p:nvPr/>
        </p:nvSpPr>
        <p:spPr>
          <a:xfrm>
            <a:off x="4626864" y="3977640"/>
            <a:ext cx="1965960" cy="1234440"/>
          </a:xfrm>
          <a:prstGeom prst="rect">
            <a:avLst/>
          </a:prstGeom>
          <a:ln w="9525">
            <a:solidFill>
              <a:srgbClr val="B87333"/>
            </a:solidFill>
            <a:prstDash val="solid"/>
          </a:ln>
        </p:spPr>
        <p:txBody>
          <a:bodyPr/>
          <a:p/>
        </p:txBody>
      </p:sp>
      <p:pic>
        <p:nvPicPr>
          <p:cNvPr id="16" name="Image 3" descr="/sessions/sweet-gallant-wright/pyglara-deck/images/horno.jpg"/>
          <p:cNvPicPr>
            <a:picLocks noChangeAspect="1"/>
          </p:cNvPicPr>
          <p:nvPr/>
        </p:nvPicPr>
        <p:blipFill>
          <a:blip r:embed="rId4"/>
          <a:srcRect l="0" r="0" t="0" b="0"/>
          <a:stretch/>
        </p:blipFill>
        <p:spPr>
          <a:xfrm>
            <a:off x="6702552" y="3977640"/>
            <a:ext cx="1965960" cy="1234440"/>
          </a:xfrm>
          <a:prstGeom prst="rect">
            <a:avLst/>
          </a:prstGeom>
        </p:spPr>
      </p:pic>
      <p:sp>
        <p:nvSpPr>
          <p:cNvPr id="17" name="Shape 10"/>
          <p:cNvSpPr/>
          <p:nvPr/>
        </p:nvSpPr>
        <p:spPr>
          <a:xfrm>
            <a:off x="6702552" y="3977640"/>
            <a:ext cx="1965960" cy="1234440"/>
          </a:xfrm>
          <a:prstGeom prst="rect">
            <a:avLst/>
          </a:prstGeom>
          <a:ln w="9525">
            <a:solidFill>
              <a:srgbClr val="B87333"/>
            </a:solidFill>
            <a:prstDash val="solid"/>
          </a:ln>
        </p:spPr>
        <p:txBody>
          <a:body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12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3000" b="1" dirty="0">
                <a:solidFill>
                  <a:srgbClr val="3E2C1C"/>
                </a:solidFill>
                <a:latin typeface="Georgia" pitchFamily="34" charset="0"/>
                <a:ea typeface="Georgia" pitchFamily="34" charset="-122"/>
                <a:cs typeface="Georgia" pitchFamily="34" charset="-120"/>
              </a:rPr>
              <a:t>THE PILLING ADVANTAGE</a:t>
            </a:r>
            <a:endParaRPr lang="en-US" sz="3000" dirty="0"/>
          </a:p>
        </p:txBody>
      </p:sp>
      <p:sp>
        <p:nvSpPr>
          <p:cNvPr id="5" name="Text 3"/>
          <p:cNvSpPr/>
          <p:nvPr/>
        </p:nvSpPr>
        <p:spPr>
          <a:xfrm>
            <a:off x="548640" y="731520"/>
            <a:ext cx="8046720" cy="320040"/>
          </a:xfrm>
          <a:prstGeom prst="rect">
            <a:avLst/>
          </a:prstGeom>
          <a:noFill/>
          <a:ln/>
        </p:spPr>
        <p:txBody>
          <a:bodyPr wrap="square" lIns="0" tIns="0" rIns="0" bIns="0" rtlCol="0" anchor="ctr"/>
          <a:lstStyle/>
          <a:p>
            <a:pPr indent="0" marL="0">
              <a:buNone/>
            </a:pPr>
            <a:r>
              <a:rPr lang="en-US" sz="1400" b="1" i="1" dirty="0">
                <a:solidFill>
                  <a:srgbClr val="8B5A2B"/>
                </a:solidFill>
                <a:latin typeface="Calibri" pitchFamily="34" charset="0"/>
                <a:ea typeface="Calibri" pitchFamily="34" charset="-122"/>
                <a:cs typeface="Calibri" pitchFamily="34" charset="-120"/>
              </a:rPr>
              <a:t>"El Ferrari de los hornos de galvanizado"</a:t>
            </a:r>
            <a:endParaRPr lang="en-US" sz="1400" dirty="0"/>
          </a:p>
        </p:txBody>
      </p:sp>
      <p:sp>
        <p:nvSpPr>
          <p:cNvPr id="6" name="Shape 4"/>
          <p:cNvSpPr/>
          <p:nvPr/>
        </p:nvSpPr>
        <p:spPr>
          <a:xfrm>
            <a:off x="548640" y="1234440"/>
            <a:ext cx="475488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7" name="Shape 5"/>
          <p:cNvSpPr/>
          <p:nvPr/>
        </p:nvSpPr>
        <p:spPr>
          <a:xfrm>
            <a:off x="548640" y="1234440"/>
            <a:ext cx="54864" cy="777240"/>
          </a:xfrm>
          <a:prstGeom prst="rect">
            <a:avLst/>
          </a:prstGeom>
          <a:solidFill>
            <a:srgbClr val="B87333"/>
          </a:solidFill>
          <a:ln/>
        </p:spPr>
        <p:txBody>
          <a:bodyPr/>
          <a:p/>
        </p:txBody>
      </p:sp>
      <p:pic>
        <p:nvPicPr>
          <p:cNvPr id="8" name="Image 0" descr="preencoded.png"/>
          <p:cNvPicPr>
            <a:picLocks noChangeAspect="1"/>
          </p:cNvPicPr>
          <p:nvPr/>
        </p:nvPicPr>
        <p:blipFill>
          <a:blip r:embed="rId1"/>
          <a:stretch>
            <a:fillRect/>
          </a:stretch>
        </p:blipFill>
        <p:spPr>
          <a:xfrm>
            <a:off x="731520" y="1435608"/>
            <a:ext cx="320040" cy="320040"/>
          </a:xfrm>
          <a:prstGeom prst="rect">
            <a:avLst/>
          </a:prstGeom>
        </p:spPr>
      </p:pic>
      <p:sp>
        <p:nvSpPr>
          <p:cNvPr id="9" name="Text 6"/>
          <p:cNvSpPr/>
          <p:nvPr/>
        </p:nvSpPr>
        <p:spPr>
          <a:xfrm>
            <a:off x="1188720" y="1234440"/>
            <a:ext cx="3931920" cy="347472"/>
          </a:xfrm>
          <a:prstGeom prst="rect">
            <a:avLst/>
          </a:prstGeom>
          <a:noFill/>
          <a:ln/>
        </p:spPr>
        <p:txBody>
          <a:bodyPr wrap="square" lIns="0" tIns="0" rIns="0" bIns="0" rtlCol="0" anchor="b"/>
          <a:lstStyle/>
          <a:p>
            <a:pPr indent="0" marL="0">
              <a:buNone/>
            </a:pPr>
            <a:r>
              <a:rPr lang="en-US" sz="1100" b="1" dirty="0">
                <a:solidFill>
                  <a:srgbClr val="8B5A2B"/>
                </a:solidFill>
                <a:latin typeface="Calibri" pitchFamily="34" charset="0"/>
                <a:ea typeface="Calibri" pitchFamily="34" charset="-122"/>
                <a:cs typeface="Calibri" pitchFamily="34" charset="-120"/>
              </a:rPr>
              <a:t>W. Pilling Riepe GmbH &amp; Co. KG</a:t>
            </a:r>
            <a:endParaRPr lang="en-US" sz="1100" dirty="0"/>
          </a:p>
        </p:txBody>
      </p:sp>
      <p:sp>
        <p:nvSpPr>
          <p:cNvPr id="10" name="Text 7"/>
          <p:cNvSpPr/>
          <p:nvPr/>
        </p:nvSpPr>
        <p:spPr>
          <a:xfrm>
            <a:off x="1188720" y="1581912"/>
            <a:ext cx="3931920" cy="384048"/>
          </a:xfrm>
          <a:prstGeom prst="rect">
            <a:avLst/>
          </a:prstGeom>
          <a:noFill/>
          <a:ln/>
        </p:spPr>
        <p:txBody>
          <a:bodyPr wrap="square" lIns="0" tIns="0" rIns="0" bIns="0" rtlCol="0" anchor="t"/>
          <a:lstStyle/>
          <a:p>
            <a:pPr indent="0" marL="0">
              <a:buNone/>
            </a:pPr>
            <a:r>
              <a:rPr lang="en-US" sz="900" dirty="0">
                <a:solidFill>
                  <a:srgbClr val="7A6555"/>
                </a:solidFill>
                <a:latin typeface="Calibri" pitchFamily="34" charset="0"/>
                <a:ea typeface="Calibri" pitchFamily="34" charset="-122"/>
                <a:cs typeface="Calibri" pitchFamily="34" charset="-120"/>
              </a:rPr>
              <a:t>World's leading manufacturer of galvanizing kettles since 1873 — over 150 years of German engineering.</a:t>
            </a:r>
            <a:endParaRPr lang="en-US" sz="900" dirty="0"/>
          </a:p>
        </p:txBody>
      </p:sp>
      <p:sp>
        <p:nvSpPr>
          <p:cNvPr id="11" name="Shape 8"/>
          <p:cNvSpPr/>
          <p:nvPr/>
        </p:nvSpPr>
        <p:spPr>
          <a:xfrm>
            <a:off x="548640" y="2148840"/>
            <a:ext cx="475488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2" name="Shape 9"/>
          <p:cNvSpPr/>
          <p:nvPr/>
        </p:nvSpPr>
        <p:spPr>
          <a:xfrm>
            <a:off x="548640" y="2148840"/>
            <a:ext cx="54864" cy="777240"/>
          </a:xfrm>
          <a:prstGeom prst="rect">
            <a:avLst/>
          </a:prstGeom>
          <a:solidFill>
            <a:srgbClr val="B87333"/>
          </a:solidFill>
          <a:ln/>
        </p:spPr>
        <p:txBody>
          <a:bodyPr/>
          <a:p/>
        </p:txBody>
      </p:sp>
      <p:pic>
        <p:nvPicPr>
          <p:cNvPr id="13" name="Image 1" descr="preencoded.png"/>
          <p:cNvPicPr>
            <a:picLocks noChangeAspect="1"/>
          </p:cNvPicPr>
          <p:nvPr/>
        </p:nvPicPr>
        <p:blipFill>
          <a:blip r:embed="rId2"/>
          <a:stretch>
            <a:fillRect/>
          </a:stretch>
        </p:blipFill>
        <p:spPr>
          <a:xfrm>
            <a:off x="731520" y="2350008"/>
            <a:ext cx="320040" cy="320040"/>
          </a:xfrm>
          <a:prstGeom prst="rect">
            <a:avLst/>
          </a:prstGeom>
        </p:spPr>
      </p:pic>
      <p:sp>
        <p:nvSpPr>
          <p:cNvPr id="14" name="Text 10"/>
          <p:cNvSpPr/>
          <p:nvPr/>
        </p:nvSpPr>
        <p:spPr>
          <a:xfrm>
            <a:off x="1188720" y="2148840"/>
            <a:ext cx="3931920" cy="347472"/>
          </a:xfrm>
          <a:prstGeom prst="rect">
            <a:avLst/>
          </a:prstGeom>
          <a:noFill/>
          <a:ln/>
        </p:spPr>
        <p:txBody>
          <a:bodyPr wrap="square" lIns="0" tIns="0" rIns="0" bIns="0" rtlCol="0" anchor="b"/>
          <a:lstStyle/>
          <a:p>
            <a:pPr indent="0" marL="0">
              <a:buNone/>
            </a:pPr>
            <a:r>
              <a:rPr lang="en-US" sz="1100" b="1" dirty="0">
                <a:solidFill>
                  <a:srgbClr val="8B5A2B"/>
                </a:solidFill>
                <a:latin typeface="Calibri" pitchFamily="34" charset="0"/>
                <a:ea typeface="Calibri" pitchFamily="34" charset="-122"/>
                <a:cs typeface="Calibri" pitchFamily="34" charset="-120"/>
              </a:rPr>
              <a:t>Electroslag welding</a:t>
            </a:r>
            <a:endParaRPr lang="en-US" sz="1100" dirty="0"/>
          </a:p>
        </p:txBody>
      </p:sp>
      <p:sp>
        <p:nvSpPr>
          <p:cNvPr id="15" name="Text 11"/>
          <p:cNvSpPr/>
          <p:nvPr/>
        </p:nvSpPr>
        <p:spPr>
          <a:xfrm>
            <a:off x="1188720" y="2496312"/>
            <a:ext cx="3931920" cy="384048"/>
          </a:xfrm>
          <a:prstGeom prst="rect">
            <a:avLst/>
          </a:prstGeom>
          <a:noFill/>
          <a:ln/>
        </p:spPr>
        <p:txBody>
          <a:bodyPr wrap="square" lIns="0" tIns="0" rIns="0" bIns="0" rtlCol="0" anchor="t"/>
          <a:lstStyle/>
          <a:p>
            <a:pPr indent="0" marL="0">
              <a:buNone/>
            </a:pPr>
            <a:r>
              <a:rPr lang="en-US" sz="900" dirty="0">
                <a:solidFill>
                  <a:srgbClr val="7A6555"/>
                </a:solidFill>
                <a:latin typeface="Calibri" pitchFamily="34" charset="0"/>
                <a:ea typeface="Calibri" pitchFamily="34" charset="-122"/>
                <a:cs typeface="Calibri" pitchFamily="34" charset="-120"/>
              </a:rPr>
              <a:t>Patented process that creates defect-free joints. Wall thickness up to 80mm — indestructible.</a:t>
            </a:r>
            <a:endParaRPr lang="en-US" sz="900" dirty="0"/>
          </a:p>
        </p:txBody>
      </p:sp>
      <p:sp>
        <p:nvSpPr>
          <p:cNvPr id="16" name="Shape 12"/>
          <p:cNvSpPr/>
          <p:nvPr/>
        </p:nvSpPr>
        <p:spPr>
          <a:xfrm>
            <a:off x="548640" y="3063240"/>
            <a:ext cx="475488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7" name="Shape 13"/>
          <p:cNvSpPr/>
          <p:nvPr/>
        </p:nvSpPr>
        <p:spPr>
          <a:xfrm>
            <a:off x="548640" y="3063240"/>
            <a:ext cx="54864" cy="777240"/>
          </a:xfrm>
          <a:prstGeom prst="rect">
            <a:avLst/>
          </a:prstGeom>
          <a:solidFill>
            <a:srgbClr val="B87333"/>
          </a:solidFill>
          <a:ln/>
        </p:spPr>
        <p:txBody>
          <a:bodyPr/>
          <a:p/>
        </p:txBody>
      </p:sp>
      <p:pic>
        <p:nvPicPr>
          <p:cNvPr id="18" name="Image 2" descr="preencoded.png"/>
          <p:cNvPicPr>
            <a:picLocks noChangeAspect="1"/>
          </p:cNvPicPr>
          <p:nvPr/>
        </p:nvPicPr>
        <p:blipFill>
          <a:blip r:embed="rId3"/>
          <a:stretch>
            <a:fillRect/>
          </a:stretch>
        </p:blipFill>
        <p:spPr>
          <a:xfrm>
            <a:off x="731520" y="3264408"/>
            <a:ext cx="320040" cy="320040"/>
          </a:xfrm>
          <a:prstGeom prst="rect">
            <a:avLst/>
          </a:prstGeom>
        </p:spPr>
      </p:pic>
      <p:sp>
        <p:nvSpPr>
          <p:cNvPr id="19" name="Text 14"/>
          <p:cNvSpPr/>
          <p:nvPr/>
        </p:nvSpPr>
        <p:spPr>
          <a:xfrm>
            <a:off x="1188720" y="3063240"/>
            <a:ext cx="3931920" cy="347472"/>
          </a:xfrm>
          <a:prstGeom prst="rect">
            <a:avLst/>
          </a:prstGeom>
          <a:noFill/>
          <a:ln/>
        </p:spPr>
        <p:txBody>
          <a:bodyPr wrap="square" lIns="0" tIns="0" rIns="0" bIns="0" rtlCol="0" anchor="b"/>
          <a:lstStyle/>
          <a:p>
            <a:pPr indent="0" marL="0">
              <a:buNone/>
            </a:pPr>
            <a:r>
              <a:rPr lang="en-US" sz="1100" b="1" dirty="0">
                <a:solidFill>
                  <a:srgbClr val="8B5A2B"/>
                </a:solidFill>
                <a:latin typeface="Calibri" pitchFamily="34" charset="0"/>
                <a:ea typeface="Calibri" pitchFamily="34" charset="-122"/>
                <a:cs typeface="Calibri" pitchFamily="34" charset="-120"/>
              </a:rPr>
              <a:t>Decades of service life</a:t>
            </a:r>
            <a:endParaRPr lang="en-US" sz="1100" dirty="0"/>
          </a:p>
        </p:txBody>
      </p:sp>
      <p:sp>
        <p:nvSpPr>
          <p:cNvPr id="20" name="Text 15"/>
          <p:cNvSpPr/>
          <p:nvPr/>
        </p:nvSpPr>
        <p:spPr>
          <a:xfrm>
            <a:off x="1188720" y="3410712"/>
            <a:ext cx="3931920" cy="384048"/>
          </a:xfrm>
          <a:prstGeom prst="rect">
            <a:avLst/>
          </a:prstGeom>
          <a:noFill/>
          <a:ln/>
        </p:spPr>
        <p:txBody>
          <a:bodyPr wrap="square" lIns="0" tIns="0" rIns="0" bIns="0" rtlCol="0" anchor="t"/>
          <a:lstStyle/>
          <a:p>
            <a:pPr indent="0" marL="0">
              <a:buNone/>
            </a:pPr>
            <a:r>
              <a:rPr lang="en-US" sz="900" dirty="0">
                <a:solidFill>
                  <a:srgbClr val="7A6555"/>
                </a:solidFill>
                <a:latin typeface="Calibri" pitchFamily="34" charset="0"/>
                <a:ea typeface="Calibri" pitchFamily="34" charset="-122"/>
                <a:cs typeface="Calibri" pitchFamily="34" charset="-120"/>
              </a:rPr>
              <a:t>Pilling kettles last 20-30+ years with basic maintenance. PYGLARA's burners confirmed in good condition.</a:t>
            </a:r>
            <a:endParaRPr lang="en-US" sz="900" dirty="0"/>
          </a:p>
        </p:txBody>
      </p:sp>
      <p:sp>
        <p:nvSpPr>
          <p:cNvPr id="21" name="Shape 16"/>
          <p:cNvSpPr/>
          <p:nvPr/>
        </p:nvSpPr>
        <p:spPr>
          <a:xfrm>
            <a:off x="548640" y="3977640"/>
            <a:ext cx="475488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22" name="Shape 17"/>
          <p:cNvSpPr/>
          <p:nvPr/>
        </p:nvSpPr>
        <p:spPr>
          <a:xfrm>
            <a:off x="548640" y="3977640"/>
            <a:ext cx="54864" cy="777240"/>
          </a:xfrm>
          <a:prstGeom prst="rect">
            <a:avLst/>
          </a:prstGeom>
          <a:solidFill>
            <a:srgbClr val="B87333"/>
          </a:solidFill>
          <a:ln/>
        </p:spPr>
        <p:txBody>
          <a:bodyPr/>
          <a:p/>
        </p:txBody>
      </p:sp>
      <p:pic>
        <p:nvPicPr>
          <p:cNvPr id="23" name="Image 3" descr="preencoded.png"/>
          <p:cNvPicPr>
            <a:picLocks noChangeAspect="1"/>
          </p:cNvPicPr>
          <p:nvPr/>
        </p:nvPicPr>
        <p:blipFill>
          <a:blip r:embed="rId4"/>
          <a:stretch>
            <a:fillRect/>
          </a:stretch>
        </p:blipFill>
        <p:spPr>
          <a:xfrm>
            <a:off x="731520" y="4178808"/>
            <a:ext cx="320040" cy="320040"/>
          </a:xfrm>
          <a:prstGeom prst="rect">
            <a:avLst/>
          </a:prstGeom>
        </p:spPr>
      </p:pic>
      <p:sp>
        <p:nvSpPr>
          <p:cNvPr id="24" name="Text 18"/>
          <p:cNvSpPr/>
          <p:nvPr/>
        </p:nvSpPr>
        <p:spPr>
          <a:xfrm>
            <a:off x="1188720" y="3977640"/>
            <a:ext cx="3931920" cy="347472"/>
          </a:xfrm>
          <a:prstGeom prst="rect">
            <a:avLst/>
          </a:prstGeom>
          <a:noFill/>
          <a:ln/>
        </p:spPr>
        <p:txBody>
          <a:bodyPr wrap="square" lIns="0" tIns="0" rIns="0" bIns="0" rtlCol="0" anchor="b"/>
          <a:lstStyle/>
          <a:p>
            <a:pPr indent="0" marL="0">
              <a:buNone/>
            </a:pPr>
            <a:r>
              <a:rPr lang="en-US" sz="1100" b="1" dirty="0">
                <a:solidFill>
                  <a:srgbClr val="8B5A2B"/>
                </a:solidFill>
                <a:latin typeface="Calibri" pitchFamily="34" charset="0"/>
                <a:ea typeface="Calibri" pitchFamily="34" charset="-122"/>
                <a:cs typeface="Calibri" pitchFamily="34" charset="-120"/>
              </a:rPr>
              <a:t>Replacement value: $1.1M+</a:t>
            </a:r>
            <a:endParaRPr lang="en-US" sz="1100" dirty="0"/>
          </a:p>
        </p:txBody>
      </p:sp>
      <p:sp>
        <p:nvSpPr>
          <p:cNvPr id="25" name="Text 19"/>
          <p:cNvSpPr/>
          <p:nvPr/>
        </p:nvSpPr>
        <p:spPr>
          <a:xfrm>
            <a:off x="1188720" y="4325112"/>
            <a:ext cx="3931920" cy="384048"/>
          </a:xfrm>
          <a:prstGeom prst="rect">
            <a:avLst/>
          </a:prstGeom>
          <a:noFill/>
          <a:ln/>
        </p:spPr>
        <p:txBody>
          <a:bodyPr wrap="square" lIns="0" tIns="0" rIns="0" bIns="0" rtlCol="0" anchor="t"/>
          <a:lstStyle/>
          <a:p>
            <a:pPr indent="0" marL="0">
              <a:buNone/>
            </a:pPr>
            <a:r>
              <a:rPr lang="en-US" sz="900" dirty="0">
                <a:solidFill>
                  <a:srgbClr val="7A6555"/>
                </a:solidFill>
                <a:latin typeface="Calibri" pitchFamily="34" charset="0"/>
                <a:ea typeface="Calibri" pitchFamily="34" charset="-122"/>
                <a:cs typeface="Calibri" pitchFamily="34" charset="-120"/>
              </a:rPr>
              <a:t>The kettles alone (7m + 9m + 3.5m + centrifuge) cost between $1.14M and $1.34M at replacement price.</a:t>
            </a:r>
            <a:endParaRPr lang="en-US" sz="900" dirty="0"/>
          </a:p>
        </p:txBody>
      </p:sp>
      <p:pic>
        <p:nvPicPr>
          <p:cNvPr id="26" name="Image 4" descr="/sessions/sweet-gallant-wright/pyglara-deck/images/cuba9m.jpg"/>
          <p:cNvPicPr>
            <a:picLocks noChangeAspect="1"/>
          </p:cNvPicPr>
          <p:nvPr/>
        </p:nvPicPr>
        <p:blipFill>
          <a:blip r:embed="rId5"/>
          <a:srcRect l="0" r="0" t="0" b="0"/>
          <a:stretch/>
        </p:blipFill>
        <p:spPr>
          <a:xfrm>
            <a:off x="5577840" y="1234440"/>
            <a:ext cx="3108960" cy="2194560"/>
          </a:xfrm>
          <a:prstGeom prst="rect">
            <a:avLst/>
          </a:prstGeom>
        </p:spPr>
      </p:pic>
      <p:sp>
        <p:nvSpPr>
          <p:cNvPr id="27" name="Shape 20"/>
          <p:cNvSpPr/>
          <p:nvPr/>
        </p:nvSpPr>
        <p:spPr>
          <a:xfrm>
            <a:off x="5577840" y="1234440"/>
            <a:ext cx="3108960" cy="2194560"/>
          </a:xfrm>
          <a:prstGeom prst="rect">
            <a:avLst/>
          </a:prstGeom>
          <a:ln w="19050">
            <a:solidFill>
              <a:srgbClr val="B87333"/>
            </a:solidFill>
            <a:prstDash val="solid"/>
          </a:ln>
        </p:spPr>
        <p:txBody>
          <a:bodyPr/>
          <a:p/>
        </p:txBody>
      </p:sp>
      <p:sp>
        <p:nvSpPr>
          <p:cNvPr id="28" name="Text 21"/>
          <p:cNvSpPr/>
          <p:nvPr/>
        </p:nvSpPr>
        <p:spPr>
          <a:xfrm>
            <a:off x="5577840" y="3520440"/>
            <a:ext cx="3108960" cy="457200"/>
          </a:xfrm>
          <a:prstGeom prst="rect">
            <a:avLst/>
          </a:prstGeom>
          <a:noFill/>
          <a:ln/>
        </p:spPr>
        <p:txBody>
          <a:bodyPr wrap="square" lIns="0" tIns="0" rIns="0" bIns="0" rtlCol="0" anchor="ctr"/>
          <a:lstStyle/>
          <a:p>
            <a:pPr algn="ctr" indent="0" marL="0">
              <a:buNone/>
            </a:pPr>
            <a:r>
              <a:rPr lang="en-US" sz="1000" b="1" dirty="0">
                <a:solidFill>
                  <a:srgbClr val="5C4033"/>
                </a:solidFill>
                <a:latin typeface="Calibri" pitchFamily="34" charset="0"/>
                <a:ea typeface="Calibri" pitchFamily="34" charset="-122"/>
                <a:cs typeface="Calibri" pitchFamily="34" charset="-120"/>
              </a:rPr>
              <a:t>9m Pilling Kettle</a:t>
            </a:r>
            <a:endParaRPr lang="en-US" sz="1000" dirty="0"/>
          </a:p>
          <a:p>
            <a:pPr algn="ctr" indent="0" marL="0">
              <a:buNone/>
            </a:pPr>
            <a:r>
              <a:rPr lang="en-US" sz="1000" b="1" dirty="0">
                <a:solidFill>
                  <a:srgbClr val="5C4033"/>
                </a:solidFill>
                <a:latin typeface="Calibri" pitchFamily="34" charset="0"/>
                <a:ea typeface="Calibri" pitchFamily="34" charset="-122"/>
                <a:cs typeface="Calibri" pitchFamily="34" charset="-120"/>
              </a:rPr>
              <a:t>Valued at $570,000</a:t>
            </a:r>
            <a:endParaRPr lang="en-US" sz="1000" dirty="0"/>
          </a:p>
        </p:txBody>
      </p:sp>
      <p:pic>
        <p:nvPicPr>
          <p:cNvPr id="29" name="Image 5" descr="/sessions/sweet-gallant-wright/pyglara-deck/images/cuba7m.jpg"/>
          <p:cNvPicPr>
            <a:picLocks noChangeAspect="1"/>
          </p:cNvPicPr>
          <p:nvPr/>
        </p:nvPicPr>
        <p:blipFill>
          <a:blip r:embed="rId6"/>
          <a:srcRect l="0" r="0" t="0" b="0"/>
          <a:stretch/>
        </p:blipFill>
        <p:spPr>
          <a:xfrm>
            <a:off x="5577840" y="4069080"/>
            <a:ext cx="1463040" cy="914400"/>
          </a:xfrm>
          <a:prstGeom prst="rect">
            <a:avLst/>
          </a:prstGeom>
        </p:spPr>
      </p:pic>
      <p:sp>
        <p:nvSpPr>
          <p:cNvPr id="30" name="Shape 22"/>
          <p:cNvSpPr/>
          <p:nvPr/>
        </p:nvSpPr>
        <p:spPr>
          <a:xfrm>
            <a:off x="5577840" y="4069080"/>
            <a:ext cx="1463040" cy="914400"/>
          </a:xfrm>
          <a:prstGeom prst="rect">
            <a:avLst/>
          </a:prstGeom>
          <a:ln w="9525">
            <a:solidFill>
              <a:srgbClr val="B87333"/>
            </a:solidFill>
            <a:prstDash val="solid"/>
          </a:ln>
        </p:spPr>
        <p:txBody>
          <a:bodyPr/>
          <a:p/>
        </p:txBody>
      </p:sp>
      <p:pic>
        <p:nvPicPr>
          <p:cNvPr id="31" name="Image 6" descr="/sessions/sweet-gallant-wright/pyglara-deck/images/horno.jpg"/>
          <p:cNvPicPr>
            <a:picLocks noChangeAspect="1"/>
          </p:cNvPicPr>
          <p:nvPr/>
        </p:nvPicPr>
        <p:blipFill>
          <a:blip r:embed="rId7"/>
          <a:srcRect l="0" r="0" t="0" b="0"/>
          <a:stretch/>
        </p:blipFill>
        <p:spPr>
          <a:xfrm>
            <a:off x="7178040" y="4069080"/>
            <a:ext cx="1508760" cy="914400"/>
          </a:xfrm>
          <a:prstGeom prst="rect">
            <a:avLst/>
          </a:prstGeom>
        </p:spPr>
      </p:pic>
      <p:sp>
        <p:nvSpPr>
          <p:cNvPr id="32" name="Shape 23"/>
          <p:cNvSpPr/>
          <p:nvPr/>
        </p:nvSpPr>
        <p:spPr>
          <a:xfrm>
            <a:off x="7178040" y="4069080"/>
            <a:ext cx="1508760" cy="914400"/>
          </a:xfrm>
          <a:prstGeom prst="rect">
            <a:avLst/>
          </a:prstGeom>
          <a:ln w="9525">
            <a:solidFill>
              <a:srgbClr val="B87333"/>
            </a:solidFill>
            <a:prstDash val="solid"/>
          </a:ln>
        </p:spPr>
        <p:txBody>
          <a:body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13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PRODUCTS &amp; APPLICATIONS</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Every type of steel that needs corrosion protection</a:t>
            </a:r>
            <a:endParaRPr lang="en-US" sz="1200" dirty="0"/>
          </a:p>
        </p:txBody>
      </p:sp>
      <p:sp>
        <p:nvSpPr>
          <p:cNvPr id="6" name="Shape 4"/>
          <p:cNvSpPr/>
          <p:nvPr/>
        </p:nvSpPr>
        <p:spPr>
          <a:xfrm>
            <a:off x="457200" y="1143000"/>
            <a:ext cx="2606040" cy="150876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7" name="Shape 5"/>
          <p:cNvSpPr/>
          <p:nvPr/>
        </p:nvSpPr>
        <p:spPr>
          <a:xfrm>
            <a:off x="457200" y="1143000"/>
            <a:ext cx="2606040" cy="36576"/>
          </a:xfrm>
          <a:prstGeom prst="rect">
            <a:avLst/>
          </a:prstGeom>
          <a:solidFill>
            <a:srgbClr val="B87333"/>
          </a:solidFill>
          <a:ln/>
        </p:spPr>
        <p:txBody>
          <a:bodyPr/>
          <a:p/>
        </p:txBody>
      </p:sp>
      <p:pic>
        <p:nvPicPr>
          <p:cNvPr id="8" name="Image 0" descr="preencoded.png"/>
          <p:cNvPicPr>
            <a:picLocks noChangeAspect="1"/>
          </p:cNvPicPr>
          <p:nvPr/>
        </p:nvPicPr>
        <p:blipFill>
          <a:blip r:embed="rId1"/>
          <a:stretch>
            <a:fillRect/>
          </a:stretch>
        </p:blipFill>
        <p:spPr>
          <a:xfrm>
            <a:off x="594360" y="1280160"/>
            <a:ext cx="274320" cy="274320"/>
          </a:xfrm>
          <a:prstGeom prst="rect">
            <a:avLst/>
          </a:prstGeom>
        </p:spPr>
      </p:pic>
      <p:sp>
        <p:nvSpPr>
          <p:cNvPr id="9" name="Text 6"/>
          <p:cNvSpPr/>
          <p:nvPr/>
        </p:nvSpPr>
        <p:spPr>
          <a:xfrm>
            <a:off x="960120" y="1234440"/>
            <a:ext cx="1965960" cy="320040"/>
          </a:xfrm>
          <a:prstGeom prst="rect">
            <a:avLst/>
          </a:prstGeom>
          <a:noFill/>
          <a:ln/>
        </p:spPr>
        <p:txBody>
          <a:bodyPr wrap="square" lIns="0" tIns="0" rIns="0" bIns="0" rtlCol="0" anchor="ctr"/>
          <a:lstStyle/>
          <a:p>
            <a:pPr indent="0" marL="0">
              <a:buNone/>
            </a:pPr>
            <a:r>
              <a:rPr lang="en-US" sz="1000" b="1" dirty="0">
                <a:solidFill>
                  <a:srgbClr val="8B5A2B"/>
                </a:solidFill>
                <a:latin typeface="Georgia" pitchFamily="34" charset="0"/>
                <a:ea typeface="Georgia" pitchFamily="34" charset="-122"/>
                <a:cs typeface="Georgia" pitchFamily="34" charset="-120"/>
              </a:rPr>
              <a:t>ELECTRICAL</a:t>
            </a:r>
            <a:endParaRPr lang="en-US" sz="1000" dirty="0"/>
          </a:p>
        </p:txBody>
      </p:sp>
      <p:sp>
        <p:nvSpPr>
          <p:cNvPr id="10" name="Text 7"/>
          <p:cNvSpPr/>
          <p:nvPr/>
        </p:nvSpPr>
        <p:spPr>
          <a:xfrm>
            <a:off x="594360" y="1645920"/>
            <a:ext cx="2331720" cy="8686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Poles, transmission towers,</a:t>
            </a:r>
            <a:endParaRPr lang="en-US" sz="900" dirty="0"/>
          </a:p>
          <a:p>
            <a:pPr indent="0" marL="0">
              <a:buNone/>
            </a:pPr>
            <a:r>
              <a:rPr lang="en-US" sz="900" dirty="0">
                <a:solidFill>
                  <a:srgbClr val="5C4033"/>
                </a:solidFill>
                <a:latin typeface="Calibri" pitchFamily="34" charset="0"/>
                <a:ea typeface="Calibri" pitchFamily="34" charset="-122"/>
                <a:cs typeface="Calibri" pitchFamily="34" charset="-120"/>
              </a:rPr>
              <a:t>cable trays, hardware</a:t>
            </a:r>
            <a:endParaRPr lang="en-US" sz="900" dirty="0"/>
          </a:p>
        </p:txBody>
      </p:sp>
      <p:sp>
        <p:nvSpPr>
          <p:cNvPr id="11" name="Shape 8"/>
          <p:cNvSpPr/>
          <p:nvPr/>
        </p:nvSpPr>
        <p:spPr>
          <a:xfrm>
            <a:off x="3291840" y="1143000"/>
            <a:ext cx="2606040" cy="150876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2" name="Shape 9"/>
          <p:cNvSpPr/>
          <p:nvPr/>
        </p:nvSpPr>
        <p:spPr>
          <a:xfrm>
            <a:off x="3291840" y="1143000"/>
            <a:ext cx="2606040" cy="36576"/>
          </a:xfrm>
          <a:prstGeom prst="rect">
            <a:avLst/>
          </a:prstGeom>
          <a:solidFill>
            <a:srgbClr val="A67C52"/>
          </a:solidFill>
          <a:ln/>
        </p:spPr>
        <p:txBody>
          <a:bodyPr/>
          <a:p/>
        </p:txBody>
      </p:sp>
      <p:pic>
        <p:nvPicPr>
          <p:cNvPr id="13" name="Image 1" descr="preencoded.png"/>
          <p:cNvPicPr>
            <a:picLocks noChangeAspect="1"/>
          </p:cNvPicPr>
          <p:nvPr/>
        </p:nvPicPr>
        <p:blipFill>
          <a:blip r:embed="rId2"/>
          <a:stretch>
            <a:fillRect/>
          </a:stretch>
        </p:blipFill>
        <p:spPr>
          <a:xfrm>
            <a:off x="3429000" y="1280160"/>
            <a:ext cx="274320" cy="274320"/>
          </a:xfrm>
          <a:prstGeom prst="rect">
            <a:avLst/>
          </a:prstGeom>
        </p:spPr>
      </p:pic>
      <p:sp>
        <p:nvSpPr>
          <p:cNvPr id="14" name="Text 10"/>
          <p:cNvSpPr/>
          <p:nvPr/>
        </p:nvSpPr>
        <p:spPr>
          <a:xfrm>
            <a:off x="3794760" y="1234440"/>
            <a:ext cx="1965960" cy="320040"/>
          </a:xfrm>
          <a:prstGeom prst="rect">
            <a:avLst/>
          </a:prstGeom>
          <a:noFill/>
          <a:ln/>
        </p:spPr>
        <p:txBody>
          <a:bodyPr wrap="square" lIns="0" tIns="0" rIns="0" bIns="0" rtlCol="0" anchor="ctr"/>
          <a:lstStyle/>
          <a:p>
            <a:pPr indent="0" marL="0">
              <a:buNone/>
            </a:pPr>
            <a:r>
              <a:rPr lang="en-US" sz="1000" b="1" dirty="0">
                <a:solidFill>
                  <a:srgbClr val="8B5A2B"/>
                </a:solidFill>
                <a:latin typeface="Georgia" pitchFamily="34" charset="0"/>
                <a:ea typeface="Georgia" pitchFamily="34" charset="-122"/>
                <a:cs typeface="Georgia" pitchFamily="34" charset="-120"/>
              </a:rPr>
              <a:t>OIL &amp; GAS</a:t>
            </a:r>
            <a:endParaRPr lang="en-US" sz="1000" dirty="0"/>
          </a:p>
        </p:txBody>
      </p:sp>
      <p:sp>
        <p:nvSpPr>
          <p:cNvPr id="15" name="Text 11"/>
          <p:cNvSpPr/>
          <p:nvPr/>
        </p:nvSpPr>
        <p:spPr>
          <a:xfrm>
            <a:off x="3429000" y="1645920"/>
            <a:ext cx="2331720" cy="8686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Pipe racks, cable trays,</a:t>
            </a:r>
            <a:endParaRPr lang="en-US" sz="900" dirty="0"/>
          </a:p>
          <a:p>
            <a:pPr indent="0" marL="0">
              <a:buNone/>
            </a:pPr>
            <a:r>
              <a:rPr lang="en-US" sz="900" dirty="0">
                <a:solidFill>
                  <a:srgbClr val="5C4033"/>
                </a:solidFill>
                <a:latin typeface="Calibri" pitchFamily="34" charset="0"/>
                <a:ea typeface="Calibri" pitchFamily="34" charset="-122"/>
                <a:cs typeface="Calibri" pitchFamily="34" charset="-120"/>
              </a:rPr>
              <a:t>platforms, grating, handrails</a:t>
            </a:r>
            <a:endParaRPr lang="en-US" sz="900" dirty="0"/>
          </a:p>
        </p:txBody>
      </p:sp>
      <p:sp>
        <p:nvSpPr>
          <p:cNvPr id="16" name="Shape 12"/>
          <p:cNvSpPr/>
          <p:nvPr/>
        </p:nvSpPr>
        <p:spPr>
          <a:xfrm>
            <a:off x="6126480" y="1143000"/>
            <a:ext cx="2606040" cy="150876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7" name="Shape 13"/>
          <p:cNvSpPr/>
          <p:nvPr/>
        </p:nvSpPr>
        <p:spPr>
          <a:xfrm>
            <a:off x="6126480" y="1143000"/>
            <a:ext cx="2606040" cy="36576"/>
          </a:xfrm>
          <a:prstGeom prst="rect">
            <a:avLst/>
          </a:prstGeom>
          <a:solidFill>
            <a:srgbClr val="8B5A2B"/>
          </a:solidFill>
          <a:ln/>
        </p:spPr>
        <p:txBody>
          <a:bodyPr/>
          <a:p/>
        </p:txBody>
      </p:sp>
      <p:pic>
        <p:nvPicPr>
          <p:cNvPr id="18" name="Image 2" descr="preencoded.png"/>
          <p:cNvPicPr>
            <a:picLocks noChangeAspect="1"/>
          </p:cNvPicPr>
          <p:nvPr/>
        </p:nvPicPr>
        <p:blipFill>
          <a:blip r:embed="rId3"/>
          <a:stretch>
            <a:fillRect/>
          </a:stretch>
        </p:blipFill>
        <p:spPr>
          <a:xfrm>
            <a:off x="6263640" y="1280160"/>
            <a:ext cx="274320" cy="274320"/>
          </a:xfrm>
          <a:prstGeom prst="rect">
            <a:avLst/>
          </a:prstGeom>
        </p:spPr>
      </p:pic>
      <p:sp>
        <p:nvSpPr>
          <p:cNvPr id="19" name="Text 14"/>
          <p:cNvSpPr/>
          <p:nvPr/>
        </p:nvSpPr>
        <p:spPr>
          <a:xfrm>
            <a:off x="6629400" y="1234440"/>
            <a:ext cx="1965960" cy="320040"/>
          </a:xfrm>
          <a:prstGeom prst="rect">
            <a:avLst/>
          </a:prstGeom>
          <a:noFill/>
          <a:ln/>
        </p:spPr>
        <p:txBody>
          <a:bodyPr wrap="square" lIns="0" tIns="0" rIns="0" bIns="0" rtlCol="0" anchor="ctr"/>
          <a:lstStyle/>
          <a:p>
            <a:pPr indent="0" marL="0">
              <a:buNone/>
            </a:pPr>
            <a:r>
              <a:rPr lang="en-US" sz="1000" b="1" dirty="0">
                <a:solidFill>
                  <a:srgbClr val="8B5A2B"/>
                </a:solidFill>
                <a:latin typeface="Georgia" pitchFamily="34" charset="0"/>
                <a:ea typeface="Georgia" pitchFamily="34" charset="-122"/>
                <a:cs typeface="Georgia" pitchFamily="34" charset="-120"/>
              </a:rPr>
              <a:t>CONSTRUCTION</a:t>
            </a:r>
            <a:endParaRPr lang="en-US" sz="1000" dirty="0"/>
          </a:p>
        </p:txBody>
      </p:sp>
      <p:sp>
        <p:nvSpPr>
          <p:cNvPr id="20" name="Text 15"/>
          <p:cNvSpPr/>
          <p:nvPr/>
        </p:nvSpPr>
        <p:spPr>
          <a:xfrm>
            <a:off x="6263640" y="1645920"/>
            <a:ext cx="2331720" cy="8686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Beams, columns, sheets,</a:t>
            </a:r>
            <a:endParaRPr lang="en-US" sz="900" dirty="0"/>
          </a:p>
          <a:p>
            <a:pPr indent="0" marL="0">
              <a:buNone/>
            </a:pPr>
            <a:r>
              <a:rPr lang="en-US" sz="900" dirty="0">
                <a:solidFill>
                  <a:srgbClr val="5C4033"/>
                </a:solidFill>
                <a:latin typeface="Calibri" pitchFamily="34" charset="0"/>
                <a:ea typeface="Calibri" pitchFamily="34" charset="-122"/>
                <a:cs typeface="Calibri" pitchFamily="34" charset="-120"/>
              </a:rPr>
              <a:t>roofing, stairs, crash barriers</a:t>
            </a:r>
            <a:endParaRPr lang="en-US" sz="900" dirty="0"/>
          </a:p>
        </p:txBody>
      </p:sp>
      <p:sp>
        <p:nvSpPr>
          <p:cNvPr id="21" name="Shape 16"/>
          <p:cNvSpPr/>
          <p:nvPr/>
        </p:nvSpPr>
        <p:spPr>
          <a:xfrm>
            <a:off x="457200" y="2834640"/>
            <a:ext cx="2606040" cy="150876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22" name="Shape 17"/>
          <p:cNvSpPr/>
          <p:nvPr/>
        </p:nvSpPr>
        <p:spPr>
          <a:xfrm>
            <a:off x="457200" y="2834640"/>
            <a:ext cx="2606040" cy="36576"/>
          </a:xfrm>
          <a:prstGeom prst="rect">
            <a:avLst/>
          </a:prstGeom>
          <a:solidFill>
            <a:srgbClr val="CD853F"/>
          </a:solidFill>
          <a:ln/>
        </p:spPr>
        <p:txBody>
          <a:bodyPr/>
          <a:p/>
        </p:txBody>
      </p:sp>
      <p:pic>
        <p:nvPicPr>
          <p:cNvPr id="23" name="Image 3" descr="preencoded.png"/>
          <p:cNvPicPr>
            <a:picLocks noChangeAspect="1"/>
          </p:cNvPicPr>
          <p:nvPr/>
        </p:nvPicPr>
        <p:blipFill>
          <a:blip r:embed="rId4"/>
          <a:stretch>
            <a:fillRect/>
          </a:stretch>
        </p:blipFill>
        <p:spPr>
          <a:xfrm>
            <a:off x="594360" y="2971800"/>
            <a:ext cx="274320" cy="274320"/>
          </a:xfrm>
          <a:prstGeom prst="rect">
            <a:avLst/>
          </a:prstGeom>
        </p:spPr>
      </p:pic>
      <p:sp>
        <p:nvSpPr>
          <p:cNvPr id="24" name="Text 18"/>
          <p:cNvSpPr/>
          <p:nvPr/>
        </p:nvSpPr>
        <p:spPr>
          <a:xfrm>
            <a:off x="960120" y="2926080"/>
            <a:ext cx="1965960" cy="320040"/>
          </a:xfrm>
          <a:prstGeom prst="rect">
            <a:avLst/>
          </a:prstGeom>
          <a:noFill/>
          <a:ln/>
        </p:spPr>
        <p:txBody>
          <a:bodyPr wrap="square" lIns="0" tIns="0" rIns="0" bIns="0" rtlCol="0" anchor="ctr"/>
          <a:lstStyle/>
          <a:p>
            <a:pPr indent="0" marL="0">
              <a:buNone/>
            </a:pPr>
            <a:r>
              <a:rPr lang="en-US" sz="1000" b="1" dirty="0">
                <a:solidFill>
                  <a:srgbClr val="8B5A2B"/>
                </a:solidFill>
                <a:latin typeface="Georgia" pitchFamily="34" charset="0"/>
                <a:ea typeface="Georgia" pitchFamily="34" charset="-122"/>
                <a:cs typeface="Georgia" pitchFamily="34" charset="-120"/>
              </a:rPr>
              <a:t>RENEWABLE ENERGY</a:t>
            </a:r>
            <a:endParaRPr lang="en-US" sz="1000" dirty="0"/>
          </a:p>
        </p:txBody>
      </p:sp>
      <p:sp>
        <p:nvSpPr>
          <p:cNvPr id="25" name="Text 19"/>
          <p:cNvSpPr/>
          <p:nvPr/>
        </p:nvSpPr>
        <p:spPr>
          <a:xfrm>
            <a:off x="594360" y="3337560"/>
            <a:ext cx="2331720" cy="8686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Solar panel mounts,</a:t>
            </a:r>
            <a:endParaRPr lang="en-US" sz="900" dirty="0"/>
          </a:p>
          <a:p>
            <a:pPr indent="0" marL="0">
              <a:buNone/>
            </a:pPr>
            <a:r>
              <a:rPr lang="en-US" sz="900" dirty="0">
                <a:solidFill>
                  <a:srgbClr val="5C4033"/>
                </a:solidFill>
                <a:latin typeface="Calibri" pitchFamily="34" charset="0"/>
                <a:ea typeface="Calibri" pitchFamily="34" charset="-122"/>
                <a:cs typeface="Calibri" pitchFamily="34" charset="-120"/>
              </a:rPr>
              <a:t>wind towers, brackets</a:t>
            </a:r>
            <a:endParaRPr lang="en-US" sz="900" dirty="0"/>
          </a:p>
        </p:txBody>
      </p:sp>
      <p:sp>
        <p:nvSpPr>
          <p:cNvPr id="26" name="Shape 20"/>
          <p:cNvSpPr/>
          <p:nvPr/>
        </p:nvSpPr>
        <p:spPr>
          <a:xfrm>
            <a:off x="3291840" y="2834640"/>
            <a:ext cx="2606040" cy="150876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27" name="Shape 21"/>
          <p:cNvSpPr/>
          <p:nvPr/>
        </p:nvSpPr>
        <p:spPr>
          <a:xfrm>
            <a:off x="3291840" y="2834640"/>
            <a:ext cx="2606040" cy="36576"/>
          </a:xfrm>
          <a:prstGeom prst="rect">
            <a:avLst/>
          </a:prstGeom>
          <a:solidFill>
            <a:srgbClr val="DAA520"/>
          </a:solidFill>
          <a:ln/>
        </p:spPr>
        <p:txBody>
          <a:bodyPr/>
          <a:p/>
        </p:txBody>
      </p:sp>
      <p:pic>
        <p:nvPicPr>
          <p:cNvPr id="28" name="Image 4" descr="preencoded.png"/>
          <p:cNvPicPr>
            <a:picLocks noChangeAspect="1"/>
          </p:cNvPicPr>
          <p:nvPr/>
        </p:nvPicPr>
        <p:blipFill>
          <a:blip r:embed="rId5"/>
          <a:stretch>
            <a:fillRect/>
          </a:stretch>
        </p:blipFill>
        <p:spPr>
          <a:xfrm>
            <a:off x="3429000" y="2971800"/>
            <a:ext cx="274320" cy="274320"/>
          </a:xfrm>
          <a:prstGeom prst="rect">
            <a:avLst/>
          </a:prstGeom>
        </p:spPr>
      </p:pic>
      <p:sp>
        <p:nvSpPr>
          <p:cNvPr id="29" name="Text 22"/>
          <p:cNvSpPr/>
          <p:nvPr/>
        </p:nvSpPr>
        <p:spPr>
          <a:xfrm>
            <a:off x="3794760" y="2926080"/>
            <a:ext cx="1965960" cy="320040"/>
          </a:xfrm>
          <a:prstGeom prst="rect">
            <a:avLst/>
          </a:prstGeom>
          <a:noFill/>
          <a:ln/>
        </p:spPr>
        <p:txBody>
          <a:bodyPr wrap="square" lIns="0" tIns="0" rIns="0" bIns="0" rtlCol="0" anchor="ctr"/>
          <a:lstStyle/>
          <a:p>
            <a:pPr indent="0" marL="0">
              <a:buNone/>
            </a:pPr>
            <a:r>
              <a:rPr lang="en-US" sz="1000" b="1" dirty="0">
                <a:solidFill>
                  <a:srgbClr val="8B5A2B"/>
                </a:solidFill>
                <a:latin typeface="Georgia" pitchFamily="34" charset="0"/>
                <a:ea typeface="Georgia" pitchFamily="34" charset="-122"/>
                <a:cs typeface="Georgia" pitchFamily="34" charset="-120"/>
              </a:rPr>
              <a:t>INFRASTRUCTURE</a:t>
            </a:r>
            <a:endParaRPr lang="en-US" sz="1000" dirty="0"/>
          </a:p>
        </p:txBody>
      </p:sp>
      <p:sp>
        <p:nvSpPr>
          <p:cNvPr id="30" name="Text 23"/>
          <p:cNvSpPr/>
          <p:nvPr/>
        </p:nvSpPr>
        <p:spPr>
          <a:xfrm>
            <a:off x="3429000" y="3337560"/>
            <a:ext cx="2331720" cy="8686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Mechanically stabilized earth walls,</a:t>
            </a:r>
            <a:endParaRPr lang="en-US" sz="900" dirty="0"/>
          </a:p>
          <a:p>
            <a:pPr indent="0" marL="0">
              <a:buNone/>
            </a:pPr>
            <a:r>
              <a:rPr lang="en-US" sz="900" dirty="0">
                <a:solidFill>
                  <a:srgbClr val="5C4033"/>
                </a:solidFill>
                <a:latin typeface="Calibri" pitchFamily="34" charset="0"/>
                <a:ea typeface="Calibri" pitchFamily="34" charset="-122"/>
                <a:cs typeface="Calibri" pitchFamily="34" charset="-120"/>
              </a:rPr>
              <a:t>signage, pedestrian bridges</a:t>
            </a:r>
            <a:endParaRPr lang="en-US" sz="900" dirty="0"/>
          </a:p>
        </p:txBody>
      </p:sp>
      <p:sp>
        <p:nvSpPr>
          <p:cNvPr id="31" name="Shape 24"/>
          <p:cNvSpPr/>
          <p:nvPr/>
        </p:nvSpPr>
        <p:spPr>
          <a:xfrm>
            <a:off x="6126480" y="2834640"/>
            <a:ext cx="2606040" cy="150876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32" name="Shape 25"/>
          <p:cNvSpPr/>
          <p:nvPr/>
        </p:nvSpPr>
        <p:spPr>
          <a:xfrm>
            <a:off x="6126480" y="2834640"/>
            <a:ext cx="2606040" cy="36576"/>
          </a:xfrm>
          <a:prstGeom prst="rect">
            <a:avLst/>
          </a:prstGeom>
          <a:solidFill>
            <a:srgbClr val="7A6555"/>
          </a:solidFill>
          <a:ln/>
        </p:spPr>
        <p:txBody>
          <a:bodyPr/>
          <a:p/>
        </p:txBody>
      </p:sp>
      <p:pic>
        <p:nvPicPr>
          <p:cNvPr id="33" name="Image 5" descr="preencoded.png"/>
          <p:cNvPicPr>
            <a:picLocks noChangeAspect="1"/>
          </p:cNvPicPr>
          <p:nvPr/>
        </p:nvPicPr>
        <p:blipFill>
          <a:blip r:embed="rId6"/>
          <a:stretch>
            <a:fillRect/>
          </a:stretch>
        </p:blipFill>
        <p:spPr>
          <a:xfrm>
            <a:off x="6263640" y="2971800"/>
            <a:ext cx="274320" cy="274320"/>
          </a:xfrm>
          <a:prstGeom prst="rect">
            <a:avLst/>
          </a:prstGeom>
        </p:spPr>
      </p:pic>
      <p:sp>
        <p:nvSpPr>
          <p:cNvPr id="34" name="Text 26"/>
          <p:cNvSpPr/>
          <p:nvPr/>
        </p:nvSpPr>
        <p:spPr>
          <a:xfrm>
            <a:off x="6629400" y="2926080"/>
            <a:ext cx="1965960" cy="320040"/>
          </a:xfrm>
          <a:prstGeom prst="rect">
            <a:avLst/>
          </a:prstGeom>
          <a:noFill/>
          <a:ln/>
        </p:spPr>
        <p:txBody>
          <a:bodyPr wrap="square" lIns="0" tIns="0" rIns="0" bIns="0" rtlCol="0" anchor="ctr"/>
          <a:lstStyle/>
          <a:p>
            <a:pPr indent="0" marL="0">
              <a:buNone/>
            </a:pPr>
            <a:r>
              <a:rPr lang="en-US" sz="1000" b="1" dirty="0">
                <a:solidFill>
                  <a:srgbClr val="8B5A2B"/>
                </a:solidFill>
                <a:latin typeface="Georgia" pitchFamily="34" charset="0"/>
                <a:ea typeface="Georgia" pitchFamily="34" charset="-122"/>
                <a:cs typeface="Georgia" pitchFamily="34" charset="-120"/>
              </a:rPr>
              <a:t>AGRO / INDUSTRIAL</a:t>
            </a:r>
            <a:endParaRPr lang="en-US" sz="1000" dirty="0"/>
          </a:p>
        </p:txBody>
      </p:sp>
      <p:sp>
        <p:nvSpPr>
          <p:cNvPr id="35" name="Text 27"/>
          <p:cNvSpPr/>
          <p:nvPr/>
        </p:nvSpPr>
        <p:spPr>
          <a:xfrm>
            <a:off x="6263640" y="3337560"/>
            <a:ext cx="2331720" cy="8686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Fencing, mesh, barbed wire,</a:t>
            </a:r>
            <a:endParaRPr lang="en-US" sz="900" dirty="0"/>
          </a:p>
          <a:p>
            <a:pPr indent="0" marL="0">
              <a:buNone/>
            </a:pPr>
            <a:r>
              <a:rPr lang="en-US" sz="900" dirty="0">
                <a:solidFill>
                  <a:srgbClr val="5C4033"/>
                </a:solidFill>
                <a:latin typeface="Calibri" pitchFamily="34" charset="0"/>
                <a:ea typeface="Calibri" pitchFamily="34" charset="-122"/>
                <a:cs typeface="Calibri" pitchFamily="34" charset="-120"/>
              </a:rPr>
              <a:t>silos, tanks, gates</a:t>
            </a:r>
            <a:endParaRPr lang="en-US" sz="900" dirty="0"/>
          </a:p>
        </p:txBody>
      </p:sp>
      <p:sp>
        <p:nvSpPr>
          <p:cNvPr id="36" name="Shape 28"/>
          <p:cNvSpPr/>
          <p:nvPr/>
        </p:nvSpPr>
        <p:spPr>
          <a:xfrm>
            <a:off x="457200" y="4572000"/>
            <a:ext cx="8229600" cy="365760"/>
          </a:xfrm>
          <a:prstGeom prst="rect">
            <a:avLst/>
          </a:prstGeom>
          <a:solidFill>
            <a:srgbClr val="EDE8E0"/>
          </a:solidFill>
          <a:ln w="12700">
            <a:solidFill>
              <a:srgbClr val="B87333"/>
            </a:solidFill>
            <a:prstDash val="solid"/>
          </a:ln>
        </p:spPr>
        <p:txBody>
          <a:bodyPr/>
          <a:p/>
        </p:txBody>
      </p:sp>
      <p:sp>
        <p:nvSpPr>
          <p:cNvPr id="37" name="Text 29"/>
          <p:cNvSpPr/>
          <p:nvPr/>
        </p:nvSpPr>
        <p:spPr>
          <a:xfrm>
            <a:off x="640080" y="4572000"/>
            <a:ext cx="7863840" cy="365760"/>
          </a:xfrm>
          <a:prstGeom prst="rect">
            <a:avLst/>
          </a:prstGeom>
          <a:noFill/>
          <a:ln/>
        </p:spPr>
        <p:txBody>
          <a:bodyPr wrap="square" rtlCol="0" anchor="ctr"/>
          <a:lstStyle/>
          <a:p>
            <a:pPr algn="ctr" indent="0" marL="0">
              <a:buNone/>
            </a:pPr>
            <a:r>
              <a:rPr lang="en-US" sz="900" b="1" dirty="0">
                <a:solidFill>
                  <a:srgbClr val="8B5A2B"/>
                </a:solidFill>
                <a:latin typeface="Calibri" pitchFamily="34" charset="0"/>
                <a:ea typeface="Calibri" pitchFamily="34" charset="-122"/>
                <a:cs typeface="Calibri" pitchFamily="34" charset="-120"/>
              </a:rPr>
              <a:t>Mechanically stabilized earth: retaining walls reinforced with galvanized steel strips — Freyssinet/Geoquest is a historical PYGLARA client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14 / 30</a:t>
            </a:r>
            <a:endParaRPr lang="en-US" sz="800" dirty="0"/>
          </a:p>
        </p:txBody>
      </p:sp>
      <p:sp>
        <p:nvSpPr>
          <p:cNvPr id="4" name="Shape 2"/>
          <p:cNvSpPr/>
          <p:nvPr/>
        </p:nvSpPr>
        <p:spPr>
          <a:xfrm>
            <a:off x="0" y="45720"/>
            <a:ext cx="54864" cy="5097780"/>
          </a:xfrm>
          <a:prstGeom prst="rect">
            <a:avLst/>
          </a:prstGeom>
          <a:solidFill>
            <a:srgbClr val="B87333"/>
          </a:solidFill>
          <a:ln/>
        </p:spPr>
        <p:txBody>
          <a:bodyPr/>
          <a:p/>
        </p:txBody>
      </p:sp>
      <p:sp>
        <p:nvSpPr>
          <p:cNvPr id="5" name="Text 3"/>
          <p:cNvSpPr/>
          <p:nvPr/>
        </p:nvSpPr>
        <p:spPr>
          <a:xfrm>
            <a:off x="548640" y="228600"/>
            <a:ext cx="4754880" cy="457200"/>
          </a:xfrm>
          <a:prstGeom prst="rect">
            <a:avLst/>
          </a:prstGeom>
          <a:noFill/>
          <a:ln/>
        </p:spPr>
        <p:txBody>
          <a:bodyPr wrap="square" lIns="0" tIns="0" rIns="0" bIns="0" rtlCol="0" anchor="ctr"/>
          <a:lstStyle/>
          <a:p>
            <a:pPr indent="0" marL="0">
              <a:buNone/>
            </a:pPr>
            <a:r>
              <a:rPr lang="en-US" sz="2200" b="1" dirty="0">
                <a:solidFill>
                  <a:srgbClr val="3E2C1C"/>
                </a:solidFill>
                <a:latin typeface="Georgia" pitchFamily="34" charset="0"/>
                <a:ea typeface="Georgia" pitchFamily="34" charset="-122"/>
                <a:cs typeface="Georgia" pitchFamily="34" charset="-120"/>
              </a:rPr>
              <a:t>COPPER ELECTROPLATING</a:t>
            </a:r>
            <a:endParaRPr lang="en-US" sz="2200" dirty="0"/>
          </a:p>
        </p:txBody>
      </p:sp>
      <p:sp>
        <p:nvSpPr>
          <p:cNvPr id="6" name="Text 4"/>
          <p:cNvSpPr/>
          <p:nvPr/>
        </p:nvSpPr>
        <p:spPr>
          <a:xfrm>
            <a:off x="548640" y="685800"/>
            <a:ext cx="4572000" cy="320040"/>
          </a:xfrm>
          <a:prstGeom prst="rect">
            <a:avLst/>
          </a:prstGeom>
          <a:noFill/>
          <a:ln/>
        </p:spPr>
        <p:txBody>
          <a:bodyPr wrap="square" lIns="0" tIns="0" rIns="0" bIns="0" rtlCol="0" anchor="ctr"/>
          <a:lstStyle/>
          <a:p>
            <a:pPr indent="0" marL="0">
              <a:buNone/>
            </a:pPr>
            <a:r>
              <a:rPr lang="en-US" sz="1400" b="1" dirty="0">
                <a:solidFill>
                  <a:srgbClr val="8B5A2B"/>
                </a:solidFill>
                <a:latin typeface="Georgia" pitchFamily="34" charset="0"/>
                <a:ea typeface="Georgia" pitchFamily="34" charset="-122"/>
                <a:cs typeface="Georgia" pitchFamily="34" charset="-120"/>
              </a:rPr>
              <a:t>ZERO domestic competitors</a:t>
            </a:r>
            <a:endParaRPr lang="en-US" sz="1400" dirty="0"/>
          </a:p>
        </p:txBody>
      </p:sp>
      <p:sp>
        <p:nvSpPr>
          <p:cNvPr id="7" name="Text 5"/>
          <p:cNvSpPr/>
          <p:nvPr/>
        </p:nvSpPr>
        <p:spPr>
          <a:xfrm>
            <a:off x="548640" y="1280160"/>
            <a:ext cx="1645920" cy="347472"/>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Product</a:t>
            </a:r>
            <a:endParaRPr lang="en-US" sz="1000" dirty="0"/>
          </a:p>
        </p:txBody>
      </p:sp>
      <p:sp>
        <p:nvSpPr>
          <p:cNvPr id="8" name="Text 6"/>
          <p:cNvSpPr/>
          <p:nvPr/>
        </p:nvSpPr>
        <p:spPr>
          <a:xfrm>
            <a:off x="2194560" y="1280160"/>
            <a:ext cx="2926080" cy="347472"/>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Copperweld-type grounding rods</a:t>
            </a:r>
            <a:endParaRPr lang="en-US" sz="1000" dirty="0"/>
          </a:p>
        </p:txBody>
      </p:sp>
      <p:sp>
        <p:nvSpPr>
          <p:cNvPr id="9" name="Text 7"/>
          <p:cNvSpPr/>
          <p:nvPr/>
        </p:nvSpPr>
        <p:spPr>
          <a:xfrm>
            <a:off x="548640" y="1719072"/>
            <a:ext cx="1645920" cy="347472"/>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Process</a:t>
            </a:r>
            <a:endParaRPr lang="en-US" sz="1000" dirty="0"/>
          </a:p>
        </p:txBody>
      </p:sp>
      <p:sp>
        <p:nvSpPr>
          <p:cNvPr id="10" name="Text 8"/>
          <p:cNvSpPr/>
          <p:nvPr/>
        </p:nvSpPr>
        <p:spPr>
          <a:xfrm>
            <a:off x="2194560" y="1719072"/>
            <a:ext cx="2926080" cy="347472"/>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Copper electroplating (electrolytic bath)</a:t>
            </a:r>
            <a:endParaRPr lang="en-US" sz="1000" dirty="0"/>
          </a:p>
        </p:txBody>
      </p:sp>
      <p:sp>
        <p:nvSpPr>
          <p:cNvPr id="11" name="Text 9"/>
          <p:cNvSpPr/>
          <p:nvPr/>
        </p:nvSpPr>
        <p:spPr>
          <a:xfrm>
            <a:off x="548640" y="2157984"/>
            <a:ext cx="1645920" cy="347472"/>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Diameter</a:t>
            </a:r>
            <a:endParaRPr lang="en-US" sz="1000" dirty="0"/>
          </a:p>
        </p:txBody>
      </p:sp>
      <p:sp>
        <p:nvSpPr>
          <p:cNvPr id="12" name="Text 10"/>
          <p:cNvSpPr/>
          <p:nvPr/>
        </p:nvSpPr>
        <p:spPr>
          <a:xfrm>
            <a:off x="2194560" y="2157984"/>
            <a:ext cx="2926080" cy="347472"/>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5/8" to 1"</a:t>
            </a:r>
            <a:endParaRPr lang="en-US" sz="1000" dirty="0"/>
          </a:p>
        </p:txBody>
      </p:sp>
      <p:sp>
        <p:nvSpPr>
          <p:cNvPr id="13" name="Text 11"/>
          <p:cNvSpPr/>
          <p:nvPr/>
        </p:nvSpPr>
        <p:spPr>
          <a:xfrm>
            <a:off x="548640" y="2596896"/>
            <a:ext cx="1645920" cy="347472"/>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Length</a:t>
            </a:r>
            <a:endParaRPr lang="en-US" sz="1000" dirty="0"/>
          </a:p>
        </p:txBody>
      </p:sp>
      <p:sp>
        <p:nvSpPr>
          <p:cNvPr id="14" name="Text 12"/>
          <p:cNvSpPr/>
          <p:nvPr/>
        </p:nvSpPr>
        <p:spPr>
          <a:xfrm>
            <a:off x="2194560" y="2596896"/>
            <a:ext cx="2926080" cy="347472"/>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1.2m to 3.0m</a:t>
            </a:r>
            <a:endParaRPr lang="en-US" sz="1000" dirty="0"/>
          </a:p>
        </p:txBody>
      </p:sp>
      <p:sp>
        <p:nvSpPr>
          <p:cNvPr id="15" name="Text 13"/>
          <p:cNvSpPr/>
          <p:nvPr/>
        </p:nvSpPr>
        <p:spPr>
          <a:xfrm>
            <a:off x="548640" y="3035808"/>
            <a:ext cx="1645920" cy="347472"/>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Coating</a:t>
            </a:r>
            <a:endParaRPr lang="en-US" sz="1000" dirty="0"/>
          </a:p>
        </p:txBody>
      </p:sp>
      <p:sp>
        <p:nvSpPr>
          <p:cNvPr id="16" name="Text 14"/>
          <p:cNvSpPr/>
          <p:nvPr/>
        </p:nvSpPr>
        <p:spPr>
          <a:xfrm>
            <a:off x="2194560" y="3035808"/>
            <a:ext cx="2926080" cy="347472"/>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300 um +/- 50 copper</a:t>
            </a:r>
            <a:endParaRPr lang="en-US" sz="1000" dirty="0"/>
          </a:p>
        </p:txBody>
      </p:sp>
      <p:sp>
        <p:nvSpPr>
          <p:cNvPr id="17" name="Text 15"/>
          <p:cNvSpPr/>
          <p:nvPr/>
        </p:nvSpPr>
        <p:spPr>
          <a:xfrm>
            <a:off x="548640" y="3474720"/>
            <a:ext cx="1645920" cy="347472"/>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Capacity</a:t>
            </a:r>
            <a:endParaRPr lang="en-US" sz="1000" dirty="0"/>
          </a:p>
        </p:txBody>
      </p:sp>
      <p:sp>
        <p:nvSpPr>
          <p:cNvPr id="18" name="Text 16"/>
          <p:cNvSpPr/>
          <p:nvPr/>
        </p:nvSpPr>
        <p:spPr>
          <a:xfrm>
            <a:off x="2194560" y="3474720"/>
            <a:ext cx="2926080" cy="347472"/>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936 units/day (24h cycle)</a:t>
            </a:r>
            <a:endParaRPr lang="en-US" sz="1000" dirty="0"/>
          </a:p>
        </p:txBody>
      </p:sp>
      <p:sp>
        <p:nvSpPr>
          <p:cNvPr id="19" name="Text 17"/>
          <p:cNvSpPr/>
          <p:nvPr/>
        </p:nvSpPr>
        <p:spPr>
          <a:xfrm>
            <a:off x="548640" y="3913632"/>
            <a:ext cx="1645920" cy="347472"/>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Revenue</a:t>
            </a:r>
            <a:endParaRPr lang="en-US" sz="1000" dirty="0"/>
          </a:p>
        </p:txBody>
      </p:sp>
      <p:sp>
        <p:nvSpPr>
          <p:cNvPr id="20" name="Text 18"/>
          <p:cNvSpPr/>
          <p:nvPr/>
        </p:nvSpPr>
        <p:spPr>
          <a:xfrm>
            <a:off x="2194560" y="3913632"/>
            <a:ext cx="2926080" cy="347472"/>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$561K - $1.05M/year at full capacity</a:t>
            </a:r>
            <a:endParaRPr lang="en-US" sz="1000" dirty="0"/>
          </a:p>
        </p:txBody>
      </p:sp>
      <p:sp>
        <p:nvSpPr>
          <p:cNvPr id="21" name="Shape 19"/>
          <p:cNvSpPr/>
          <p:nvPr/>
        </p:nvSpPr>
        <p:spPr>
          <a:xfrm>
            <a:off x="548640" y="4434840"/>
            <a:ext cx="4572000" cy="502920"/>
          </a:xfrm>
          <a:prstGeom prst="rect">
            <a:avLst/>
          </a:prstGeom>
          <a:solidFill>
            <a:srgbClr val="EDE8E0"/>
          </a:solidFill>
          <a:ln w="12700">
            <a:solidFill>
              <a:srgbClr val="B87333"/>
            </a:solidFill>
            <a:prstDash val="solid"/>
          </a:ln>
        </p:spPr>
        <p:txBody>
          <a:bodyPr/>
          <a:p/>
        </p:txBody>
      </p:sp>
      <p:sp>
        <p:nvSpPr>
          <p:cNvPr id="22" name="Text 20"/>
          <p:cNvSpPr/>
          <p:nvPr/>
        </p:nvSpPr>
        <p:spPr>
          <a:xfrm>
            <a:off x="640080" y="4434840"/>
            <a:ext cx="4389120" cy="502920"/>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ENELVEN (now CORPOELEC) purchased 20,000 rods in 2004-2005</a:t>
            </a:r>
            <a:endParaRPr lang="en-US" sz="1000" dirty="0"/>
          </a:p>
        </p:txBody>
      </p:sp>
      <p:pic>
        <p:nvPicPr>
          <p:cNvPr id="23" name="Image 0" descr="/sessions/sweet-gallant-wright/pyglara-deck/images/rectificadores.jpg"/>
          <p:cNvPicPr>
            <a:picLocks noChangeAspect="1"/>
          </p:cNvPicPr>
          <p:nvPr/>
        </p:nvPicPr>
        <p:blipFill>
          <a:blip r:embed="rId1"/>
          <a:srcRect l="0" r="0" t="0" b="0"/>
          <a:stretch/>
        </p:blipFill>
        <p:spPr>
          <a:xfrm>
            <a:off x="5303520" y="457200"/>
            <a:ext cx="3383280" cy="4206240"/>
          </a:xfrm>
          <a:prstGeom prst="rect">
            <a:avLst/>
          </a:prstGeom>
        </p:spPr>
      </p:pic>
      <p:sp>
        <p:nvSpPr>
          <p:cNvPr id="24" name="Shape 21"/>
          <p:cNvSpPr/>
          <p:nvPr/>
        </p:nvSpPr>
        <p:spPr>
          <a:xfrm>
            <a:off x="5303520" y="457200"/>
            <a:ext cx="3383280" cy="4206240"/>
          </a:xfrm>
          <a:prstGeom prst="rect">
            <a:avLst/>
          </a:prstGeom>
          <a:ln w="19050">
            <a:solidFill>
              <a:srgbClr val="B87333"/>
            </a:solidFill>
            <a:prstDash val="solid"/>
          </a:ln>
        </p:spPr>
        <p:txBody>
          <a:bodyPr/>
          <a:p/>
        </p:txBody>
      </p:sp>
      <p:sp>
        <p:nvSpPr>
          <p:cNvPr id="25" name="TextBox 24"/>
          <p:cNvSpPr txBox="1"/>
          <p:nvPr/>
        </p:nvSpPr>
        <p:spPr>
          <a:xfrm>
            <a:off x="4389120" y="3977639"/>
            <a:ext cx="3840480" cy="411480"/>
          </a:xfrm>
          <a:prstGeom prst="rect">
            <a:avLst/>
          </a:prstGeom>
          <a:noFill/>
        </p:spPr>
        <p:txBody>
          <a:bodyPr wrap="square">
            <a:spAutoFit/>
          </a:bodyPr>
          <a:lstStyle/>
          <a:p>
            <a:pPr algn="l"/>
            <a:r>
              <a:rPr sz="900" b="1">
                <a:solidFill>
                  <a:srgbClr val="B87333"/>
                </a:solidFill>
                <a:latin typeface="Calibri"/>
              </a:rPr>
              <a:t>Global copper ground rod market: $2.5B (2025), growing 7% CAGR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15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QUALITY &amp; CERTIFICATIONS</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International certifications + quality control on every batch</a:t>
            </a:r>
            <a:endParaRPr lang="en-US" sz="1200" dirty="0"/>
          </a:p>
        </p:txBody>
      </p:sp>
      <p:pic>
        <p:nvPicPr>
          <p:cNvPr id="6" name="Image 0" descr="/sessions/sweet-gallant-wright/pyglara-deck/images/certificado.jpg"/>
          <p:cNvPicPr>
            <a:picLocks noChangeAspect="1"/>
          </p:cNvPicPr>
          <p:nvPr/>
        </p:nvPicPr>
        <p:blipFill>
          <a:blip r:embed="rId1"/>
          <a:srcRect l="0" r="0" t="0" b="0"/>
          <a:stretch/>
        </p:blipFill>
        <p:spPr>
          <a:xfrm>
            <a:off x="548640" y="1097280"/>
            <a:ext cx="3200400" cy="3566160"/>
          </a:xfrm>
          <a:prstGeom prst="rect">
            <a:avLst/>
          </a:prstGeom>
        </p:spPr>
      </p:pic>
      <p:sp>
        <p:nvSpPr>
          <p:cNvPr id="7" name="Shape 4"/>
          <p:cNvSpPr/>
          <p:nvPr/>
        </p:nvSpPr>
        <p:spPr>
          <a:xfrm>
            <a:off x="548640" y="1097280"/>
            <a:ext cx="3200400" cy="3566160"/>
          </a:xfrm>
          <a:prstGeom prst="rect">
            <a:avLst/>
          </a:prstGeom>
          <a:ln w="19050">
            <a:solidFill>
              <a:srgbClr val="B87333"/>
            </a:solidFill>
            <a:prstDash val="solid"/>
          </a:ln>
          <a:effectLst>
            <a:outerShdw sx="100000" sy="100000" kx="0" ky="0" algn="bl" rotWithShape="0" blurRad="50800" dist="25400" dir="8100000">
              <a:srgbClr val="000000">
                <a:alpha val="8000"/>
              </a:srgbClr>
            </a:outerShdw>
          </a:effectLst>
        </p:spPr>
        <p:txBody>
          <a:bodyPr/>
          <a:p/>
        </p:txBody>
      </p:sp>
      <p:sp>
        <p:nvSpPr>
          <p:cNvPr id="8" name="Shape 5"/>
          <p:cNvSpPr/>
          <p:nvPr/>
        </p:nvSpPr>
        <p:spPr>
          <a:xfrm>
            <a:off x="4114800" y="1280160"/>
            <a:ext cx="457200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9" name="Shape 6"/>
          <p:cNvSpPr/>
          <p:nvPr/>
        </p:nvSpPr>
        <p:spPr>
          <a:xfrm>
            <a:off x="4114800" y="1280160"/>
            <a:ext cx="54864" cy="777240"/>
          </a:xfrm>
          <a:prstGeom prst="rect">
            <a:avLst/>
          </a:prstGeom>
          <a:solidFill>
            <a:srgbClr val="B87333"/>
          </a:solidFill>
          <a:ln/>
        </p:spPr>
        <p:txBody>
          <a:bodyPr/>
          <a:p/>
        </p:txBody>
      </p:sp>
      <p:pic>
        <p:nvPicPr>
          <p:cNvPr id="10" name="Image 1" descr="preencoded.png"/>
          <p:cNvPicPr>
            <a:picLocks noChangeAspect="1"/>
          </p:cNvPicPr>
          <p:nvPr/>
        </p:nvPicPr>
        <p:blipFill>
          <a:blip r:embed="rId2"/>
          <a:stretch>
            <a:fillRect/>
          </a:stretch>
        </p:blipFill>
        <p:spPr>
          <a:xfrm>
            <a:off x="4297680" y="1463040"/>
            <a:ext cx="320040" cy="320040"/>
          </a:xfrm>
          <a:prstGeom prst="rect">
            <a:avLst/>
          </a:prstGeom>
        </p:spPr>
      </p:pic>
      <p:sp>
        <p:nvSpPr>
          <p:cNvPr id="11" name="Text 7"/>
          <p:cNvSpPr/>
          <p:nvPr/>
        </p:nvSpPr>
        <p:spPr>
          <a:xfrm>
            <a:off x="4754880" y="1280160"/>
            <a:ext cx="3657600" cy="411480"/>
          </a:xfrm>
          <a:prstGeom prst="rect">
            <a:avLst/>
          </a:prstGeom>
          <a:noFill/>
          <a:ln/>
        </p:spPr>
        <p:txBody>
          <a:bodyPr wrap="square" lIns="0" tIns="0" rIns="0" bIns="0" rtlCol="0" anchor="b"/>
          <a:lstStyle/>
          <a:p>
            <a:pPr indent="0" marL="0">
              <a:buNone/>
            </a:pPr>
            <a:r>
              <a:rPr lang="en-US" sz="1300" b="1" dirty="0">
                <a:solidFill>
                  <a:srgbClr val="8B5A2B"/>
                </a:solidFill>
                <a:latin typeface="Georgia" pitchFamily="34" charset="0"/>
                <a:ea typeface="Georgia" pitchFamily="34" charset="-122"/>
                <a:cs typeface="Georgia" pitchFamily="34" charset="-120"/>
              </a:rPr>
              <a:t>COVENIN 1212-81</a:t>
            </a:r>
            <a:endParaRPr lang="en-US" sz="1300" dirty="0"/>
          </a:p>
        </p:txBody>
      </p:sp>
      <p:sp>
        <p:nvSpPr>
          <p:cNvPr id="12" name="Text 8"/>
          <p:cNvSpPr/>
          <p:nvPr/>
        </p:nvSpPr>
        <p:spPr>
          <a:xfrm>
            <a:off x="4754880" y="1691640"/>
            <a:ext cx="3657600" cy="320040"/>
          </a:xfrm>
          <a:prstGeom prst="rect">
            <a:avLst/>
          </a:prstGeom>
          <a:noFill/>
          <a:ln/>
        </p:spPr>
        <p:txBody>
          <a:bodyPr wrap="square" lIns="0" tIns="0" rIns="0" bIns="0" rtlCol="0" anchor="t"/>
          <a:lstStyle/>
          <a:p>
            <a:pPr indent="0" marL="0">
              <a:buNone/>
            </a:pPr>
            <a:r>
              <a:rPr lang="en-US" sz="1000" dirty="0">
                <a:solidFill>
                  <a:srgbClr val="7A6555"/>
                </a:solidFill>
                <a:latin typeface="Calibri" pitchFamily="34" charset="0"/>
                <a:ea typeface="Calibri" pitchFamily="34" charset="-122"/>
                <a:cs typeface="Calibri" pitchFamily="34" charset="-120"/>
              </a:rPr>
              <a:t>Venezuelan galvanizing standard</a:t>
            </a:r>
            <a:endParaRPr lang="en-US" sz="1000" dirty="0"/>
          </a:p>
        </p:txBody>
      </p:sp>
      <p:sp>
        <p:nvSpPr>
          <p:cNvPr id="13" name="Shape 9"/>
          <p:cNvSpPr/>
          <p:nvPr/>
        </p:nvSpPr>
        <p:spPr>
          <a:xfrm>
            <a:off x="4114800" y="2240280"/>
            <a:ext cx="457200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4" name="Shape 10"/>
          <p:cNvSpPr/>
          <p:nvPr/>
        </p:nvSpPr>
        <p:spPr>
          <a:xfrm>
            <a:off x="4114800" y="2240280"/>
            <a:ext cx="54864" cy="777240"/>
          </a:xfrm>
          <a:prstGeom prst="rect">
            <a:avLst/>
          </a:prstGeom>
          <a:solidFill>
            <a:srgbClr val="B87333"/>
          </a:solidFill>
          <a:ln/>
        </p:spPr>
        <p:txBody>
          <a:bodyPr/>
          <a:p/>
        </p:txBody>
      </p:sp>
      <p:pic>
        <p:nvPicPr>
          <p:cNvPr id="15" name="Image 2" descr="preencoded.png"/>
          <p:cNvPicPr>
            <a:picLocks noChangeAspect="1"/>
          </p:cNvPicPr>
          <p:nvPr/>
        </p:nvPicPr>
        <p:blipFill>
          <a:blip r:embed="rId3"/>
          <a:stretch>
            <a:fillRect/>
          </a:stretch>
        </p:blipFill>
        <p:spPr>
          <a:xfrm>
            <a:off x="4297680" y="2423160"/>
            <a:ext cx="320040" cy="320040"/>
          </a:xfrm>
          <a:prstGeom prst="rect">
            <a:avLst/>
          </a:prstGeom>
        </p:spPr>
      </p:pic>
      <p:sp>
        <p:nvSpPr>
          <p:cNvPr id="16" name="Text 11"/>
          <p:cNvSpPr/>
          <p:nvPr/>
        </p:nvSpPr>
        <p:spPr>
          <a:xfrm>
            <a:off x="4754880" y="2240280"/>
            <a:ext cx="3657600" cy="411480"/>
          </a:xfrm>
          <a:prstGeom prst="rect">
            <a:avLst/>
          </a:prstGeom>
          <a:noFill/>
          <a:ln/>
        </p:spPr>
        <p:txBody>
          <a:bodyPr wrap="square" lIns="0" tIns="0" rIns="0" bIns="0" rtlCol="0" anchor="b"/>
          <a:lstStyle/>
          <a:p>
            <a:pPr indent="0" marL="0">
              <a:buNone/>
            </a:pPr>
            <a:r>
              <a:rPr lang="en-US" sz="1300" b="1" dirty="0">
                <a:solidFill>
                  <a:srgbClr val="8B5A2B"/>
                </a:solidFill>
                <a:latin typeface="Georgia" pitchFamily="34" charset="0"/>
                <a:ea typeface="Georgia" pitchFamily="34" charset="-122"/>
                <a:cs typeface="Georgia" pitchFamily="34" charset="-120"/>
              </a:rPr>
              <a:t>ASTM A123</a:t>
            </a:r>
            <a:endParaRPr lang="en-US" sz="1300" dirty="0"/>
          </a:p>
        </p:txBody>
      </p:sp>
      <p:sp>
        <p:nvSpPr>
          <p:cNvPr id="17" name="Text 12"/>
          <p:cNvSpPr/>
          <p:nvPr/>
        </p:nvSpPr>
        <p:spPr>
          <a:xfrm>
            <a:off x="4754880" y="2651760"/>
            <a:ext cx="3657600" cy="320040"/>
          </a:xfrm>
          <a:prstGeom prst="rect">
            <a:avLst/>
          </a:prstGeom>
          <a:noFill/>
          <a:ln/>
        </p:spPr>
        <p:txBody>
          <a:bodyPr wrap="square" lIns="0" tIns="0" rIns="0" bIns="0" rtlCol="0" anchor="t"/>
          <a:lstStyle/>
          <a:p>
            <a:pPr indent="0" marL="0">
              <a:buNone/>
            </a:pPr>
            <a:r>
              <a:rPr lang="en-US" sz="1000" dirty="0">
                <a:solidFill>
                  <a:srgbClr val="7A6555"/>
                </a:solidFill>
                <a:latin typeface="Calibri" pitchFamily="34" charset="0"/>
                <a:ea typeface="Calibri" pitchFamily="34" charset="-122"/>
                <a:cs typeface="Calibri" pitchFamily="34" charset="-120"/>
              </a:rPr>
              <a:t>Zinc coatings on iron/steel</a:t>
            </a:r>
            <a:endParaRPr lang="en-US" sz="1000" dirty="0"/>
          </a:p>
        </p:txBody>
      </p:sp>
      <p:sp>
        <p:nvSpPr>
          <p:cNvPr id="18" name="Shape 13"/>
          <p:cNvSpPr/>
          <p:nvPr/>
        </p:nvSpPr>
        <p:spPr>
          <a:xfrm>
            <a:off x="4114800" y="3200400"/>
            <a:ext cx="457200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9" name="Shape 14"/>
          <p:cNvSpPr/>
          <p:nvPr/>
        </p:nvSpPr>
        <p:spPr>
          <a:xfrm>
            <a:off x="4114800" y="3200400"/>
            <a:ext cx="54864" cy="777240"/>
          </a:xfrm>
          <a:prstGeom prst="rect">
            <a:avLst/>
          </a:prstGeom>
          <a:solidFill>
            <a:srgbClr val="B87333"/>
          </a:solidFill>
          <a:ln/>
        </p:spPr>
        <p:txBody>
          <a:bodyPr/>
          <a:p/>
        </p:txBody>
      </p:sp>
      <p:pic>
        <p:nvPicPr>
          <p:cNvPr id="20" name="Image 3" descr="preencoded.png"/>
          <p:cNvPicPr>
            <a:picLocks noChangeAspect="1"/>
          </p:cNvPicPr>
          <p:nvPr/>
        </p:nvPicPr>
        <p:blipFill>
          <a:blip r:embed="rId4"/>
          <a:stretch>
            <a:fillRect/>
          </a:stretch>
        </p:blipFill>
        <p:spPr>
          <a:xfrm>
            <a:off x="4297680" y="3383280"/>
            <a:ext cx="320040" cy="320040"/>
          </a:xfrm>
          <a:prstGeom prst="rect">
            <a:avLst/>
          </a:prstGeom>
        </p:spPr>
      </p:pic>
      <p:sp>
        <p:nvSpPr>
          <p:cNvPr id="21" name="Text 15"/>
          <p:cNvSpPr/>
          <p:nvPr/>
        </p:nvSpPr>
        <p:spPr>
          <a:xfrm>
            <a:off x="4754880" y="3200400"/>
            <a:ext cx="3657600" cy="411480"/>
          </a:xfrm>
          <a:prstGeom prst="rect">
            <a:avLst/>
          </a:prstGeom>
          <a:noFill/>
          <a:ln/>
        </p:spPr>
        <p:txBody>
          <a:bodyPr wrap="square" lIns="0" tIns="0" rIns="0" bIns="0" rtlCol="0" anchor="b"/>
          <a:lstStyle/>
          <a:p>
            <a:pPr indent="0" marL="0">
              <a:buNone/>
            </a:pPr>
            <a:r>
              <a:rPr lang="en-US" sz="1300" b="1" dirty="0">
                <a:solidFill>
                  <a:srgbClr val="8B5A2B"/>
                </a:solidFill>
                <a:latin typeface="Georgia" pitchFamily="34" charset="0"/>
                <a:ea typeface="Georgia" pitchFamily="34" charset="-122"/>
                <a:cs typeface="Georgia" pitchFamily="34" charset="-120"/>
              </a:rPr>
              <a:t>ASTM A153</a:t>
            </a:r>
            <a:endParaRPr lang="en-US" sz="1300" dirty="0"/>
          </a:p>
        </p:txBody>
      </p:sp>
      <p:sp>
        <p:nvSpPr>
          <p:cNvPr id="22" name="Text 16"/>
          <p:cNvSpPr/>
          <p:nvPr/>
        </p:nvSpPr>
        <p:spPr>
          <a:xfrm>
            <a:off x="4754880" y="3611880"/>
            <a:ext cx="3657600" cy="320040"/>
          </a:xfrm>
          <a:prstGeom prst="rect">
            <a:avLst/>
          </a:prstGeom>
          <a:noFill/>
          <a:ln/>
        </p:spPr>
        <p:txBody>
          <a:bodyPr wrap="square" lIns="0" tIns="0" rIns="0" bIns="0" rtlCol="0" anchor="t"/>
          <a:lstStyle/>
          <a:p>
            <a:pPr indent="0" marL="0">
              <a:buNone/>
            </a:pPr>
            <a:r>
              <a:rPr lang="en-US" sz="1000" dirty="0">
                <a:solidFill>
                  <a:srgbClr val="7A6555"/>
                </a:solidFill>
                <a:latin typeface="Calibri" pitchFamily="34" charset="0"/>
                <a:ea typeface="Calibri" pitchFamily="34" charset="-122"/>
                <a:cs typeface="Calibri" pitchFamily="34" charset="-120"/>
              </a:rPr>
              <a:t>Zinc coatings on hardware</a:t>
            </a:r>
            <a:endParaRPr lang="en-US" sz="1000" dirty="0"/>
          </a:p>
        </p:txBody>
      </p:sp>
      <p:sp>
        <p:nvSpPr>
          <p:cNvPr id="23" name="Shape 17"/>
          <p:cNvSpPr/>
          <p:nvPr/>
        </p:nvSpPr>
        <p:spPr>
          <a:xfrm>
            <a:off x="4114800" y="4206240"/>
            <a:ext cx="4572000" cy="502920"/>
          </a:xfrm>
          <a:prstGeom prst="rect">
            <a:avLst/>
          </a:prstGeom>
          <a:solidFill>
            <a:srgbClr val="EDE8E0"/>
          </a:solidFill>
          <a:ln w="12700">
            <a:solidFill>
              <a:srgbClr val="B87333"/>
            </a:solidFill>
            <a:prstDash val="solid"/>
          </a:ln>
        </p:spPr>
        <p:txBody>
          <a:bodyPr/>
          <a:p/>
        </p:txBody>
      </p:sp>
      <p:sp>
        <p:nvSpPr>
          <p:cNvPr id="24" name="Text 18"/>
          <p:cNvSpPr/>
          <p:nvPr/>
        </p:nvSpPr>
        <p:spPr>
          <a:xfrm>
            <a:off x="4206240" y="4206240"/>
            <a:ext cx="4389120" cy="502920"/>
          </a:xfrm>
          <a:prstGeom prst="rect">
            <a:avLst/>
          </a:prstGeom>
          <a:noFill/>
          <a:ln/>
        </p:spPr>
        <p:txBody>
          <a:bodyPr wrap="square" lIns="0" tIns="0" rIns="0" bIns="0" rtlCol="0" anchor="ctr"/>
          <a:lstStyle/>
          <a:p>
            <a:pPr indent="0" marL="0">
              <a:buNone/>
            </a:pPr>
            <a:r>
              <a:rPr lang="en-US" sz="1100" b="1" i="1" dirty="0">
                <a:solidFill>
                  <a:srgbClr val="8B5A2B"/>
                </a:solidFill>
                <a:latin typeface="Calibri" pitchFamily="34" charset="0"/>
                <a:ea typeface="Calibri" pitchFamily="34" charset="-122"/>
                <a:cs typeface="Calibri" pitchFamily="34" charset="-120"/>
              </a:rPr>
              <a:t>"Certificamos cada lote — espesor obtenido: 101 um (55% sobre especificacion)"</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16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3000" b="1" dirty="0">
                <a:solidFill>
                  <a:srgbClr val="3E2C1C"/>
                </a:solidFill>
                <a:latin typeface="Georgia" pitchFamily="34" charset="0"/>
                <a:ea typeface="Georgia" pitchFamily="34" charset="-122"/>
                <a:cs typeface="Georgia" pitchFamily="34" charset="-120"/>
              </a:rPr>
              <a:t>THE TEAM</a:t>
            </a:r>
            <a:endParaRPr lang="en-US" sz="30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50 years of accumulated experience in industrial galvanizing</a:t>
            </a:r>
            <a:endParaRPr lang="en-US" sz="1200" dirty="0"/>
          </a:p>
        </p:txBody>
      </p:sp>
      <p:sp>
        <p:nvSpPr>
          <p:cNvPr id="6" name="Shape 4"/>
          <p:cNvSpPr/>
          <p:nvPr/>
        </p:nvSpPr>
        <p:spPr>
          <a:xfrm>
            <a:off x="548640" y="1188720"/>
            <a:ext cx="3840480" cy="2377440"/>
          </a:xfrm>
          <a:prstGeom prst="rect">
            <a:avLst/>
          </a:prstGeom>
          <a:solidFill>
            <a:srgbClr val="FFFFFF"/>
          </a:solidFill>
          <a:ln w="19050">
            <a:solidFill>
              <a:srgbClr val="B87333"/>
            </a:solidFill>
            <a:prstDash val="solid"/>
          </a:ln>
          <a:effectLst>
            <a:outerShdw sx="100000" sy="100000" kx="0" ky="0" algn="bl" rotWithShape="0" blurRad="50800" dist="25400" dir="8100000">
              <a:srgbClr val="000000">
                <a:alpha val="8000"/>
              </a:srgbClr>
            </a:outerShdw>
          </a:effectLst>
        </p:spPr>
        <p:txBody>
          <a:bodyPr/>
          <a:p/>
        </p:txBody>
      </p:sp>
      <p:sp>
        <p:nvSpPr>
          <p:cNvPr id="7" name="Shape 5"/>
          <p:cNvSpPr/>
          <p:nvPr/>
        </p:nvSpPr>
        <p:spPr>
          <a:xfrm>
            <a:off x="548640" y="1188720"/>
            <a:ext cx="3840480" cy="36576"/>
          </a:xfrm>
          <a:prstGeom prst="rect">
            <a:avLst/>
          </a:prstGeom>
          <a:solidFill>
            <a:srgbClr val="B87333"/>
          </a:solidFill>
          <a:ln/>
        </p:spPr>
        <p:txBody>
          <a:bodyPr/>
          <a:p/>
        </p:txBody>
      </p:sp>
      <p:sp>
        <p:nvSpPr>
          <p:cNvPr id="8" name="Shape 6"/>
          <p:cNvSpPr/>
          <p:nvPr/>
        </p:nvSpPr>
        <p:spPr>
          <a:xfrm>
            <a:off x="822960" y="1417320"/>
            <a:ext cx="1097280" cy="1280160"/>
          </a:xfrm>
          <a:prstGeom prst="rect">
            <a:avLst/>
          </a:prstGeom>
          <a:solidFill>
            <a:srgbClr val="EDE8E0"/>
          </a:solidFill>
          <a:ln w="12700">
            <a:solidFill>
              <a:srgbClr val="D4C5B2"/>
            </a:solidFill>
            <a:prstDash val="solid"/>
          </a:ln>
        </p:spPr>
        <p:txBody>
          <a:bodyPr/>
          <a:p/>
        </p:txBody>
      </p:sp>
      <p:sp>
        <p:nvSpPr>
          <p:cNvPr id="9" name="Text 7"/>
          <p:cNvSpPr/>
          <p:nvPr/>
        </p:nvSpPr>
        <p:spPr>
          <a:xfrm>
            <a:off x="822960" y="1783080"/>
            <a:ext cx="1097280" cy="548640"/>
          </a:xfrm>
          <a:prstGeom prst="rect">
            <a:avLst/>
          </a:prstGeom>
          <a:noFill/>
          <a:ln/>
        </p:spPr>
        <p:txBody>
          <a:bodyPr wrap="square" rtlCol="0" anchor="ctr"/>
          <a:lstStyle/>
          <a:p>
            <a:pPr algn="ctr" indent="0" marL="0">
              <a:buNone/>
            </a:pPr>
            <a:r>
              <a:rPr lang="en-US" sz="1000" dirty="0">
                <a:solidFill>
                  <a:srgbClr val="7A6555"/>
                </a:solidFill>
                <a:latin typeface="Calibri" pitchFamily="34" charset="0"/>
                <a:ea typeface="Calibri" pitchFamily="34" charset="-122"/>
                <a:cs typeface="Calibri" pitchFamily="34" charset="-120"/>
              </a:rPr>
              <a:t>FOTO</a:t>
            </a:r>
            <a:endParaRPr lang="en-US" sz="1000" dirty="0"/>
          </a:p>
        </p:txBody>
      </p:sp>
      <p:sp>
        <p:nvSpPr>
          <p:cNvPr id="10" name="Text 8"/>
          <p:cNvSpPr/>
          <p:nvPr/>
        </p:nvSpPr>
        <p:spPr>
          <a:xfrm>
            <a:off x="2103120" y="1417320"/>
            <a:ext cx="2103120" cy="320040"/>
          </a:xfrm>
          <a:prstGeom prst="rect">
            <a:avLst/>
          </a:prstGeom>
          <a:noFill/>
          <a:ln/>
        </p:spPr>
        <p:txBody>
          <a:bodyPr wrap="square" lIns="0" tIns="0" rIns="0" bIns="0" rtlCol="0" anchor="ctr"/>
          <a:lstStyle/>
          <a:p>
            <a:pPr indent="0" marL="0">
              <a:buNone/>
            </a:pPr>
            <a:r>
              <a:rPr lang="en-US" sz="1200" b="1" dirty="0">
                <a:solidFill>
                  <a:srgbClr val="8B5A2B"/>
                </a:solidFill>
                <a:latin typeface="Georgia" pitchFamily="34" charset="0"/>
                <a:ea typeface="Georgia" pitchFamily="34" charset="-122"/>
                <a:cs typeface="Georgia" pitchFamily="34" charset="-120"/>
              </a:rPr>
              <a:t>Ing. Francisco Ballesteros Z.</a:t>
            </a:r>
            <a:endParaRPr lang="en-US" sz="1200" dirty="0"/>
          </a:p>
        </p:txBody>
      </p:sp>
      <p:sp>
        <p:nvSpPr>
          <p:cNvPr id="11" name="Text 9"/>
          <p:cNvSpPr/>
          <p:nvPr/>
        </p:nvSpPr>
        <p:spPr>
          <a:xfrm>
            <a:off x="2103120" y="1691640"/>
            <a:ext cx="2103120" cy="228600"/>
          </a:xfrm>
          <a:prstGeom prst="rect">
            <a:avLst/>
          </a:prstGeom>
          <a:noFill/>
          <a:ln/>
        </p:spPr>
        <p:txBody>
          <a:bodyPr wrap="square" lIns="0" tIns="0" rIns="0" bIns="0" rtlCol="0" anchor="ctr"/>
          <a:lstStyle/>
          <a:p>
            <a:pPr indent="0" marL="0">
              <a:buNone/>
            </a:pPr>
            <a:r>
              <a:rPr lang="en-US" sz="900" b="1" spc="200" kern="0" dirty="0">
                <a:solidFill>
                  <a:srgbClr val="B87333"/>
                </a:solidFill>
                <a:latin typeface="Calibri" pitchFamily="34" charset="0"/>
                <a:ea typeface="Calibri" pitchFamily="34" charset="-122"/>
                <a:cs typeface="Calibri" pitchFamily="34" charset="-120"/>
              </a:rPr>
              <a:t>FOUNDER</a:t>
            </a:r>
            <a:endParaRPr lang="en-US" sz="900" dirty="0"/>
          </a:p>
        </p:txBody>
      </p:sp>
      <p:sp>
        <p:nvSpPr>
          <p:cNvPr id="12" name="Text 10"/>
          <p:cNvSpPr/>
          <p:nvPr/>
        </p:nvSpPr>
        <p:spPr>
          <a:xfrm>
            <a:off x="2103120" y="1965960"/>
            <a:ext cx="2103120" cy="10972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Founded and led PYGLARA for over 50 years, keeping it operational through economic contractions exceeding 70%. Extensive industrial network across Venezuela and abroad. Undisputed authority in industrial galvanizing.</a:t>
            </a:r>
            <a:endParaRPr lang="en-US" sz="900" dirty="0"/>
          </a:p>
        </p:txBody>
      </p:sp>
      <p:sp>
        <p:nvSpPr>
          <p:cNvPr id="13" name="Shape 11"/>
          <p:cNvSpPr/>
          <p:nvPr/>
        </p:nvSpPr>
        <p:spPr>
          <a:xfrm>
            <a:off x="4754880" y="1188720"/>
            <a:ext cx="3840480" cy="2377440"/>
          </a:xfrm>
          <a:prstGeom prst="rect">
            <a:avLst/>
          </a:prstGeom>
          <a:solidFill>
            <a:srgbClr val="FFFFFF"/>
          </a:solidFill>
          <a:ln w="19050">
            <a:solidFill>
              <a:srgbClr val="B87333"/>
            </a:solidFill>
            <a:prstDash val="solid"/>
          </a:ln>
          <a:effectLst>
            <a:outerShdw sx="100000" sy="100000" kx="0" ky="0" algn="bl" rotWithShape="0" blurRad="50800" dist="25400" dir="8100000">
              <a:srgbClr val="000000">
                <a:alpha val="8000"/>
              </a:srgbClr>
            </a:outerShdw>
          </a:effectLst>
        </p:spPr>
        <p:txBody>
          <a:bodyPr/>
          <a:p/>
        </p:txBody>
      </p:sp>
      <p:sp>
        <p:nvSpPr>
          <p:cNvPr id="14" name="Shape 12"/>
          <p:cNvSpPr/>
          <p:nvPr/>
        </p:nvSpPr>
        <p:spPr>
          <a:xfrm>
            <a:off x="4754880" y="1188720"/>
            <a:ext cx="3840480" cy="36576"/>
          </a:xfrm>
          <a:prstGeom prst="rect">
            <a:avLst/>
          </a:prstGeom>
          <a:solidFill>
            <a:srgbClr val="B87333"/>
          </a:solidFill>
          <a:ln/>
        </p:spPr>
        <p:txBody>
          <a:bodyPr/>
          <a:p/>
        </p:txBody>
      </p:sp>
      <p:sp>
        <p:nvSpPr>
          <p:cNvPr id="15" name="Shape 13"/>
          <p:cNvSpPr/>
          <p:nvPr/>
        </p:nvSpPr>
        <p:spPr>
          <a:xfrm>
            <a:off x="5029200" y="1417320"/>
            <a:ext cx="1097280" cy="1280160"/>
          </a:xfrm>
          <a:prstGeom prst="rect">
            <a:avLst/>
          </a:prstGeom>
          <a:solidFill>
            <a:srgbClr val="EDE8E0"/>
          </a:solidFill>
          <a:ln w="12700">
            <a:solidFill>
              <a:srgbClr val="D4C5B2"/>
            </a:solidFill>
            <a:prstDash val="solid"/>
          </a:ln>
        </p:spPr>
        <p:txBody>
          <a:bodyPr/>
          <a:p/>
        </p:txBody>
      </p:sp>
      <p:sp>
        <p:nvSpPr>
          <p:cNvPr id="16" name="Text 14"/>
          <p:cNvSpPr/>
          <p:nvPr/>
        </p:nvSpPr>
        <p:spPr>
          <a:xfrm>
            <a:off x="5029200" y="1783080"/>
            <a:ext cx="1097280" cy="548640"/>
          </a:xfrm>
          <a:prstGeom prst="rect">
            <a:avLst/>
          </a:prstGeom>
          <a:noFill/>
          <a:ln/>
        </p:spPr>
        <p:txBody>
          <a:bodyPr wrap="square" rtlCol="0" anchor="ctr"/>
          <a:lstStyle/>
          <a:p>
            <a:pPr algn="ctr" indent="0" marL="0">
              <a:buNone/>
            </a:pPr>
            <a:r>
              <a:rPr lang="en-US" sz="1000" dirty="0">
                <a:solidFill>
                  <a:srgbClr val="7A6555"/>
                </a:solidFill>
                <a:latin typeface="Calibri" pitchFamily="34" charset="0"/>
                <a:ea typeface="Calibri" pitchFamily="34" charset="-122"/>
                <a:cs typeface="Calibri" pitchFamily="34" charset="-120"/>
              </a:rPr>
              <a:t>FOTO</a:t>
            </a:r>
            <a:endParaRPr lang="en-US" sz="1000" dirty="0"/>
          </a:p>
        </p:txBody>
      </p:sp>
      <p:sp>
        <p:nvSpPr>
          <p:cNvPr id="17" name="Text 15"/>
          <p:cNvSpPr/>
          <p:nvPr/>
        </p:nvSpPr>
        <p:spPr>
          <a:xfrm>
            <a:off x="6309360" y="1417320"/>
            <a:ext cx="2103120" cy="320040"/>
          </a:xfrm>
          <a:prstGeom prst="rect">
            <a:avLst/>
          </a:prstGeom>
          <a:noFill/>
          <a:ln/>
        </p:spPr>
        <p:txBody>
          <a:bodyPr wrap="square" lIns="0" tIns="0" rIns="0" bIns="0" rtlCol="0" anchor="ctr"/>
          <a:lstStyle/>
          <a:p>
            <a:pPr indent="0" marL="0">
              <a:buNone/>
            </a:pPr>
            <a:r>
              <a:rPr lang="en-US" sz="1200" b="1" dirty="0">
                <a:solidFill>
                  <a:srgbClr val="8B5A2B"/>
                </a:solidFill>
                <a:latin typeface="Georgia" pitchFamily="34" charset="0"/>
                <a:ea typeface="Georgia" pitchFamily="34" charset="-122"/>
                <a:cs typeface="Georgia" pitchFamily="34" charset="-120"/>
              </a:rPr>
              <a:t>Ing. Miriam Armas</a:t>
            </a:r>
            <a:endParaRPr lang="en-US" sz="1200" dirty="0"/>
          </a:p>
        </p:txBody>
      </p:sp>
      <p:sp>
        <p:nvSpPr>
          <p:cNvPr id="18" name="Text 16"/>
          <p:cNvSpPr/>
          <p:nvPr/>
        </p:nvSpPr>
        <p:spPr>
          <a:xfrm>
            <a:off x="6309360" y="1691640"/>
            <a:ext cx="2103120" cy="228600"/>
          </a:xfrm>
          <a:prstGeom prst="rect">
            <a:avLst/>
          </a:prstGeom>
          <a:noFill/>
          <a:ln/>
        </p:spPr>
        <p:txBody>
          <a:bodyPr wrap="square" lIns="0" tIns="0" rIns="0" bIns="0" rtlCol="0" anchor="ctr"/>
          <a:lstStyle/>
          <a:p>
            <a:pPr indent="0" marL="0">
              <a:buNone/>
            </a:pPr>
            <a:r>
              <a:rPr lang="en-US" sz="900" b="1" spc="200" kern="0" dirty="0">
                <a:solidFill>
                  <a:srgbClr val="B87333"/>
                </a:solidFill>
                <a:latin typeface="Calibri" pitchFamily="34" charset="0"/>
                <a:ea typeface="Calibri" pitchFamily="34" charset="-122"/>
                <a:cs typeface="Calibri" pitchFamily="34" charset="-120"/>
              </a:rPr>
              <a:t>PLANT ENGINEER</a:t>
            </a:r>
            <a:endParaRPr lang="en-US" sz="900" dirty="0"/>
          </a:p>
        </p:txBody>
      </p:sp>
      <p:sp>
        <p:nvSpPr>
          <p:cNvPr id="19" name="Text 17"/>
          <p:cNvSpPr/>
          <p:nvPr/>
        </p:nvSpPr>
        <p:spPr>
          <a:xfrm>
            <a:off x="6309360" y="1965960"/>
            <a:ext cx="2103120" cy="10972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36+ years of technical experience. Responsible for quality, production and certifications. Knows every piece of the plant. Primary source for technical due diligence.</a:t>
            </a:r>
            <a:endParaRPr lang="en-US" sz="900" dirty="0"/>
          </a:p>
        </p:txBody>
      </p:sp>
      <p:sp>
        <p:nvSpPr>
          <p:cNvPr id="20" name="Shape 18"/>
          <p:cNvSpPr/>
          <p:nvPr/>
        </p:nvSpPr>
        <p:spPr>
          <a:xfrm>
            <a:off x="548640" y="3840480"/>
            <a:ext cx="8046720" cy="914400"/>
          </a:xfrm>
          <a:prstGeom prst="rect">
            <a:avLst/>
          </a:prstGeom>
          <a:solidFill>
            <a:srgbClr val="FFFFFF"/>
          </a:solidFill>
          <a:ln w="12700">
            <a:solidFill>
              <a:srgbClr val="D4C5B2"/>
            </a:solidFill>
            <a:prstDash val="solid"/>
          </a:ln>
        </p:spPr>
        <p:txBody>
          <a:bodyPr/>
          <a:p/>
        </p:txBody>
      </p:sp>
      <p:sp>
        <p:nvSpPr>
          <p:cNvPr id="21" name="Text 19"/>
          <p:cNvSpPr/>
          <p:nvPr/>
        </p:nvSpPr>
        <p:spPr>
          <a:xfrm>
            <a:off x="731520" y="3886200"/>
            <a:ext cx="1828800" cy="274320"/>
          </a:xfrm>
          <a:prstGeom prst="rect">
            <a:avLst/>
          </a:prstGeom>
          <a:noFill/>
          <a:ln/>
        </p:spPr>
        <p:txBody>
          <a:bodyPr wrap="square" lIns="0" tIns="0" rIns="0" bIns="0" rtlCol="0" anchor="ctr"/>
          <a:lstStyle/>
          <a:p>
            <a:pPr indent="0" marL="0">
              <a:buNone/>
            </a:pPr>
            <a:r>
              <a:rPr lang="en-US" sz="1000" b="1" dirty="0">
                <a:solidFill>
                  <a:srgbClr val="B87333"/>
                </a:solidFill>
                <a:latin typeface="Georgia" pitchFamily="34" charset="0"/>
                <a:ea typeface="Georgia" pitchFamily="34" charset="-122"/>
                <a:cs typeface="Georgia" pitchFamily="34" charset="-120"/>
              </a:rPr>
              <a:t>OPERATIONS TEAM</a:t>
            </a:r>
            <a:endParaRPr lang="en-US" sz="1000" dirty="0"/>
          </a:p>
        </p:txBody>
      </p:sp>
      <p:sp>
        <p:nvSpPr>
          <p:cNvPr id="22" name="Text 20"/>
          <p:cNvSpPr/>
          <p:nvPr/>
        </p:nvSpPr>
        <p:spPr>
          <a:xfrm>
            <a:off x="731520" y="4160520"/>
            <a:ext cx="7680960" cy="502920"/>
          </a:xfrm>
          <a:prstGeom prst="rect">
            <a:avLst/>
          </a:prstGeom>
          <a:noFill/>
          <a:ln/>
        </p:spPr>
        <p:txBody>
          <a:bodyPr wrap="square" lIns="0" tIns="0" rIns="0" bIns="0" rtlCol="0" anchor="t"/>
          <a:lstStyle/>
          <a:p>
            <a:pPr indent="0" marL="0">
              <a:buNone/>
            </a:pPr>
            <a:r>
              <a:rPr lang="en-US" sz="1000" dirty="0">
                <a:solidFill>
                  <a:srgbClr val="5C4033"/>
                </a:solidFill>
                <a:latin typeface="Calibri" pitchFamily="34" charset="0"/>
                <a:ea typeface="Calibri" pitchFamily="34" charset="-122"/>
                <a:cs typeface="Calibri" pitchFamily="34" charset="-120"/>
              </a:rPr>
              <a:t>At full capacity: 15 workers (piece-rate). Currently: 3 workers. Direct supervision by Ing. Miriam. Hiring scales with production — no fixed payroll commitments until there is volume.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17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TRACK RECORD &amp; CLIENTS</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50 years of operation — financial data confirmed by SENIAT</a:t>
            </a:r>
            <a:endParaRPr lang="en-US" sz="1200" dirty="0"/>
          </a:p>
        </p:txBody>
      </p:sp>
      <p:sp>
        <p:nvSpPr>
          <p:cNvPr id="6" name="Text 4"/>
          <p:cNvSpPr/>
          <p:nvPr/>
        </p:nvSpPr>
        <p:spPr>
          <a:xfrm>
            <a:off x="548640" y="1097280"/>
            <a:ext cx="4754880" cy="274320"/>
          </a:xfrm>
          <a:prstGeom prst="rect">
            <a:avLst/>
          </a:prstGeom>
          <a:noFill/>
          <a:ln/>
        </p:spPr>
        <p:txBody>
          <a:bodyPr wrap="square" lIns="0" tIns="0" rIns="0" bIns="0" rtlCol="0" anchor="ctr"/>
          <a:lstStyle/>
          <a:p>
            <a:pPr indent="0" marL="0">
              <a:buNone/>
            </a:pPr>
            <a:r>
              <a:rPr lang="en-US" sz="1100" b="1" dirty="0">
                <a:solidFill>
                  <a:srgbClr val="B87333"/>
                </a:solidFill>
                <a:latin typeface="Georgia" pitchFamily="34" charset="0"/>
                <a:ea typeface="Georgia" pitchFamily="34" charset="-122"/>
                <a:cs typeface="Georgia" pitchFamily="34" charset="-120"/>
              </a:rPr>
              <a:t>TOP 3 YEARS (SENIAT)</a:t>
            </a:r>
            <a:endParaRPr lang="en-US" sz="1100" dirty="0"/>
          </a:p>
        </p:txBody>
      </p:sp>
      <p:sp>
        <p:nvSpPr>
          <p:cNvPr id="7" name="Shape 5"/>
          <p:cNvSpPr/>
          <p:nvPr/>
        </p:nvSpPr>
        <p:spPr>
          <a:xfrm>
            <a:off x="1005840" y="1560870"/>
            <a:ext cx="1005840" cy="1913850"/>
          </a:xfrm>
          <a:prstGeom prst="rect">
            <a:avLst/>
          </a:prstGeom>
          <a:solidFill>
            <a:srgbClr val="B87333"/>
          </a:solidFill>
          <a:ln/>
        </p:spPr>
        <p:txBody>
          <a:bodyPr/>
          <a:p/>
        </p:txBody>
      </p:sp>
      <p:sp>
        <p:nvSpPr>
          <p:cNvPr id="8" name="Shape 6"/>
          <p:cNvSpPr/>
          <p:nvPr/>
        </p:nvSpPr>
        <p:spPr>
          <a:xfrm>
            <a:off x="1005840" y="3153328"/>
            <a:ext cx="1005840" cy="321392"/>
          </a:xfrm>
          <a:prstGeom prst="rect">
            <a:avLst/>
          </a:prstGeom>
          <a:solidFill>
            <a:srgbClr val="2D7D46">
              <a:alpha val="70000"/>
            </a:srgbClr>
          </a:solidFill>
          <a:ln/>
        </p:spPr>
        <p:txBody>
          <a:bodyPr/>
          <a:p/>
        </p:txBody>
      </p:sp>
      <p:sp>
        <p:nvSpPr>
          <p:cNvPr id="9" name="Text 7"/>
          <p:cNvSpPr/>
          <p:nvPr/>
        </p:nvSpPr>
        <p:spPr>
          <a:xfrm>
            <a:off x="1005840" y="3520440"/>
            <a:ext cx="1005840" cy="228600"/>
          </a:xfrm>
          <a:prstGeom prst="rect">
            <a:avLst/>
          </a:prstGeom>
          <a:noFill/>
          <a:ln/>
        </p:spPr>
        <p:txBody>
          <a:bodyPr wrap="square" lIns="0" tIns="0" rIns="0" bIns="0" rtlCol="0" anchor="ctr"/>
          <a:lstStyle/>
          <a:p>
            <a:pPr algn="ctr" indent="0" marL="0">
              <a:buNone/>
            </a:pPr>
            <a:r>
              <a:rPr lang="en-US" sz="1100" b="1" dirty="0">
                <a:solidFill>
                  <a:srgbClr val="3E2C1C"/>
                </a:solidFill>
                <a:latin typeface="Georgia" pitchFamily="34" charset="0"/>
                <a:ea typeface="Georgia" pitchFamily="34" charset="-122"/>
                <a:cs typeface="Georgia" pitchFamily="34" charset="-120"/>
              </a:rPr>
              <a:t>2006</a:t>
            </a:r>
            <a:endParaRPr lang="en-US" sz="1100" dirty="0"/>
          </a:p>
        </p:txBody>
      </p:sp>
      <p:sp>
        <p:nvSpPr>
          <p:cNvPr id="10" name="Text 8"/>
          <p:cNvSpPr/>
          <p:nvPr/>
        </p:nvSpPr>
        <p:spPr>
          <a:xfrm>
            <a:off x="1005840" y="1332270"/>
            <a:ext cx="1005840" cy="228600"/>
          </a:xfrm>
          <a:prstGeom prst="rect">
            <a:avLst/>
          </a:prstGeom>
          <a:noFill/>
          <a:ln/>
        </p:spPr>
        <p:txBody>
          <a:bodyPr wrap="square" lIns="0" tIns="0" rIns="0" bIns="0" rtlCol="0" anchor="ctr"/>
          <a:lstStyle/>
          <a:p>
            <a:pPr algn="ctr" indent="0" marL="0">
              <a:buNone/>
            </a:pPr>
            <a:r>
              <a:rPr lang="en-US" sz="1000" b="1" dirty="0">
                <a:solidFill>
                  <a:srgbClr val="8B5A2B"/>
                </a:solidFill>
                <a:latin typeface="Calibri" pitchFamily="34" charset="0"/>
                <a:ea typeface="Calibri" pitchFamily="34" charset="-122"/>
                <a:cs typeface="Calibri" pitchFamily="34" charset="-120"/>
              </a:rPr>
              <a:t>$1.71M</a:t>
            </a:r>
            <a:endParaRPr lang="en-US" sz="1000" dirty="0"/>
          </a:p>
        </p:txBody>
      </p:sp>
      <p:sp>
        <p:nvSpPr>
          <p:cNvPr id="11" name="Text 9"/>
          <p:cNvSpPr/>
          <p:nvPr/>
        </p:nvSpPr>
        <p:spPr>
          <a:xfrm>
            <a:off x="1005840" y="1652310"/>
            <a:ext cx="100584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$288K</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(16.8%)</a:t>
            </a:r>
            <a:endParaRPr lang="en-US" sz="800" dirty="0"/>
          </a:p>
        </p:txBody>
      </p:sp>
      <p:sp>
        <p:nvSpPr>
          <p:cNvPr id="12" name="Shape 10"/>
          <p:cNvSpPr/>
          <p:nvPr/>
        </p:nvSpPr>
        <p:spPr>
          <a:xfrm>
            <a:off x="2331720" y="1531112"/>
            <a:ext cx="1005840" cy="1943608"/>
          </a:xfrm>
          <a:prstGeom prst="rect">
            <a:avLst/>
          </a:prstGeom>
          <a:solidFill>
            <a:srgbClr val="B87333"/>
          </a:solidFill>
          <a:ln/>
        </p:spPr>
        <p:txBody>
          <a:bodyPr/>
          <a:p/>
        </p:txBody>
      </p:sp>
      <p:sp>
        <p:nvSpPr>
          <p:cNvPr id="13" name="Shape 11"/>
          <p:cNvSpPr/>
          <p:nvPr/>
        </p:nvSpPr>
        <p:spPr>
          <a:xfrm>
            <a:off x="2331720" y="3122059"/>
            <a:ext cx="1005840" cy="352661"/>
          </a:xfrm>
          <a:prstGeom prst="rect">
            <a:avLst/>
          </a:prstGeom>
          <a:solidFill>
            <a:srgbClr val="2D7D46">
              <a:alpha val="70000"/>
            </a:srgbClr>
          </a:solidFill>
          <a:ln/>
        </p:spPr>
        <p:txBody>
          <a:bodyPr/>
          <a:p/>
        </p:txBody>
      </p:sp>
      <p:sp>
        <p:nvSpPr>
          <p:cNvPr id="14" name="Text 12"/>
          <p:cNvSpPr/>
          <p:nvPr/>
        </p:nvSpPr>
        <p:spPr>
          <a:xfrm>
            <a:off x="2331720" y="3520440"/>
            <a:ext cx="1005840" cy="228600"/>
          </a:xfrm>
          <a:prstGeom prst="rect">
            <a:avLst/>
          </a:prstGeom>
          <a:noFill/>
          <a:ln/>
        </p:spPr>
        <p:txBody>
          <a:bodyPr wrap="square" lIns="0" tIns="0" rIns="0" bIns="0" rtlCol="0" anchor="ctr"/>
          <a:lstStyle/>
          <a:p>
            <a:pPr algn="ctr" indent="0" marL="0">
              <a:buNone/>
            </a:pPr>
            <a:r>
              <a:rPr lang="en-US" sz="1100" b="1" dirty="0">
                <a:solidFill>
                  <a:srgbClr val="3E2C1C"/>
                </a:solidFill>
                <a:latin typeface="Georgia" pitchFamily="34" charset="0"/>
                <a:ea typeface="Georgia" pitchFamily="34" charset="-122"/>
                <a:cs typeface="Georgia" pitchFamily="34" charset="-120"/>
              </a:rPr>
              <a:t>2009</a:t>
            </a:r>
            <a:endParaRPr lang="en-US" sz="1100" dirty="0"/>
          </a:p>
        </p:txBody>
      </p:sp>
      <p:sp>
        <p:nvSpPr>
          <p:cNvPr id="15" name="Text 13"/>
          <p:cNvSpPr/>
          <p:nvPr/>
        </p:nvSpPr>
        <p:spPr>
          <a:xfrm>
            <a:off x="2331720" y="1302512"/>
            <a:ext cx="1005840" cy="228600"/>
          </a:xfrm>
          <a:prstGeom prst="rect">
            <a:avLst/>
          </a:prstGeom>
          <a:noFill/>
          <a:ln/>
        </p:spPr>
        <p:txBody>
          <a:bodyPr wrap="square" lIns="0" tIns="0" rIns="0" bIns="0" rtlCol="0" anchor="ctr"/>
          <a:lstStyle/>
          <a:p>
            <a:pPr algn="ctr" indent="0" marL="0">
              <a:buNone/>
            </a:pPr>
            <a:r>
              <a:rPr lang="en-US" sz="1000" b="1" dirty="0">
                <a:solidFill>
                  <a:srgbClr val="8B5A2B"/>
                </a:solidFill>
                <a:latin typeface="Calibri" pitchFamily="34" charset="0"/>
                <a:ea typeface="Calibri" pitchFamily="34" charset="-122"/>
                <a:cs typeface="Calibri" pitchFamily="34" charset="-120"/>
              </a:rPr>
              <a:t>$1.74M</a:t>
            </a:r>
            <a:endParaRPr lang="en-US" sz="1000" dirty="0"/>
          </a:p>
        </p:txBody>
      </p:sp>
      <p:sp>
        <p:nvSpPr>
          <p:cNvPr id="16" name="Text 14"/>
          <p:cNvSpPr/>
          <p:nvPr/>
        </p:nvSpPr>
        <p:spPr>
          <a:xfrm>
            <a:off x="2331720" y="1622552"/>
            <a:ext cx="100584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$316K</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(18.1%)</a:t>
            </a:r>
            <a:endParaRPr lang="en-US" sz="800" dirty="0"/>
          </a:p>
        </p:txBody>
      </p:sp>
      <p:sp>
        <p:nvSpPr>
          <p:cNvPr id="17" name="Shape 15"/>
          <p:cNvSpPr/>
          <p:nvPr/>
        </p:nvSpPr>
        <p:spPr>
          <a:xfrm>
            <a:off x="3657600" y="1545555"/>
            <a:ext cx="1005840" cy="1929165"/>
          </a:xfrm>
          <a:prstGeom prst="rect">
            <a:avLst/>
          </a:prstGeom>
          <a:solidFill>
            <a:srgbClr val="B87333"/>
          </a:solidFill>
          <a:ln/>
        </p:spPr>
        <p:txBody>
          <a:bodyPr/>
          <a:p/>
        </p:txBody>
      </p:sp>
      <p:sp>
        <p:nvSpPr>
          <p:cNvPr id="18" name="Shape 16"/>
          <p:cNvSpPr/>
          <p:nvPr/>
        </p:nvSpPr>
        <p:spPr>
          <a:xfrm>
            <a:off x="3657600" y="3247475"/>
            <a:ext cx="1005840" cy="227245"/>
          </a:xfrm>
          <a:prstGeom prst="rect">
            <a:avLst/>
          </a:prstGeom>
          <a:solidFill>
            <a:srgbClr val="2D7D46">
              <a:alpha val="70000"/>
            </a:srgbClr>
          </a:solidFill>
          <a:ln/>
        </p:spPr>
        <p:txBody>
          <a:bodyPr/>
          <a:p/>
        </p:txBody>
      </p:sp>
      <p:sp>
        <p:nvSpPr>
          <p:cNvPr id="19" name="Text 17"/>
          <p:cNvSpPr/>
          <p:nvPr/>
        </p:nvSpPr>
        <p:spPr>
          <a:xfrm>
            <a:off x="3657600" y="3520440"/>
            <a:ext cx="1005840" cy="228600"/>
          </a:xfrm>
          <a:prstGeom prst="rect">
            <a:avLst/>
          </a:prstGeom>
          <a:noFill/>
          <a:ln/>
        </p:spPr>
        <p:txBody>
          <a:bodyPr wrap="square" lIns="0" tIns="0" rIns="0" bIns="0" rtlCol="0" anchor="ctr"/>
          <a:lstStyle/>
          <a:p>
            <a:pPr algn="ctr" indent="0" marL="0">
              <a:buNone/>
            </a:pPr>
            <a:r>
              <a:rPr lang="en-US" sz="1100" b="1" dirty="0">
                <a:solidFill>
                  <a:srgbClr val="3E2C1C"/>
                </a:solidFill>
                <a:latin typeface="Georgia" pitchFamily="34" charset="0"/>
                <a:ea typeface="Georgia" pitchFamily="34" charset="-122"/>
                <a:cs typeface="Georgia" pitchFamily="34" charset="-120"/>
              </a:rPr>
              <a:t>2012</a:t>
            </a:r>
            <a:endParaRPr lang="en-US" sz="1100" dirty="0"/>
          </a:p>
        </p:txBody>
      </p:sp>
      <p:sp>
        <p:nvSpPr>
          <p:cNvPr id="20" name="Text 18"/>
          <p:cNvSpPr/>
          <p:nvPr/>
        </p:nvSpPr>
        <p:spPr>
          <a:xfrm>
            <a:off x="3657600" y="1316955"/>
            <a:ext cx="1005840" cy="228600"/>
          </a:xfrm>
          <a:prstGeom prst="rect">
            <a:avLst/>
          </a:prstGeom>
          <a:noFill/>
          <a:ln/>
        </p:spPr>
        <p:txBody>
          <a:bodyPr wrap="square" lIns="0" tIns="0" rIns="0" bIns="0" rtlCol="0" anchor="ctr"/>
          <a:lstStyle/>
          <a:p>
            <a:pPr algn="ctr" indent="0" marL="0">
              <a:buNone/>
            </a:pPr>
            <a:r>
              <a:rPr lang="en-US" sz="1000" b="1" dirty="0">
                <a:solidFill>
                  <a:srgbClr val="8B5A2B"/>
                </a:solidFill>
                <a:latin typeface="Calibri" pitchFamily="34" charset="0"/>
                <a:ea typeface="Calibri" pitchFamily="34" charset="-122"/>
                <a:cs typeface="Calibri" pitchFamily="34" charset="-120"/>
              </a:rPr>
              <a:t>$1.73M</a:t>
            </a:r>
            <a:endParaRPr lang="en-US" sz="1000" dirty="0"/>
          </a:p>
        </p:txBody>
      </p:sp>
      <p:sp>
        <p:nvSpPr>
          <p:cNvPr id="21" name="Text 19"/>
          <p:cNvSpPr/>
          <p:nvPr/>
        </p:nvSpPr>
        <p:spPr>
          <a:xfrm>
            <a:off x="3657600" y="1636995"/>
            <a:ext cx="100584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$203K</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(11.8%)</a:t>
            </a:r>
            <a:endParaRPr lang="en-US" sz="800" dirty="0"/>
          </a:p>
        </p:txBody>
      </p:sp>
      <p:sp>
        <p:nvSpPr>
          <p:cNvPr id="22" name="Shape 20"/>
          <p:cNvSpPr/>
          <p:nvPr/>
        </p:nvSpPr>
        <p:spPr>
          <a:xfrm>
            <a:off x="731520" y="3749040"/>
            <a:ext cx="274320" cy="137160"/>
          </a:xfrm>
          <a:prstGeom prst="rect">
            <a:avLst/>
          </a:prstGeom>
          <a:solidFill>
            <a:srgbClr val="B87333"/>
          </a:solidFill>
          <a:ln/>
        </p:spPr>
        <p:txBody>
          <a:bodyPr/>
          <a:p/>
        </p:txBody>
      </p:sp>
      <p:sp>
        <p:nvSpPr>
          <p:cNvPr id="23" name="Text 21"/>
          <p:cNvSpPr/>
          <p:nvPr/>
        </p:nvSpPr>
        <p:spPr>
          <a:xfrm>
            <a:off x="1051560" y="3703320"/>
            <a:ext cx="914400" cy="228600"/>
          </a:xfrm>
          <a:prstGeom prst="rect">
            <a:avLst/>
          </a:prstGeom>
          <a:noFill/>
          <a:ln/>
        </p:spPr>
        <p:txBody>
          <a:bodyPr wrap="square" lIns="0" tIns="0" rIns="0" bIns="0" rtlCol="0" anchor="ctr"/>
          <a:lstStyle/>
          <a:p>
            <a:pPr indent="0" marL="0">
              <a:buNone/>
            </a:pPr>
            <a:r>
              <a:rPr lang="en-US" sz="800" dirty="0">
                <a:solidFill>
                  <a:srgbClr val="5C4033"/>
                </a:solidFill>
                <a:latin typeface="Calibri" pitchFamily="34" charset="0"/>
                <a:ea typeface="Calibri" pitchFamily="34" charset="-122"/>
                <a:cs typeface="Calibri" pitchFamily="34" charset="-120"/>
              </a:rPr>
              <a:t>Sales</a:t>
            </a:r>
            <a:endParaRPr lang="en-US" sz="800" dirty="0"/>
          </a:p>
        </p:txBody>
      </p:sp>
      <p:sp>
        <p:nvSpPr>
          <p:cNvPr id="24" name="Shape 22"/>
          <p:cNvSpPr/>
          <p:nvPr/>
        </p:nvSpPr>
        <p:spPr>
          <a:xfrm>
            <a:off x="2103120" y="3749040"/>
            <a:ext cx="274320" cy="137160"/>
          </a:xfrm>
          <a:prstGeom prst="rect">
            <a:avLst/>
          </a:prstGeom>
          <a:solidFill>
            <a:srgbClr val="2D7D46"/>
          </a:solidFill>
          <a:ln/>
        </p:spPr>
        <p:txBody>
          <a:bodyPr/>
          <a:p/>
        </p:txBody>
      </p:sp>
      <p:sp>
        <p:nvSpPr>
          <p:cNvPr id="25" name="Text 23"/>
          <p:cNvSpPr/>
          <p:nvPr/>
        </p:nvSpPr>
        <p:spPr>
          <a:xfrm>
            <a:off x="2423160" y="3703320"/>
            <a:ext cx="1097280" cy="228600"/>
          </a:xfrm>
          <a:prstGeom prst="rect">
            <a:avLst/>
          </a:prstGeom>
          <a:noFill/>
          <a:ln/>
        </p:spPr>
        <p:txBody>
          <a:bodyPr wrap="square" lIns="0" tIns="0" rIns="0" bIns="0" rtlCol="0" anchor="ctr"/>
          <a:lstStyle/>
          <a:p>
            <a:pPr indent="0" marL="0">
              <a:buNone/>
            </a:pPr>
            <a:r>
              <a:rPr lang="en-US" sz="800" dirty="0">
                <a:solidFill>
                  <a:srgbClr val="5C4033"/>
                </a:solidFill>
                <a:latin typeface="Calibri" pitchFamily="34" charset="0"/>
                <a:ea typeface="Calibri" pitchFamily="34" charset="-122"/>
                <a:cs typeface="Calibri" pitchFamily="34" charset="-120"/>
              </a:rPr>
              <a:t>Profit</a:t>
            </a:r>
            <a:endParaRPr lang="en-US" sz="800" dirty="0"/>
          </a:p>
        </p:txBody>
      </p:sp>
      <p:sp>
        <p:nvSpPr>
          <p:cNvPr id="26" name="Text 24"/>
          <p:cNvSpPr/>
          <p:nvPr/>
        </p:nvSpPr>
        <p:spPr>
          <a:xfrm>
            <a:off x="548640" y="3931920"/>
            <a:ext cx="4754880" cy="274320"/>
          </a:xfrm>
          <a:prstGeom prst="rect">
            <a:avLst/>
          </a:prstGeom>
          <a:noFill/>
          <a:ln/>
        </p:spPr>
        <p:txBody>
          <a:bodyPr wrap="square" lIns="0" tIns="0" rIns="0" bIns="0" rtlCol="0" anchor="ctr"/>
          <a:lstStyle/>
          <a:p>
            <a:pPr indent="0" marL="0">
              <a:buNone/>
            </a:pPr>
            <a:r>
              <a:rPr lang="en-US" sz="750" i="1" dirty="0">
                <a:solidFill>
                  <a:srgbClr val="8C8C8C"/>
                </a:solidFill>
                <a:latin typeface="Calibri" pitchFamily="34" charset="0"/>
                <a:ea typeface="Calibri" pitchFamily="34" charset="-122"/>
                <a:cs typeface="Calibri" pitchFamily="34" charset="-120"/>
              </a:rPr>
              <a:t>Data declared to SENIAT (verifiable). Exchange rates: CADIVI 2006/2009, post-devaluation 2012.</a:t>
            </a:r>
            <a:endParaRPr lang="en-US" sz="750" dirty="0"/>
          </a:p>
        </p:txBody>
      </p:sp>
      <p:sp>
        <p:nvSpPr>
          <p:cNvPr id="27" name="Text 25"/>
          <p:cNvSpPr/>
          <p:nvPr/>
        </p:nvSpPr>
        <p:spPr>
          <a:xfrm>
            <a:off x="5486400" y="1097280"/>
            <a:ext cx="3200400" cy="274320"/>
          </a:xfrm>
          <a:prstGeom prst="rect">
            <a:avLst/>
          </a:prstGeom>
          <a:noFill/>
          <a:ln/>
        </p:spPr>
        <p:txBody>
          <a:bodyPr wrap="square" lIns="0" tIns="0" rIns="0" bIns="0" rtlCol="0" anchor="ctr"/>
          <a:lstStyle/>
          <a:p>
            <a:pPr indent="0" marL="0">
              <a:buNone/>
            </a:pPr>
            <a:r>
              <a:rPr lang="en-US" sz="1100" b="1" dirty="0">
                <a:solidFill>
                  <a:srgbClr val="B87333"/>
                </a:solidFill>
                <a:latin typeface="Georgia" pitchFamily="34" charset="0"/>
                <a:ea typeface="Georgia" pitchFamily="34" charset="-122"/>
                <a:cs typeface="Georgia" pitchFamily="34" charset="-120"/>
              </a:rPr>
              <a:t>CLIENTS &amp; PARTNERS</a:t>
            </a:r>
            <a:endParaRPr lang="en-US" sz="1100" dirty="0"/>
          </a:p>
        </p:txBody>
      </p:sp>
      <p:sp>
        <p:nvSpPr>
          <p:cNvPr id="28" name="Shape 26"/>
          <p:cNvSpPr/>
          <p:nvPr/>
        </p:nvSpPr>
        <p:spPr>
          <a:xfrm>
            <a:off x="5486400" y="1463040"/>
            <a:ext cx="1554480" cy="502920"/>
          </a:xfrm>
          <a:prstGeom prst="rect">
            <a:avLst/>
          </a:prstGeom>
          <a:solidFill>
            <a:srgbClr val="FFFFFF"/>
          </a:solidFill>
          <a:ln w="12700">
            <a:solidFill>
              <a:srgbClr val="B87333"/>
            </a:solidFill>
            <a:prstDash val="solid"/>
          </a:ln>
          <a:effectLst>
            <a:outerShdw sx="100000" sy="100000" kx="0" ky="0" algn="bl" rotWithShape="0" blurRad="25400" dist="12700" dir="8100000">
              <a:srgbClr val="000000">
                <a:alpha val="6000"/>
              </a:srgbClr>
            </a:outerShdw>
          </a:effectLst>
        </p:spPr>
        <p:txBody>
          <a:bodyPr/>
          <a:p/>
        </p:txBody>
      </p:sp>
      <p:sp>
        <p:nvSpPr>
          <p:cNvPr id="29" name="Text 27"/>
          <p:cNvSpPr/>
          <p:nvPr/>
        </p:nvSpPr>
        <p:spPr>
          <a:xfrm>
            <a:off x="5486400" y="1481328"/>
            <a:ext cx="1554480" cy="292608"/>
          </a:xfrm>
          <a:prstGeom prst="rect">
            <a:avLst/>
          </a:prstGeom>
          <a:noFill/>
          <a:ln/>
        </p:spPr>
        <p:txBody>
          <a:bodyPr wrap="square" lIns="0" tIns="0" rIns="0" bIns="0" rtlCol="0" anchor="ctr"/>
          <a:lstStyle/>
          <a:p>
            <a:pPr algn="ctr" indent="0" marL="0">
              <a:buNone/>
            </a:pPr>
            <a:r>
              <a:rPr lang="en-US" sz="1100" b="1" dirty="0">
                <a:solidFill>
                  <a:srgbClr val="8B5A2B"/>
                </a:solidFill>
                <a:latin typeface="Georgia" pitchFamily="34" charset="0"/>
                <a:ea typeface="Georgia" pitchFamily="34" charset="-122"/>
                <a:cs typeface="Georgia" pitchFamily="34" charset="-120"/>
              </a:rPr>
              <a:t>CORPOELEC</a:t>
            </a:r>
            <a:endParaRPr lang="en-US" sz="1100" dirty="0"/>
          </a:p>
        </p:txBody>
      </p:sp>
      <p:sp>
        <p:nvSpPr>
          <p:cNvPr id="30" name="Text 28"/>
          <p:cNvSpPr/>
          <p:nvPr/>
        </p:nvSpPr>
        <p:spPr>
          <a:xfrm>
            <a:off x="5532120" y="1755648"/>
            <a:ext cx="1463040" cy="182880"/>
          </a:xfrm>
          <a:prstGeom prst="rect">
            <a:avLst/>
          </a:prstGeom>
          <a:noFill/>
          <a:ln/>
        </p:spPr>
        <p:txBody>
          <a:bodyPr wrap="square" lIns="0" tIns="0" rIns="0" bIns="0" rtlCol="0" anchor="t"/>
          <a:lstStyle/>
          <a:p>
            <a:pPr algn="ctr" indent="0" marL="0">
              <a:buNone/>
            </a:pPr>
            <a:r>
              <a:rPr lang="en-US" sz="700" dirty="0">
                <a:solidFill>
                  <a:srgbClr val="7A6555"/>
                </a:solidFill>
                <a:latin typeface="Calibri" pitchFamily="34" charset="0"/>
                <a:ea typeface="Calibri" pitchFamily="34" charset="-122"/>
                <a:cs typeface="Calibri" pitchFamily="34" charset="-120"/>
              </a:rPr>
              <a:t>20,000 copper ground rods</a:t>
            </a:r>
            <a:endParaRPr lang="en-US" sz="700" dirty="0"/>
          </a:p>
        </p:txBody>
      </p:sp>
      <p:sp>
        <p:nvSpPr>
          <p:cNvPr id="31" name="Shape 29"/>
          <p:cNvSpPr/>
          <p:nvPr/>
        </p:nvSpPr>
        <p:spPr>
          <a:xfrm>
            <a:off x="7178040" y="1463040"/>
            <a:ext cx="1554480" cy="502920"/>
          </a:xfrm>
          <a:prstGeom prst="rect">
            <a:avLst/>
          </a:prstGeom>
          <a:solidFill>
            <a:srgbClr val="FFFFFF"/>
          </a:solidFill>
          <a:ln w="12700">
            <a:solidFill>
              <a:srgbClr val="B87333"/>
            </a:solidFill>
            <a:prstDash val="solid"/>
          </a:ln>
          <a:effectLst>
            <a:outerShdw sx="100000" sy="100000" kx="0" ky="0" algn="bl" rotWithShape="0" blurRad="25400" dist="12700" dir="8100000">
              <a:srgbClr val="000000">
                <a:alpha val="6000"/>
              </a:srgbClr>
            </a:outerShdw>
          </a:effectLst>
        </p:spPr>
        <p:txBody>
          <a:bodyPr/>
          <a:p/>
        </p:txBody>
      </p:sp>
      <p:sp>
        <p:nvSpPr>
          <p:cNvPr id="32" name="Text 30"/>
          <p:cNvSpPr/>
          <p:nvPr/>
        </p:nvSpPr>
        <p:spPr>
          <a:xfrm>
            <a:off x="7178040" y="1481328"/>
            <a:ext cx="1554480" cy="292608"/>
          </a:xfrm>
          <a:prstGeom prst="rect">
            <a:avLst/>
          </a:prstGeom>
          <a:noFill/>
          <a:ln/>
        </p:spPr>
        <p:txBody>
          <a:bodyPr wrap="square" lIns="0" tIns="0" rIns="0" bIns="0" rtlCol="0" anchor="ctr"/>
          <a:lstStyle/>
          <a:p>
            <a:pPr algn="ctr" indent="0" marL="0">
              <a:buNone/>
            </a:pPr>
            <a:r>
              <a:rPr lang="en-US" sz="1100" b="1" dirty="0">
                <a:solidFill>
                  <a:srgbClr val="8B5A2B"/>
                </a:solidFill>
                <a:latin typeface="Georgia" pitchFamily="34" charset="0"/>
                <a:ea typeface="Georgia" pitchFamily="34" charset="-122"/>
                <a:cs typeface="Georgia" pitchFamily="34" charset="-120"/>
              </a:rPr>
              <a:t>SASGO</a:t>
            </a:r>
            <a:endParaRPr lang="en-US" sz="1100" dirty="0"/>
          </a:p>
        </p:txBody>
      </p:sp>
      <p:sp>
        <p:nvSpPr>
          <p:cNvPr id="33" name="Text 31"/>
          <p:cNvSpPr/>
          <p:nvPr/>
        </p:nvSpPr>
        <p:spPr>
          <a:xfrm>
            <a:off x="7223760" y="1755648"/>
            <a:ext cx="1463040" cy="182880"/>
          </a:xfrm>
          <a:prstGeom prst="rect">
            <a:avLst/>
          </a:prstGeom>
          <a:noFill/>
          <a:ln/>
        </p:spPr>
        <p:txBody>
          <a:bodyPr wrap="square" lIns="0" tIns="0" rIns="0" bIns="0" rtlCol="0" anchor="t"/>
          <a:lstStyle/>
          <a:p>
            <a:pPr algn="ctr" indent="0" marL="0">
              <a:buNone/>
            </a:pPr>
            <a:r>
              <a:rPr lang="en-US" sz="700" dirty="0">
                <a:solidFill>
                  <a:srgbClr val="7A6555"/>
                </a:solidFill>
                <a:latin typeface="Calibri" pitchFamily="34" charset="0"/>
                <a:ea typeface="Calibri" pitchFamily="34" charset="-122"/>
                <a:cs typeface="Calibri" pitchFamily="34" charset="-120"/>
              </a:rPr>
              <a:t>Electric poles &amp; towers</a:t>
            </a:r>
            <a:endParaRPr lang="en-US" sz="700" dirty="0"/>
          </a:p>
        </p:txBody>
      </p:sp>
      <p:sp>
        <p:nvSpPr>
          <p:cNvPr id="34" name="Shape 32"/>
          <p:cNvSpPr/>
          <p:nvPr/>
        </p:nvSpPr>
        <p:spPr>
          <a:xfrm>
            <a:off x="5486400" y="2286000"/>
            <a:ext cx="1554480" cy="502920"/>
          </a:xfrm>
          <a:prstGeom prst="rect">
            <a:avLst/>
          </a:prstGeom>
          <a:solidFill>
            <a:srgbClr val="FFFFFF"/>
          </a:solidFill>
          <a:ln w="12700">
            <a:solidFill>
              <a:srgbClr val="B87333"/>
            </a:solidFill>
            <a:prstDash val="solid"/>
          </a:ln>
          <a:effectLst>
            <a:outerShdw sx="100000" sy="100000" kx="0" ky="0" algn="bl" rotWithShape="0" blurRad="25400" dist="12700" dir="8100000">
              <a:srgbClr val="000000">
                <a:alpha val="6000"/>
              </a:srgbClr>
            </a:outerShdw>
          </a:effectLst>
        </p:spPr>
        <p:txBody>
          <a:bodyPr/>
          <a:p/>
        </p:txBody>
      </p:sp>
      <p:sp>
        <p:nvSpPr>
          <p:cNvPr id="35" name="Text 33"/>
          <p:cNvSpPr/>
          <p:nvPr/>
        </p:nvSpPr>
        <p:spPr>
          <a:xfrm>
            <a:off x="5486400" y="2304288"/>
            <a:ext cx="1554480" cy="292608"/>
          </a:xfrm>
          <a:prstGeom prst="rect">
            <a:avLst/>
          </a:prstGeom>
          <a:noFill/>
          <a:ln/>
        </p:spPr>
        <p:txBody>
          <a:bodyPr wrap="square" lIns="0" tIns="0" rIns="0" bIns="0" rtlCol="0" anchor="ctr"/>
          <a:lstStyle/>
          <a:p>
            <a:pPr algn="ctr" indent="0" marL="0">
              <a:buNone/>
            </a:pPr>
            <a:r>
              <a:rPr lang="en-US" sz="1100" b="1" dirty="0">
                <a:solidFill>
                  <a:srgbClr val="8B5A2B"/>
                </a:solidFill>
                <a:latin typeface="Georgia" pitchFamily="34" charset="0"/>
                <a:ea typeface="Georgia" pitchFamily="34" charset="-122"/>
                <a:cs typeface="Georgia" pitchFamily="34" charset="-120"/>
              </a:rPr>
              <a:t>MARULLO</a:t>
            </a:r>
            <a:endParaRPr lang="en-US" sz="1100" dirty="0"/>
          </a:p>
        </p:txBody>
      </p:sp>
      <p:sp>
        <p:nvSpPr>
          <p:cNvPr id="36" name="Text 34"/>
          <p:cNvSpPr/>
          <p:nvPr/>
        </p:nvSpPr>
        <p:spPr>
          <a:xfrm>
            <a:off x="5532120" y="2578608"/>
            <a:ext cx="1463040" cy="182880"/>
          </a:xfrm>
          <a:prstGeom prst="rect">
            <a:avLst/>
          </a:prstGeom>
          <a:noFill/>
          <a:ln/>
        </p:spPr>
        <p:txBody>
          <a:bodyPr wrap="square" lIns="0" tIns="0" rIns="0" bIns="0" rtlCol="0" anchor="t"/>
          <a:lstStyle/>
          <a:p>
            <a:pPr algn="ctr" indent="0" marL="0">
              <a:buNone/>
            </a:pPr>
            <a:r>
              <a:rPr lang="en-US" sz="700" dirty="0">
                <a:solidFill>
                  <a:srgbClr val="7A6555"/>
                </a:solidFill>
                <a:latin typeface="Calibri" pitchFamily="34" charset="0"/>
                <a:ea typeface="Calibri" pitchFamily="34" charset="-122"/>
                <a:cs typeface="Calibri" pitchFamily="34" charset="-120"/>
              </a:rPr>
              <a:t>Agroindustrial machinery</a:t>
            </a:r>
            <a:endParaRPr lang="en-US" sz="700" dirty="0"/>
          </a:p>
        </p:txBody>
      </p:sp>
      <p:sp>
        <p:nvSpPr>
          <p:cNvPr id="37" name="Shape 35"/>
          <p:cNvSpPr/>
          <p:nvPr/>
        </p:nvSpPr>
        <p:spPr>
          <a:xfrm>
            <a:off x="7178040" y="2286000"/>
            <a:ext cx="1554480" cy="502920"/>
          </a:xfrm>
          <a:prstGeom prst="rect">
            <a:avLst/>
          </a:prstGeom>
          <a:solidFill>
            <a:srgbClr val="FFFFFF"/>
          </a:solidFill>
          <a:ln w="12700">
            <a:solidFill>
              <a:srgbClr val="B87333"/>
            </a:solidFill>
            <a:prstDash val="solid"/>
          </a:ln>
          <a:effectLst>
            <a:outerShdw sx="100000" sy="100000" kx="0" ky="0" algn="bl" rotWithShape="0" blurRad="25400" dist="12700" dir="8100000">
              <a:srgbClr val="000000">
                <a:alpha val="6000"/>
              </a:srgbClr>
            </a:outerShdw>
          </a:effectLst>
        </p:spPr>
        <p:txBody>
          <a:bodyPr/>
          <a:p/>
        </p:txBody>
      </p:sp>
      <p:sp>
        <p:nvSpPr>
          <p:cNvPr id="38" name="Text 36"/>
          <p:cNvSpPr/>
          <p:nvPr/>
        </p:nvSpPr>
        <p:spPr>
          <a:xfrm>
            <a:off x="7178040" y="2304288"/>
            <a:ext cx="1554480" cy="292608"/>
          </a:xfrm>
          <a:prstGeom prst="rect">
            <a:avLst/>
          </a:prstGeom>
          <a:noFill/>
          <a:ln/>
        </p:spPr>
        <p:txBody>
          <a:bodyPr wrap="square" lIns="0" tIns="0" rIns="0" bIns="0" rtlCol="0" anchor="ctr"/>
          <a:lstStyle/>
          <a:p>
            <a:pPr algn="ctr" indent="0" marL="0">
              <a:buNone/>
            </a:pPr>
            <a:r>
              <a:rPr lang="en-US" sz="1100" b="1" dirty="0">
                <a:solidFill>
                  <a:srgbClr val="8B5A2B"/>
                </a:solidFill>
                <a:latin typeface="Georgia" pitchFamily="34" charset="0"/>
                <a:ea typeface="Georgia" pitchFamily="34" charset="-122"/>
                <a:cs typeface="Georgia" pitchFamily="34" charset="-120"/>
              </a:rPr>
              <a:t>FREYSSINET</a:t>
            </a:r>
            <a:endParaRPr lang="en-US" sz="1100" dirty="0"/>
          </a:p>
        </p:txBody>
      </p:sp>
      <p:sp>
        <p:nvSpPr>
          <p:cNvPr id="39" name="Text 37"/>
          <p:cNvSpPr/>
          <p:nvPr/>
        </p:nvSpPr>
        <p:spPr>
          <a:xfrm>
            <a:off x="7223760" y="2578608"/>
            <a:ext cx="1463040" cy="182880"/>
          </a:xfrm>
          <a:prstGeom prst="rect">
            <a:avLst/>
          </a:prstGeom>
          <a:noFill/>
          <a:ln/>
        </p:spPr>
        <p:txBody>
          <a:bodyPr wrap="square" lIns="0" tIns="0" rIns="0" bIns="0" rtlCol="0" anchor="t"/>
          <a:lstStyle/>
          <a:p>
            <a:pPr algn="ctr" indent="0" marL="0">
              <a:buNone/>
            </a:pPr>
            <a:r>
              <a:rPr lang="en-US" sz="700" dirty="0">
                <a:solidFill>
                  <a:srgbClr val="7A6555"/>
                </a:solidFill>
                <a:latin typeface="Calibri" pitchFamily="34" charset="0"/>
                <a:ea typeface="Calibri" pitchFamily="34" charset="-122"/>
                <a:cs typeface="Calibri" pitchFamily="34" charset="-120"/>
              </a:rPr>
              <a:t>MSE retaining walls (VINCI Group)</a:t>
            </a:r>
            <a:endParaRPr lang="en-US" sz="700" dirty="0"/>
          </a:p>
        </p:txBody>
      </p:sp>
      <p:sp>
        <p:nvSpPr>
          <p:cNvPr id="40" name="Shape 38"/>
          <p:cNvSpPr/>
          <p:nvPr/>
        </p:nvSpPr>
        <p:spPr>
          <a:xfrm>
            <a:off x="5486400" y="3108960"/>
            <a:ext cx="1554480" cy="502920"/>
          </a:xfrm>
          <a:prstGeom prst="rect">
            <a:avLst/>
          </a:prstGeom>
          <a:solidFill>
            <a:srgbClr val="FFFFFF"/>
          </a:solidFill>
          <a:ln w="12700">
            <a:solidFill>
              <a:srgbClr val="B87333"/>
            </a:solidFill>
            <a:prstDash val="solid"/>
          </a:ln>
          <a:effectLst>
            <a:outerShdw sx="100000" sy="100000" kx="0" ky="0" algn="bl" rotWithShape="0" blurRad="25400" dist="12700" dir="8100000">
              <a:srgbClr val="000000">
                <a:alpha val="6000"/>
              </a:srgbClr>
            </a:outerShdw>
          </a:effectLst>
        </p:spPr>
        <p:txBody>
          <a:bodyPr/>
          <a:p/>
        </p:txBody>
      </p:sp>
      <p:sp>
        <p:nvSpPr>
          <p:cNvPr id="41" name="Text 39"/>
          <p:cNvSpPr/>
          <p:nvPr/>
        </p:nvSpPr>
        <p:spPr>
          <a:xfrm>
            <a:off x="5486400" y="3127248"/>
            <a:ext cx="1554480" cy="292608"/>
          </a:xfrm>
          <a:prstGeom prst="rect">
            <a:avLst/>
          </a:prstGeom>
          <a:noFill/>
          <a:ln/>
        </p:spPr>
        <p:txBody>
          <a:bodyPr wrap="square" lIns="0" tIns="0" rIns="0" bIns="0" rtlCol="0" anchor="ctr"/>
          <a:lstStyle/>
          <a:p>
            <a:pPr algn="ctr" indent="0" marL="0">
              <a:buNone/>
            </a:pPr>
            <a:r>
              <a:rPr lang="en-US" sz="1100" b="1" dirty="0">
                <a:solidFill>
                  <a:srgbClr val="8B5A2B"/>
                </a:solidFill>
                <a:latin typeface="Georgia" pitchFamily="34" charset="0"/>
                <a:ea typeface="Georgia" pitchFamily="34" charset="-122"/>
                <a:cs typeface="Georgia" pitchFamily="34" charset="-120"/>
              </a:rPr>
              <a:t>INDUESCA</a:t>
            </a:r>
            <a:endParaRPr lang="en-US" sz="1100" dirty="0"/>
          </a:p>
        </p:txBody>
      </p:sp>
      <p:sp>
        <p:nvSpPr>
          <p:cNvPr id="42" name="Text 40"/>
          <p:cNvSpPr/>
          <p:nvPr/>
        </p:nvSpPr>
        <p:spPr>
          <a:xfrm>
            <a:off x="5532120" y="3401568"/>
            <a:ext cx="1463040" cy="182880"/>
          </a:xfrm>
          <a:prstGeom prst="rect">
            <a:avLst/>
          </a:prstGeom>
          <a:noFill/>
          <a:ln/>
        </p:spPr>
        <p:txBody>
          <a:bodyPr wrap="square" lIns="0" tIns="0" rIns="0" bIns="0" rtlCol="0" anchor="t"/>
          <a:lstStyle/>
          <a:p>
            <a:pPr algn="ctr" indent="0" marL="0">
              <a:buNone/>
            </a:pPr>
            <a:r>
              <a:rPr lang="en-US" sz="700" dirty="0">
                <a:solidFill>
                  <a:srgbClr val="7A6555"/>
                </a:solidFill>
                <a:latin typeface="Calibri" pitchFamily="34" charset="0"/>
                <a:ea typeface="Calibri" pitchFamily="34" charset="-122"/>
                <a:cs typeface="Calibri" pitchFamily="34" charset="-120"/>
              </a:rPr>
              <a:t>Cable trays &amp; towers</a:t>
            </a:r>
            <a:endParaRPr lang="en-US" sz="700" dirty="0"/>
          </a:p>
        </p:txBody>
      </p:sp>
      <p:sp>
        <p:nvSpPr>
          <p:cNvPr id="43" name="Shape 41"/>
          <p:cNvSpPr/>
          <p:nvPr/>
        </p:nvSpPr>
        <p:spPr>
          <a:xfrm>
            <a:off x="7178040" y="3108960"/>
            <a:ext cx="1554480" cy="502920"/>
          </a:xfrm>
          <a:prstGeom prst="rect">
            <a:avLst/>
          </a:prstGeom>
          <a:solidFill>
            <a:srgbClr val="FFFFFF"/>
          </a:solidFill>
          <a:ln w="12700">
            <a:solidFill>
              <a:srgbClr val="B87333"/>
            </a:solidFill>
            <a:prstDash val="solid"/>
          </a:ln>
          <a:effectLst>
            <a:outerShdw sx="100000" sy="100000" kx="0" ky="0" algn="bl" rotWithShape="0" blurRad="25400" dist="12700" dir="8100000">
              <a:srgbClr val="000000">
                <a:alpha val="6000"/>
              </a:srgbClr>
            </a:outerShdw>
          </a:effectLst>
        </p:spPr>
        <p:txBody>
          <a:bodyPr/>
          <a:p/>
        </p:txBody>
      </p:sp>
      <p:sp>
        <p:nvSpPr>
          <p:cNvPr id="44" name="Text 42"/>
          <p:cNvSpPr/>
          <p:nvPr/>
        </p:nvSpPr>
        <p:spPr>
          <a:xfrm>
            <a:off x="7178040" y="3127248"/>
            <a:ext cx="1554480" cy="292608"/>
          </a:xfrm>
          <a:prstGeom prst="rect">
            <a:avLst/>
          </a:prstGeom>
          <a:noFill/>
          <a:ln/>
        </p:spPr>
        <p:txBody>
          <a:bodyPr wrap="square" lIns="0" tIns="0" rIns="0" bIns="0" rtlCol="0" anchor="ctr"/>
          <a:lstStyle/>
          <a:p>
            <a:pPr algn="ctr" indent="0" marL="0">
              <a:buNone/>
            </a:pPr>
            <a:r>
              <a:rPr lang="en-US" sz="1100" b="1" dirty="0">
                <a:solidFill>
                  <a:srgbClr val="8B5A2B"/>
                </a:solidFill>
                <a:latin typeface="Georgia" pitchFamily="34" charset="0"/>
                <a:ea typeface="Georgia" pitchFamily="34" charset="-122"/>
                <a:cs typeface="Georgia" pitchFamily="34" charset="-120"/>
              </a:rPr>
              <a:t>DISMACA</a:t>
            </a:r>
            <a:endParaRPr lang="en-US" sz="1100" dirty="0"/>
          </a:p>
        </p:txBody>
      </p:sp>
      <p:sp>
        <p:nvSpPr>
          <p:cNvPr id="45" name="Text 43"/>
          <p:cNvSpPr/>
          <p:nvPr/>
        </p:nvSpPr>
        <p:spPr>
          <a:xfrm>
            <a:off x="7223760" y="3401568"/>
            <a:ext cx="1463040" cy="182880"/>
          </a:xfrm>
          <a:prstGeom prst="rect">
            <a:avLst/>
          </a:prstGeom>
          <a:noFill/>
          <a:ln/>
        </p:spPr>
        <p:txBody>
          <a:bodyPr wrap="square" lIns="0" tIns="0" rIns="0" bIns="0" rtlCol="0" anchor="t"/>
          <a:lstStyle/>
          <a:p>
            <a:pPr algn="ctr" indent="0" marL="0">
              <a:buNone/>
            </a:pPr>
            <a:r>
              <a:rPr lang="en-US" sz="700" dirty="0">
                <a:solidFill>
                  <a:srgbClr val="7A6555"/>
                </a:solidFill>
                <a:latin typeface="Calibri" pitchFamily="34" charset="0"/>
                <a:ea typeface="Calibri" pitchFamily="34" charset="-122"/>
                <a:cs typeface="Calibri" pitchFamily="34" charset="-120"/>
              </a:rPr>
              <a:t>EPC / Oil &amp; Gas</a:t>
            </a:r>
            <a:endParaRPr lang="en-US" sz="700" dirty="0"/>
          </a:p>
        </p:txBody>
      </p:sp>
      <p:sp>
        <p:nvSpPr>
          <p:cNvPr id="46" name="Shape 44"/>
          <p:cNvSpPr/>
          <p:nvPr/>
        </p:nvSpPr>
        <p:spPr>
          <a:xfrm>
            <a:off x="5486400" y="3977640"/>
            <a:ext cx="3200400" cy="777240"/>
          </a:xfrm>
          <a:prstGeom prst="rect">
            <a:avLst/>
          </a:prstGeom>
          <a:solidFill>
            <a:srgbClr val="EDE8E0"/>
          </a:solidFill>
          <a:ln w="12700">
            <a:solidFill>
              <a:srgbClr val="B87333"/>
            </a:solidFill>
            <a:prstDash val="solid"/>
          </a:ln>
        </p:spPr>
        <p:txBody>
          <a:bodyPr/>
          <a:p/>
        </p:txBody>
      </p:sp>
      <p:sp>
        <p:nvSpPr>
          <p:cNvPr id="47" name="Text 45"/>
          <p:cNvSpPr/>
          <p:nvPr/>
        </p:nvSpPr>
        <p:spPr>
          <a:xfrm>
            <a:off x="5623560" y="3977640"/>
            <a:ext cx="2926080" cy="777240"/>
          </a:xfrm>
          <a:prstGeom prst="rect">
            <a:avLst/>
          </a:prstGeom>
          <a:noFill/>
          <a:ln/>
        </p:spPr>
        <p:txBody>
          <a:bodyPr wrap="square" rtlCol="0" anchor="ctr"/>
          <a:lstStyle/>
          <a:p>
            <a:pPr indent="0" marL="0">
              <a:buNone/>
            </a:pPr>
            <a:r>
              <a:rPr lang="en-US" sz="2000" b="1" dirty="0">
                <a:solidFill>
                  <a:srgbClr val="8B5A2B"/>
                </a:solidFill>
                <a:latin typeface="Georgia" pitchFamily="34" charset="0"/>
                <a:ea typeface="Georgia" pitchFamily="34" charset="-122"/>
                <a:cs typeface="Georgia" pitchFamily="34" charset="-120"/>
              </a:rPr>
              <a:t>34</a:t>
            </a:r>
            <a:pPr indent="0" marL="0">
              <a:buNone/>
            </a:pPr>
            <a:r>
              <a:rPr lang="en-US" sz="1000" dirty="0">
                <a:solidFill>
                  <a:srgbClr val="5C4033"/>
                </a:solidFill>
                <a:latin typeface="Calibri" pitchFamily="34" charset="0"/>
                <a:ea typeface="Calibri" pitchFamily="34" charset="-122"/>
                <a:cs typeface="Calibri" pitchFamily="34" charset="-120"/>
              </a:rPr>
              <a:t xml:space="preserve"> clientes historicos
</a:t>
            </a:r>
            <a:pPr indent="0" marL="0">
              <a:buNone/>
            </a:pPr>
            <a:r>
              <a:rPr lang="en-US" sz="2000" b="1" dirty="0">
                <a:solidFill>
                  <a:srgbClr val="2D7D46"/>
                </a:solidFill>
                <a:latin typeface="Georgia" pitchFamily="34" charset="0"/>
                <a:ea typeface="Georgia" pitchFamily="34" charset="-122"/>
                <a:cs typeface="Georgia" pitchFamily="34" charset="-120"/>
              </a:rPr>
              <a:t>6</a:t>
            </a:r>
            <a:pPr indent="0" marL="0">
              <a:buNone/>
            </a:pPr>
            <a:r>
              <a:rPr lang="en-US" sz="1000" dirty="0">
                <a:solidFill>
                  <a:srgbClr val="5C4033"/>
                </a:solidFill>
                <a:latin typeface="Calibri" pitchFamily="34" charset="0"/>
                <a:ea typeface="Calibri" pitchFamily="34" charset="-122"/>
                <a:cs typeface="Calibri" pitchFamily="34" charset="-120"/>
              </a:rPr>
              <a:t xml:space="preserve"> interested in reactivating orders</a:t>
            </a:r>
            <a:endParaRPr lang="en-US" sz="2000" dirty="0"/>
          </a:p>
        </p:txBody>
      </p:sp>
      <p:sp>
        <p:nvSpPr>
          <p:cNvPr id="48" name="Text 46"/>
          <p:cNvSpPr/>
          <p:nvPr/>
        </p:nvSpPr>
        <p:spPr>
          <a:xfrm>
            <a:off x="548640" y="4846320"/>
            <a:ext cx="8046720" cy="228600"/>
          </a:xfrm>
          <a:prstGeom prst="rect">
            <a:avLst/>
          </a:prstGeom>
          <a:noFill/>
          <a:ln/>
        </p:spPr>
        <p:txBody>
          <a:bodyPr wrap="square" lIns="0" tIns="0" rIns="0" bIns="0" rtlCol="0" anchor="ctr"/>
          <a:lstStyle/>
          <a:p>
            <a:pPr algn="ctr" indent="0" marL="0">
              <a:buNone/>
            </a:pPr>
            <a:r>
              <a:rPr lang="en-US" sz="900" i="1" dirty="0">
                <a:solidFill>
                  <a:srgbClr val="7A6555"/>
                </a:solidFill>
                <a:latin typeface="Calibri" pitchFamily="34" charset="0"/>
                <a:ea typeface="Calibri" pitchFamily="34" charset="-122"/>
                <a:cs typeface="Calibri" pitchFamily="34" charset="-120"/>
              </a:rPr>
              <a:t>Last year of continuous operation: 2015. 675 MT of flat bars that year alone. Stopped due to lack of zinc, NOT lack of demand.</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18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CURRENT PLANT INVENTORY</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Materials, equipment and machinery available at the time of transaction</a:t>
            </a:r>
            <a:endParaRPr lang="en-US" sz="1200" dirty="0"/>
          </a:p>
        </p:txBody>
      </p:sp>
      <p:sp>
        <p:nvSpPr>
          <p:cNvPr id="6" name="Text 4"/>
          <p:cNvSpPr/>
          <p:nvPr/>
        </p:nvSpPr>
        <p:spPr>
          <a:xfrm>
            <a:off x="548640" y="1143000"/>
            <a:ext cx="3657600" cy="274320"/>
          </a:xfrm>
          <a:prstGeom prst="rect">
            <a:avLst/>
          </a:prstGeom>
          <a:noFill/>
          <a:ln/>
        </p:spPr>
        <p:txBody>
          <a:bodyPr wrap="square" lIns="0" tIns="0" rIns="0" bIns="0" rtlCol="0" anchor="ctr"/>
          <a:lstStyle/>
          <a:p>
            <a:pPr indent="0" marL="0">
              <a:buNone/>
            </a:pPr>
            <a:r>
              <a:rPr lang="en-US" sz="1000" b="1" dirty="0">
                <a:solidFill>
                  <a:srgbClr val="B87333"/>
                </a:solidFill>
                <a:latin typeface="Georgia" pitchFamily="34" charset="0"/>
                <a:ea typeface="Georgia" pitchFamily="34" charset="-122"/>
                <a:cs typeface="Georgia" pitchFamily="34" charset="-120"/>
              </a:rPr>
              <a:t>RAW MATERIALS ON SITE</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3840480" cy="914400"/>
        </p:xfrm>
        <a:graphic>
          <a:graphicData uri="http://schemas.openxmlformats.org/drawingml/2006/table">
            <a:tbl>
              <a:tblPr/>
              <a:tblGrid>
                <a:gridCol w="2560320"/>
                <a:gridCol w="1280160"/>
              </a:tblGrid>
              <a:tr h="29260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Material</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Quantity</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r h="347472">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Zinc SHG 99.99%</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2,041 kg</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Hydrochloric acid (HCl)</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4,600 kg</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47472">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Ammonium chloride (NH4Cl)</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500 kg</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bl>
          </a:graphicData>
        </a:graphic>
      </p:graphicFrame>
      <p:sp>
        <p:nvSpPr>
          <p:cNvPr id="8" name="Text 5"/>
          <p:cNvSpPr/>
          <p:nvPr/>
        </p:nvSpPr>
        <p:spPr>
          <a:xfrm>
            <a:off x="548640" y="2743200"/>
            <a:ext cx="3657600" cy="228600"/>
          </a:xfrm>
          <a:prstGeom prst="rect">
            <a:avLst/>
          </a:prstGeom>
          <a:noFill/>
          <a:ln/>
        </p:spPr>
        <p:txBody>
          <a:bodyPr wrap="square" lIns="0" tIns="0" rIns="0" bIns="0" rtlCol="0" anchor="ctr"/>
          <a:lstStyle/>
          <a:p>
            <a:pPr indent="0" marL="0">
              <a:buNone/>
            </a:pPr>
            <a:r>
              <a:rPr lang="en-US" sz="1000" b="1" dirty="0">
                <a:solidFill>
                  <a:srgbClr val="B87333"/>
                </a:solidFill>
                <a:latin typeface="Georgia" pitchFamily="34" charset="0"/>
                <a:ea typeface="Georgia" pitchFamily="34" charset="-122"/>
                <a:cs typeface="Georgia" pitchFamily="34" charset="-120"/>
              </a:rPr>
              <a:t>MACHINERY &amp; EQUIPMENT</a:t>
            </a:r>
            <a:endParaRPr lang="en-US" sz="100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548640" y="2999232"/>
          <a:ext cx="3840480" cy="914400"/>
        </p:xfrm>
        <a:graphic>
          <a:graphicData uri="http://schemas.openxmlformats.org/drawingml/2006/table">
            <a:tbl>
              <a:tblPr/>
              <a:tblGrid>
                <a:gridCol w="2560320"/>
                <a:gridCol w="1280160"/>
              </a:tblGrid>
              <a:tr h="24688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Equipment</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Quantity</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r h="246888">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Clark Forklifts (2,500 kg)</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3 units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246888">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Overhead Cranes (2-5 MT)</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2 units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246888">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Industrial Scale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1 unit</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246888">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Three-phase Rectifiers (copper)</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6 units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246888">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Electrolytic Tanks (copper)</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10 units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246888">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65cm Centrifuge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ACTIVE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bl>
          </a:graphicData>
        </a:graphic>
      </p:graphicFrame>
      <p:pic>
        <p:nvPicPr>
          <p:cNvPr id="10" name="Image 0" descr="/sessions/sweet-gallant-wright/pyglara-deck/images/clavos.jpg"/>
          <p:cNvPicPr>
            <a:picLocks noChangeAspect="1"/>
          </p:cNvPicPr>
          <p:nvPr/>
        </p:nvPicPr>
        <p:blipFill>
          <a:blip r:embed="rId1"/>
          <a:srcRect l="0" r="0" t="0" b="0"/>
          <a:stretch/>
        </p:blipFill>
        <p:spPr>
          <a:xfrm>
            <a:off x="4754880" y="1143000"/>
            <a:ext cx="3931920" cy="2560320"/>
          </a:xfrm>
          <a:prstGeom prst="rect">
            <a:avLst/>
          </a:prstGeom>
        </p:spPr>
      </p:pic>
      <p:sp>
        <p:nvSpPr>
          <p:cNvPr id="11" name="Shape 6"/>
          <p:cNvSpPr/>
          <p:nvPr/>
        </p:nvSpPr>
        <p:spPr>
          <a:xfrm>
            <a:off x="4754880" y="1143000"/>
            <a:ext cx="3931920" cy="2560320"/>
          </a:xfrm>
          <a:prstGeom prst="rect">
            <a:avLst/>
          </a:prstGeom>
          <a:ln w="19050">
            <a:solidFill>
              <a:srgbClr val="B87333"/>
            </a:solidFill>
            <a:prstDash val="solid"/>
          </a:ln>
        </p:spPr>
        <p:txBody>
          <a:bodyPr/>
          <a:p/>
        </p:txBody>
      </p:sp>
      <p:sp>
        <p:nvSpPr>
          <p:cNvPr id="12" name="Text 7"/>
          <p:cNvSpPr/>
          <p:nvPr/>
        </p:nvSpPr>
        <p:spPr>
          <a:xfrm>
            <a:off x="4754880" y="3749040"/>
            <a:ext cx="3931920" cy="274320"/>
          </a:xfrm>
          <a:prstGeom prst="rect">
            <a:avLst/>
          </a:prstGeom>
          <a:noFill/>
          <a:ln/>
        </p:spPr>
        <p:txBody>
          <a:bodyPr wrap="square" lIns="0" tIns="0" rIns="0" bIns="0" rtlCol="0" anchor="ctr"/>
          <a:lstStyle/>
          <a:p>
            <a:pPr algn="ctr" indent="0" marL="0">
              <a:buNone/>
            </a:pPr>
            <a:r>
              <a:rPr lang="en-US" sz="900" i="1" dirty="0">
                <a:solidFill>
                  <a:srgbClr val="7A6555"/>
                </a:solidFill>
                <a:latin typeface="Calibri" pitchFamily="34" charset="0"/>
                <a:ea typeface="Calibri" pitchFamily="34" charset="-122"/>
                <a:cs typeface="Calibri" pitchFamily="34" charset="-120"/>
              </a:rPr>
              <a:t>Galvanized nails — current production with 65cm centrifuge</a:t>
            </a:r>
            <a:endParaRPr lang="en-US" sz="900" dirty="0"/>
          </a:p>
        </p:txBody>
      </p:sp>
      <p:sp>
        <p:nvSpPr>
          <p:cNvPr id="13" name="Shape 8"/>
          <p:cNvSpPr/>
          <p:nvPr/>
        </p:nvSpPr>
        <p:spPr>
          <a:xfrm>
            <a:off x="4754880" y="4069080"/>
            <a:ext cx="3931920" cy="640080"/>
          </a:xfrm>
          <a:prstGeom prst="rect">
            <a:avLst/>
          </a:prstGeom>
          <a:solidFill>
            <a:srgbClr val="EDE8E0"/>
          </a:solidFill>
          <a:ln w="12700">
            <a:solidFill>
              <a:srgbClr val="B87333"/>
            </a:solidFill>
            <a:prstDash val="solid"/>
          </a:ln>
        </p:spPr>
        <p:txBody>
          <a:bodyPr/>
          <a:p/>
        </p:txBody>
      </p:sp>
      <p:sp>
        <p:nvSpPr>
          <p:cNvPr id="14" name="Text 9"/>
          <p:cNvSpPr/>
          <p:nvPr/>
        </p:nvSpPr>
        <p:spPr>
          <a:xfrm>
            <a:off x="4937760" y="4069080"/>
            <a:ext cx="3566160" cy="640080"/>
          </a:xfrm>
          <a:prstGeom prst="rect">
            <a:avLst/>
          </a:prstGeom>
          <a:noFill/>
          <a:ln/>
        </p:spPr>
        <p:txBody>
          <a:bodyPr wrap="square" rtlCol="0" anchor="ctr"/>
          <a:lstStyle/>
          <a:p>
            <a:pPr indent="0" marL="0">
              <a:buNone/>
            </a:pPr>
            <a:r>
              <a:rPr lang="en-US" sz="900" b="1" dirty="0">
                <a:solidFill>
                  <a:srgbClr val="8B5A2B"/>
                </a:solidFill>
                <a:latin typeface="Calibri" pitchFamily="34" charset="0"/>
                <a:ea typeface="Calibri" pitchFamily="34" charset="-122"/>
                <a:cs typeface="Calibri" pitchFamily="34" charset="-120"/>
              </a:rPr>
              <a:t>The 65cm centrifuge is OPERATIONAL and producing galvanized nails TODAY — the plant is not completely idle.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19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3000" b="1" dirty="0">
                <a:solidFill>
                  <a:srgbClr val="3E2C1C"/>
                </a:solidFill>
                <a:latin typeface="Georgia" pitchFamily="34" charset="0"/>
                <a:ea typeface="Georgia" pitchFamily="34" charset="-122"/>
                <a:cs typeface="Georgia" pitchFamily="34" charset="-120"/>
              </a:rPr>
              <a:t>COMPETITIVE POSITION</a:t>
            </a:r>
            <a:endParaRPr lang="en-US" sz="3000" dirty="0"/>
          </a:p>
        </p:txBody>
      </p:sp>
      <p:sp>
        <p:nvSpPr>
          <p:cNvPr id="5" name="Text 3"/>
          <p:cNvSpPr/>
          <p:nvPr/>
        </p:nvSpPr>
        <p:spPr>
          <a:xfrm>
            <a:off x="548640" y="731520"/>
            <a:ext cx="8046720" cy="32004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Only 2 commercial galvanizing service providers in the entire country — all others galvanize only their own products</a:t>
            </a:r>
            <a:endParaRPr lang="en-US" sz="1200" dirty="0"/>
          </a:p>
        </p:txBody>
      </p:sp>
      <p:sp>
        <p:nvSpPr>
          <p:cNvPr id="6" name="Shape 4"/>
          <p:cNvSpPr/>
          <p:nvPr/>
        </p:nvSpPr>
        <p:spPr>
          <a:xfrm>
            <a:off x="548640" y="1280160"/>
            <a:ext cx="265176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7" name="Shape 5"/>
          <p:cNvSpPr/>
          <p:nvPr/>
        </p:nvSpPr>
        <p:spPr>
          <a:xfrm>
            <a:off x="548640" y="1280160"/>
            <a:ext cx="54864" cy="1097280"/>
          </a:xfrm>
          <a:prstGeom prst="rect">
            <a:avLst/>
          </a:prstGeom>
          <a:solidFill>
            <a:srgbClr val="B87333"/>
          </a:solidFill>
          <a:ln/>
        </p:spPr>
        <p:txBody>
          <a:bodyPr/>
          <a:p/>
        </p:txBody>
      </p:sp>
      <p:sp>
        <p:nvSpPr>
          <p:cNvPr id="8" name="Text 6"/>
          <p:cNvSpPr/>
          <p:nvPr/>
        </p:nvSpPr>
        <p:spPr>
          <a:xfrm>
            <a:off x="548640" y="1325880"/>
            <a:ext cx="2651760" cy="548640"/>
          </a:xfrm>
          <a:prstGeom prst="rect">
            <a:avLst/>
          </a:prstGeom>
          <a:noFill/>
          <a:ln/>
        </p:spPr>
        <p:txBody>
          <a:bodyPr wrap="square" lIns="0" tIns="0" rIns="0" bIns="0" rtlCol="0" anchor="ctr"/>
          <a:lstStyle/>
          <a:p>
            <a:pPr algn="ctr" indent="0" marL="0">
              <a:buNone/>
            </a:pPr>
            <a:r>
              <a:rPr lang="en-US" sz="2800" b="1" dirty="0">
                <a:solidFill>
                  <a:srgbClr val="8B5A2B"/>
                </a:solidFill>
                <a:latin typeface="Georgia" pitchFamily="34" charset="0"/>
                <a:ea typeface="Georgia" pitchFamily="34" charset="-122"/>
                <a:cs typeface="Georgia" pitchFamily="34" charset="-120"/>
              </a:rPr>
              <a:t>2</a:t>
            </a:r>
            <a:endParaRPr lang="en-US" sz="2800" dirty="0"/>
          </a:p>
        </p:txBody>
      </p:sp>
      <p:sp>
        <p:nvSpPr>
          <p:cNvPr id="9" name="Text 7"/>
          <p:cNvSpPr/>
          <p:nvPr/>
        </p:nvSpPr>
        <p:spPr>
          <a:xfrm>
            <a:off x="640080" y="1874520"/>
            <a:ext cx="2468880" cy="411480"/>
          </a:xfrm>
          <a:prstGeom prst="rect">
            <a:avLst/>
          </a:prstGeom>
          <a:noFill/>
          <a:ln/>
        </p:spPr>
        <p:txBody>
          <a:bodyPr wrap="square" lIns="0" tIns="0" rIns="0" bIns="0" rtlCol="0" anchor="t"/>
          <a:lstStyle/>
          <a:p>
            <a:pPr algn="ctr" indent="0" marL="0">
              <a:buNone/>
            </a:pPr>
            <a:r>
              <a:rPr lang="en-US" sz="1000" dirty="0">
                <a:solidFill>
                  <a:srgbClr val="5C4033"/>
                </a:solidFill>
                <a:latin typeface="Calibri" pitchFamily="34" charset="0"/>
                <a:ea typeface="Calibri" pitchFamily="34" charset="-122"/>
                <a:cs typeface="Calibri" pitchFamily="34" charset="-120"/>
              </a:rPr>
              <a:t>Commercial service providers</a:t>
            </a:r>
            <a:endParaRPr lang="en-US" sz="1000" dirty="0"/>
          </a:p>
          <a:p>
            <a:pPr algn="ctr" indent="0" marL="0">
              <a:buNone/>
            </a:pPr>
            <a:r>
              <a:rPr lang="en-US" sz="1000" dirty="0">
                <a:solidFill>
                  <a:srgbClr val="5C4033"/>
                </a:solidFill>
                <a:latin typeface="Calibri" pitchFamily="34" charset="0"/>
                <a:ea typeface="Calibri" pitchFamily="34" charset="-122"/>
                <a:cs typeface="Calibri" pitchFamily="34" charset="-120"/>
              </a:rPr>
              <a:t>in all of Venezuela</a:t>
            </a:r>
            <a:endParaRPr lang="en-US" sz="1000" dirty="0"/>
          </a:p>
        </p:txBody>
      </p:sp>
      <p:sp>
        <p:nvSpPr>
          <p:cNvPr id="10" name="Shape 8"/>
          <p:cNvSpPr/>
          <p:nvPr/>
        </p:nvSpPr>
        <p:spPr>
          <a:xfrm>
            <a:off x="3429000" y="1280160"/>
            <a:ext cx="265176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1" name="Shape 9"/>
          <p:cNvSpPr/>
          <p:nvPr/>
        </p:nvSpPr>
        <p:spPr>
          <a:xfrm>
            <a:off x="3429000" y="1280160"/>
            <a:ext cx="54864" cy="1097280"/>
          </a:xfrm>
          <a:prstGeom prst="rect">
            <a:avLst/>
          </a:prstGeom>
          <a:solidFill>
            <a:srgbClr val="B87333"/>
          </a:solidFill>
          <a:ln/>
        </p:spPr>
        <p:txBody>
          <a:bodyPr/>
          <a:p/>
        </p:txBody>
      </p:sp>
      <p:sp>
        <p:nvSpPr>
          <p:cNvPr id="12" name="Text 10"/>
          <p:cNvSpPr/>
          <p:nvPr/>
        </p:nvSpPr>
        <p:spPr>
          <a:xfrm>
            <a:off x="3429000" y="1325880"/>
            <a:ext cx="2651760" cy="548640"/>
          </a:xfrm>
          <a:prstGeom prst="rect">
            <a:avLst/>
          </a:prstGeom>
          <a:noFill/>
          <a:ln/>
        </p:spPr>
        <p:txBody>
          <a:bodyPr wrap="square" lIns="0" tIns="0" rIns="0" bIns="0" rtlCol="0" anchor="ctr"/>
          <a:lstStyle/>
          <a:p>
            <a:pPr algn="ctr" indent="0" marL="0">
              <a:buNone/>
            </a:pPr>
            <a:r>
              <a:rPr lang="en-US" sz="2800" b="1" dirty="0">
                <a:solidFill>
                  <a:srgbClr val="8B5A2B"/>
                </a:solidFill>
                <a:latin typeface="Georgia" pitchFamily="34" charset="0"/>
                <a:ea typeface="Georgia" pitchFamily="34" charset="-122"/>
                <a:cs typeface="Georgia" pitchFamily="34" charset="-120"/>
              </a:rPr>
              <a:t>$2.2M</a:t>
            </a:r>
            <a:endParaRPr lang="en-US" sz="2800" dirty="0"/>
          </a:p>
        </p:txBody>
      </p:sp>
      <p:sp>
        <p:nvSpPr>
          <p:cNvPr id="13" name="Text 11"/>
          <p:cNvSpPr/>
          <p:nvPr/>
        </p:nvSpPr>
        <p:spPr>
          <a:xfrm>
            <a:off x="3520440" y="1874520"/>
            <a:ext cx="2468880" cy="411480"/>
          </a:xfrm>
          <a:prstGeom prst="rect">
            <a:avLst/>
          </a:prstGeom>
          <a:noFill/>
          <a:ln/>
        </p:spPr>
        <p:txBody>
          <a:bodyPr wrap="square" lIns="0" tIns="0" rIns="0" bIns="0" rtlCol="0" anchor="t"/>
          <a:lstStyle/>
          <a:p>
            <a:pPr algn="ctr" indent="0" marL="0">
              <a:buNone/>
            </a:pPr>
            <a:r>
              <a:rPr lang="en-US" sz="1000" dirty="0">
                <a:solidFill>
                  <a:srgbClr val="5C4033"/>
                </a:solidFill>
                <a:latin typeface="Calibri" pitchFamily="34" charset="0"/>
                <a:ea typeface="Calibri" pitchFamily="34" charset="-122"/>
                <a:cs typeface="Calibri" pitchFamily="34" charset="-120"/>
              </a:rPr>
              <a:t>Minimum investment for</a:t>
            </a:r>
            <a:endParaRPr lang="en-US" sz="1000" dirty="0"/>
          </a:p>
          <a:p>
            <a:pPr algn="ctr" indent="0" marL="0">
              <a:buNone/>
            </a:pPr>
            <a:r>
              <a:rPr lang="en-US" sz="1000" dirty="0">
                <a:solidFill>
                  <a:srgbClr val="5C4033"/>
                </a:solidFill>
                <a:latin typeface="Calibri" pitchFamily="34" charset="0"/>
                <a:ea typeface="Calibri" pitchFamily="34" charset="-122"/>
                <a:cs typeface="Calibri" pitchFamily="34" charset="-120"/>
              </a:rPr>
              <a:t>a new entrant</a:t>
            </a:r>
            <a:endParaRPr lang="en-US" sz="1000" dirty="0"/>
          </a:p>
        </p:txBody>
      </p:sp>
      <p:sp>
        <p:nvSpPr>
          <p:cNvPr id="14" name="Shape 12"/>
          <p:cNvSpPr/>
          <p:nvPr/>
        </p:nvSpPr>
        <p:spPr>
          <a:xfrm>
            <a:off x="6309360" y="1280160"/>
            <a:ext cx="265176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5" name="Shape 13"/>
          <p:cNvSpPr/>
          <p:nvPr/>
        </p:nvSpPr>
        <p:spPr>
          <a:xfrm>
            <a:off x="6309360" y="1280160"/>
            <a:ext cx="54864" cy="1097280"/>
          </a:xfrm>
          <a:prstGeom prst="rect">
            <a:avLst/>
          </a:prstGeom>
          <a:solidFill>
            <a:srgbClr val="B87333"/>
          </a:solidFill>
          <a:ln/>
        </p:spPr>
        <p:txBody>
          <a:bodyPr/>
          <a:p/>
        </p:txBody>
      </p:sp>
      <p:sp>
        <p:nvSpPr>
          <p:cNvPr id="16" name="Text 14"/>
          <p:cNvSpPr/>
          <p:nvPr/>
        </p:nvSpPr>
        <p:spPr>
          <a:xfrm>
            <a:off x="6309360" y="1325880"/>
            <a:ext cx="2651760" cy="548640"/>
          </a:xfrm>
          <a:prstGeom prst="rect">
            <a:avLst/>
          </a:prstGeom>
          <a:noFill/>
          <a:ln/>
        </p:spPr>
        <p:txBody>
          <a:bodyPr wrap="square" lIns="0" tIns="0" rIns="0" bIns="0" rtlCol="0" anchor="ctr"/>
          <a:lstStyle/>
          <a:p>
            <a:pPr algn="ctr" indent="0" marL="0">
              <a:buNone/>
            </a:pPr>
            <a:r>
              <a:rPr lang="en-US" sz="2800" b="1" dirty="0">
                <a:solidFill>
                  <a:srgbClr val="8B5A2B"/>
                </a:solidFill>
                <a:latin typeface="Georgia" pitchFamily="34" charset="0"/>
                <a:ea typeface="Georgia" pitchFamily="34" charset="-122"/>
                <a:cs typeface="Georgia" pitchFamily="34" charset="-120"/>
              </a:rPr>
              <a:t>18-36</a:t>
            </a:r>
            <a:endParaRPr lang="en-US" sz="2800" dirty="0"/>
          </a:p>
        </p:txBody>
      </p:sp>
      <p:sp>
        <p:nvSpPr>
          <p:cNvPr id="17" name="Text 15"/>
          <p:cNvSpPr/>
          <p:nvPr/>
        </p:nvSpPr>
        <p:spPr>
          <a:xfrm>
            <a:off x="6400800" y="1874520"/>
            <a:ext cx="2468880" cy="411480"/>
          </a:xfrm>
          <a:prstGeom prst="rect">
            <a:avLst/>
          </a:prstGeom>
          <a:noFill/>
          <a:ln/>
        </p:spPr>
        <p:txBody>
          <a:bodyPr wrap="square" lIns="0" tIns="0" rIns="0" bIns="0" rtlCol="0" anchor="t"/>
          <a:lstStyle/>
          <a:p>
            <a:pPr algn="ctr" indent="0" marL="0">
              <a:buNone/>
            </a:pPr>
            <a:r>
              <a:rPr lang="en-US" sz="1000" dirty="0">
                <a:solidFill>
                  <a:srgbClr val="5C4033"/>
                </a:solidFill>
                <a:latin typeface="Calibri" pitchFamily="34" charset="0"/>
                <a:ea typeface="Calibri" pitchFamily="34" charset="-122"/>
                <a:cs typeface="Calibri" pitchFamily="34" charset="-120"/>
              </a:rPr>
              <a:t>Months of construction</a:t>
            </a:r>
            <a:endParaRPr lang="en-US" sz="1000" dirty="0"/>
          </a:p>
          <a:p>
            <a:pPr algn="ctr" indent="0" marL="0">
              <a:buNone/>
            </a:pPr>
            <a:r>
              <a:rPr lang="en-US" sz="1000" dirty="0">
                <a:solidFill>
                  <a:srgbClr val="5C4033"/>
                </a:solidFill>
                <a:latin typeface="Calibri" pitchFamily="34" charset="0"/>
                <a:ea typeface="Calibri" pitchFamily="34" charset="-122"/>
                <a:cs typeface="Calibri" pitchFamily="34" charset="-120"/>
              </a:rPr>
              <a:t>to compete</a:t>
            </a:r>
            <a:endParaRPr lang="en-US" sz="1000" dirty="0"/>
          </a:p>
        </p:txBody>
      </p:sp>
      <p:sp>
        <p:nvSpPr>
          <p:cNvPr id="18" name="Shape 16"/>
          <p:cNvSpPr/>
          <p:nvPr/>
        </p:nvSpPr>
        <p:spPr>
          <a:xfrm>
            <a:off x="548640" y="2743200"/>
            <a:ext cx="8046720" cy="411480"/>
          </a:xfrm>
          <a:prstGeom prst="rect">
            <a:avLst/>
          </a:prstGeom>
          <a:solidFill>
            <a:srgbClr val="FFFFFF"/>
          </a:solidFill>
          <a:ln w="6350">
            <a:solidFill>
              <a:srgbClr val="D4C5B2"/>
            </a:solidFill>
            <a:prstDash val="solid"/>
          </a:ln>
        </p:spPr>
        <p:txBody>
          <a:bodyPr/>
          <a:p/>
        </p:txBody>
      </p:sp>
      <p:pic>
        <p:nvPicPr>
          <p:cNvPr id="19" name="Image 0" descr="preencoded.png"/>
          <p:cNvPicPr>
            <a:picLocks noChangeAspect="1"/>
          </p:cNvPicPr>
          <p:nvPr/>
        </p:nvPicPr>
        <p:blipFill>
          <a:blip r:embed="rId1"/>
          <a:stretch>
            <a:fillRect/>
          </a:stretch>
        </p:blipFill>
        <p:spPr>
          <a:xfrm>
            <a:off x="685800" y="2807208"/>
            <a:ext cx="228600" cy="228600"/>
          </a:xfrm>
          <a:prstGeom prst="rect">
            <a:avLst/>
          </a:prstGeom>
        </p:spPr>
      </p:pic>
      <p:sp>
        <p:nvSpPr>
          <p:cNvPr id="20" name="Text 17"/>
          <p:cNvSpPr/>
          <p:nvPr/>
        </p:nvSpPr>
        <p:spPr>
          <a:xfrm>
            <a:off x="1051560" y="2743200"/>
            <a:ext cx="7406640" cy="411480"/>
          </a:xfrm>
          <a:prstGeom prst="rect">
            <a:avLst/>
          </a:prstGeom>
          <a:noFill/>
          <a:ln/>
        </p:spPr>
        <p:txBody>
          <a:bodyPr wrap="square" lIns="0" tIns="0" rIns="0" bIns="0" rtlCol="0" anchor="ctr"/>
          <a:lstStyle/>
          <a:p>
            <a:pPr indent="0" marL="0">
              <a:buNone/>
            </a:pPr>
            <a:r>
              <a:rPr lang="en-US" sz="950" dirty="0">
                <a:solidFill>
                  <a:srgbClr val="5C4033"/>
                </a:solidFill>
                <a:latin typeface="Calibri" pitchFamily="34" charset="0"/>
                <a:ea typeface="Calibri" pitchFamily="34" charset="-122"/>
                <a:cs typeface="Calibri" pitchFamily="34" charset="-120"/>
              </a:rPr>
              <a:t>Extremely high barrier to entry — building a galvanizing plant takes years and millions of dollars</a:t>
            </a:r>
            <a:endParaRPr lang="en-US" sz="950" dirty="0"/>
          </a:p>
        </p:txBody>
      </p:sp>
      <p:sp>
        <p:nvSpPr>
          <p:cNvPr id="21" name="Shape 18"/>
          <p:cNvSpPr/>
          <p:nvPr/>
        </p:nvSpPr>
        <p:spPr>
          <a:xfrm>
            <a:off x="548640" y="3246120"/>
            <a:ext cx="8046720" cy="411480"/>
          </a:xfrm>
          <a:prstGeom prst="rect">
            <a:avLst/>
          </a:prstGeom>
          <a:solidFill>
            <a:srgbClr val="EDE8E0"/>
          </a:solidFill>
          <a:ln w="6350">
            <a:solidFill>
              <a:srgbClr val="D4C5B2"/>
            </a:solidFill>
            <a:prstDash val="solid"/>
          </a:ln>
        </p:spPr>
        <p:txBody>
          <a:bodyPr/>
          <a:p/>
        </p:txBody>
      </p:sp>
      <p:pic>
        <p:nvPicPr>
          <p:cNvPr id="22" name="Image 1" descr="preencoded.png"/>
          <p:cNvPicPr>
            <a:picLocks noChangeAspect="1"/>
          </p:cNvPicPr>
          <p:nvPr/>
        </p:nvPicPr>
        <p:blipFill>
          <a:blip r:embed="rId2"/>
          <a:stretch>
            <a:fillRect/>
          </a:stretch>
        </p:blipFill>
        <p:spPr>
          <a:xfrm>
            <a:off x="685800" y="3310128"/>
            <a:ext cx="228600" cy="228600"/>
          </a:xfrm>
          <a:prstGeom prst="rect">
            <a:avLst/>
          </a:prstGeom>
        </p:spPr>
      </p:pic>
      <p:sp>
        <p:nvSpPr>
          <p:cNvPr id="23" name="Text 19"/>
          <p:cNvSpPr/>
          <p:nvPr/>
        </p:nvSpPr>
        <p:spPr>
          <a:xfrm>
            <a:off x="1051560" y="3246120"/>
            <a:ext cx="7406640" cy="411480"/>
          </a:xfrm>
          <a:prstGeom prst="rect">
            <a:avLst/>
          </a:prstGeom>
          <a:noFill/>
          <a:ln/>
        </p:spPr>
        <p:txBody>
          <a:bodyPr wrap="square" lIns="0" tIns="0" rIns="0" bIns="0" rtlCol="0" anchor="ctr"/>
          <a:lstStyle/>
          <a:p>
            <a:pPr indent="0" marL="0">
              <a:buNone/>
            </a:pPr>
            <a:r>
              <a:rPr lang="en-US" sz="950" dirty="0">
                <a:solidFill>
                  <a:srgbClr val="5C4033"/>
                </a:solidFill>
                <a:latin typeface="Calibri" pitchFamily="34" charset="0"/>
                <a:ea typeface="Calibri" pitchFamily="34" charset="-122"/>
                <a:cs typeface="Calibri" pitchFamily="34" charset="-120"/>
              </a:rPr>
              <a:t>Pilling equipment (Germany) is not available locally — impossible to replicate quickly</a:t>
            </a:r>
            <a:endParaRPr lang="en-US" sz="950" dirty="0"/>
          </a:p>
        </p:txBody>
      </p:sp>
      <p:sp>
        <p:nvSpPr>
          <p:cNvPr id="24" name="Shape 20"/>
          <p:cNvSpPr/>
          <p:nvPr/>
        </p:nvSpPr>
        <p:spPr>
          <a:xfrm>
            <a:off x="548640" y="3749040"/>
            <a:ext cx="8046720" cy="411480"/>
          </a:xfrm>
          <a:prstGeom prst="rect">
            <a:avLst/>
          </a:prstGeom>
          <a:solidFill>
            <a:srgbClr val="FFFFFF"/>
          </a:solidFill>
          <a:ln w="6350">
            <a:solidFill>
              <a:srgbClr val="D4C5B2"/>
            </a:solidFill>
            <a:prstDash val="solid"/>
          </a:ln>
        </p:spPr>
        <p:txBody>
          <a:bodyPr/>
          <a:p/>
        </p:txBody>
      </p:sp>
      <p:pic>
        <p:nvPicPr>
          <p:cNvPr id="25" name="Image 2" descr="preencoded.png"/>
          <p:cNvPicPr>
            <a:picLocks noChangeAspect="1"/>
          </p:cNvPicPr>
          <p:nvPr/>
        </p:nvPicPr>
        <p:blipFill>
          <a:blip r:embed="rId3"/>
          <a:stretch>
            <a:fillRect/>
          </a:stretch>
        </p:blipFill>
        <p:spPr>
          <a:xfrm>
            <a:off x="685800" y="3813048"/>
            <a:ext cx="228600" cy="228600"/>
          </a:xfrm>
          <a:prstGeom prst="rect">
            <a:avLst/>
          </a:prstGeom>
        </p:spPr>
      </p:pic>
      <p:sp>
        <p:nvSpPr>
          <p:cNvPr id="26" name="Text 21"/>
          <p:cNvSpPr/>
          <p:nvPr/>
        </p:nvSpPr>
        <p:spPr>
          <a:xfrm>
            <a:off x="1051560" y="3749040"/>
            <a:ext cx="7406640" cy="411480"/>
          </a:xfrm>
          <a:prstGeom prst="rect">
            <a:avLst/>
          </a:prstGeom>
          <a:noFill/>
          <a:ln/>
        </p:spPr>
        <p:txBody>
          <a:bodyPr wrap="square" lIns="0" tIns="0" rIns="0" bIns="0" rtlCol="0" anchor="ctr"/>
          <a:lstStyle/>
          <a:p>
            <a:pPr indent="0" marL="0">
              <a:buNone/>
            </a:pPr>
            <a:r>
              <a:rPr lang="en-US" sz="950" dirty="0">
                <a:solidFill>
                  <a:srgbClr val="5C4033"/>
                </a:solidFill>
                <a:latin typeface="Calibri" pitchFamily="34" charset="0"/>
                <a:ea typeface="Calibri" pitchFamily="34" charset="-122"/>
                <a:cs typeface="Calibri" pitchFamily="34" charset="-120"/>
              </a:rPr>
              <a:t>PYGLARA has clean title, active permits, and is ready to operate in 3 months</a:t>
            </a:r>
            <a:endParaRPr lang="en-US" sz="950" dirty="0"/>
          </a:p>
        </p:txBody>
      </p:sp>
      <p:sp>
        <p:nvSpPr>
          <p:cNvPr id="27" name="Shape 22"/>
          <p:cNvSpPr/>
          <p:nvPr/>
        </p:nvSpPr>
        <p:spPr>
          <a:xfrm>
            <a:off x="548640" y="4251960"/>
            <a:ext cx="8046720" cy="411480"/>
          </a:xfrm>
          <a:prstGeom prst="rect">
            <a:avLst/>
          </a:prstGeom>
          <a:solidFill>
            <a:srgbClr val="EDE8E0"/>
          </a:solidFill>
          <a:ln w="6350">
            <a:solidFill>
              <a:srgbClr val="D4C5B2"/>
            </a:solidFill>
            <a:prstDash val="solid"/>
          </a:ln>
        </p:spPr>
        <p:txBody>
          <a:bodyPr/>
          <a:p/>
        </p:txBody>
      </p:sp>
      <p:pic>
        <p:nvPicPr>
          <p:cNvPr id="28" name="Image 3" descr="preencoded.png"/>
          <p:cNvPicPr>
            <a:picLocks noChangeAspect="1"/>
          </p:cNvPicPr>
          <p:nvPr/>
        </p:nvPicPr>
        <p:blipFill>
          <a:blip r:embed="rId4"/>
          <a:stretch>
            <a:fillRect/>
          </a:stretch>
        </p:blipFill>
        <p:spPr>
          <a:xfrm>
            <a:off x="685800" y="4315968"/>
            <a:ext cx="228600" cy="228600"/>
          </a:xfrm>
          <a:prstGeom prst="rect">
            <a:avLst/>
          </a:prstGeom>
        </p:spPr>
      </p:pic>
      <p:sp>
        <p:nvSpPr>
          <p:cNvPr id="29" name="Text 23"/>
          <p:cNvSpPr/>
          <p:nvPr/>
        </p:nvSpPr>
        <p:spPr>
          <a:xfrm>
            <a:off x="1051560" y="4251960"/>
            <a:ext cx="7406640" cy="411480"/>
          </a:xfrm>
          <a:prstGeom prst="rect">
            <a:avLst/>
          </a:prstGeom>
          <a:noFill/>
          <a:ln/>
        </p:spPr>
        <p:txBody>
          <a:bodyPr wrap="square" lIns="0" tIns="0" rIns="0" bIns="0" rtlCol="0" anchor="ctr"/>
          <a:lstStyle/>
          <a:p>
            <a:pPr indent="0" marL="0">
              <a:buNone/>
            </a:pPr>
            <a:r>
              <a:rPr lang="en-US" sz="950" dirty="0">
                <a:solidFill>
                  <a:srgbClr val="5C4033"/>
                </a:solidFill>
                <a:latin typeface="Calibri" pitchFamily="34" charset="0"/>
                <a:ea typeface="Calibri" pitchFamily="34" charset="-122"/>
                <a:cs typeface="Calibri" pitchFamily="34" charset="-120"/>
              </a:rPr>
              <a:t>Coverage: Lara, Yaracuy, Portuguesa, Falcon, Trujillo, Barinas + Zulia (oil)</a:t>
            </a:r>
            <a:endParaRPr lang="en-US" sz="950" dirty="0"/>
          </a:p>
        </p:txBody>
      </p:sp>
      <p:sp>
        <p:nvSpPr>
          <p:cNvPr id="30" name="Text 24"/>
          <p:cNvSpPr/>
          <p:nvPr/>
        </p:nvSpPr>
        <p:spPr>
          <a:xfrm>
            <a:off x="548640" y="4846320"/>
            <a:ext cx="8046720" cy="228600"/>
          </a:xfrm>
          <a:prstGeom prst="rect">
            <a:avLst/>
          </a:prstGeom>
          <a:noFill/>
          <a:ln/>
        </p:spPr>
        <p:txBody>
          <a:bodyPr wrap="square" lIns="0" tIns="0" rIns="0" bIns="0" rtlCol="0" anchor="ctr"/>
          <a:lstStyle/>
          <a:p>
            <a:pPr algn="ctr" indent="0" marL="0">
              <a:buNone/>
            </a:pPr>
            <a:r>
              <a:rPr lang="en-US" sz="1200" b="1" i="1" dirty="0">
                <a:solidFill>
                  <a:srgbClr val="8B5A2B"/>
                </a:solidFill>
                <a:latin typeface="Calibri" pitchFamily="34" charset="0"/>
                <a:ea typeface="Calibri" pitchFamily="34" charset="-122"/>
                <a:cs typeface="Calibri" pitchFamily="34" charset="-120"/>
              </a:rPr>
              <a:t>"Extremely high barrier to entry"</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20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GALVANIZING ECONOMICS</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Variable and fixed cost structure per galvanized ton</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914400"/>
        </p:xfrm>
        <a:graphic>
          <a:graphicData uri="http://schemas.openxmlformats.org/drawingml/2006/table">
            <a:tbl>
              <a:tblPr/>
              <a:tblGrid>
                <a:gridCol w="3200400"/>
                <a:gridCol w="1645920"/>
                <a:gridCol w="1554480"/>
                <a:gridCol w="1645920"/>
              </a:tblGrid>
              <a:tr h="347472">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Variable Costs (per ton)</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$/Kg</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 Variable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Zinc SHG 99.99% (10% absorption x $4,220/TM)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$422</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$0.422</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78%</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Hydrochloric acid HCl (4.2% x $1,174/MT)</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$49</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$0.049</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Ammonium chloride NH4Cl (3% x $2,300/MT)</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$69</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$0.069</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6576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TOTAL VARIABLE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5C4033"/>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$540</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5C4033"/>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$0.54</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5C4033"/>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5C4033"/>
                    </a:solidFill>
                  </a:tcPr>
                </a:tc>
              </a:tr>
              <a:tr h="384048">
                <a:tc>
                  <a:txBody>
                    <a:bodyPr/>
                    <a:lstStyle/>
                    <a:p>
                      <a:pPr algn="l" indent="0" marL="0">
                        <a:buNone/>
                      </a:pPr>
                      <a:r>
                        <a:rPr lang="en-US" sz="1100" b="1" dirty="0">
                          <a:solidFill>
                            <a:srgbClr val="8B5A2B"/>
                          </a:solidFill>
                          <a:latin typeface="Calibri" pitchFamily="34" charset="0"/>
                          <a:ea typeface="Calibri" pitchFamily="34" charset="-122"/>
                          <a:cs typeface="Calibri" pitchFamily="34" charset="-120"/>
                        </a:rPr>
                        <a:t>SELLING PRICE (market range)</a:t>
                      </a:r>
                      <a:endParaRPr lang="en-US" sz="11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100" b="1" dirty="0">
                          <a:solidFill>
                            <a:srgbClr val="8B5A2B"/>
                          </a:solidFill>
                          <a:latin typeface="Calibri" pitchFamily="34" charset="0"/>
                          <a:ea typeface="Calibri" pitchFamily="34" charset="-122"/>
                          <a:cs typeface="Calibri" pitchFamily="34" charset="-120"/>
                        </a:rPr>
                        <a:t>$1,200-$1,500</a:t>
                      </a:r>
                      <a:endParaRPr lang="en-US" sz="11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100" b="1" dirty="0">
                          <a:solidFill>
                            <a:srgbClr val="8B5A2B"/>
                          </a:solidFill>
                          <a:latin typeface="Calibri" pitchFamily="34" charset="0"/>
                          <a:ea typeface="Calibri" pitchFamily="34" charset="-122"/>
                          <a:cs typeface="Calibri" pitchFamily="34" charset="-120"/>
                        </a:rPr>
                        <a:t>$1.20-$1.50</a:t>
                      </a:r>
                      <a:endParaRPr lang="en-US" sz="11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indent="0" marL="0">
                        <a:buNone/>
                      </a:pPr>
                      <a:endParaRPr lang="en-US" sz="1200" dirty="0"/>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402336">
                <a:tc>
                  <a:txBody>
                    <a:bodyPr/>
                    <a:lstStyle/>
                    <a:p>
                      <a:pPr algn="l" indent="0" marL="0">
                        <a:buNone/>
                      </a:pPr>
                      <a:r>
                        <a:rPr lang="en-US" sz="1100" b="1" dirty="0">
                          <a:solidFill>
                            <a:srgbClr val="2D7D46"/>
                          </a:solidFill>
                          <a:latin typeface="Calibri" pitchFamily="34" charset="0"/>
                          <a:ea typeface="Calibri" pitchFamily="34" charset="-122"/>
                          <a:cs typeface="Calibri" pitchFamily="34" charset="-120"/>
                        </a:rPr>
                        <a:t>CONTRIBUTION MARGIN (range)</a:t>
                      </a:r>
                      <a:endParaRPr lang="en-US" sz="11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D7D46"/>
                          </a:solidFill>
                          <a:latin typeface="Calibri" pitchFamily="34" charset="0"/>
                          <a:ea typeface="Calibri" pitchFamily="34" charset="-122"/>
                          <a:cs typeface="Calibri" pitchFamily="34" charset="-120"/>
                        </a:rPr>
                        <a:t>$660-$960</a:t>
                      </a:r>
                      <a:endParaRPr lang="en-US" sz="11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D7D46"/>
                          </a:solidFill>
                          <a:latin typeface="Georgia" pitchFamily="34" charset="0"/>
                          <a:ea typeface="Georgia" pitchFamily="34" charset="-122"/>
                          <a:cs typeface="Georgia" pitchFamily="34" charset="-120"/>
                        </a:rPr>
                        <a:t>$0.66-$0.96</a:t>
                      </a:r>
                      <a:endParaRPr lang="en-US" sz="1100" dirty="0">
                        <a:latin typeface="Georgia" charset="0"/>
                        <a:ea typeface="Georgia" charset="0"/>
                        <a:cs typeface="Georgia"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D7D46"/>
                          </a:solidFill>
                          <a:latin typeface="Georgia" pitchFamily="34" charset="0"/>
                          <a:ea typeface="Georgia" pitchFamily="34" charset="-122"/>
                          <a:cs typeface="Georgia" pitchFamily="34" charset="-120"/>
                        </a:rPr>
                        <a:t>55%-64%</a:t>
                      </a:r>
                      <a:endParaRPr lang="en-US" sz="1100" dirty="0">
                        <a:latin typeface="Georgia" charset="0"/>
                        <a:ea typeface="Georgia" charset="0"/>
                        <a:cs typeface="Georgia"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3657600"/>
            <a:ext cx="384048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8" name="Text 5"/>
          <p:cNvSpPr/>
          <p:nvPr/>
        </p:nvSpPr>
        <p:spPr>
          <a:xfrm>
            <a:off x="731520" y="3730752"/>
            <a:ext cx="3474720" cy="256032"/>
          </a:xfrm>
          <a:prstGeom prst="rect">
            <a:avLst/>
          </a:prstGeom>
          <a:noFill/>
          <a:ln/>
        </p:spPr>
        <p:txBody>
          <a:bodyPr wrap="square" lIns="0" tIns="0" rIns="0" bIns="0" rtlCol="0" anchor="ctr"/>
          <a:lstStyle/>
          <a:p>
            <a:pPr indent="0" marL="0">
              <a:buNone/>
            </a:pPr>
            <a:r>
              <a:rPr lang="en-US" sz="1000" b="1" dirty="0">
                <a:solidFill>
                  <a:srgbClr val="B87333"/>
                </a:solidFill>
                <a:latin typeface="Georgia" pitchFamily="34" charset="0"/>
                <a:ea typeface="Georgia" pitchFamily="34" charset="-122"/>
                <a:cs typeface="Georgia" pitchFamily="34" charset="-120"/>
              </a:rPr>
              <a:t>MONTHLY FIXED COSTS</a:t>
            </a:r>
            <a:endParaRPr lang="en-US" sz="1000" dirty="0"/>
          </a:p>
        </p:txBody>
      </p:sp>
      <p:sp>
        <p:nvSpPr>
          <p:cNvPr id="9" name="Text 6"/>
          <p:cNvSpPr/>
          <p:nvPr/>
        </p:nvSpPr>
        <p:spPr>
          <a:xfrm>
            <a:off x="731520" y="3986784"/>
            <a:ext cx="3474720" cy="365760"/>
          </a:xfrm>
          <a:prstGeom prst="rect">
            <a:avLst/>
          </a:prstGeom>
          <a:noFill/>
          <a:ln/>
        </p:spPr>
        <p:txBody>
          <a:bodyPr wrap="square" lIns="0" tIns="0" rIns="0" bIns="0" rtlCol="0" anchor="ctr"/>
          <a:lstStyle/>
          <a:p>
            <a:pPr indent="0" marL="0">
              <a:lnSpc>
                <a:spcPct val="115000"/>
              </a:lnSpc>
              <a:buNone/>
            </a:pPr>
            <a:r>
              <a:rPr lang="en-US" sz="900" dirty="0">
                <a:solidFill>
                  <a:srgbClr val="5C4033"/>
                </a:solidFill>
                <a:latin typeface="Calibri" pitchFamily="34" charset="0"/>
                <a:ea typeface="Calibri" pitchFamily="34" charset="-122"/>
                <a:cs typeface="Calibri" pitchFamily="34" charset="-120"/>
              </a:rPr>
              <a:t>Gas PDVSA: $1,800  |  Seguridad: $1,200</a:t>
            </a:r>
            <a:endParaRPr lang="en-US" sz="900" dirty="0"/>
          </a:p>
          <a:p>
            <a:pPr indent="0" marL="0">
              <a:lnSpc>
                <a:spcPct val="115000"/>
              </a:lnSpc>
              <a:buNone/>
            </a:pPr>
            <a:r>
              <a:rPr lang="en-US" sz="900" dirty="0">
                <a:solidFill>
                  <a:srgbClr val="5C4033"/>
                </a:solidFill>
                <a:latin typeface="Calibri" pitchFamily="34" charset="0"/>
                <a:ea typeface="Calibri" pitchFamily="34" charset="-122"/>
                <a:cs typeface="Calibri" pitchFamily="34" charset="-120"/>
              </a:rPr>
              <a:t>Salarios: $2,300  |  Electricidad: $200  |  Otros: $100</a:t>
            </a:r>
            <a:endParaRPr lang="en-US" sz="900" dirty="0"/>
          </a:p>
        </p:txBody>
      </p:sp>
      <p:sp>
        <p:nvSpPr>
          <p:cNvPr id="10" name="Text 7"/>
          <p:cNvSpPr/>
          <p:nvPr/>
        </p:nvSpPr>
        <p:spPr>
          <a:xfrm>
            <a:off x="731520" y="4352544"/>
            <a:ext cx="3474720" cy="228600"/>
          </a:xfrm>
          <a:prstGeom prst="rect">
            <a:avLst/>
          </a:prstGeom>
          <a:noFill/>
          <a:ln/>
        </p:spPr>
        <p:txBody>
          <a:bodyPr wrap="square" lIns="0" tIns="0" rIns="0" bIns="0" rtlCol="0" anchor="ctr"/>
          <a:lstStyle/>
          <a:p>
            <a:pPr indent="0" marL="0">
              <a:buNone/>
            </a:pPr>
            <a:r>
              <a:rPr lang="en-US" sz="900" b="1" dirty="0">
                <a:solidFill>
                  <a:srgbClr val="5C4033"/>
                </a:solidFill>
                <a:latin typeface="Calibri" pitchFamily="34" charset="0"/>
                <a:ea typeface="Calibri" pitchFamily="34" charset="-122"/>
                <a:cs typeface="Calibri" pitchFamily="34" charset="-120"/>
              </a:rPr>
              <a:t>Total: $5,600/mo  (+$7,500 labor at full capacity)</a:t>
            </a:r>
            <a:endParaRPr lang="en-US" sz="900" dirty="0"/>
          </a:p>
        </p:txBody>
      </p:sp>
      <p:sp>
        <p:nvSpPr>
          <p:cNvPr id="11" name="Text 8"/>
          <p:cNvSpPr/>
          <p:nvPr/>
        </p:nvSpPr>
        <p:spPr>
          <a:xfrm>
            <a:off x="731520" y="4535424"/>
            <a:ext cx="3474720" cy="182880"/>
          </a:xfrm>
          <a:prstGeom prst="rect">
            <a:avLst/>
          </a:prstGeom>
          <a:noFill/>
          <a:ln/>
        </p:spPr>
        <p:txBody>
          <a:bodyPr wrap="square" lIns="0" tIns="0" rIns="0" bIns="0" rtlCol="0" anchor="ctr"/>
          <a:lstStyle/>
          <a:p>
            <a:pPr indent="0" marL="0">
              <a:buNone/>
            </a:pPr>
            <a:r>
              <a:rPr lang="en-US" sz="900" b="1" i="1" dirty="0">
                <a:solidFill>
                  <a:srgbClr val="B87333"/>
                </a:solidFill>
                <a:latin typeface="Calibri" pitchFamily="34" charset="0"/>
                <a:ea typeface="Calibri" pitchFamily="34" charset="-122"/>
                <a:cs typeface="Calibri" pitchFamily="34" charset="-120"/>
              </a:rPr>
              <a:t>= $13,100/mo at 300 MT → only $44/MT additional</a:t>
            </a:r>
            <a:endParaRPr lang="en-US" sz="900" dirty="0"/>
          </a:p>
        </p:txBody>
      </p:sp>
      <p:sp>
        <p:nvSpPr>
          <p:cNvPr id="12" name="Shape 9"/>
          <p:cNvSpPr/>
          <p:nvPr/>
        </p:nvSpPr>
        <p:spPr>
          <a:xfrm>
            <a:off x="4754880" y="3657600"/>
            <a:ext cx="3840480" cy="1097280"/>
          </a:xfrm>
          <a:prstGeom prst="rect">
            <a:avLst/>
          </a:prstGeom>
          <a:solidFill>
            <a:srgbClr val="EDE8E0"/>
          </a:solidFill>
          <a:ln w="19050">
            <a:solidFill>
              <a:srgbClr val="B87333"/>
            </a:solidFill>
            <a:prstDash val="solid"/>
          </a:ln>
          <a:effectLst>
            <a:outerShdw sx="100000" sy="100000" kx="0" ky="0" algn="bl" rotWithShape="0" blurRad="38100" dist="12700" dir="8100000">
              <a:srgbClr val="000000">
                <a:alpha val="6000"/>
              </a:srgbClr>
            </a:outerShdw>
          </a:effectLst>
        </p:spPr>
        <p:txBody>
          <a:bodyPr/>
          <a:p/>
        </p:txBody>
      </p:sp>
      <p:sp>
        <p:nvSpPr>
          <p:cNvPr id="13" name="Text 10"/>
          <p:cNvSpPr/>
          <p:nvPr/>
        </p:nvSpPr>
        <p:spPr>
          <a:xfrm>
            <a:off x="4937760" y="3730752"/>
            <a:ext cx="3474720" cy="256032"/>
          </a:xfrm>
          <a:prstGeom prst="rect">
            <a:avLst/>
          </a:prstGeom>
          <a:noFill/>
          <a:ln/>
        </p:spPr>
        <p:txBody>
          <a:bodyPr wrap="square" lIns="0" tIns="0" rIns="0" bIns="0" rtlCol="0" anchor="ctr"/>
          <a:lstStyle/>
          <a:p>
            <a:pPr indent="0" marL="0">
              <a:buNone/>
            </a:pPr>
            <a:r>
              <a:rPr lang="en-US" sz="1000" b="1" dirty="0">
                <a:solidFill>
                  <a:srgbClr val="B87333"/>
                </a:solidFill>
                <a:latin typeface="Georgia" pitchFamily="34" charset="0"/>
                <a:ea typeface="Georgia" pitchFamily="34" charset="-122"/>
                <a:cs typeface="Georgia" pitchFamily="34" charset="-120"/>
              </a:rPr>
              <a:t>NET PROFIT PER TON (range)</a:t>
            </a:r>
            <a:endParaRPr lang="en-US" sz="1000" dirty="0"/>
          </a:p>
        </p:txBody>
      </p:sp>
      <p:sp>
        <p:nvSpPr>
          <p:cNvPr id="14" name="Text 11"/>
          <p:cNvSpPr/>
          <p:nvPr/>
        </p:nvSpPr>
        <p:spPr>
          <a:xfrm>
            <a:off x="4937760" y="4023360"/>
            <a:ext cx="3474720" cy="201168"/>
          </a:xfrm>
          <a:prstGeom prst="rect">
            <a:avLst/>
          </a:prstGeom>
          <a:noFill/>
          <a:ln/>
        </p:spPr>
        <p:txBody>
          <a:bodyPr wrap="square" lIns="0" tIns="0" rIns="0" bIns="0" rtlCol="0" anchor="ctr"/>
          <a:lstStyle/>
          <a:p>
            <a:pPr indent="0" marL="0">
              <a:buNone/>
            </a:pPr>
            <a:r>
              <a:rPr lang="en-US" sz="900" dirty="0">
                <a:solidFill>
                  <a:srgbClr val="5C4033"/>
                </a:solidFill>
                <a:latin typeface="Calibri" pitchFamily="34" charset="0"/>
                <a:ea typeface="Calibri" pitchFamily="34" charset="-122"/>
                <a:cs typeface="Calibri" pitchFamily="34" charset="-120"/>
              </a:rPr>
              <a:t>Revenue: $1,200-$1,500 - Variable: $540 - Fixed: ~$44-$131</a:t>
            </a:r>
            <a:endParaRPr lang="en-US" sz="900" dirty="0"/>
          </a:p>
        </p:txBody>
      </p:sp>
      <p:sp>
        <p:nvSpPr>
          <p:cNvPr id="15" name="Text 12"/>
          <p:cNvSpPr/>
          <p:nvPr/>
        </p:nvSpPr>
        <p:spPr>
          <a:xfrm>
            <a:off x="4937760" y="4224528"/>
            <a:ext cx="3474720" cy="320040"/>
          </a:xfrm>
          <a:prstGeom prst="rect">
            <a:avLst/>
          </a:prstGeom>
          <a:noFill/>
          <a:ln/>
        </p:spPr>
        <p:txBody>
          <a:bodyPr wrap="square" lIns="0" tIns="0" rIns="0" bIns="0" rtlCol="0" anchor="ctr"/>
          <a:lstStyle/>
          <a:p>
            <a:pPr indent="0" marL="0">
              <a:buNone/>
            </a:pPr>
            <a:r>
              <a:rPr lang="en-US" sz="1800" b="1" dirty="0">
                <a:solidFill>
                  <a:srgbClr val="2D7D46"/>
                </a:solidFill>
                <a:latin typeface="Georgia" pitchFamily="34" charset="0"/>
                <a:ea typeface="Georgia" pitchFamily="34" charset="-122"/>
                <a:cs typeface="Georgia" pitchFamily="34" charset="-120"/>
              </a:rPr>
              <a:t>$529 - $916 / MT net</a:t>
            </a:r>
            <a:endParaRPr lang="en-US" sz="1800" dirty="0"/>
          </a:p>
        </p:txBody>
      </p:sp>
      <p:sp>
        <p:nvSpPr>
          <p:cNvPr id="16" name="Text 13"/>
          <p:cNvSpPr/>
          <p:nvPr/>
        </p:nvSpPr>
        <p:spPr>
          <a:xfrm>
            <a:off x="4937760" y="4526280"/>
            <a:ext cx="3474720" cy="182880"/>
          </a:xfrm>
          <a:prstGeom prst="rect">
            <a:avLst/>
          </a:prstGeom>
          <a:noFill/>
          <a:ln/>
        </p:spPr>
        <p:txBody>
          <a:bodyPr wrap="square" lIns="0" tIns="0" rIns="0" bIns="0" rtlCol="0" anchor="ctr"/>
          <a:lstStyle/>
          <a:p>
            <a:pPr indent="0" marL="0">
              <a:buNone/>
            </a:pPr>
            <a:r>
              <a:rPr lang="en-US" sz="900" i="1" dirty="0">
                <a:solidFill>
                  <a:srgbClr val="7A6555"/>
                </a:solidFill>
                <a:latin typeface="Calibri" pitchFamily="34" charset="0"/>
                <a:ea typeface="Calibri" pitchFamily="34" charset="-122"/>
                <a:cs typeface="Calibri" pitchFamily="34" charset="-120"/>
              </a:rPr>
              <a:t>Depends on volume, zinc price, and selling price</a:t>
            </a:r>
            <a:endParaRPr lang="en-US" sz="900" dirty="0"/>
          </a:p>
        </p:txBody>
      </p:sp>
      <p:sp>
        <p:nvSpPr>
          <p:cNvPr id="17" name="Text 14"/>
          <p:cNvSpPr/>
          <p:nvPr/>
        </p:nvSpPr>
        <p:spPr>
          <a:xfrm>
            <a:off x="548640" y="4846320"/>
            <a:ext cx="8046720" cy="228600"/>
          </a:xfrm>
          <a:prstGeom prst="rect">
            <a:avLst/>
          </a:prstGeom>
          <a:noFill/>
          <a:ln/>
        </p:spPr>
        <p:txBody>
          <a:bodyPr wrap="square" lIns="0" tIns="0" rIns="0" bIns="0" rtlCol="0" anchor="ctr"/>
          <a:lstStyle/>
          <a:p>
            <a:pPr algn="ctr" indent="0" marL="0">
              <a:buNone/>
            </a:pPr>
            <a:r>
              <a:rPr lang="en-US" sz="800" i="1" dirty="0">
                <a:solidFill>
                  <a:srgbClr val="8C8C8C"/>
                </a:solidFill>
                <a:latin typeface="Calibri" pitchFamily="34" charset="0"/>
                <a:ea typeface="Calibri" pitchFamily="34" charset="-122"/>
                <a:cs typeface="Calibri" pitchFamily="34" charset="-120"/>
              </a:rPr>
              <a:t>Sources: Ing. Miriam (verified), LME zinc March 2026. Prices and costs subject to market volatility.</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21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FINANCIAL PROJECTIONS</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100" i="1" dirty="0">
                <a:solidFill>
                  <a:srgbClr val="8B5A2B"/>
                </a:solidFill>
                <a:latin typeface="Calibri" pitchFamily="34" charset="0"/>
                <a:ea typeface="Calibri" pitchFamily="34" charset="-122"/>
                <a:cs typeface="Calibri" pitchFamily="34" charset="-120"/>
              </a:rPr>
              <a:t>Three scenarios — actual production depends on demand, zinc supply, and operational capacity</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8046720" cy="914400"/>
        </p:xfrm>
        <a:graphic>
          <a:graphicData uri="http://schemas.openxmlformats.org/drawingml/2006/table">
            <a:tbl>
              <a:tblPr/>
              <a:tblGrid>
                <a:gridCol w="1371600"/>
                <a:gridCol w="822960"/>
                <a:gridCol w="1371600"/>
                <a:gridCol w="1371600"/>
                <a:gridCol w="1554480"/>
                <a:gridCol w="1554480"/>
              </a:tblGrid>
              <a:tr h="32004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MT/mo</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Revenue/mo</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Costs/mo</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Profit/mo</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Profit/yr</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r h="411480">
                <a:tc>
                  <a:txBody>
                    <a:bodyPr/>
                    <a:lstStyle/>
                    <a:p>
                      <a:pPr algn="l" indent="0" marL="0">
                        <a:buNone/>
                      </a:pPr>
                      <a:r>
                        <a:rPr lang="en-US" sz="1000" b="1" dirty="0">
                          <a:solidFill>
                            <a:srgbClr val="C47F17"/>
                          </a:solidFill>
                          <a:latin typeface="Calibri" pitchFamily="34" charset="0"/>
                          <a:ea typeface="Calibri" pitchFamily="34" charset="-122"/>
                          <a:cs typeface="Calibri" pitchFamily="34" charset="-120"/>
                        </a:rPr>
                        <a:t>Conservative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$120K-$150K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B83B3B"/>
                          </a:solidFill>
                          <a:latin typeface="Calibri" pitchFamily="34" charset="0"/>
                          <a:ea typeface="Calibri" pitchFamily="34" charset="-122"/>
                          <a:cs typeface="Calibri" pitchFamily="34" charset="-120"/>
                        </a:rPr>
                        <a:t>$60K-$67K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$53K-$90K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$636K-$1.1M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411480">
                <a:tc>
                  <a:txBody>
                    <a:bodyPr/>
                    <a:lstStyle/>
                    <a:p>
                      <a:pPr algn="l" indent="0" marL="0">
                        <a:buNone/>
                      </a:pPr>
                      <a:r>
                        <a:rPr lang="en-US" sz="1000" b="1" dirty="0">
                          <a:solidFill>
                            <a:srgbClr val="8B5A2B"/>
                          </a:solidFill>
                          <a:latin typeface="Calibri" pitchFamily="34" charset="0"/>
                          <a:ea typeface="Calibri" pitchFamily="34" charset="-122"/>
                          <a:cs typeface="Calibri" pitchFamily="34" charset="-120"/>
                        </a:rPr>
                        <a:t>Moderate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200</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$240K-$300K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dirty="0">
                          <a:solidFill>
                            <a:srgbClr val="B83B3B"/>
                          </a:solidFill>
                          <a:latin typeface="Calibri" pitchFamily="34" charset="0"/>
                          <a:ea typeface="Calibri" pitchFamily="34" charset="-122"/>
                          <a:cs typeface="Calibri" pitchFamily="34" charset="-120"/>
                        </a:rPr>
                        <a:t>$114K-$121K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$119K-$186K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$1.4M-$2.2M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411480">
                <a:tc>
                  <a:txBody>
                    <a:bodyPr/>
                    <a:lstStyle/>
                    <a:p>
                      <a:pPr algn="l" indent="0" marL="0">
                        <a:buNone/>
                      </a:pPr>
                      <a:r>
                        <a:rPr lang="en-US" sz="1000" b="1" dirty="0">
                          <a:solidFill>
                            <a:srgbClr val="2D7D46"/>
                          </a:solidFill>
                          <a:latin typeface="Calibri" pitchFamily="34" charset="0"/>
                          <a:ea typeface="Calibri" pitchFamily="34" charset="-122"/>
                          <a:cs typeface="Calibri" pitchFamily="34" charset="-120"/>
                        </a:rPr>
                        <a:t>Best historical</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300</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$360K-$450K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B83B3B"/>
                          </a:solidFill>
                          <a:latin typeface="Calibri" pitchFamily="34" charset="0"/>
                          <a:ea typeface="Calibri" pitchFamily="34" charset="-122"/>
                          <a:cs typeface="Calibri" pitchFamily="34" charset="-120"/>
                        </a:rPr>
                        <a:t>$175K-$182K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$178K-$275K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$2.1M-$3.3M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2788920"/>
            <a:ext cx="8046720" cy="1005840"/>
          </a:xfrm>
          <a:prstGeom prst="rect">
            <a:avLst/>
          </a:prstGeom>
          <a:solidFill>
            <a:srgbClr val="EDE8E0"/>
          </a:solidFill>
          <a:ln w="12700">
            <a:solidFill>
              <a:srgbClr val="D4C5B2"/>
            </a:solidFill>
            <a:prstDash val="solid"/>
          </a:ln>
        </p:spPr>
        <p:txBody>
          <a:bodyPr/>
          <a:p/>
        </p:txBody>
      </p:sp>
      <p:sp>
        <p:nvSpPr>
          <p:cNvPr id="8" name="Text 5"/>
          <p:cNvSpPr/>
          <p:nvPr/>
        </p:nvSpPr>
        <p:spPr>
          <a:xfrm>
            <a:off x="731520" y="2834640"/>
            <a:ext cx="3657600" cy="228600"/>
          </a:xfrm>
          <a:prstGeom prst="rect">
            <a:avLst/>
          </a:prstGeom>
          <a:noFill/>
          <a:ln/>
        </p:spPr>
        <p:txBody>
          <a:bodyPr wrap="square" lIns="0" tIns="0" rIns="0" bIns="0" rtlCol="0" anchor="ctr"/>
          <a:lstStyle/>
          <a:p>
            <a:pPr indent="0" marL="0">
              <a:buNone/>
            </a:pPr>
            <a:r>
              <a:rPr lang="en-US" sz="1000" b="1" dirty="0">
                <a:solidFill>
                  <a:srgbClr val="B87333"/>
                </a:solidFill>
                <a:latin typeface="Georgia" pitchFamily="34" charset="0"/>
                <a:ea typeface="Georgia" pitchFamily="34" charset="-122"/>
                <a:cs typeface="Georgia" pitchFamily="34" charset="-120"/>
              </a:rPr>
              <a:t>KEY ASSUMPTIONS &amp; VARIABLES</a:t>
            </a:r>
            <a:endParaRPr lang="en-US" sz="1000" dirty="0"/>
          </a:p>
        </p:txBody>
      </p:sp>
      <p:sp>
        <p:nvSpPr>
          <p:cNvPr id="9" name="Text 6"/>
          <p:cNvSpPr/>
          <p:nvPr/>
        </p:nvSpPr>
        <p:spPr>
          <a:xfrm>
            <a:off x="731520" y="3063240"/>
            <a:ext cx="7680960" cy="685800"/>
          </a:xfrm>
          <a:prstGeom prst="rect">
            <a:avLst/>
          </a:prstGeom>
          <a:noFill/>
          <a:ln/>
        </p:spPr>
        <p:txBody>
          <a:bodyPr wrap="square" lIns="0" tIns="0" rIns="0" bIns="0" rtlCol="0" anchor="ctr"/>
          <a:lstStyle/>
          <a:p>
            <a:pPr indent="0" marL="0">
              <a:lnSpc>
                <a:spcPct val="120000"/>
              </a:lnSpc>
              <a:buNone/>
            </a:pPr>
            <a:r>
              <a:rPr lang="en-US" sz="900" dirty="0">
                <a:solidFill>
                  <a:srgbClr val="5C4033"/>
                </a:solidFill>
                <a:latin typeface="Calibri" pitchFamily="34" charset="0"/>
                <a:ea typeface="Calibri" pitchFamily="34" charset="-122"/>
                <a:cs typeface="Calibri" pitchFamily="34" charset="-120"/>
              </a:rPr>
              <a:t>Selling price: $1,200-$1,500/MT (depends on market and part type)</a:t>
            </a:r>
            <a:endParaRPr lang="en-US" sz="900" dirty="0"/>
          </a:p>
          <a:p>
            <a:pPr indent="0" marL="0">
              <a:lnSpc>
                <a:spcPct val="120000"/>
              </a:lnSpc>
              <a:buNone/>
            </a:pPr>
            <a:r>
              <a:rPr lang="en-US" sz="900" dirty="0">
                <a:solidFill>
                  <a:srgbClr val="5C4033"/>
                </a:solidFill>
                <a:latin typeface="Calibri" pitchFamily="34" charset="0"/>
                <a:ea typeface="Calibri" pitchFamily="34" charset="-122"/>
                <a:cs typeface="Calibri" pitchFamily="34" charset="-120"/>
              </a:rPr>
              <a:t>Variable cost: ~$540/MT (zinc at current LME price — subject to volatility)</a:t>
            </a:r>
            <a:endParaRPr lang="en-US" sz="900" dirty="0"/>
          </a:p>
          <a:p>
            <a:pPr indent="0" marL="0">
              <a:lnSpc>
                <a:spcPct val="120000"/>
              </a:lnSpc>
              <a:buNone/>
            </a:pPr>
            <a:r>
              <a:rPr lang="en-US" sz="900" dirty="0">
                <a:solidFill>
                  <a:srgbClr val="5C4033"/>
                </a:solidFill>
                <a:latin typeface="Calibri" pitchFamily="34" charset="0"/>
                <a:ea typeface="Calibri" pitchFamily="34" charset="-122"/>
                <a:cs typeface="Calibri" pitchFamily="34" charset="-120"/>
              </a:rPr>
              <a:t>Fixed costs: $5,600-$13,100/mo (scale with labor based on volume)</a:t>
            </a:r>
            <a:endParaRPr lang="en-US" sz="900" dirty="0"/>
          </a:p>
          <a:p>
            <a:pPr indent="0" marL="0">
              <a:lnSpc>
                <a:spcPct val="120000"/>
              </a:lnSpc>
              <a:buNone/>
            </a:pPr>
            <a:r>
              <a:rPr lang="en-US" sz="900" dirty="0">
                <a:solidFill>
                  <a:srgbClr val="5C4033"/>
                </a:solidFill>
                <a:latin typeface="Calibri" pitchFamily="34" charset="0"/>
                <a:ea typeface="Calibri" pitchFamily="34" charset="-122"/>
                <a:cs typeface="Calibri" pitchFamily="34" charset="-120"/>
              </a:rPr>
              <a:t>Ranges reflect factors such as zinc availability, seasonal demand, and actual operational capacity.</a:t>
            </a:r>
            <a:endParaRPr lang="en-US" sz="900" dirty="0"/>
          </a:p>
        </p:txBody>
      </p:sp>
      <p:sp>
        <p:nvSpPr>
          <p:cNvPr id="10" name="Shape 7"/>
          <p:cNvSpPr/>
          <p:nvPr/>
        </p:nvSpPr>
        <p:spPr>
          <a:xfrm>
            <a:off x="548640" y="3977640"/>
            <a:ext cx="265176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1" name="Text 8"/>
          <p:cNvSpPr/>
          <p:nvPr/>
        </p:nvSpPr>
        <p:spPr>
          <a:xfrm>
            <a:off x="548640" y="4005072"/>
            <a:ext cx="2651760" cy="411480"/>
          </a:xfrm>
          <a:prstGeom prst="rect">
            <a:avLst/>
          </a:prstGeom>
          <a:noFill/>
          <a:ln/>
        </p:spPr>
        <p:txBody>
          <a:bodyPr wrap="square" lIns="0" tIns="0" rIns="0" bIns="0" rtlCol="0" anchor="ctr"/>
          <a:lstStyle/>
          <a:p>
            <a:pPr algn="ctr" indent="0" marL="0">
              <a:buNone/>
            </a:pPr>
            <a:r>
              <a:rPr lang="en-US" sz="2000" b="1" dirty="0">
                <a:solidFill>
                  <a:srgbClr val="8B5A2B"/>
                </a:solidFill>
                <a:latin typeface="Georgia" pitchFamily="34" charset="0"/>
                <a:ea typeface="Georgia" pitchFamily="34" charset="-122"/>
                <a:cs typeface="Georgia" pitchFamily="34" charset="-120"/>
              </a:rPr>
              <a:t>55%-64%</a:t>
            </a:r>
            <a:endParaRPr lang="en-US" sz="2000" dirty="0"/>
          </a:p>
        </p:txBody>
      </p:sp>
      <p:sp>
        <p:nvSpPr>
          <p:cNvPr id="12" name="Text 9"/>
          <p:cNvSpPr/>
          <p:nvPr/>
        </p:nvSpPr>
        <p:spPr>
          <a:xfrm>
            <a:off x="640080" y="4416552"/>
            <a:ext cx="2468880" cy="320040"/>
          </a:xfrm>
          <a:prstGeom prst="rect">
            <a:avLst/>
          </a:prstGeom>
          <a:noFill/>
          <a:ln/>
        </p:spPr>
        <p:txBody>
          <a:bodyPr wrap="square" lIns="0" tIns="0" rIns="0" bIns="0" rtlCol="0" anchor="t"/>
          <a:lstStyle/>
          <a:p>
            <a:pPr algn="ctr" indent="0" marL="0">
              <a:buNone/>
            </a:pPr>
            <a:r>
              <a:rPr lang="en-US" sz="900" dirty="0">
                <a:solidFill>
                  <a:srgbClr val="7A6555"/>
                </a:solidFill>
                <a:latin typeface="Calibri" pitchFamily="34" charset="0"/>
                <a:ea typeface="Calibri" pitchFamily="34" charset="-122"/>
                <a:cs typeface="Calibri" pitchFamily="34" charset="-120"/>
              </a:rPr>
              <a:t>Operating margin</a:t>
            </a:r>
            <a:endParaRPr lang="en-US" sz="900" dirty="0"/>
          </a:p>
          <a:p>
            <a:pPr algn="ctr" indent="0" marL="0">
              <a:buNone/>
            </a:pPr>
            <a:r>
              <a:rPr lang="en-US" sz="900" dirty="0">
                <a:solidFill>
                  <a:srgbClr val="7A6555"/>
                </a:solidFill>
                <a:latin typeface="Calibri" pitchFamily="34" charset="0"/>
                <a:ea typeface="Calibri" pitchFamily="34" charset="-122"/>
                <a:cs typeface="Calibri" pitchFamily="34" charset="-120"/>
              </a:rPr>
              <a:t>range</a:t>
            </a:r>
            <a:endParaRPr lang="en-US" sz="900" dirty="0"/>
          </a:p>
        </p:txBody>
      </p:sp>
      <p:sp>
        <p:nvSpPr>
          <p:cNvPr id="13" name="Shape 10"/>
          <p:cNvSpPr/>
          <p:nvPr/>
        </p:nvSpPr>
        <p:spPr>
          <a:xfrm>
            <a:off x="3429000" y="3977640"/>
            <a:ext cx="265176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4" name="Text 11"/>
          <p:cNvSpPr/>
          <p:nvPr/>
        </p:nvSpPr>
        <p:spPr>
          <a:xfrm>
            <a:off x="3429000" y="4005072"/>
            <a:ext cx="2651760" cy="411480"/>
          </a:xfrm>
          <a:prstGeom prst="rect">
            <a:avLst/>
          </a:prstGeom>
          <a:noFill/>
          <a:ln/>
        </p:spPr>
        <p:txBody>
          <a:bodyPr wrap="square" lIns="0" tIns="0" rIns="0" bIns="0" rtlCol="0" anchor="ctr"/>
          <a:lstStyle/>
          <a:p>
            <a:pPr algn="ctr" indent="0" marL="0">
              <a:buNone/>
            </a:pPr>
            <a:r>
              <a:rPr lang="en-US" sz="2000" b="1" dirty="0">
                <a:solidFill>
                  <a:srgbClr val="8B5A2B"/>
                </a:solidFill>
                <a:latin typeface="Georgia" pitchFamily="34" charset="0"/>
                <a:ea typeface="Georgia" pitchFamily="34" charset="-122"/>
                <a:cs typeface="Georgia" pitchFamily="34" charset="-120"/>
              </a:rPr>
              <a:t>10-20 MT</a:t>
            </a:r>
            <a:endParaRPr lang="en-US" sz="2000" dirty="0"/>
          </a:p>
        </p:txBody>
      </p:sp>
      <p:sp>
        <p:nvSpPr>
          <p:cNvPr id="15" name="Text 12"/>
          <p:cNvSpPr/>
          <p:nvPr/>
        </p:nvSpPr>
        <p:spPr>
          <a:xfrm>
            <a:off x="3520440" y="4416552"/>
            <a:ext cx="2468880" cy="320040"/>
          </a:xfrm>
          <a:prstGeom prst="rect">
            <a:avLst/>
          </a:prstGeom>
          <a:noFill/>
          <a:ln/>
        </p:spPr>
        <p:txBody>
          <a:bodyPr wrap="square" lIns="0" tIns="0" rIns="0" bIns="0" rtlCol="0" anchor="t"/>
          <a:lstStyle/>
          <a:p>
            <a:pPr algn="ctr" indent="0" marL="0">
              <a:buNone/>
            </a:pPr>
            <a:r>
              <a:rPr lang="en-US" sz="900" dirty="0">
                <a:solidFill>
                  <a:srgbClr val="7A6555"/>
                </a:solidFill>
                <a:latin typeface="Calibri" pitchFamily="34" charset="0"/>
                <a:ea typeface="Calibri" pitchFamily="34" charset="-122"/>
                <a:cs typeface="Calibri" pitchFamily="34" charset="-120"/>
              </a:rPr>
              <a:t>Break-even</a:t>
            </a:r>
            <a:endParaRPr lang="en-US" sz="900" dirty="0"/>
          </a:p>
          <a:p>
            <a:pPr algn="ctr" indent="0" marL="0">
              <a:buNone/>
            </a:pPr>
            <a:r>
              <a:rPr lang="en-US" sz="900" dirty="0">
                <a:solidFill>
                  <a:srgbClr val="7A6555"/>
                </a:solidFill>
                <a:latin typeface="Calibri" pitchFamily="34" charset="0"/>
                <a:ea typeface="Calibri" pitchFamily="34" charset="-122"/>
                <a:cs typeface="Calibri" pitchFamily="34" charset="-120"/>
              </a:rPr>
              <a:t>range/month</a:t>
            </a:r>
            <a:endParaRPr lang="en-US" sz="900" dirty="0"/>
          </a:p>
        </p:txBody>
      </p:sp>
      <p:sp>
        <p:nvSpPr>
          <p:cNvPr id="16" name="Shape 13"/>
          <p:cNvSpPr/>
          <p:nvPr/>
        </p:nvSpPr>
        <p:spPr>
          <a:xfrm>
            <a:off x="6309360" y="3977640"/>
            <a:ext cx="265176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7" name="Text 14"/>
          <p:cNvSpPr/>
          <p:nvPr/>
        </p:nvSpPr>
        <p:spPr>
          <a:xfrm>
            <a:off x="6309360" y="4005072"/>
            <a:ext cx="2651760" cy="411480"/>
          </a:xfrm>
          <a:prstGeom prst="rect">
            <a:avLst/>
          </a:prstGeom>
          <a:noFill/>
          <a:ln/>
        </p:spPr>
        <p:txBody>
          <a:bodyPr wrap="square" lIns="0" tIns="0" rIns="0" bIns="0" rtlCol="0" anchor="ctr"/>
          <a:lstStyle/>
          <a:p>
            <a:pPr algn="ctr" indent="0" marL="0">
              <a:buNone/>
            </a:pPr>
            <a:r>
              <a:rPr lang="en-US" sz="2000" b="1" dirty="0">
                <a:solidFill>
                  <a:srgbClr val="8B5A2B"/>
                </a:solidFill>
                <a:latin typeface="Georgia" pitchFamily="34" charset="0"/>
                <a:ea typeface="Georgia" pitchFamily="34" charset="-122"/>
                <a:cs typeface="Georgia" pitchFamily="34" charset="-120"/>
              </a:rPr>
              <a:t>&lt;7%</a:t>
            </a:r>
            <a:endParaRPr lang="en-US" sz="2000" dirty="0"/>
          </a:p>
        </p:txBody>
      </p:sp>
      <p:sp>
        <p:nvSpPr>
          <p:cNvPr id="18" name="Text 15"/>
          <p:cNvSpPr/>
          <p:nvPr/>
        </p:nvSpPr>
        <p:spPr>
          <a:xfrm>
            <a:off x="6400800" y="4416552"/>
            <a:ext cx="2468880" cy="320040"/>
          </a:xfrm>
          <a:prstGeom prst="rect">
            <a:avLst/>
          </a:prstGeom>
          <a:noFill/>
          <a:ln/>
        </p:spPr>
        <p:txBody>
          <a:bodyPr wrap="square" lIns="0" tIns="0" rIns="0" bIns="0" rtlCol="0" anchor="t"/>
          <a:lstStyle/>
          <a:p>
            <a:pPr algn="ctr" indent="0" marL="0">
              <a:buNone/>
            </a:pPr>
            <a:r>
              <a:rPr lang="en-US" sz="900" dirty="0">
                <a:solidFill>
                  <a:srgbClr val="7A6555"/>
                </a:solidFill>
                <a:latin typeface="Calibri" pitchFamily="34" charset="0"/>
                <a:ea typeface="Calibri" pitchFamily="34" charset="-122"/>
                <a:cs typeface="Calibri" pitchFamily="34" charset="-120"/>
              </a:rPr>
              <a:t>Break-even as</a:t>
            </a:r>
            <a:endParaRPr lang="en-US" sz="900" dirty="0"/>
          </a:p>
          <a:p>
            <a:pPr algn="ctr" indent="0" marL="0">
              <a:buNone/>
            </a:pPr>
            <a:r>
              <a:rPr lang="en-US" sz="900" dirty="0">
                <a:solidFill>
                  <a:srgbClr val="7A6555"/>
                </a:solidFill>
                <a:latin typeface="Calibri" pitchFamily="34" charset="0"/>
                <a:ea typeface="Calibri" pitchFamily="34" charset="-122"/>
                <a:cs typeface="Calibri" pitchFamily="34" charset="-120"/>
              </a:rPr>
              <a:t>% of capacity</a:t>
            </a:r>
            <a:endParaRPr lang="en-US" sz="900" dirty="0"/>
          </a:p>
        </p:txBody>
      </p:sp>
      <p:sp>
        <p:nvSpPr>
          <p:cNvPr id="20" name="TextBox 19"/>
          <p:cNvSpPr txBox="1"/>
          <p:nvPr/>
        </p:nvSpPr>
        <p:spPr>
          <a:xfrm>
            <a:off x="548640" y="3794760"/>
            <a:ext cx="7498079" cy="182880"/>
          </a:xfrm>
          <a:prstGeom prst="rect">
            <a:avLst/>
          </a:prstGeom>
          <a:noFill/>
        </p:spPr>
        <p:txBody>
          <a:bodyPr wrap="square">
            <a:spAutoFit/>
          </a:bodyPr>
          <a:lstStyle/>
          <a:p>
            <a:pPr algn="l"/>
            <a:r>
              <a:rPr sz="800" b="1">
                <a:solidFill>
                  <a:srgbClr val="B87333"/>
                </a:solidFill>
                <a:latin typeface="Calibri"/>
              </a:rPr>
              <a:t>+ Copper electroplating line at full capacity: $561K - $1.05M/year additional revenue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22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BREAK-EVEN POINT</a:t>
            </a:r>
            <a:endParaRPr lang="en-US" sz="2800" dirty="0"/>
          </a:p>
        </p:txBody>
      </p:sp>
      <p:sp>
        <p:nvSpPr>
          <p:cNvPr id="5" name="Text 3"/>
          <p:cNvSpPr/>
          <p:nvPr/>
        </p:nvSpPr>
        <p:spPr>
          <a:xfrm>
            <a:off x="548640" y="777240"/>
            <a:ext cx="8046720" cy="411480"/>
          </a:xfrm>
          <a:prstGeom prst="rect">
            <a:avLst/>
          </a:prstGeom>
          <a:noFill/>
          <a:ln/>
        </p:spPr>
        <p:txBody>
          <a:bodyPr wrap="square" lIns="0" tIns="0" rIns="0" bIns="0" rtlCol="0" anchor="ctr"/>
          <a:lstStyle/>
          <a:p>
            <a:pPr indent="0" marL="0">
              <a:buNone/>
            </a:pPr>
            <a:r>
              <a:rPr lang="en-US" sz="1400" dirty="0">
                <a:solidFill>
                  <a:srgbClr val="5C4033"/>
                </a:solidFill>
                <a:latin typeface="Calibri" pitchFamily="34" charset="0"/>
                <a:ea typeface="Calibri" pitchFamily="34" charset="-122"/>
                <a:cs typeface="Calibri" pitchFamily="34" charset="-120"/>
              </a:rPr>
              <a:t xml:space="preserve">Estimated break-even: </a:t>
            </a:r>
            <a:pPr indent="0" marL="0">
              <a:buNone/>
            </a:pPr>
            <a:r>
              <a:rPr lang="en-US" sz="2000" b="1" dirty="0">
                <a:solidFill>
                  <a:srgbClr val="8B5A2B"/>
                </a:solidFill>
                <a:latin typeface="Georgia" pitchFamily="34" charset="0"/>
                <a:ea typeface="Georgia" pitchFamily="34" charset="-122"/>
                <a:cs typeface="Georgia" pitchFamily="34" charset="-120"/>
              </a:rPr>
              <a:t>10-20 MT/mo</a:t>
            </a:r>
            <a:pPr indent="0" marL="0">
              <a:buNone/>
            </a:pPr>
            <a:r>
              <a:rPr lang="en-US" sz="1400" dirty="0">
                <a:solidFill>
                  <a:srgbClr val="5C4033"/>
                </a:solidFill>
                <a:latin typeface="Calibri" pitchFamily="34" charset="0"/>
                <a:ea typeface="Calibri" pitchFamily="34" charset="-122"/>
                <a:cs typeface="Calibri" pitchFamily="34" charset="-120"/>
              </a:rPr>
              <a:t xml:space="preserve"> — less than 7% of proven production</a:t>
            </a:r>
            <a:endParaRPr lang="en-US" sz="1400" dirty="0"/>
          </a:p>
        </p:txBody>
      </p:sp>
      <p:sp>
        <p:nvSpPr>
          <p:cNvPr id="6" name="Shape 4"/>
          <p:cNvSpPr/>
          <p:nvPr/>
        </p:nvSpPr>
        <p:spPr>
          <a:xfrm>
            <a:off x="548640" y="1508760"/>
            <a:ext cx="8046720" cy="914400"/>
          </a:xfrm>
          <a:prstGeom prst="rect">
            <a:avLst/>
          </a:prstGeom>
          <a:solidFill>
            <a:srgbClr val="EDE8E0"/>
          </a:solidFill>
          <a:ln w="12700">
            <a:solidFill>
              <a:srgbClr val="D4C5B2"/>
            </a:solidFill>
            <a:prstDash val="solid"/>
          </a:ln>
        </p:spPr>
        <p:txBody>
          <a:bodyPr/>
          <a:p/>
        </p:txBody>
      </p:sp>
      <p:sp>
        <p:nvSpPr>
          <p:cNvPr id="7" name="Shape 5"/>
          <p:cNvSpPr/>
          <p:nvPr/>
        </p:nvSpPr>
        <p:spPr>
          <a:xfrm>
            <a:off x="548640" y="1508760"/>
            <a:ext cx="731520" cy="914400"/>
          </a:xfrm>
          <a:prstGeom prst="rect">
            <a:avLst/>
          </a:prstGeom>
          <a:solidFill>
            <a:srgbClr val="B83B3B">
              <a:alpha val="80000"/>
            </a:srgbClr>
          </a:solidFill>
          <a:ln/>
        </p:spPr>
        <p:txBody>
          <a:bodyPr/>
          <a:p/>
        </p:txBody>
      </p:sp>
      <p:sp>
        <p:nvSpPr>
          <p:cNvPr id="8" name="Shape 6"/>
          <p:cNvSpPr/>
          <p:nvPr/>
        </p:nvSpPr>
        <p:spPr>
          <a:xfrm>
            <a:off x="548640" y="1508760"/>
            <a:ext cx="8046720" cy="914400"/>
          </a:xfrm>
          <a:prstGeom prst="rect">
            <a:avLst/>
          </a:prstGeom>
          <a:solidFill>
            <a:srgbClr val="2D7D46">
              <a:alpha val="15000"/>
            </a:srgbClr>
          </a:solidFill>
          <a:ln/>
        </p:spPr>
        <p:txBody>
          <a:bodyPr/>
          <a:p/>
        </p:txBody>
      </p:sp>
      <p:sp>
        <p:nvSpPr>
          <p:cNvPr id="9" name="Text 7"/>
          <p:cNvSpPr/>
          <p:nvPr/>
        </p:nvSpPr>
        <p:spPr>
          <a:xfrm>
            <a:off x="594360" y="1645920"/>
            <a:ext cx="640080" cy="640080"/>
          </a:xfrm>
          <a:prstGeom prst="rect">
            <a:avLst/>
          </a:prstGeom>
          <a:noFill/>
          <a:ln/>
        </p:spPr>
        <p:txBody>
          <a:bodyPr wrap="square" lIns="0" tIns="0" rIns="0" bIns="0" rtlCol="0" anchor="ctr"/>
          <a:lstStyle/>
          <a:p>
            <a:pPr algn="ctr" indent="0" marL="0">
              <a:buNone/>
            </a:pPr>
            <a:r>
              <a:rPr lang="en-US" sz="1000" b="1" dirty="0">
                <a:solidFill>
                  <a:srgbClr val="B83B3B"/>
                </a:solidFill>
                <a:latin typeface="Calibri" pitchFamily="34" charset="0"/>
                <a:ea typeface="Calibri" pitchFamily="34" charset="-122"/>
                <a:cs typeface="Calibri" pitchFamily="34" charset="-120"/>
              </a:rPr>
              <a:t>10-20 MT</a:t>
            </a:r>
            <a:endParaRPr lang="en-US" sz="1000" dirty="0"/>
          </a:p>
          <a:p>
            <a:pPr algn="ctr" indent="0" marL="0">
              <a:buNone/>
            </a:pPr>
            <a:r>
              <a:rPr lang="en-US" sz="1000" b="1" dirty="0">
                <a:solidFill>
                  <a:srgbClr val="B83B3B"/>
                </a:solidFill>
                <a:latin typeface="Calibri" pitchFamily="34" charset="0"/>
                <a:ea typeface="Calibri" pitchFamily="34" charset="-122"/>
                <a:cs typeface="Calibri" pitchFamily="34" charset="-120"/>
              </a:rPr>
              <a:t>Break-even</a:t>
            </a:r>
            <a:endParaRPr lang="en-US" sz="1000" dirty="0"/>
          </a:p>
        </p:txBody>
      </p:sp>
      <p:sp>
        <p:nvSpPr>
          <p:cNvPr id="10" name="Text 8"/>
          <p:cNvSpPr/>
          <p:nvPr/>
        </p:nvSpPr>
        <p:spPr>
          <a:xfrm>
            <a:off x="2743200" y="1737360"/>
            <a:ext cx="4572000" cy="457200"/>
          </a:xfrm>
          <a:prstGeom prst="rect">
            <a:avLst/>
          </a:prstGeom>
          <a:noFill/>
          <a:ln/>
        </p:spPr>
        <p:txBody>
          <a:bodyPr wrap="square" lIns="0" tIns="0" rIns="0" bIns="0" rtlCol="0" anchor="ctr"/>
          <a:lstStyle/>
          <a:p>
            <a:pPr algn="ctr" indent="0" marL="0">
              <a:buNone/>
            </a:pPr>
            <a:r>
              <a:rPr lang="en-US" sz="1400" b="1" dirty="0">
                <a:solidFill>
                  <a:srgbClr val="2D7D46"/>
                </a:solidFill>
                <a:latin typeface="Georgia" pitchFamily="34" charset="0"/>
                <a:ea typeface="Georgia" pitchFamily="34" charset="-122"/>
                <a:cs typeface="Georgia" pitchFamily="34" charset="-120"/>
              </a:rPr>
              <a:t>300 MT/mo — Proven production</a:t>
            </a:r>
            <a:endParaRPr lang="en-US" sz="1400" dirty="0"/>
          </a:p>
        </p:txBody>
      </p:sp>
      <p:sp>
        <p:nvSpPr>
          <p:cNvPr id="11" name="Shape 9"/>
          <p:cNvSpPr/>
          <p:nvPr/>
        </p:nvSpPr>
        <p:spPr>
          <a:xfrm>
            <a:off x="1097280" y="2834640"/>
            <a:ext cx="6949440" cy="429768"/>
          </a:xfrm>
          <a:prstGeom prst="rect">
            <a:avLst/>
          </a:prstGeom>
          <a:solidFill>
            <a:srgbClr val="FFFFFF"/>
          </a:solidFill>
          <a:ln w="6350">
            <a:solidFill>
              <a:srgbClr val="D4C5B2"/>
            </a:solidFill>
            <a:prstDash val="solid"/>
          </a:ln>
        </p:spPr>
        <p:txBody>
          <a:bodyPr/>
          <a:p/>
        </p:txBody>
      </p:sp>
      <p:pic>
        <p:nvPicPr>
          <p:cNvPr id="12" name="Image 0" descr="preencoded.png"/>
          <p:cNvPicPr>
            <a:picLocks noChangeAspect="1"/>
          </p:cNvPicPr>
          <p:nvPr/>
        </p:nvPicPr>
        <p:blipFill>
          <a:blip r:embed="rId1"/>
          <a:stretch>
            <a:fillRect/>
          </a:stretch>
        </p:blipFill>
        <p:spPr>
          <a:xfrm>
            <a:off x="1234440" y="2907792"/>
            <a:ext cx="228600" cy="228600"/>
          </a:xfrm>
          <a:prstGeom prst="rect">
            <a:avLst/>
          </a:prstGeom>
        </p:spPr>
      </p:pic>
      <p:sp>
        <p:nvSpPr>
          <p:cNvPr id="13" name="Text 10"/>
          <p:cNvSpPr/>
          <p:nvPr/>
        </p:nvSpPr>
        <p:spPr>
          <a:xfrm>
            <a:off x="1600200" y="2834640"/>
            <a:ext cx="6263640" cy="429768"/>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Profitable from a very low volume — wide margin of safety</a:t>
            </a:r>
            <a:endParaRPr lang="en-US" sz="1000" dirty="0"/>
          </a:p>
        </p:txBody>
      </p:sp>
      <p:sp>
        <p:nvSpPr>
          <p:cNvPr id="14" name="Shape 11"/>
          <p:cNvSpPr/>
          <p:nvPr/>
        </p:nvSpPr>
        <p:spPr>
          <a:xfrm>
            <a:off x="1097280" y="3337560"/>
            <a:ext cx="6949440" cy="429768"/>
          </a:xfrm>
          <a:prstGeom prst="rect">
            <a:avLst/>
          </a:prstGeom>
          <a:solidFill>
            <a:srgbClr val="FFFFFF"/>
          </a:solidFill>
          <a:ln w="6350">
            <a:solidFill>
              <a:srgbClr val="D4C5B2"/>
            </a:solidFill>
            <a:prstDash val="solid"/>
          </a:ln>
        </p:spPr>
        <p:txBody>
          <a:bodyPr/>
          <a:p/>
        </p:txBody>
      </p:sp>
      <p:pic>
        <p:nvPicPr>
          <p:cNvPr id="15" name="Image 1" descr="preencoded.png"/>
          <p:cNvPicPr>
            <a:picLocks noChangeAspect="1"/>
          </p:cNvPicPr>
          <p:nvPr/>
        </p:nvPicPr>
        <p:blipFill>
          <a:blip r:embed="rId2"/>
          <a:stretch>
            <a:fillRect/>
          </a:stretch>
        </p:blipFill>
        <p:spPr>
          <a:xfrm>
            <a:off x="1234440" y="3410712"/>
            <a:ext cx="228600" cy="228600"/>
          </a:xfrm>
          <a:prstGeom prst="rect">
            <a:avLst/>
          </a:prstGeom>
        </p:spPr>
      </p:pic>
      <p:sp>
        <p:nvSpPr>
          <p:cNvPr id="16" name="Text 12"/>
          <p:cNvSpPr/>
          <p:nvPr/>
        </p:nvSpPr>
        <p:spPr>
          <a:xfrm>
            <a:off x="1600200" y="3337560"/>
            <a:ext cx="6263640" cy="429768"/>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Best historical month was 300 MT. Break-even is less than 7% of that capacity.</a:t>
            </a:r>
            <a:endParaRPr lang="en-US" sz="1000" dirty="0"/>
          </a:p>
        </p:txBody>
      </p:sp>
      <p:sp>
        <p:nvSpPr>
          <p:cNvPr id="17" name="Shape 13"/>
          <p:cNvSpPr/>
          <p:nvPr/>
        </p:nvSpPr>
        <p:spPr>
          <a:xfrm>
            <a:off x="1097280" y="3840480"/>
            <a:ext cx="6949440" cy="429768"/>
          </a:xfrm>
          <a:prstGeom prst="rect">
            <a:avLst/>
          </a:prstGeom>
          <a:solidFill>
            <a:srgbClr val="FFFFFF"/>
          </a:solidFill>
          <a:ln w="6350">
            <a:solidFill>
              <a:srgbClr val="D4C5B2"/>
            </a:solidFill>
            <a:prstDash val="solid"/>
          </a:ln>
        </p:spPr>
        <p:txBody>
          <a:bodyPr/>
          <a:p/>
        </p:txBody>
      </p:sp>
      <p:pic>
        <p:nvPicPr>
          <p:cNvPr id="18" name="Image 2" descr="preencoded.png"/>
          <p:cNvPicPr>
            <a:picLocks noChangeAspect="1"/>
          </p:cNvPicPr>
          <p:nvPr/>
        </p:nvPicPr>
        <p:blipFill>
          <a:blip r:embed="rId3"/>
          <a:stretch>
            <a:fillRect/>
          </a:stretch>
        </p:blipFill>
        <p:spPr>
          <a:xfrm>
            <a:off x="1234440" y="3913632"/>
            <a:ext cx="228600" cy="228600"/>
          </a:xfrm>
          <a:prstGeom prst="rect">
            <a:avLst/>
          </a:prstGeom>
        </p:spPr>
      </p:pic>
      <p:sp>
        <p:nvSpPr>
          <p:cNvPr id="19" name="Text 14"/>
          <p:cNvSpPr/>
          <p:nvPr/>
        </p:nvSpPr>
        <p:spPr>
          <a:xfrm>
            <a:off x="1600200" y="3840480"/>
            <a:ext cx="6263640" cy="429768"/>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Fixed costs: $5,600-$13,100/mo (depends on scale). Variable: ~$540/MT (subject to zinc price).</a:t>
            </a:r>
            <a:endParaRPr lang="en-US" sz="1000" dirty="0"/>
          </a:p>
        </p:txBody>
      </p:sp>
      <p:sp>
        <p:nvSpPr>
          <p:cNvPr id="20" name="Shape 15"/>
          <p:cNvSpPr/>
          <p:nvPr/>
        </p:nvSpPr>
        <p:spPr>
          <a:xfrm>
            <a:off x="1097280" y="4343400"/>
            <a:ext cx="6949440" cy="429768"/>
          </a:xfrm>
          <a:prstGeom prst="rect">
            <a:avLst/>
          </a:prstGeom>
          <a:solidFill>
            <a:srgbClr val="FFFFFF"/>
          </a:solidFill>
          <a:ln w="6350">
            <a:solidFill>
              <a:srgbClr val="D4C5B2"/>
            </a:solidFill>
            <a:prstDash val="solid"/>
          </a:ln>
        </p:spPr>
        <p:txBody>
          <a:bodyPr/>
          <a:p/>
        </p:txBody>
      </p:sp>
      <p:pic>
        <p:nvPicPr>
          <p:cNvPr id="21" name="Image 3" descr="preencoded.png"/>
          <p:cNvPicPr>
            <a:picLocks noChangeAspect="1"/>
          </p:cNvPicPr>
          <p:nvPr/>
        </p:nvPicPr>
        <p:blipFill>
          <a:blip r:embed="rId4"/>
          <a:stretch>
            <a:fillRect/>
          </a:stretch>
        </p:blipFill>
        <p:spPr>
          <a:xfrm>
            <a:off x="1234440" y="4416552"/>
            <a:ext cx="228600" cy="228600"/>
          </a:xfrm>
          <a:prstGeom prst="rect">
            <a:avLst/>
          </a:prstGeom>
        </p:spPr>
      </p:pic>
      <p:sp>
        <p:nvSpPr>
          <p:cNvPr id="22" name="Text 16"/>
          <p:cNvSpPr/>
          <p:nvPr/>
        </p:nvSpPr>
        <p:spPr>
          <a:xfrm>
            <a:off x="1600200" y="4343400"/>
            <a:ext cx="6263640" cy="429768"/>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Range depends on selling price ($1,200-$1,500/MT), zinc cost, and labor level.</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23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CAPITAL DEPLOYMENT</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Phased startup capital — each phase funds the next</a:t>
            </a:r>
            <a:endParaRPr lang="en-US" sz="1200" dirty="0"/>
          </a:p>
        </p:txBody>
      </p:sp>
      <p:sp>
        <p:nvSpPr>
          <p:cNvPr id="6" name="Shape 4"/>
          <p:cNvSpPr/>
          <p:nvPr/>
        </p:nvSpPr>
        <p:spPr>
          <a:xfrm>
            <a:off x="548640" y="1188720"/>
            <a:ext cx="8046720" cy="685800"/>
          </a:xfrm>
          <a:prstGeom prst="rect">
            <a:avLst/>
          </a:prstGeom>
          <a:solidFill>
            <a:srgbClr val="FFFFFF"/>
          </a:solidFill>
          <a:ln w="12700">
            <a:solidFill>
              <a:srgbClr val="D4C5B2"/>
            </a:solidFill>
            <a:prstDash val="solid"/>
          </a:ln>
        </p:spPr>
        <p:txBody>
          <a:bodyPr/>
          <a:p/>
        </p:txBody>
      </p:sp>
      <p:sp>
        <p:nvSpPr>
          <p:cNvPr id="7" name="Shape 5"/>
          <p:cNvSpPr/>
          <p:nvPr/>
        </p:nvSpPr>
        <p:spPr>
          <a:xfrm>
            <a:off x="548640" y="1188720"/>
            <a:ext cx="73152" cy="685800"/>
          </a:xfrm>
          <a:prstGeom prst="rect">
            <a:avLst/>
          </a:prstGeom>
          <a:solidFill>
            <a:srgbClr val="A67C52"/>
          </a:solidFill>
          <a:ln/>
        </p:spPr>
        <p:txBody>
          <a:bodyPr/>
          <a:p/>
        </p:txBody>
      </p:sp>
      <p:sp>
        <p:nvSpPr>
          <p:cNvPr id="8" name="Text 6"/>
          <p:cNvSpPr/>
          <p:nvPr/>
        </p:nvSpPr>
        <p:spPr>
          <a:xfrm>
            <a:off x="777240" y="1188720"/>
            <a:ext cx="2011680" cy="411480"/>
          </a:xfrm>
          <a:prstGeom prst="rect">
            <a:avLst/>
          </a:prstGeom>
          <a:noFill/>
          <a:ln/>
        </p:spPr>
        <p:txBody>
          <a:bodyPr wrap="square" lIns="0" tIns="0" rIns="0" bIns="0" rtlCol="0" anchor="b"/>
          <a:lstStyle/>
          <a:p>
            <a:pPr indent="0" marL="0">
              <a:buNone/>
            </a:pPr>
            <a:r>
              <a:rPr lang="en-US" sz="1100" b="1" dirty="0">
                <a:solidFill>
                  <a:srgbClr val="3E2C1C"/>
                </a:solidFill>
                <a:latin typeface="Calibri" pitchFamily="34" charset="0"/>
                <a:ea typeface="Calibri" pitchFamily="34" charset="-122"/>
                <a:cs typeface="Calibri" pitchFamily="34" charset="-120"/>
              </a:rPr>
              <a:t>Phase 1: 3.5m Kettle</a:t>
            </a:r>
            <a:endParaRPr lang="en-US" sz="1100" dirty="0"/>
          </a:p>
        </p:txBody>
      </p:sp>
      <p:sp>
        <p:nvSpPr>
          <p:cNvPr id="9" name="Text 7"/>
          <p:cNvSpPr/>
          <p:nvPr/>
        </p:nvSpPr>
        <p:spPr>
          <a:xfrm>
            <a:off x="777240" y="1554480"/>
            <a:ext cx="2011680" cy="274320"/>
          </a:xfrm>
          <a:prstGeom prst="rect">
            <a:avLst/>
          </a:prstGeom>
          <a:noFill/>
          <a:ln/>
        </p:spPr>
        <p:txBody>
          <a:bodyPr wrap="square" lIns="0" tIns="0" rIns="0" bIns="0" rtlCol="0" anchor="t"/>
          <a:lstStyle/>
          <a:p>
            <a:pPr indent="0" marL="0">
              <a:buNone/>
            </a:pPr>
            <a:r>
              <a:rPr lang="en-US" sz="800" dirty="0">
                <a:solidFill>
                  <a:srgbClr val="7A6555"/>
                </a:solidFill>
                <a:latin typeface="Calibri" pitchFamily="34" charset="0"/>
                <a:ea typeface="Calibri" pitchFamily="34" charset="-122"/>
                <a:cs typeface="Calibri" pitchFamily="34" charset="-120"/>
              </a:rPr>
              <a:t>Repair + 20 MT zinc</a:t>
            </a:r>
            <a:endParaRPr lang="en-US" sz="800" dirty="0"/>
          </a:p>
        </p:txBody>
      </p:sp>
      <p:sp>
        <p:nvSpPr>
          <p:cNvPr id="10" name="Text 8"/>
          <p:cNvSpPr/>
          <p:nvPr/>
        </p:nvSpPr>
        <p:spPr>
          <a:xfrm>
            <a:off x="2926080" y="1188720"/>
            <a:ext cx="1645920" cy="685800"/>
          </a:xfrm>
          <a:prstGeom prst="rect">
            <a:avLst/>
          </a:prstGeom>
          <a:noFill/>
          <a:ln/>
        </p:spPr>
        <p:txBody>
          <a:bodyPr wrap="square" lIns="0" tIns="0" rIns="0" bIns="0" rtlCol="0" anchor="ctr"/>
          <a:lstStyle/>
          <a:p>
            <a:pPr algn="ctr" indent="0" marL="0">
              <a:buNone/>
            </a:pPr>
            <a:r>
              <a:rPr lang="en-US" sz="1600" b="1" dirty="0">
                <a:solidFill>
                  <a:srgbClr val="A67C52"/>
                </a:solidFill>
                <a:latin typeface="Georgia" pitchFamily="34" charset="0"/>
                <a:ea typeface="Georgia" pitchFamily="34" charset="-122"/>
                <a:cs typeface="Georgia" pitchFamily="34" charset="-120"/>
              </a:rPr>
              <a:t>$94,400</a:t>
            </a:r>
            <a:endParaRPr lang="en-US" sz="1600" dirty="0"/>
          </a:p>
        </p:txBody>
      </p:sp>
      <p:pic>
        <p:nvPicPr>
          <p:cNvPr id="11" name="Image 0" descr="preencoded.png"/>
          <p:cNvPicPr>
            <a:picLocks noChangeAspect="1"/>
          </p:cNvPicPr>
          <p:nvPr/>
        </p:nvPicPr>
        <p:blipFill>
          <a:blip r:embed="rId1"/>
          <a:stretch>
            <a:fillRect/>
          </a:stretch>
        </p:blipFill>
        <p:spPr>
          <a:xfrm>
            <a:off x="4754880" y="1371600"/>
            <a:ext cx="274320" cy="274320"/>
          </a:xfrm>
          <a:prstGeom prst="rect">
            <a:avLst/>
          </a:prstGeom>
        </p:spPr>
      </p:pic>
      <p:sp>
        <p:nvSpPr>
          <p:cNvPr id="12" name="Text 9"/>
          <p:cNvSpPr/>
          <p:nvPr/>
        </p:nvSpPr>
        <p:spPr>
          <a:xfrm>
            <a:off x="5212080" y="1188720"/>
            <a:ext cx="3200400" cy="685800"/>
          </a:xfrm>
          <a:prstGeom prst="rect">
            <a:avLst/>
          </a:prstGeom>
          <a:noFill/>
          <a:ln/>
        </p:spPr>
        <p:txBody>
          <a:bodyPr wrap="square" lIns="0" tIns="0" rIns="0" bIns="0" rtlCol="0" anchor="ctr"/>
          <a:lstStyle/>
          <a:p>
            <a:pPr indent="0" marL="0">
              <a:buNone/>
            </a:pPr>
            <a:r>
              <a:rPr lang="en-US" sz="1400" b="1" dirty="0">
                <a:solidFill>
                  <a:srgbClr val="2D7D46"/>
                </a:solidFill>
                <a:latin typeface="Calibri" pitchFamily="34" charset="0"/>
                <a:ea typeface="Calibri" pitchFamily="34" charset="-122"/>
                <a:cs typeface="Calibri" pitchFamily="34" charset="-120"/>
              </a:rPr>
              <a:t>~$30K-$80K/mo</a:t>
            </a:r>
            <a:endParaRPr lang="en-US" sz="1400" dirty="0"/>
          </a:p>
        </p:txBody>
      </p:sp>
      <p:sp>
        <p:nvSpPr>
          <p:cNvPr id="13" name="Shape 10"/>
          <p:cNvSpPr/>
          <p:nvPr/>
        </p:nvSpPr>
        <p:spPr>
          <a:xfrm>
            <a:off x="548640" y="2011680"/>
            <a:ext cx="8046720" cy="685800"/>
          </a:xfrm>
          <a:prstGeom prst="rect">
            <a:avLst/>
          </a:prstGeom>
          <a:solidFill>
            <a:srgbClr val="FFFFFF"/>
          </a:solidFill>
          <a:ln w="12700">
            <a:solidFill>
              <a:srgbClr val="D4C5B2"/>
            </a:solidFill>
            <a:prstDash val="solid"/>
          </a:ln>
        </p:spPr>
        <p:txBody>
          <a:bodyPr/>
          <a:p/>
        </p:txBody>
      </p:sp>
      <p:sp>
        <p:nvSpPr>
          <p:cNvPr id="14" name="Shape 11"/>
          <p:cNvSpPr/>
          <p:nvPr/>
        </p:nvSpPr>
        <p:spPr>
          <a:xfrm>
            <a:off x="548640" y="2011680"/>
            <a:ext cx="73152" cy="685800"/>
          </a:xfrm>
          <a:prstGeom prst="rect">
            <a:avLst/>
          </a:prstGeom>
          <a:solidFill>
            <a:srgbClr val="B87333"/>
          </a:solidFill>
          <a:ln/>
        </p:spPr>
        <p:txBody>
          <a:bodyPr/>
          <a:p/>
        </p:txBody>
      </p:sp>
      <p:sp>
        <p:nvSpPr>
          <p:cNvPr id="15" name="Text 12"/>
          <p:cNvSpPr/>
          <p:nvPr/>
        </p:nvSpPr>
        <p:spPr>
          <a:xfrm>
            <a:off x="777240" y="2011680"/>
            <a:ext cx="2011680" cy="411480"/>
          </a:xfrm>
          <a:prstGeom prst="rect">
            <a:avLst/>
          </a:prstGeom>
          <a:noFill/>
          <a:ln/>
        </p:spPr>
        <p:txBody>
          <a:bodyPr wrap="square" lIns="0" tIns="0" rIns="0" bIns="0" rtlCol="0" anchor="b"/>
          <a:lstStyle/>
          <a:p>
            <a:pPr indent="0" marL="0">
              <a:buNone/>
            </a:pPr>
            <a:r>
              <a:rPr lang="en-US" sz="1100" b="1" dirty="0">
                <a:solidFill>
                  <a:srgbClr val="3E2C1C"/>
                </a:solidFill>
                <a:latin typeface="Calibri" pitchFamily="34" charset="0"/>
                <a:ea typeface="Calibri" pitchFamily="34" charset="-122"/>
                <a:cs typeface="Calibri" pitchFamily="34" charset="-120"/>
              </a:rPr>
              <a:t>Phase 2: 7m Kettle</a:t>
            </a:r>
            <a:endParaRPr lang="en-US" sz="1100" dirty="0"/>
          </a:p>
        </p:txBody>
      </p:sp>
      <p:sp>
        <p:nvSpPr>
          <p:cNvPr id="16" name="Text 13"/>
          <p:cNvSpPr/>
          <p:nvPr/>
        </p:nvSpPr>
        <p:spPr>
          <a:xfrm>
            <a:off x="777240" y="2377440"/>
            <a:ext cx="2011680" cy="274320"/>
          </a:xfrm>
          <a:prstGeom prst="rect">
            <a:avLst/>
          </a:prstGeom>
          <a:noFill/>
          <a:ln/>
        </p:spPr>
        <p:txBody>
          <a:bodyPr wrap="square" lIns="0" tIns="0" rIns="0" bIns="0" rtlCol="0" anchor="t"/>
          <a:lstStyle/>
          <a:p>
            <a:pPr indent="0" marL="0">
              <a:buNone/>
            </a:pPr>
            <a:r>
              <a:rPr lang="en-US" sz="800" dirty="0">
                <a:solidFill>
                  <a:srgbClr val="7A6555"/>
                </a:solidFill>
                <a:latin typeface="Calibri" pitchFamily="34" charset="0"/>
                <a:ea typeface="Calibri" pitchFamily="34" charset="-122"/>
                <a:cs typeface="Calibri" pitchFamily="34" charset="-120"/>
              </a:rPr>
              <a:t>50 MT zinc + cranes</a:t>
            </a:r>
            <a:endParaRPr lang="en-US" sz="800" dirty="0"/>
          </a:p>
        </p:txBody>
      </p:sp>
      <p:sp>
        <p:nvSpPr>
          <p:cNvPr id="17" name="Text 14"/>
          <p:cNvSpPr/>
          <p:nvPr/>
        </p:nvSpPr>
        <p:spPr>
          <a:xfrm>
            <a:off x="2926080" y="2011680"/>
            <a:ext cx="1645920" cy="685800"/>
          </a:xfrm>
          <a:prstGeom prst="rect">
            <a:avLst/>
          </a:prstGeom>
          <a:noFill/>
          <a:ln/>
        </p:spPr>
        <p:txBody>
          <a:bodyPr wrap="square" lIns="0" tIns="0" rIns="0" bIns="0" rtlCol="0" anchor="ctr"/>
          <a:lstStyle/>
          <a:p>
            <a:pPr algn="ctr" indent="0" marL="0">
              <a:buNone/>
            </a:pPr>
            <a:r>
              <a:rPr lang="en-US" sz="1600" b="1" dirty="0">
                <a:solidFill>
                  <a:srgbClr val="B87333"/>
                </a:solidFill>
                <a:latin typeface="Georgia" pitchFamily="34" charset="0"/>
                <a:ea typeface="Georgia" pitchFamily="34" charset="-122"/>
                <a:cs typeface="Georgia" pitchFamily="34" charset="-120"/>
              </a:rPr>
              <a:t>$216,000</a:t>
            </a:r>
            <a:endParaRPr lang="en-US" sz="1600" dirty="0"/>
          </a:p>
        </p:txBody>
      </p:sp>
      <p:pic>
        <p:nvPicPr>
          <p:cNvPr id="18" name="Image 1" descr="preencoded.png"/>
          <p:cNvPicPr>
            <a:picLocks noChangeAspect="1"/>
          </p:cNvPicPr>
          <p:nvPr/>
        </p:nvPicPr>
        <p:blipFill>
          <a:blip r:embed="rId2"/>
          <a:stretch>
            <a:fillRect/>
          </a:stretch>
        </p:blipFill>
        <p:spPr>
          <a:xfrm>
            <a:off x="4754880" y="2194560"/>
            <a:ext cx="274320" cy="274320"/>
          </a:xfrm>
          <a:prstGeom prst="rect">
            <a:avLst/>
          </a:prstGeom>
        </p:spPr>
      </p:pic>
      <p:sp>
        <p:nvSpPr>
          <p:cNvPr id="19" name="Text 15"/>
          <p:cNvSpPr/>
          <p:nvPr/>
        </p:nvSpPr>
        <p:spPr>
          <a:xfrm>
            <a:off x="5212080" y="2011680"/>
            <a:ext cx="3200400" cy="685800"/>
          </a:xfrm>
          <a:prstGeom prst="rect">
            <a:avLst/>
          </a:prstGeom>
          <a:noFill/>
          <a:ln/>
        </p:spPr>
        <p:txBody>
          <a:bodyPr wrap="square" lIns="0" tIns="0" rIns="0" bIns="0" rtlCol="0" anchor="ctr"/>
          <a:lstStyle/>
          <a:p>
            <a:pPr indent="0" marL="0">
              <a:buNone/>
            </a:pPr>
            <a:r>
              <a:rPr lang="en-US" sz="1400" b="1" dirty="0">
                <a:solidFill>
                  <a:srgbClr val="2D7D46"/>
                </a:solidFill>
                <a:latin typeface="Calibri" pitchFamily="34" charset="0"/>
                <a:ea typeface="Calibri" pitchFamily="34" charset="-122"/>
                <a:cs typeface="Calibri" pitchFamily="34" charset="-120"/>
              </a:rPr>
              <a:t>$90K-$275K/mo</a:t>
            </a:r>
            <a:endParaRPr lang="en-US" sz="1400" dirty="0"/>
          </a:p>
        </p:txBody>
      </p:sp>
      <p:sp>
        <p:nvSpPr>
          <p:cNvPr id="20" name="Shape 16"/>
          <p:cNvSpPr/>
          <p:nvPr/>
        </p:nvSpPr>
        <p:spPr>
          <a:xfrm>
            <a:off x="548640" y="2834640"/>
            <a:ext cx="8046720" cy="685800"/>
          </a:xfrm>
          <a:prstGeom prst="rect">
            <a:avLst/>
          </a:prstGeom>
          <a:solidFill>
            <a:srgbClr val="FFFFFF"/>
          </a:solidFill>
          <a:ln w="12700">
            <a:solidFill>
              <a:srgbClr val="D4C5B2"/>
            </a:solidFill>
            <a:prstDash val="solid"/>
          </a:ln>
        </p:spPr>
        <p:txBody>
          <a:bodyPr/>
          <a:p/>
        </p:txBody>
      </p:sp>
      <p:sp>
        <p:nvSpPr>
          <p:cNvPr id="21" name="Shape 17"/>
          <p:cNvSpPr/>
          <p:nvPr/>
        </p:nvSpPr>
        <p:spPr>
          <a:xfrm>
            <a:off x="548640" y="2834640"/>
            <a:ext cx="73152" cy="685800"/>
          </a:xfrm>
          <a:prstGeom prst="rect">
            <a:avLst/>
          </a:prstGeom>
          <a:solidFill>
            <a:srgbClr val="CD853F"/>
          </a:solidFill>
          <a:ln/>
        </p:spPr>
        <p:txBody>
          <a:bodyPr/>
          <a:p/>
        </p:txBody>
      </p:sp>
      <p:sp>
        <p:nvSpPr>
          <p:cNvPr id="22" name="Text 18"/>
          <p:cNvSpPr/>
          <p:nvPr/>
        </p:nvSpPr>
        <p:spPr>
          <a:xfrm>
            <a:off x="777240" y="2834640"/>
            <a:ext cx="2011680" cy="411480"/>
          </a:xfrm>
          <a:prstGeom prst="rect">
            <a:avLst/>
          </a:prstGeom>
          <a:noFill/>
          <a:ln/>
        </p:spPr>
        <p:txBody>
          <a:bodyPr wrap="square" lIns="0" tIns="0" rIns="0" bIns="0" rtlCol="0" anchor="b"/>
          <a:lstStyle/>
          <a:p>
            <a:pPr indent="0" marL="0">
              <a:buNone/>
            </a:pPr>
            <a:r>
              <a:rPr lang="en-US" sz="1100" b="1" dirty="0">
                <a:solidFill>
                  <a:srgbClr val="3E2C1C"/>
                </a:solidFill>
                <a:latin typeface="Calibri" pitchFamily="34" charset="0"/>
                <a:ea typeface="Calibri" pitchFamily="34" charset="-122"/>
                <a:cs typeface="Calibri" pitchFamily="34" charset="-120"/>
              </a:rPr>
              <a:t>Phase 3: Copper Line</a:t>
            </a:r>
            <a:endParaRPr lang="en-US" sz="1100" dirty="0"/>
          </a:p>
        </p:txBody>
      </p:sp>
      <p:sp>
        <p:nvSpPr>
          <p:cNvPr id="23" name="Text 19"/>
          <p:cNvSpPr/>
          <p:nvPr/>
        </p:nvSpPr>
        <p:spPr>
          <a:xfrm>
            <a:off x="777240" y="3200400"/>
            <a:ext cx="2011680" cy="274320"/>
          </a:xfrm>
          <a:prstGeom prst="rect">
            <a:avLst/>
          </a:prstGeom>
          <a:noFill/>
          <a:ln/>
        </p:spPr>
        <p:txBody>
          <a:bodyPr wrap="square" lIns="0" tIns="0" rIns="0" bIns="0" rtlCol="0" anchor="t"/>
          <a:lstStyle/>
          <a:p>
            <a:pPr indent="0" marL="0">
              <a:buNone/>
            </a:pPr>
            <a:r>
              <a:rPr lang="en-US" sz="800" dirty="0">
                <a:solidFill>
                  <a:srgbClr val="7A6555"/>
                </a:solidFill>
                <a:latin typeface="Calibri" pitchFamily="34" charset="0"/>
                <a:ea typeface="Calibri" pitchFamily="34" charset="-122"/>
                <a:cs typeface="Calibri" pitchFamily="34" charset="-120"/>
              </a:rPr>
              <a:t>Rectifiers + tanks</a:t>
            </a:r>
            <a:endParaRPr lang="en-US" sz="800" dirty="0"/>
          </a:p>
        </p:txBody>
      </p:sp>
      <p:sp>
        <p:nvSpPr>
          <p:cNvPr id="24" name="Text 20"/>
          <p:cNvSpPr/>
          <p:nvPr/>
        </p:nvSpPr>
        <p:spPr>
          <a:xfrm>
            <a:off x="2926080" y="2834640"/>
            <a:ext cx="1645920" cy="685800"/>
          </a:xfrm>
          <a:prstGeom prst="rect">
            <a:avLst/>
          </a:prstGeom>
          <a:noFill/>
          <a:ln/>
        </p:spPr>
        <p:txBody>
          <a:bodyPr wrap="square" lIns="0" tIns="0" rIns="0" bIns="0" rtlCol="0" anchor="ctr"/>
          <a:lstStyle/>
          <a:p>
            <a:pPr algn="ctr" indent="0" marL="0">
              <a:buNone/>
            </a:pPr>
            <a:r>
              <a:rPr lang="en-US" sz="1600" b="1" dirty="0">
                <a:solidFill>
                  <a:srgbClr val="CD853F"/>
                </a:solidFill>
                <a:latin typeface="Georgia" pitchFamily="34" charset="0"/>
                <a:ea typeface="Georgia" pitchFamily="34" charset="-122"/>
                <a:cs typeface="Georgia" pitchFamily="34" charset="-120"/>
              </a:rPr>
              <a:t>$52,500</a:t>
            </a:r>
            <a:endParaRPr lang="en-US" sz="1600" dirty="0"/>
          </a:p>
        </p:txBody>
      </p:sp>
      <p:pic>
        <p:nvPicPr>
          <p:cNvPr id="25" name="Image 2" descr="preencoded.png"/>
          <p:cNvPicPr>
            <a:picLocks noChangeAspect="1"/>
          </p:cNvPicPr>
          <p:nvPr/>
        </p:nvPicPr>
        <p:blipFill>
          <a:blip r:embed="rId3"/>
          <a:stretch>
            <a:fillRect/>
          </a:stretch>
        </p:blipFill>
        <p:spPr>
          <a:xfrm>
            <a:off x="4754880" y="3017520"/>
            <a:ext cx="274320" cy="274320"/>
          </a:xfrm>
          <a:prstGeom prst="rect">
            <a:avLst/>
          </a:prstGeom>
        </p:spPr>
      </p:pic>
      <p:sp>
        <p:nvSpPr>
          <p:cNvPr id="26" name="Text 21"/>
          <p:cNvSpPr/>
          <p:nvPr/>
        </p:nvSpPr>
        <p:spPr>
          <a:xfrm>
            <a:off x="5212080" y="2834640"/>
            <a:ext cx="3200400" cy="685800"/>
          </a:xfrm>
          <a:prstGeom prst="rect">
            <a:avLst/>
          </a:prstGeom>
          <a:noFill/>
          <a:ln/>
        </p:spPr>
        <p:txBody>
          <a:bodyPr wrap="square" lIns="0" tIns="0" rIns="0" bIns="0" rtlCol="0" anchor="ctr"/>
          <a:lstStyle/>
          <a:p>
            <a:pPr indent="0" marL="0">
              <a:buNone/>
            </a:pPr>
            <a:r>
              <a:rPr lang="en-US" sz="1400" b="1" dirty="0">
                <a:solidFill>
                  <a:srgbClr val="2D7D46"/>
                </a:solidFill>
                <a:latin typeface="Calibri" pitchFamily="34" charset="0"/>
                <a:ea typeface="Calibri" pitchFamily="34" charset="-122"/>
                <a:cs typeface="Calibri" pitchFamily="34" charset="-120"/>
              </a:rPr>
              <a:t>+$30K-$56K/mo</a:t>
            </a:r>
            <a:endParaRPr lang="en-US" sz="1400" dirty="0"/>
          </a:p>
        </p:txBody>
      </p:sp>
      <p:sp>
        <p:nvSpPr>
          <p:cNvPr id="27" name="Shape 22"/>
          <p:cNvSpPr/>
          <p:nvPr/>
        </p:nvSpPr>
        <p:spPr>
          <a:xfrm>
            <a:off x="548640" y="3657600"/>
            <a:ext cx="8046720" cy="685800"/>
          </a:xfrm>
          <a:prstGeom prst="rect">
            <a:avLst/>
          </a:prstGeom>
          <a:solidFill>
            <a:srgbClr val="FFFFFF"/>
          </a:solidFill>
          <a:ln w="12700">
            <a:solidFill>
              <a:srgbClr val="D4C5B2"/>
            </a:solidFill>
            <a:prstDash val="solid"/>
          </a:ln>
        </p:spPr>
        <p:txBody>
          <a:bodyPr/>
          <a:p/>
        </p:txBody>
      </p:sp>
      <p:sp>
        <p:nvSpPr>
          <p:cNvPr id="28" name="Shape 23"/>
          <p:cNvSpPr/>
          <p:nvPr/>
        </p:nvSpPr>
        <p:spPr>
          <a:xfrm>
            <a:off x="548640" y="3657600"/>
            <a:ext cx="73152" cy="685800"/>
          </a:xfrm>
          <a:prstGeom prst="rect">
            <a:avLst/>
          </a:prstGeom>
          <a:solidFill>
            <a:srgbClr val="DAA520"/>
          </a:solidFill>
          <a:ln/>
        </p:spPr>
        <p:txBody>
          <a:bodyPr/>
          <a:p/>
        </p:txBody>
      </p:sp>
      <p:sp>
        <p:nvSpPr>
          <p:cNvPr id="29" name="Text 24"/>
          <p:cNvSpPr/>
          <p:nvPr/>
        </p:nvSpPr>
        <p:spPr>
          <a:xfrm>
            <a:off x="777240" y="3657600"/>
            <a:ext cx="2011680" cy="411480"/>
          </a:xfrm>
          <a:prstGeom prst="rect">
            <a:avLst/>
          </a:prstGeom>
          <a:noFill/>
          <a:ln/>
        </p:spPr>
        <p:txBody>
          <a:bodyPr wrap="square" lIns="0" tIns="0" rIns="0" bIns="0" rtlCol="0" anchor="b"/>
          <a:lstStyle/>
          <a:p>
            <a:pPr indent="0" marL="0">
              <a:buNone/>
            </a:pPr>
            <a:r>
              <a:rPr lang="en-US" sz="1100" b="1" dirty="0">
                <a:solidFill>
                  <a:srgbClr val="3E2C1C"/>
                </a:solidFill>
                <a:latin typeface="Calibri" pitchFamily="34" charset="0"/>
                <a:ea typeface="Calibri" pitchFamily="34" charset="-122"/>
                <a:cs typeface="Calibri" pitchFamily="34" charset="-120"/>
              </a:rPr>
              <a:t>Phase 4: 9m Kettle</a:t>
            </a:r>
            <a:endParaRPr lang="en-US" sz="1100" dirty="0"/>
          </a:p>
        </p:txBody>
      </p:sp>
      <p:sp>
        <p:nvSpPr>
          <p:cNvPr id="30" name="Text 25"/>
          <p:cNvSpPr/>
          <p:nvPr/>
        </p:nvSpPr>
        <p:spPr>
          <a:xfrm>
            <a:off x="777240" y="4023360"/>
            <a:ext cx="2011680" cy="274320"/>
          </a:xfrm>
          <a:prstGeom prst="rect">
            <a:avLst/>
          </a:prstGeom>
          <a:noFill/>
          <a:ln/>
        </p:spPr>
        <p:txBody>
          <a:bodyPr wrap="square" lIns="0" tIns="0" rIns="0" bIns="0" rtlCol="0" anchor="t"/>
          <a:lstStyle/>
          <a:p>
            <a:pPr indent="0" marL="0">
              <a:buNone/>
            </a:pPr>
            <a:r>
              <a:rPr lang="en-US" sz="800" dirty="0">
                <a:solidFill>
                  <a:srgbClr val="7A6555"/>
                </a:solidFill>
                <a:latin typeface="Calibri" pitchFamily="34" charset="0"/>
                <a:ea typeface="Calibri" pitchFamily="34" charset="-122"/>
                <a:cs typeface="Calibri" pitchFamily="34" charset="-120"/>
              </a:rPr>
              <a:t>Installation + zinc</a:t>
            </a:r>
            <a:endParaRPr lang="en-US" sz="800" dirty="0"/>
          </a:p>
        </p:txBody>
      </p:sp>
      <p:sp>
        <p:nvSpPr>
          <p:cNvPr id="31" name="Text 26"/>
          <p:cNvSpPr/>
          <p:nvPr/>
        </p:nvSpPr>
        <p:spPr>
          <a:xfrm>
            <a:off x="2926080" y="3657600"/>
            <a:ext cx="1645920" cy="685800"/>
          </a:xfrm>
          <a:prstGeom prst="rect">
            <a:avLst/>
          </a:prstGeom>
          <a:noFill/>
          <a:ln/>
        </p:spPr>
        <p:txBody>
          <a:bodyPr wrap="square" lIns="0" tIns="0" rIns="0" bIns="0" rtlCol="0" anchor="ctr"/>
          <a:lstStyle/>
          <a:p>
            <a:pPr algn="ctr" indent="0" marL="0">
              <a:buNone/>
            </a:pPr>
            <a:r>
              <a:rPr lang="en-US" sz="1600" b="1" dirty="0">
                <a:solidFill>
                  <a:srgbClr val="DAA520"/>
                </a:solidFill>
                <a:latin typeface="Georgia" pitchFamily="34" charset="0"/>
                <a:ea typeface="Georgia" pitchFamily="34" charset="-122"/>
                <a:cs typeface="Georgia" pitchFamily="34" charset="-120"/>
              </a:rPr>
              <a:t>TBD</a:t>
            </a:r>
            <a:endParaRPr lang="en-US" sz="1600" dirty="0"/>
          </a:p>
        </p:txBody>
      </p:sp>
      <p:pic>
        <p:nvPicPr>
          <p:cNvPr id="32" name="Image 3" descr="preencoded.png"/>
          <p:cNvPicPr>
            <a:picLocks noChangeAspect="1"/>
          </p:cNvPicPr>
          <p:nvPr/>
        </p:nvPicPr>
        <p:blipFill>
          <a:blip r:embed="rId4"/>
          <a:stretch>
            <a:fillRect/>
          </a:stretch>
        </p:blipFill>
        <p:spPr>
          <a:xfrm>
            <a:off x="4754880" y="3840480"/>
            <a:ext cx="274320" cy="274320"/>
          </a:xfrm>
          <a:prstGeom prst="rect">
            <a:avLst/>
          </a:prstGeom>
        </p:spPr>
      </p:pic>
      <p:sp>
        <p:nvSpPr>
          <p:cNvPr id="33" name="Text 27"/>
          <p:cNvSpPr/>
          <p:nvPr/>
        </p:nvSpPr>
        <p:spPr>
          <a:xfrm>
            <a:off x="5212080" y="3657600"/>
            <a:ext cx="3200400" cy="685800"/>
          </a:xfrm>
          <a:prstGeom prst="rect">
            <a:avLst/>
          </a:prstGeom>
          <a:noFill/>
          <a:ln/>
        </p:spPr>
        <p:txBody>
          <a:bodyPr wrap="square" lIns="0" tIns="0" rIns="0" bIns="0" rtlCol="0" anchor="ctr"/>
          <a:lstStyle/>
          <a:p>
            <a:pPr indent="0" marL="0">
              <a:buNone/>
            </a:pPr>
            <a:r>
              <a:rPr lang="en-US" sz="1400" b="1" dirty="0">
                <a:solidFill>
                  <a:srgbClr val="2D7D46"/>
                </a:solidFill>
                <a:latin typeface="Calibri" pitchFamily="34" charset="0"/>
                <a:ea typeface="Calibri" pitchFamily="34" charset="-122"/>
                <a:cs typeface="Calibri" pitchFamily="34" charset="-120"/>
              </a:rPr>
              <a:t>Future capacity</a:t>
            </a:r>
            <a:endParaRPr lang="en-US" sz="1400" dirty="0"/>
          </a:p>
        </p:txBody>
      </p:sp>
      <p:sp>
        <p:nvSpPr>
          <p:cNvPr id="34" name="Shape 28"/>
          <p:cNvSpPr/>
          <p:nvPr/>
        </p:nvSpPr>
        <p:spPr>
          <a:xfrm>
            <a:off x="548640" y="4526280"/>
            <a:ext cx="8046720" cy="457200"/>
          </a:xfrm>
          <a:prstGeom prst="rect">
            <a:avLst/>
          </a:prstGeom>
          <a:solidFill>
            <a:srgbClr val="EDE8E0"/>
          </a:solidFill>
          <a:ln w="19050">
            <a:solidFill>
              <a:srgbClr val="B87333"/>
            </a:solidFill>
            <a:prstDash val="solid"/>
          </a:ln>
        </p:spPr>
        <p:txBody>
          <a:bodyPr/>
          <a:p/>
        </p:txBody>
      </p:sp>
      <p:sp>
        <p:nvSpPr>
          <p:cNvPr id="35" name="Text 29"/>
          <p:cNvSpPr/>
          <p:nvPr/>
        </p:nvSpPr>
        <p:spPr>
          <a:xfrm>
            <a:off x="731520" y="4526280"/>
            <a:ext cx="7680960" cy="457200"/>
          </a:xfrm>
          <a:prstGeom prst="rect">
            <a:avLst/>
          </a:prstGeom>
          <a:noFill/>
          <a:ln/>
        </p:spPr>
        <p:txBody>
          <a:bodyPr wrap="square" rtlCol="0" anchor="ctr"/>
          <a:lstStyle/>
          <a:p>
            <a:pPr algn="ctr" indent="0" marL="0">
              <a:buNone/>
            </a:pPr>
            <a:r>
              <a:rPr lang="en-US" sz="1100" dirty="0">
                <a:solidFill>
                  <a:srgbClr val="5C4033"/>
                </a:solidFill>
                <a:latin typeface="Calibri" pitchFamily="34" charset="0"/>
                <a:ea typeface="Calibri" pitchFamily="34" charset="-122"/>
                <a:cs typeface="Calibri" pitchFamily="34" charset="-120"/>
              </a:rPr>
              <a:t xml:space="preserve">Minimum investment (Phases 1-2): </a:t>
            </a:r>
            <a:pPr algn="ctr" indent="0" marL="0">
              <a:buNone/>
            </a:pPr>
            <a:r>
              <a:rPr lang="en-US" sz="1400" b="1" dirty="0">
                <a:solidFill>
                  <a:srgbClr val="8B5A2B"/>
                </a:solidFill>
                <a:latin typeface="Georgia" pitchFamily="34" charset="0"/>
                <a:ea typeface="Georgia" pitchFamily="34" charset="-122"/>
                <a:cs typeface="Georgia" pitchFamily="34" charset="-120"/>
              </a:rPr>
              <a:t>$336K</a:t>
            </a:r>
            <a:pPr algn="ctr" indent="0" marL="0">
              <a:buNone/>
            </a:pPr>
            <a:r>
              <a:rPr lang="en-US" sz="1100" dirty="0">
                <a:solidFill>
                  <a:srgbClr val="5C4033"/>
                </a:solidFill>
                <a:latin typeface="Calibri" pitchFamily="34" charset="0"/>
                <a:ea typeface="Calibri" pitchFamily="34" charset="-122"/>
                <a:cs typeface="Calibri" pitchFamily="34" charset="-120"/>
              </a:rPr>
              <a:t xml:space="preserve">  →  Potential: </a:t>
            </a:r>
            <a:pPr algn="ctr" indent="0" marL="0">
              <a:buNone/>
            </a:pPr>
            <a:r>
              <a:rPr lang="en-US" sz="1400" b="1" dirty="0">
                <a:solidFill>
                  <a:srgbClr val="2D7D46"/>
                </a:solidFill>
                <a:latin typeface="Georgia" pitchFamily="34" charset="0"/>
                <a:ea typeface="Georgia" pitchFamily="34" charset="-122"/>
                <a:cs typeface="Georgia" pitchFamily="34" charset="-120"/>
              </a:rPr>
              <a:t>$90K-$275K/mo</a:t>
            </a:r>
            <a:pPr algn="ctr" indent="0" marL="0">
              <a:buNone/>
            </a:pPr>
            <a:r>
              <a:rPr lang="en-US" sz="1000" i="1" dirty="0">
                <a:solidFill>
                  <a:srgbClr val="7A6555"/>
                </a:solidFill>
                <a:latin typeface="Calibri" pitchFamily="34" charset="0"/>
                <a:ea typeface="Calibri" pitchFamily="34" charset="-122"/>
                <a:cs typeface="Calibri" pitchFamily="34" charset="-120"/>
              </a:rPr>
              <a:t xml:space="preserve"> (depends on volume)</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24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ASSET VALUATION</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Replacement cost — what it would cost to build from scratch</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8046720" cy="914400"/>
        </p:xfrm>
        <a:graphic>
          <a:graphicData uri="http://schemas.openxmlformats.org/drawingml/2006/table">
            <a:tbl>
              <a:tblPr/>
              <a:tblGrid>
                <a:gridCol w="5029200"/>
                <a:gridCol w="3017520"/>
              </a:tblGrid>
              <a:tr h="32004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Category</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Value Range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Terreno + 2 galpones (3,640 m2)</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$692K - $990K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Pilling kettles (7m + 9m + 3.5m + centrifuge)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$1,140K - $1,340K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Copper line (6 rectifiers, 10 tanks)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$100K - $200K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Cranes, forklifts, industrial scale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$90K - $180K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Chemical processing + infrastructure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$90K - $180K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Permits, installation, commissioning</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$72K - $140K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41148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TOTAL REPLACEMENT COST</a:t>
                      </a:r>
                      <a:endParaRPr lang="en-US" sz="11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$2.2M - $3.0M</a:t>
                      </a:r>
                      <a:endParaRPr lang="en-US" sz="1300" dirty="0">
                        <a:latin typeface="Georgia" charset="0"/>
                        <a:ea typeface="Georgia" charset="0"/>
                        <a:cs typeface="Georgia"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bl>
          </a:graphicData>
        </a:graphic>
      </p:graphicFrame>
      <p:sp>
        <p:nvSpPr>
          <p:cNvPr id="7" name="Text 4"/>
          <p:cNvSpPr/>
          <p:nvPr/>
        </p:nvSpPr>
        <p:spPr>
          <a:xfrm>
            <a:off x="548640" y="4297680"/>
            <a:ext cx="8046720" cy="320040"/>
          </a:xfrm>
          <a:prstGeom prst="rect">
            <a:avLst/>
          </a:prstGeom>
          <a:noFill/>
          <a:ln/>
        </p:spPr>
        <p:txBody>
          <a:bodyPr wrap="square" lIns="0" tIns="0" rIns="0" bIns="0" rtlCol="0" anchor="ctr"/>
          <a:lstStyle/>
          <a:p>
            <a:pPr algn="ctr" indent="0" marL="0">
              <a:buNone/>
            </a:pPr>
            <a:r>
              <a:rPr lang="en-US" sz="1100" i="1" dirty="0">
                <a:solidFill>
                  <a:srgbClr val="7A6555"/>
                </a:solidFill>
                <a:latin typeface="Calibri" pitchFamily="34" charset="0"/>
                <a:ea typeface="Calibri" pitchFamily="34" charset="-122"/>
                <a:cs typeface="Calibri" pitchFamily="34" charset="-120"/>
              </a:rPr>
              <a:t>Una nueva planta toma 18-36 meses de construccion. PYGLARA esta lista en 3 meses.</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25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600" b="1" dirty="0">
                <a:solidFill>
                  <a:srgbClr val="3E2C1C"/>
                </a:solidFill>
                <a:latin typeface="Georgia" pitchFamily="34" charset="0"/>
                <a:ea typeface="Georgia" pitchFamily="34" charset="-122"/>
                <a:cs typeface="Georgia" pitchFamily="34" charset="-120"/>
              </a:rPr>
              <a:t>WHAT THE ACQUISITION INCLUDES</a:t>
            </a:r>
            <a:endParaRPr lang="en-US" sz="2600" dirty="0"/>
          </a:p>
        </p:txBody>
      </p:sp>
      <p:sp>
        <p:nvSpPr>
          <p:cNvPr id="5" name="Shape 3"/>
          <p:cNvSpPr/>
          <p:nvPr/>
        </p:nvSpPr>
        <p:spPr>
          <a:xfrm>
            <a:off x="457200" y="1005840"/>
            <a:ext cx="4114800" cy="548640"/>
          </a:xfrm>
          <a:prstGeom prst="rect">
            <a:avLst/>
          </a:prstGeom>
          <a:solidFill>
            <a:srgbClr val="FFFFFF"/>
          </a:solidFill>
          <a:ln w="6350">
            <a:solidFill>
              <a:srgbClr val="D4C5B2"/>
            </a:solidFill>
            <a:prstDash val="solid"/>
          </a:ln>
        </p:spPr>
        <p:txBody>
          <a:bodyPr/>
          <a:p/>
        </p:txBody>
      </p:sp>
      <p:pic>
        <p:nvPicPr>
          <p:cNvPr id="6" name="Image 0" descr="preencoded.png"/>
          <p:cNvPicPr>
            <a:picLocks noChangeAspect="1"/>
          </p:cNvPicPr>
          <p:nvPr/>
        </p:nvPicPr>
        <p:blipFill>
          <a:blip r:embed="rId1"/>
          <a:stretch>
            <a:fillRect/>
          </a:stretch>
        </p:blipFill>
        <p:spPr>
          <a:xfrm>
            <a:off x="548640" y="1115568"/>
            <a:ext cx="274320" cy="274320"/>
          </a:xfrm>
          <a:prstGeom prst="rect">
            <a:avLst/>
          </a:prstGeom>
        </p:spPr>
      </p:pic>
      <p:sp>
        <p:nvSpPr>
          <p:cNvPr id="7" name="Text 4"/>
          <p:cNvSpPr/>
          <p:nvPr/>
        </p:nvSpPr>
        <p:spPr>
          <a:xfrm>
            <a:off x="960120" y="10058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100% equity ownership (Sociedad Anonima)</a:t>
            </a:r>
            <a:endParaRPr lang="en-US" sz="1000" dirty="0"/>
          </a:p>
        </p:txBody>
      </p:sp>
      <p:sp>
        <p:nvSpPr>
          <p:cNvPr id="8" name="Shape 5"/>
          <p:cNvSpPr/>
          <p:nvPr/>
        </p:nvSpPr>
        <p:spPr>
          <a:xfrm>
            <a:off x="457200" y="1691640"/>
            <a:ext cx="4114800" cy="548640"/>
          </a:xfrm>
          <a:prstGeom prst="rect">
            <a:avLst/>
          </a:prstGeom>
          <a:solidFill>
            <a:srgbClr val="FFFFFF"/>
          </a:solidFill>
          <a:ln w="6350">
            <a:solidFill>
              <a:srgbClr val="D4C5B2"/>
            </a:solidFill>
            <a:prstDash val="solid"/>
          </a:ln>
        </p:spPr>
        <p:txBody>
          <a:bodyPr/>
          <a:p/>
        </p:txBody>
      </p:sp>
      <p:pic>
        <p:nvPicPr>
          <p:cNvPr id="9" name="Image 1" descr="preencoded.png"/>
          <p:cNvPicPr>
            <a:picLocks noChangeAspect="1"/>
          </p:cNvPicPr>
          <p:nvPr/>
        </p:nvPicPr>
        <p:blipFill>
          <a:blip r:embed="rId2"/>
          <a:stretch>
            <a:fillRect/>
          </a:stretch>
        </p:blipFill>
        <p:spPr>
          <a:xfrm>
            <a:off x="548640" y="1801368"/>
            <a:ext cx="274320" cy="274320"/>
          </a:xfrm>
          <a:prstGeom prst="rect">
            <a:avLst/>
          </a:prstGeom>
        </p:spPr>
      </p:pic>
      <p:sp>
        <p:nvSpPr>
          <p:cNvPr id="10" name="Text 6"/>
          <p:cNvSpPr/>
          <p:nvPr/>
        </p:nvSpPr>
        <p:spPr>
          <a:xfrm>
            <a:off x="960120" y="16916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2 industrial warehouses with clean title (3,640 m2)</a:t>
            </a:r>
            <a:endParaRPr lang="en-US" sz="1000" dirty="0"/>
          </a:p>
        </p:txBody>
      </p:sp>
      <p:sp>
        <p:nvSpPr>
          <p:cNvPr id="11" name="Shape 7"/>
          <p:cNvSpPr/>
          <p:nvPr/>
        </p:nvSpPr>
        <p:spPr>
          <a:xfrm>
            <a:off x="457200" y="2377440"/>
            <a:ext cx="4114800" cy="548640"/>
          </a:xfrm>
          <a:prstGeom prst="rect">
            <a:avLst/>
          </a:prstGeom>
          <a:solidFill>
            <a:srgbClr val="FFFFFF"/>
          </a:solidFill>
          <a:ln w="6350">
            <a:solidFill>
              <a:srgbClr val="D4C5B2"/>
            </a:solidFill>
            <a:prstDash val="solid"/>
          </a:ln>
        </p:spPr>
        <p:txBody>
          <a:bodyPr/>
          <a:p/>
        </p:txBody>
      </p:sp>
      <p:pic>
        <p:nvPicPr>
          <p:cNvPr id="12" name="Image 2" descr="preencoded.png"/>
          <p:cNvPicPr>
            <a:picLocks noChangeAspect="1"/>
          </p:cNvPicPr>
          <p:nvPr/>
        </p:nvPicPr>
        <p:blipFill>
          <a:blip r:embed="rId3"/>
          <a:stretch>
            <a:fillRect/>
          </a:stretch>
        </p:blipFill>
        <p:spPr>
          <a:xfrm>
            <a:off x="548640" y="2487168"/>
            <a:ext cx="274320" cy="274320"/>
          </a:xfrm>
          <a:prstGeom prst="rect">
            <a:avLst/>
          </a:prstGeom>
        </p:spPr>
      </p:pic>
      <p:sp>
        <p:nvSpPr>
          <p:cNvPr id="13" name="Text 8"/>
          <p:cNvSpPr/>
          <p:nvPr/>
        </p:nvSpPr>
        <p:spPr>
          <a:xfrm>
            <a:off x="960120" y="23774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4 Pilling kettles (Germany) + furnaces and burners</a:t>
            </a:r>
            <a:endParaRPr lang="en-US" sz="1000" dirty="0"/>
          </a:p>
        </p:txBody>
      </p:sp>
      <p:sp>
        <p:nvSpPr>
          <p:cNvPr id="14" name="Shape 9"/>
          <p:cNvSpPr/>
          <p:nvPr/>
        </p:nvSpPr>
        <p:spPr>
          <a:xfrm>
            <a:off x="457200" y="3063240"/>
            <a:ext cx="4114800" cy="548640"/>
          </a:xfrm>
          <a:prstGeom prst="rect">
            <a:avLst/>
          </a:prstGeom>
          <a:solidFill>
            <a:srgbClr val="FFFFFF"/>
          </a:solidFill>
          <a:ln w="6350">
            <a:solidFill>
              <a:srgbClr val="D4C5B2"/>
            </a:solidFill>
            <a:prstDash val="solid"/>
          </a:ln>
        </p:spPr>
        <p:txBody>
          <a:bodyPr/>
          <a:p/>
        </p:txBody>
      </p:sp>
      <p:pic>
        <p:nvPicPr>
          <p:cNvPr id="15" name="Image 3" descr="preencoded.png"/>
          <p:cNvPicPr>
            <a:picLocks noChangeAspect="1"/>
          </p:cNvPicPr>
          <p:nvPr/>
        </p:nvPicPr>
        <p:blipFill>
          <a:blip r:embed="rId4"/>
          <a:stretch>
            <a:fillRect/>
          </a:stretch>
        </p:blipFill>
        <p:spPr>
          <a:xfrm>
            <a:off x="548640" y="3172968"/>
            <a:ext cx="274320" cy="274320"/>
          </a:xfrm>
          <a:prstGeom prst="rect">
            <a:avLst/>
          </a:prstGeom>
        </p:spPr>
      </p:pic>
      <p:sp>
        <p:nvSpPr>
          <p:cNvPr id="16" name="Text 10"/>
          <p:cNvSpPr/>
          <p:nvPr/>
        </p:nvSpPr>
        <p:spPr>
          <a:xfrm>
            <a:off x="960120" y="30632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Complete copper electroplating line</a:t>
            </a:r>
            <a:endParaRPr lang="en-US" sz="1000" dirty="0"/>
          </a:p>
        </p:txBody>
      </p:sp>
      <p:sp>
        <p:nvSpPr>
          <p:cNvPr id="17" name="Shape 11"/>
          <p:cNvSpPr/>
          <p:nvPr/>
        </p:nvSpPr>
        <p:spPr>
          <a:xfrm>
            <a:off x="457200" y="3749040"/>
            <a:ext cx="4114800" cy="548640"/>
          </a:xfrm>
          <a:prstGeom prst="rect">
            <a:avLst/>
          </a:prstGeom>
          <a:solidFill>
            <a:srgbClr val="FFFFFF"/>
          </a:solidFill>
          <a:ln w="6350">
            <a:solidFill>
              <a:srgbClr val="D4C5B2"/>
            </a:solidFill>
            <a:prstDash val="solid"/>
          </a:ln>
        </p:spPr>
        <p:txBody>
          <a:bodyPr/>
          <a:p/>
        </p:txBody>
      </p:sp>
      <p:pic>
        <p:nvPicPr>
          <p:cNvPr id="18" name="Image 4" descr="preencoded.png"/>
          <p:cNvPicPr>
            <a:picLocks noChangeAspect="1"/>
          </p:cNvPicPr>
          <p:nvPr/>
        </p:nvPicPr>
        <p:blipFill>
          <a:blip r:embed="rId5"/>
          <a:stretch>
            <a:fillRect/>
          </a:stretch>
        </p:blipFill>
        <p:spPr>
          <a:xfrm>
            <a:off x="548640" y="3858768"/>
            <a:ext cx="274320" cy="274320"/>
          </a:xfrm>
          <a:prstGeom prst="rect">
            <a:avLst/>
          </a:prstGeom>
        </p:spPr>
      </p:pic>
      <p:sp>
        <p:nvSpPr>
          <p:cNvPr id="19" name="Text 12"/>
          <p:cNvSpPr/>
          <p:nvPr/>
        </p:nvSpPr>
        <p:spPr>
          <a:xfrm>
            <a:off x="960120" y="37490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2 overhead cranes + 3 Clark forklifts + industrial scale</a:t>
            </a:r>
            <a:endParaRPr lang="en-US" sz="1000" dirty="0"/>
          </a:p>
        </p:txBody>
      </p:sp>
      <p:sp>
        <p:nvSpPr>
          <p:cNvPr id="20" name="Shape 13"/>
          <p:cNvSpPr/>
          <p:nvPr/>
        </p:nvSpPr>
        <p:spPr>
          <a:xfrm>
            <a:off x="4846320" y="1005840"/>
            <a:ext cx="4114800" cy="548640"/>
          </a:xfrm>
          <a:prstGeom prst="rect">
            <a:avLst/>
          </a:prstGeom>
          <a:solidFill>
            <a:srgbClr val="FFFFFF"/>
          </a:solidFill>
          <a:ln w="6350">
            <a:solidFill>
              <a:srgbClr val="D4C5B2"/>
            </a:solidFill>
            <a:prstDash val="solid"/>
          </a:ln>
        </p:spPr>
        <p:txBody>
          <a:bodyPr/>
          <a:p/>
        </p:txBody>
      </p:sp>
      <p:pic>
        <p:nvPicPr>
          <p:cNvPr id="21" name="Image 5" descr="preencoded.png"/>
          <p:cNvPicPr>
            <a:picLocks noChangeAspect="1"/>
          </p:cNvPicPr>
          <p:nvPr/>
        </p:nvPicPr>
        <p:blipFill>
          <a:blip r:embed="rId6"/>
          <a:stretch>
            <a:fillRect/>
          </a:stretch>
        </p:blipFill>
        <p:spPr>
          <a:xfrm>
            <a:off x="4937760" y="1115568"/>
            <a:ext cx="274320" cy="274320"/>
          </a:xfrm>
          <a:prstGeom prst="rect">
            <a:avLst/>
          </a:prstGeom>
        </p:spPr>
      </p:pic>
      <p:sp>
        <p:nvSpPr>
          <p:cNvPr id="22" name="Text 14"/>
          <p:cNvSpPr/>
          <p:nvPr/>
        </p:nvSpPr>
        <p:spPr>
          <a:xfrm>
            <a:off x="5349240" y="10058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PYGLARA brand + 50 years of reputation</a:t>
            </a:r>
            <a:endParaRPr lang="en-US" sz="1000" dirty="0"/>
          </a:p>
        </p:txBody>
      </p:sp>
      <p:sp>
        <p:nvSpPr>
          <p:cNvPr id="23" name="Shape 15"/>
          <p:cNvSpPr/>
          <p:nvPr/>
        </p:nvSpPr>
        <p:spPr>
          <a:xfrm>
            <a:off x="4846320" y="1691640"/>
            <a:ext cx="4114800" cy="548640"/>
          </a:xfrm>
          <a:prstGeom prst="rect">
            <a:avLst/>
          </a:prstGeom>
          <a:solidFill>
            <a:srgbClr val="FFFFFF"/>
          </a:solidFill>
          <a:ln w="6350">
            <a:solidFill>
              <a:srgbClr val="D4C5B2"/>
            </a:solidFill>
            <a:prstDash val="solid"/>
          </a:ln>
        </p:spPr>
        <p:txBody>
          <a:bodyPr/>
          <a:p/>
        </p:txBody>
      </p:sp>
      <p:pic>
        <p:nvPicPr>
          <p:cNvPr id="24" name="Image 6" descr="preencoded.png"/>
          <p:cNvPicPr>
            <a:picLocks noChangeAspect="1"/>
          </p:cNvPicPr>
          <p:nvPr/>
        </p:nvPicPr>
        <p:blipFill>
          <a:blip r:embed="rId7"/>
          <a:stretch>
            <a:fillRect/>
          </a:stretch>
        </p:blipFill>
        <p:spPr>
          <a:xfrm>
            <a:off x="4937760" y="1801368"/>
            <a:ext cx="274320" cy="274320"/>
          </a:xfrm>
          <a:prstGeom prst="rect">
            <a:avLst/>
          </a:prstGeom>
        </p:spPr>
      </p:pic>
      <p:sp>
        <p:nvSpPr>
          <p:cNvPr id="25" name="Text 16"/>
          <p:cNvSpPr/>
          <p:nvPr/>
        </p:nvSpPr>
        <p:spPr>
          <a:xfrm>
            <a:off x="5349240" y="16916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34 documented historical clients</a:t>
            </a:r>
            <a:endParaRPr lang="en-US" sz="1000" dirty="0"/>
          </a:p>
        </p:txBody>
      </p:sp>
      <p:sp>
        <p:nvSpPr>
          <p:cNvPr id="26" name="Shape 17"/>
          <p:cNvSpPr/>
          <p:nvPr/>
        </p:nvSpPr>
        <p:spPr>
          <a:xfrm>
            <a:off x="4846320" y="2377440"/>
            <a:ext cx="4114800" cy="548640"/>
          </a:xfrm>
          <a:prstGeom prst="rect">
            <a:avLst/>
          </a:prstGeom>
          <a:solidFill>
            <a:srgbClr val="FFFFFF"/>
          </a:solidFill>
          <a:ln w="6350">
            <a:solidFill>
              <a:srgbClr val="D4C5B2"/>
            </a:solidFill>
            <a:prstDash val="solid"/>
          </a:ln>
        </p:spPr>
        <p:txBody>
          <a:bodyPr/>
          <a:p/>
        </p:txBody>
      </p:sp>
      <p:pic>
        <p:nvPicPr>
          <p:cNvPr id="27" name="Image 7" descr="preencoded.png"/>
          <p:cNvPicPr>
            <a:picLocks noChangeAspect="1"/>
          </p:cNvPicPr>
          <p:nvPr/>
        </p:nvPicPr>
        <p:blipFill>
          <a:blip r:embed="rId8"/>
          <a:stretch>
            <a:fillRect/>
          </a:stretch>
        </p:blipFill>
        <p:spPr>
          <a:xfrm>
            <a:off x="4937760" y="2487168"/>
            <a:ext cx="274320" cy="274320"/>
          </a:xfrm>
          <a:prstGeom prst="rect">
            <a:avLst/>
          </a:prstGeom>
        </p:spPr>
      </p:pic>
      <p:sp>
        <p:nvSpPr>
          <p:cNvPr id="28" name="Text 18"/>
          <p:cNvSpPr/>
          <p:nvPr/>
        </p:nvSpPr>
        <p:spPr>
          <a:xfrm>
            <a:off x="5349240" y="23774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Active permits: RIF, license, PDVSA Gas contract</a:t>
            </a:r>
            <a:endParaRPr lang="en-US" sz="1000" dirty="0"/>
          </a:p>
        </p:txBody>
      </p:sp>
      <p:sp>
        <p:nvSpPr>
          <p:cNvPr id="29" name="Shape 19"/>
          <p:cNvSpPr/>
          <p:nvPr/>
        </p:nvSpPr>
        <p:spPr>
          <a:xfrm>
            <a:off x="4846320" y="3063240"/>
            <a:ext cx="4114800" cy="548640"/>
          </a:xfrm>
          <a:prstGeom prst="rect">
            <a:avLst/>
          </a:prstGeom>
          <a:solidFill>
            <a:srgbClr val="FFFFFF"/>
          </a:solidFill>
          <a:ln w="6350">
            <a:solidFill>
              <a:srgbClr val="D4C5B2"/>
            </a:solidFill>
            <a:prstDash val="solid"/>
          </a:ln>
        </p:spPr>
        <p:txBody>
          <a:bodyPr/>
          <a:p/>
        </p:txBody>
      </p:sp>
      <p:pic>
        <p:nvPicPr>
          <p:cNvPr id="30" name="Image 8" descr="preencoded.png"/>
          <p:cNvPicPr>
            <a:picLocks noChangeAspect="1"/>
          </p:cNvPicPr>
          <p:nvPr/>
        </p:nvPicPr>
        <p:blipFill>
          <a:blip r:embed="rId9"/>
          <a:stretch>
            <a:fillRect/>
          </a:stretch>
        </p:blipFill>
        <p:spPr>
          <a:xfrm>
            <a:off x="4937760" y="3172968"/>
            <a:ext cx="274320" cy="274320"/>
          </a:xfrm>
          <a:prstGeom prst="rect">
            <a:avLst/>
          </a:prstGeom>
        </p:spPr>
      </p:pic>
      <p:sp>
        <p:nvSpPr>
          <p:cNvPr id="31" name="Text 20"/>
          <p:cNvSpPr/>
          <p:nvPr/>
        </p:nvSpPr>
        <p:spPr>
          <a:xfrm>
            <a:off x="5349240" y="30632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Personnel with 36+ years of technical experience</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26 / 30</a:t>
            </a:r>
            <a:endParaRPr lang="en-US" sz="800" dirty="0"/>
          </a:p>
        </p:txBody>
      </p:sp>
      <p:sp>
        <p:nvSpPr>
          <p:cNvPr id="4" name="Text 2"/>
          <p:cNvSpPr/>
          <p:nvPr/>
        </p:nvSpPr>
        <p:spPr>
          <a:xfrm>
            <a:off x="548640" y="274320"/>
            <a:ext cx="8046720" cy="594360"/>
          </a:xfrm>
          <a:prstGeom prst="rect">
            <a:avLst/>
          </a:prstGeom>
          <a:noFill/>
          <a:ln/>
        </p:spPr>
        <p:txBody>
          <a:bodyPr wrap="square" lIns="0" tIns="0" rIns="0" bIns="0" rtlCol="0" anchor="ctr"/>
          <a:lstStyle/>
          <a:p>
            <a:pPr indent="0" marL="0">
              <a:buNone/>
            </a:pPr>
            <a:r>
              <a:rPr lang="en-US" sz="3400" b="1" dirty="0">
                <a:solidFill>
                  <a:srgbClr val="3E2C1C"/>
                </a:solidFill>
                <a:latin typeface="Georgia" pitchFamily="34" charset="0"/>
                <a:ea typeface="Georgia" pitchFamily="34" charset="-122"/>
                <a:cs typeface="Georgia" pitchFamily="34" charset="-120"/>
              </a:rPr>
              <a:t>NEXT STEPS</a:t>
            </a:r>
            <a:endParaRPr lang="en-US" sz="3400" dirty="0"/>
          </a:p>
        </p:txBody>
      </p:sp>
      <p:sp>
        <p:nvSpPr>
          <p:cNvPr id="5" name="Shape 3"/>
          <p:cNvSpPr/>
          <p:nvPr/>
        </p:nvSpPr>
        <p:spPr>
          <a:xfrm>
            <a:off x="731520" y="1280160"/>
            <a:ext cx="640080" cy="640080"/>
          </a:xfrm>
          <a:prstGeom prst="oval">
            <a:avLst/>
          </a:prstGeom>
          <a:solidFill>
            <a:srgbClr val="B87333"/>
          </a:solidFill>
          <a:ln/>
        </p:spPr>
        <p:txBody>
          <a:bodyPr/>
          <a:p/>
        </p:txBody>
      </p:sp>
      <p:sp>
        <p:nvSpPr>
          <p:cNvPr id="6" name="Text 4"/>
          <p:cNvSpPr/>
          <p:nvPr/>
        </p:nvSpPr>
        <p:spPr>
          <a:xfrm>
            <a:off x="731520" y="12801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01</a:t>
            </a:r>
            <a:endParaRPr lang="en-US" sz="1800" dirty="0"/>
          </a:p>
        </p:txBody>
      </p:sp>
      <p:sp>
        <p:nvSpPr>
          <p:cNvPr id="7" name="Text 5"/>
          <p:cNvSpPr/>
          <p:nvPr/>
        </p:nvSpPr>
        <p:spPr>
          <a:xfrm>
            <a:off x="1645920" y="1188720"/>
            <a:ext cx="6858000" cy="411480"/>
          </a:xfrm>
          <a:prstGeom prst="rect">
            <a:avLst/>
          </a:prstGeom>
          <a:noFill/>
          <a:ln/>
        </p:spPr>
        <p:txBody>
          <a:bodyPr wrap="square" lIns="0" tIns="0" rIns="0" bIns="0" rtlCol="0" anchor="b"/>
          <a:lstStyle/>
          <a:p>
            <a:pPr indent="0" marL="0">
              <a:buNone/>
            </a:pPr>
            <a:r>
              <a:rPr lang="en-US" sz="1800" b="1" dirty="0">
                <a:solidFill>
                  <a:srgbClr val="8B5A2B"/>
                </a:solidFill>
                <a:latin typeface="Georgia" pitchFamily="34" charset="0"/>
                <a:ea typeface="Georgia" pitchFamily="34" charset="-122"/>
                <a:cs typeface="Georgia" pitchFamily="34" charset="-120"/>
              </a:rPr>
              <a:t>Visit the plant</a:t>
            </a:r>
            <a:endParaRPr lang="en-US" sz="1800" dirty="0"/>
          </a:p>
        </p:txBody>
      </p:sp>
      <p:sp>
        <p:nvSpPr>
          <p:cNvPr id="8" name="Text 6"/>
          <p:cNvSpPr/>
          <p:nvPr/>
        </p:nvSpPr>
        <p:spPr>
          <a:xfrm>
            <a:off x="1645920" y="1645920"/>
            <a:ext cx="6858000" cy="320040"/>
          </a:xfrm>
          <a:prstGeom prst="rect">
            <a:avLst/>
          </a:prstGeom>
          <a:noFill/>
          <a:ln/>
        </p:spPr>
        <p:txBody>
          <a:bodyPr wrap="square" lIns="0" tIns="0" rIns="0" bIns="0" rtlCol="0" anchor="ctr"/>
          <a:lstStyle/>
          <a:p>
            <a:pPr indent="0" marL="0">
              <a:buNone/>
            </a:pPr>
            <a:r>
              <a:rPr lang="en-US" sz="1200" dirty="0">
                <a:solidFill>
                  <a:srgbClr val="7A6555"/>
                </a:solidFill>
                <a:latin typeface="Calibri" pitchFamily="34" charset="0"/>
                <a:ea typeface="Calibri" pitchFamily="34" charset="-122"/>
                <a:cs typeface="Calibri" pitchFamily="34" charset="-120"/>
              </a:rPr>
              <a:t>See the Pilling equipment firsthand</a:t>
            </a:r>
            <a:endParaRPr lang="en-US" sz="1200" dirty="0"/>
          </a:p>
        </p:txBody>
      </p:sp>
      <p:sp>
        <p:nvSpPr>
          <p:cNvPr id="9" name="Shape 7"/>
          <p:cNvSpPr/>
          <p:nvPr/>
        </p:nvSpPr>
        <p:spPr>
          <a:xfrm>
            <a:off x="731520" y="2423160"/>
            <a:ext cx="640080" cy="640080"/>
          </a:xfrm>
          <a:prstGeom prst="oval">
            <a:avLst/>
          </a:prstGeom>
          <a:solidFill>
            <a:srgbClr val="B87333"/>
          </a:solidFill>
          <a:ln/>
        </p:spPr>
        <p:txBody>
          <a:bodyPr/>
          <a:p/>
        </p:txBody>
      </p:sp>
      <p:sp>
        <p:nvSpPr>
          <p:cNvPr id="10" name="Text 8"/>
          <p:cNvSpPr/>
          <p:nvPr/>
        </p:nvSpPr>
        <p:spPr>
          <a:xfrm>
            <a:off x="731520" y="24231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02</a:t>
            </a:r>
            <a:endParaRPr lang="en-US" sz="1800" dirty="0"/>
          </a:p>
        </p:txBody>
      </p:sp>
      <p:sp>
        <p:nvSpPr>
          <p:cNvPr id="11" name="Text 9"/>
          <p:cNvSpPr/>
          <p:nvPr/>
        </p:nvSpPr>
        <p:spPr>
          <a:xfrm>
            <a:off x="1645920" y="2331720"/>
            <a:ext cx="6858000" cy="411480"/>
          </a:xfrm>
          <a:prstGeom prst="rect">
            <a:avLst/>
          </a:prstGeom>
          <a:noFill/>
          <a:ln/>
        </p:spPr>
        <p:txBody>
          <a:bodyPr wrap="square" lIns="0" tIns="0" rIns="0" bIns="0" rtlCol="0" anchor="b"/>
          <a:lstStyle/>
          <a:p>
            <a:pPr indent="0" marL="0">
              <a:buNone/>
            </a:pPr>
            <a:r>
              <a:rPr lang="en-US" sz="1800" b="1" dirty="0">
                <a:solidFill>
                  <a:srgbClr val="8B5A2B"/>
                </a:solidFill>
                <a:latin typeface="Georgia" pitchFamily="34" charset="0"/>
                <a:ea typeface="Georgia" pitchFamily="34" charset="-122"/>
                <a:cs typeface="Georgia" pitchFamily="34" charset="-120"/>
              </a:rPr>
              <a:t>Review the full document</a:t>
            </a:r>
            <a:endParaRPr lang="en-US" sz="1800" dirty="0"/>
          </a:p>
        </p:txBody>
      </p:sp>
      <p:sp>
        <p:nvSpPr>
          <p:cNvPr id="12" name="Text 10"/>
          <p:cNvSpPr/>
          <p:nvPr/>
        </p:nvSpPr>
        <p:spPr>
          <a:xfrm>
            <a:off x="1645920" y="2788920"/>
            <a:ext cx="6858000" cy="320040"/>
          </a:xfrm>
          <a:prstGeom prst="rect">
            <a:avLst/>
          </a:prstGeom>
          <a:noFill/>
          <a:ln/>
        </p:spPr>
        <p:txBody>
          <a:bodyPr wrap="square" lIns="0" tIns="0" rIns="0" bIns="0" rtlCol="0" anchor="ctr"/>
          <a:lstStyle/>
          <a:p>
            <a:pPr indent="0" marL="0">
              <a:buNone/>
            </a:pPr>
            <a:r>
              <a:rPr lang="en-US" sz="1200" dirty="0">
                <a:solidFill>
                  <a:srgbClr val="7A6555"/>
                </a:solidFill>
                <a:latin typeface="Calibri" pitchFamily="34" charset="0"/>
                <a:ea typeface="Calibri" pitchFamily="34" charset="-122"/>
                <a:cs typeface="Calibri" pitchFamily="34" charset="-120"/>
              </a:rPr>
              <a:t>25-35 page investment document with all the details</a:t>
            </a:r>
            <a:endParaRPr lang="en-US" sz="1200" dirty="0"/>
          </a:p>
        </p:txBody>
      </p:sp>
      <p:sp>
        <p:nvSpPr>
          <p:cNvPr id="13" name="Shape 11"/>
          <p:cNvSpPr/>
          <p:nvPr/>
        </p:nvSpPr>
        <p:spPr>
          <a:xfrm>
            <a:off x="731520" y="3566160"/>
            <a:ext cx="640080" cy="640080"/>
          </a:xfrm>
          <a:prstGeom prst="oval">
            <a:avLst/>
          </a:prstGeom>
          <a:solidFill>
            <a:srgbClr val="B87333"/>
          </a:solidFill>
          <a:ln/>
        </p:spPr>
        <p:txBody>
          <a:bodyPr/>
          <a:p/>
        </p:txBody>
      </p:sp>
      <p:sp>
        <p:nvSpPr>
          <p:cNvPr id="14" name="Text 12"/>
          <p:cNvSpPr/>
          <p:nvPr/>
        </p:nvSpPr>
        <p:spPr>
          <a:xfrm>
            <a:off x="731520" y="35661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03</a:t>
            </a:r>
            <a:endParaRPr lang="en-US" sz="1800" dirty="0"/>
          </a:p>
        </p:txBody>
      </p:sp>
      <p:sp>
        <p:nvSpPr>
          <p:cNvPr id="15" name="Text 13"/>
          <p:cNvSpPr/>
          <p:nvPr/>
        </p:nvSpPr>
        <p:spPr>
          <a:xfrm>
            <a:off x="1645920" y="3474720"/>
            <a:ext cx="6858000" cy="411480"/>
          </a:xfrm>
          <a:prstGeom prst="rect">
            <a:avLst/>
          </a:prstGeom>
          <a:noFill/>
          <a:ln/>
        </p:spPr>
        <p:txBody>
          <a:bodyPr wrap="square" lIns="0" tIns="0" rIns="0" bIns="0" rtlCol="0" anchor="b"/>
          <a:lstStyle/>
          <a:p>
            <a:pPr indent="0" marL="0">
              <a:buNone/>
            </a:pPr>
            <a:r>
              <a:rPr lang="en-US" sz="1800" b="1" dirty="0">
                <a:solidFill>
                  <a:srgbClr val="8B5A2B"/>
                </a:solidFill>
                <a:latin typeface="Georgia" pitchFamily="34" charset="0"/>
                <a:ea typeface="Georgia" pitchFamily="34" charset="-122"/>
                <a:cs typeface="Georgia" pitchFamily="34" charset="-120"/>
              </a:rPr>
              <a:t>Discuss terms</a:t>
            </a:r>
            <a:endParaRPr lang="en-US" sz="1800" dirty="0"/>
          </a:p>
        </p:txBody>
      </p:sp>
      <p:sp>
        <p:nvSpPr>
          <p:cNvPr id="16" name="Text 14"/>
          <p:cNvSpPr/>
          <p:nvPr/>
        </p:nvSpPr>
        <p:spPr>
          <a:xfrm>
            <a:off x="1645920" y="3931920"/>
            <a:ext cx="6858000" cy="320040"/>
          </a:xfrm>
          <a:prstGeom prst="rect">
            <a:avLst/>
          </a:prstGeom>
          <a:noFill/>
          <a:ln/>
        </p:spPr>
        <p:txBody>
          <a:bodyPr wrap="square" lIns="0" tIns="0" rIns="0" bIns="0" rtlCol="0" anchor="ctr"/>
          <a:lstStyle/>
          <a:p>
            <a:pPr indent="0" marL="0">
              <a:buNone/>
            </a:pPr>
            <a:r>
              <a:rPr lang="en-US" sz="1200" dirty="0">
                <a:solidFill>
                  <a:srgbClr val="7A6555"/>
                </a:solidFill>
                <a:latin typeface="Calibri" pitchFamily="34" charset="0"/>
                <a:ea typeface="Calibri" pitchFamily="34" charset="-122"/>
                <a:cs typeface="Calibri" pitchFamily="34" charset="-120"/>
              </a:rPr>
              <a:t>Due diligence process and negotiation</a:t>
            </a:r>
            <a:endParaRPr lang="en-US" sz="1200" dirty="0"/>
          </a:p>
        </p:txBody>
      </p:sp>
      <p:sp>
        <p:nvSpPr>
          <p:cNvPr id="17" name="Shape 15"/>
          <p:cNvSpPr/>
          <p:nvPr/>
        </p:nvSpPr>
        <p:spPr>
          <a:xfrm>
            <a:off x="548640" y="4434840"/>
            <a:ext cx="8046720" cy="502920"/>
          </a:xfrm>
          <a:prstGeom prst="rect">
            <a:avLst/>
          </a:prstGeom>
          <a:solidFill>
            <a:srgbClr val="EDE8E0"/>
          </a:solidFill>
          <a:ln w="25400">
            <a:solidFill>
              <a:srgbClr val="B87333"/>
            </a:solidFill>
            <a:prstDash val="solid"/>
          </a:ln>
        </p:spPr>
        <p:txBody>
          <a:bodyPr/>
          <a:p/>
        </p:txBody>
      </p:sp>
      <p:sp>
        <p:nvSpPr>
          <p:cNvPr id="18" name="Text 16"/>
          <p:cNvSpPr/>
          <p:nvPr/>
        </p:nvSpPr>
        <p:spPr>
          <a:xfrm>
            <a:off x="731520" y="4434840"/>
            <a:ext cx="7680960" cy="502920"/>
          </a:xfrm>
          <a:prstGeom prst="rect">
            <a:avLst/>
          </a:prstGeom>
          <a:noFill/>
          <a:ln/>
        </p:spPr>
        <p:txBody>
          <a:bodyPr wrap="square" rtlCol="0" anchor="ctr"/>
          <a:lstStyle/>
          <a:p>
            <a:pPr algn="ctr" indent="0" marL="0">
              <a:buNone/>
            </a:pPr>
            <a:r>
              <a:rPr lang="en-US" sz="1300" b="1" i="1" dirty="0">
                <a:solidFill>
                  <a:srgbClr val="8B5A2B"/>
                </a:solidFill>
                <a:latin typeface="Calibri" pitchFamily="34" charset="0"/>
                <a:ea typeface="Calibri" pitchFamily="34" charset="-122"/>
                <a:cs typeface="Calibri" pitchFamily="34" charset="-120"/>
              </a:rPr>
              <a:t>"This plant is ready. The clients are waiting. All it needs is zinc."</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bg>
      <p:bgPr>
        <a:solidFill>
          <a:srgbClr val="2A1F10"/>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731520" y="365760"/>
            <a:ext cx="4572000" cy="548640"/>
          </a:xfrm>
          <a:prstGeom prst="rect">
            <a:avLst/>
          </a:prstGeom>
          <a:noFill/>
          <a:ln/>
        </p:spPr>
        <p:txBody>
          <a:bodyPr wrap="square" lIns="0" tIns="0" rIns="0" bIns="0" rtlCol="0" anchor="ctr"/>
          <a:lstStyle/>
          <a:p>
            <a:pPr indent="0" marL="0">
              <a:buNone/>
            </a:pPr>
            <a:r>
              <a:rPr lang="en-US" sz="3600" b="1" spc="600" kern="0" dirty="0">
                <a:solidFill>
                  <a:srgbClr val="FFFFFF"/>
                </a:solidFill>
                <a:latin typeface="Georgia" pitchFamily="34" charset="0"/>
                <a:ea typeface="Georgia" pitchFamily="34" charset="-122"/>
                <a:cs typeface="Georgia" pitchFamily="34" charset="-120"/>
              </a:rPr>
              <a:t>PYGLARA</a:t>
            </a:r>
            <a:endParaRPr lang="en-US" sz="3600" dirty="0"/>
          </a:p>
        </p:txBody>
      </p:sp>
      <p:sp>
        <p:nvSpPr>
          <p:cNvPr id="4" name="Text 2"/>
          <p:cNvSpPr/>
          <p:nvPr/>
        </p:nvSpPr>
        <p:spPr>
          <a:xfrm>
            <a:off x="731520" y="914400"/>
            <a:ext cx="4572000" cy="274320"/>
          </a:xfrm>
          <a:prstGeom prst="rect">
            <a:avLst/>
          </a:prstGeom>
          <a:noFill/>
          <a:ln/>
        </p:spPr>
        <p:txBody>
          <a:bodyPr wrap="square" lIns="0" tIns="0" rIns="0" bIns="0" rtlCol="0" anchor="ctr"/>
          <a:lstStyle/>
          <a:p>
            <a:pPr indent="0" marL="0">
              <a:buNone/>
            </a:pPr>
            <a:r>
              <a:rPr lang="en-US" sz="1200" dirty="0">
                <a:solidFill>
                  <a:srgbClr val="D4954A"/>
                </a:solidFill>
                <a:latin typeface="Calibri" pitchFamily="34" charset="0"/>
                <a:ea typeface="Calibri" pitchFamily="34" charset="-122"/>
                <a:cs typeface="Calibri" pitchFamily="34" charset="-120"/>
              </a:rPr>
              <a:t>Prensados y Galvanizados de Lara, S.A.</a:t>
            </a:r>
            <a:endParaRPr lang="en-US" sz="1200" dirty="0"/>
          </a:p>
        </p:txBody>
      </p:sp>
      <p:sp>
        <p:nvSpPr>
          <p:cNvPr id="5" name="Shape 3"/>
          <p:cNvSpPr/>
          <p:nvPr/>
        </p:nvSpPr>
        <p:spPr>
          <a:xfrm>
            <a:off x="731520" y="1463040"/>
            <a:ext cx="4572000" cy="3017520"/>
          </a:xfrm>
          <a:prstGeom prst="rect">
            <a:avLst/>
          </a:prstGeom>
          <a:solidFill>
            <a:srgbClr val="2A2015"/>
          </a:solidFill>
          <a:ln w="12700">
            <a:solidFill>
              <a:srgbClr val="B87333"/>
            </a:solidFill>
            <a:prstDash val="solid"/>
          </a:ln>
        </p:spPr>
        <p:txBody>
          <a:bodyPr/>
          <a:p/>
        </p:txBody>
      </p:sp>
      <p:sp>
        <p:nvSpPr>
          <p:cNvPr id="6" name="Text 4"/>
          <p:cNvSpPr/>
          <p:nvPr/>
        </p:nvSpPr>
        <p:spPr>
          <a:xfrm>
            <a:off x="914400" y="1600200"/>
            <a:ext cx="4206240" cy="36576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Andres Montbrun</a:t>
            </a:r>
            <a:endParaRPr lang="en-US" sz="1800" dirty="0"/>
          </a:p>
        </p:txBody>
      </p:sp>
      <p:sp>
        <p:nvSpPr>
          <p:cNvPr id="7" name="Text 5"/>
          <p:cNvSpPr/>
          <p:nvPr/>
        </p:nvSpPr>
        <p:spPr>
          <a:xfrm>
            <a:off x="914400" y="1965960"/>
            <a:ext cx="4206240" cy="228600"/>
          </a:xfrm>
          <a:prstGeom prst="rect">
            <a:avLst/>
          </a:prstGeom>
          <a:noFill/>
          <a:ln/>
        </p:spPr>
        <p:txBody>
          <a:bodyPr wrap="square" lIns="0" tIns="0" rIns="0" bIns="0" rtlCol="0" anchor="ctr"/>
          <a:lstStyle/>
          <a:p>
            <a:pPr indent="0" marL="0">
              <a:buNone/>
            </a:pPr>
            <a:r>
              <a:rPr lang="en-US" sz="1100" dirty="0">
                <a:solidFill>
                  <a:srgbClr val="D4954A"/>
                </a:solidFill>
                <a:latin typeface="Calibri" pitchFamily="34" charset="0"/>
                <a:ea typeface="Calibri" pitchFamily="34" charset="-122"/>
                <a:cs typeface="Calibri" pitchFamily="34" charset="-120"/>
              </a:rPr>
              <a:t>Commercial Representative</a:t>
            </a:r>
            <a:endParaRPr lang="en-US" sz="1100" dirty="0"/>
          </a:p>
        </p:txBody>
      </p:sp>
      <p:pic>
        <p:nvPicPr>
          <p:cNvPr id="8" name="Image 0" descr="preencoded.png"/>
          <p:cNvPicPr>
            <a:picLocks noChangeAspect="1"/>
          </p:cNvPicPr>
          <p:nvPr/>
        </p:nvPicPr>
        <p:blipFill>
          <a:blip r:embed="rId1"/>
          <a:stretch>
            <a:fillRect/>
          </a:stretch>
        </p:blipFill>
        <p:spPr>
          <a:xfrm>
            <a:off x="1005840" y="2423160"/>
            <a:ext cx="228600" cy="228600"/>
          </a:xfrm>
          <a:prstGeom prst="rect">
            <a:avLst/>
          </a:prstGeom>
        </p:spPr>
      </p:pic>
      <p:sp>
        <p:nvSpPr>
          <p:cNvPr id="9" name="Text 6"/>
          <p:cNvSpPr/>
          <p:nvPr/>
        </p:nvSpPr>
        <p:spPr>
          <a:xfrm>
            <a:off x="1371600" y="2377440"/>
            <a:ext cx="3657600" cy="320040"/>
          </a:xfrm>
          <a:prstGeom prst="rect">
            <a:avLst/>
          </a:prstGeom>
          <a:noFill/>
          <a:ln/>
        </p:spPr>
        <p:txBody>
          <a:bodyPr wrap="square" lIns="0" tIns="0" rIns="0" bIns="0" rtlCol="0" anchor="ctr"/>
          <a:lstStyle/>
          <a:p>
            <a:pPr indent="0" marL="0">
              <a:buNone/>
            </a:pPr>
            <a:r>
              <a:rPr lang="en-US" sz="1000" dirty="0">
                <a:solidFill>
                  <a:srgbClr val="C0B0A0"/>
                </a:solidFill>
                <a:latin typeface="Calibri" pitchFamily="34" charset="0"/>
                <a:ea typeface="Calibri" pitchFamily="34" charset="-122"/>
                <a:cs typeface="Calibri" pitchFamily="34" charset="-120"/>
              </a:rPr>
              <a:t>+1 786 354 6586</a:t>
            </a:r>
            <a:endParaRPr lang="en-US" sz="1000" dirty="0"/>
          </a:p>
        </p:txBody>
      </p:sp>
      <p:pic>
        <p:nvPicPr>
          <p:cNvPr id="10" name="Image 1" descr="preencoded.png"/>
          <p:cNvPicPr>
            <a:picLocks noChangeAspect="1"/>
          </p:cNvPicPr>
          <p:nvPr/>
        </p:nvPicPr>
        <p:blipFill>
          <a:blip r:embed="rId2"/>
          <a:stretch>
            <a:fillRect/>
          </a:stretch>
        </p:blipFill>
        <p:spPr>
          <a:xfrm>
            <a:off x="1005840" y="3063240"/>
            <a:ext cx="228600" cy="228600"/>
          </a:xfrm>
          <a:prstGeom prst="rect">
            <a:avLst/>
          </a:prstGeom>
        </p:spPr>
      </p:pic>
      <p:sp>
        <p:nvSpPr>
          <p:cNvPr id="11" name="Text 7"/>
          <p:cNvSpPr/>
          <p:nvPr/>
        </p:nvSpPr>
        <p:spPr>
          <a:xfrm>
            <a:off x="1371600" y="3017520"/>
            <a:ext cx="3657600" cy="320040"/>
          </a:xfrm>
          <a:prstGeom prst="rect">
            <a:avLst/>
          </a:prstGeom>
          <a:noFill/>
          <a:ln/>
        </p:spPr>
        <p:txBody>
          <a:bodyPr wrap="square" lIns="0" tIns="0" rIns="0" bIns="0" rtlCol="0" anchor="ctr"/>
          <a:lstStyle/>
          <a:p>
            <a:pPr indent="0" marL="0">
              <a:buNone/>
            </a:pPr>
            <a:r>
              <a:rPr lang="en-US" sz="1000" dirty="0">
                <a:solidFill>
                  <a:srgbClr val="C0B0A0"/>
                </a:solidFill>
                <a:latin typeface="Calibri" pitchFamily="34" charset="0"/>
                <a:ea typeface="Calibri" pitchFamily="34" charset="-122"/>
                <a:cs typeface="Calibri" pitchFamily="34" charset="-120"/>
              </a:rPr>
              <a:t>andymontbrun@propozl.com</a:t>
            </a:r>
            <a:endParaRPr lang="en-US" sz="1000" dirty="0"/>
          </a:p>
        </p:txBody>
      </p:sp>
      <p:pic>
        <p:nvPicPr>
          <p:cNvPr id="12" name="Image 2" descr="preencoded.png"/>
          <p:cNvPicPr>
            <a:picLocks noChangeAspect="1"/>
          </p:cNvPicPr>
          <p:nvPr/>
        </p:nvPicPr>
        <p:blipFill>
          <a:blip r:embed="rId3"/>
          <a:stretch>
            <a:fillRect/>
          </a:stretch>
        </p:blipFill>
        <p:spPr>
          <a:xfrm>
            <a:off x="1005840" y="3703320"/>
            <a:ext cx="228600" cy="228600"/>
          </a:xfrm>
          <a:prstGeom prst="rect">
            <a:avLst/>
          </a:prstGeom>
        </p:spPr>
      </p:pic>
      <p:sp>
        <p:nvSpPr>
          <p:cNvPr id="13" name="Text 8"/>
          <p:cNvSpPr/>
          <p:nvPr/>
        </p:nvSpPr>
        <p:spPr>
          <a:xfrm>
            <a:off x="1371600" y="3657600"/>
            <a:ext cx="3657600" cy="685800"/>
          </a:xfrm>
          <a:prstGeom prst="rect">
            <a:avLst/>
          </a:prstGeom>
          <a:noFill/>
          <a:ln/>
        </p:spPr>
        <p:txBody>
          <a:bodyPr wrap="square" lIns="0" tIns="0" rIns="0" bIns="0" rtlCol="0" anchor="ctr"/>
          <a:lstStyle/>
          <a:p>
            <a:pPr indent="0" marL="0">
              <a:buNone/>
            </a:pPr>
            <a:r>
              <a:rPr lang="en-US" sz="1000" dirty="0">
                <a:solidFill>
                  <a:srgbClr val="C0B0A0"/>
                </a:solidFill>
                <a:latin typeface="Calibri" pitchFamily="34" charset="0"/>
                <a:ea typeface="Calibri" pitchFamily="34" charset="-122"/>
                <a:cs typeface="Calibri" pitchFamily="34" charset="-120"/>
              </a:rPr>
              <a:t>Calle 26, entre Av. 1ra y 2da</a:t>
            </a:r>
            <a:endParaRPr lang="en-US" sz="1000" dirty="0"/>
          </a:p>
          <a:p>
            <a:pPr indent="0" marL="0">
              <a:buNone/>
            </a:pPr>
            <a:r>
              <a:rPr lang="en-US" sz="1000" dirty="0">
                <a:solidFill>
                  <a:srgbClr val="C0B0A0"/>
                </a:solidFill>
                <a:latin typeface="Calibri" pitchFamily="34" charset="0"/>
                <a:ea typeface="Calibri" pitchFamily="34" charset="-122"/>
                <a:cs typeface="Calibri" pitchFamily="34" charset="-120"/>
              </a:rPr>
              <a:t>Galpon 25-90, Zona Industrial I</a:t>
            </a:r>
            <a:endParaRPr lang="en-US" sz="1000" dirty="0"/>
          </a:p>
          <a:p>
            <a:pPr indent="0" marL="0">
              <a:buNone/>
            </a:pPr>
            <a:r>
              <a:rPr lang="en-US" sz="1000" dirty="0">
                <a:solidFill>
                  <a:srgbClr val="C0B0A0"/>
                </a:solidFill>
                <a:latin typeface="Calibri" pitchFamily="34" charset="0"/>
                <a:ea typeface="Calibri" pitchFamily="34" charset="-122"/>
                <a:cs typeface="Calibri" pitchFamily="34" charset="-120"/>
              </a:rPr>
              <a:t>Barquisimeto 3001, Venezuela</a:t>
            </a:r>
            <a:endParaRPr lang="en-US" sz="1000" dirty="0"/>
          </a:p>
        </p:txBody>
      </p:sp>
      <p:pic>
        <p:nvPicPr>
          <p:cNvPr id="14" name="Image 3" descr="/sessions/sweet-gallant-wright/pyglara-deck/qr_whatsapp.png"/>
          <p:cNvPicPr>
            <a:picLocks noChangeAspect="1"/>
          </p:cNvPicPr>
          <p:nvPr/>
        </p:nvPicPr>
        <p:blipFill>
          <a:blip r:embed="rId4"/>
          <a:stretch>
            <a:fillRect/>
          </a:stretch>
        </p:blipFill>
        <p:spPr>
          <a:xfrm>
            <a:off x="6217920" y="1463040"/>
            <a:ext cx="2011680" cy="2011680"/>
          </a:xfrm>
          <a:prstGeom prst="rect">
            <a:avLst/>
          </a:prstGeom>
        </p:spPr>
      </p:pic>
      <p:sp>
        <p:nvSpPr>
          <p:cNvPr id="15" name="Text 9"/>
          <p:cNvSpPr/>
          <p:nvPr/>
        </p:nvSpPr>
        <p:spPr>
          <a:xfrm>
            <a:off x="6217920" y="3520440"/>
            <a:ext cx="2011680" cy="228600"/>
          </a:xfrm>
          <a:prstGeom prst="rect">
            <a:avLst/>
          </a:prstGeom>
          <a:noFill/>
          <a:ln/>
        </p:spPr>
        <p:txBody>
          <a:bodyPr wrap="square" lIns="0" tIns="0" rIns="0" bIns="0" rtlCol="0" anchor="ctr"/>
          <a:lstStyle/>
          <a:p>
            <a:pPr algn="ctr" indent="0" marL="0">
              <a:buNone/>
            </a:pPr>
            <a:r>
              <a:rPr lang="en-US" sz="1100" b="1" dirty="0">
                <a:solidFill>
                  <a:srgbClr val="D4954A"/>
                </a:solidFill>
                <a:latin typeface="Calibri" pitchFamily="34" charset="0"/>
                <a:ea typeface="Calibri" pitchFamily="34" charset="-122"/>
                <a:cs typeface="Calibri" pitchFamily="34" charset="-120"/>
              </a:rPr>
              <a:t>WhatsApp</a:t>
            </a:r>
            <a:endParaRPr lang="en-US" sz="1100" dirty="0"/>
          </a:p>
        </p:txBody>
      </p:sp>
      <p:sp>
        <p:nvSpPr>
          <p:cNvPr id="16" name="Text 10"/>
          <p:cNvSpPr/>
          <p:nvPr/>
        </p:nvSpPr>
        <p:spPr>
          <a:xfrm>
            <a:off x="6217920" y="3749040"/>
            <a:ext cx="2011680" cy="182880"/>
          </a:xfrm>
          <a:prstGeom prst="rect">
            <a:avLst/>
          </a:prstGeom>
          <a:noFill/>
          <a:ln/>
        </p:spPr>
        <p:txBody>
          <a:bodyPr wrap="square" lIns="0" tIns="0" rIns="0" bIns="0" rtlCol="0" anchor="ctr"/>
          <a:lstStyle/>
          <a:p>
            <a:pPr algn="ctr" indent="0" marL="0">
              <a:buNone/>
            </a:pPr>
            <a:r>
              <a:rPr lang="en-US" sz="900" dirty="0">
                <a:solidFill>
                  <a:srgbClr val="8B7B6B"/>
                </a:solidFill>
                <a:latin typeface="Calibri" pitchFamily="34" charset="0"/>
                <a:ea typeface="Calibri" pitchFamily="34" charset="-122"/>
                <a:cs typeface="Calibri" pitchFamily="34" charset="-120"/>
              </a:rPr>
              <a:t>Scan to contact</a:t>
            </a:r>
            <a:endParaRPr lang="en-US" sz="900" dirty="0"/>
          </a:p>
        </p:txBody>
      </p:sp>
      <p:sp>
        <p:nvSpPr>
          <p:cNvPr id="17" name="Shape 11"/>
          <p:cNvSpPr/>
          <p:nvPr/>
        </p:nvSpPr>
        <p:spPr>
          <a:xfrm>
            <a:off x="0" y="4754880"/>
            <a:ext cx="9144000" cy="388620"/>
          </a:xfrm>
          <a:prstGeom prst="rect">
            <a:avLst/>
          </a:prstGeom>
          <a:solidFill>
            <a:srgbClr val="1E1508"/>
          </a:solidFill>
          <a:ln/>
        </p:spPr>
        <p:txBody>
          <a:bodyPr/>
          <a:p/>
        </p:txBody>
      </p:sp>
      <p:sp>
        <p:nvSpPr>
          <p:cNvPr id="18" name="Text 12"/>
          <p:cNvSpPr/>
          <p:nvPr/>
        </p:nvSpPr>
        <p:spPr>
          <a:xfrm>
            <a:off x="731520" y="4754880"/>
            <a:ext cx="7680960" cy="365760"/>
          </a:xfrm>
          <a:prstGeom prst="rect">
            <a:avLst/>
          </a:prstGeom>
          <a:noFill/>
          <a:ln/>
        </p:spPr>
        <p:txBody>
          <a:bodyPr wrap="square" rtlCol="0" anchor="ctr"/>
          <a:lstStyle/>
          <a:p>
            <a:pPr algn="ctr" indent="0" marL="0">
              <a:buNone/>
            </a:pPr>
            <a:r>
              <a:rPr lang="en-US" sz="900" spc="400" kern="0" dirty="0">
                <a:solidFill>
                  <a:srgbClr val="B87333"/>
                </a:solidFill>
                <a:latin typeface="Calibri" pitchFamily="34" charset="0"/>
                <a:ea typeface="Calibri" pitchFamily="34" charset="-122"/>
                <a:cs typeface="Calibri" pitchFamily="34" charset="-120"/>
              </a:rPr>
              <a:t>CONFIDENTIAL</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28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OFAC COMPLIANCE FRAMEWORK</a:t>
            </a:r>
            <a:endParaRPr lang="en-US" sz="2800" dirty="0"/>
          </a:p>
        </p:txBody>
      </p:sp>
      <p:sp>
        <p:nvSpPr>
          <p:cNvPr id="5" name="Shape 3"/>
          <p:cNvSpPr/>
          <p:nvPr/>
        </p:nvSpPr>
        <p:spPr>
          <a:xfrm>
            <a:off x="548640" y="1005840"/>
            <a:ext cx="8046720" cy="640080"/>
          </a:xfrm>
          <a:prstGeom prst="rect">
            <a:avLst/>
          </a:prstGeom>
          <a:solidFill>
            <a:srgbClr val="FFFFFF"/>
          </a:solidFill>
          <a:ln w="6350">
            <a:solidFill>
              <a:srgbClr val="D4C5B2"/>
            </a:solidFill>
            <a:prstDash val="solid"/>
          </a:ln>
        </p:spPr>
        <p:txBody>
          <a:bodyPr/>
          <a:p/>
        </p:txBody>
      </p:sp>
      <p:sp>
        <p:nvSpPr>
          <p:cNvPr id="6" name="Shape 4"/>
          <p:cNvSpPr/>
          <p:nvPr/>
        </p:nvSpPr>
        <p:spPr>
          <a:xfrm>
            <a:off x="548640" y="1005840"/>
            <a:ext cx="54864" cy="640080"/>
          </a:xfrm>
          <a:prstGeom prst="rect">
            <a:avLst/>
          </a:prstGeom>
          <a:solidFill>
            <a:srgbClr val="B87333"/>
          </a:solidFill>
          <a:ln/>
        </p:spPr>
        <p:txBody>
          <a:bodyPr/>
          <a:p/>
        </p:txBody>
      </p:sp>
      <p:pic>
        <p:nvPicPr>
          <p:cNvPr id="7" name="Image 0" descr="preencoded.png"/>
          <p:cNvPicPr>
            <a:picLocks noChangeAspect="1"/>
          </p:cNvPicPr>
          <p:nvPr/>
        </p:nvPicPr>
        <p:blipFill>
          <a:blip r:embed="rId1"/>
          <a:stretch>
            <a:fillRect/>
          </a:stretch>
        </p:blipFill>
        <p:spPr>
          <a:xfrm>
            <a:off x="777240" y="1143000"/>
            <a:ext cx="320040" cy="320040"/>
          </a:xfrm>
          <a:prstGeom prst="rect">
            <a:avLst/>
          </a:prstGeom>
        </p:spPr>
      </p:pic>
      <p:sp>
        <p:nvSpPr>
          <p:cNvPr id="8" name="Text 5"/>
          <p:cNvSpPr/>
          <p:nvPr/>
        </p:nvSpPr>
        <p:spPr>
          <a:xfrm>
            <a:off x="1280160" y="1005840"/>
            <a:ext cx="2560320" cy="640080"/>
          </a:xfrm>
          <a:prstGeom prst="rect">
            <a:avLst/>
          </a:prstGeom>
          <a:noFill/>
          <a:ln/>
        </p:spPr>
        <p:txBody>
          <a:bodyPr wrap="square" lIns="0" tIns="0" rIns="0" bIns="0" rtlCol="0" anchor="ctr"/>
          <a:lstStyle/>
          <a:p>
            <a:pPr indent="0" marL="0">
              <a:buNone/>
            </a:pPr>
            <a:r>
              <a:rPr lang="en-US" sz="1200" b="1" dirty="0">
                <a:solidFill>
                  <a:srgbClr val="8B5A2B"/>
                </a:solidFill>
                <a:latin typeface="Calibri" pitchFamily="34" charset="0"/>
                <a:ea typeface="Calibri" pitchFamily="34" charset="-122"/>
                <a:cs typeface="Calibri" pitchFamily="34" charset="-120"/>
              </a:rPr>
              <a:t>General License 50A</a:t>
            </a:r>
            <a:endParaRPr lang="en-US" sz="1200" dirty="0"/>
          </a:p>
        </p:txBody>
      </p:sp>
      <p:sp>
        <p:nvSpPr>
          <p:cNvPr id="9" name="Text 6"/>
          <p:cNvSpPr/>
          <p:nvPr/>
        </p:nvSpPr>
        <p:spPr>
          <a:xfrm>
            <a:off x="3931920" y="1005840"/>
            <a:ext cx="4572000" cy="64008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Permits certain transactions related to Venezuela</a:t>
            </a:r>
            <a:endParaRPr lang="en-US" sz="1000" dirty="0"/>
          </a:p>
        </p:txBody>
      </p:sp>
      <p:sp>
        <p:nvSpPr>
          <p:cNvPr id="10" name="Shape 7"/>
          <p:cNvSpPr/>
          <p:nvPr/>
        </p:nvSpPr>
        <p:spPr>
          <a:xfrm>
            <a:off x="548640" y="1783080"/>
            <a:ext cx="8046720" cy="640080"/>
          </a:xfrm>
          <a:prstGeom prst="rect">
            <a:avLst/>
          </a:prstGeom>
          <a:solidFill>
            <a:srgbClr val="EDE8E0"/>
          </a:solidFill>
          <a:ln w="6350">
            <a:solidFill>
              <a:srgbClr val="D4C5B2"/>
            </a:solidFill>
            <a:prstDash val="solid"/>
          </a:ln>
        </p:spPr>
        <p:txBody>
          <a:bodyPr/>
          <a:p/>
        </p:txBody>
      </p:sp>
      <p:sp>
        <p:nvSpPr>
          <p:cNvPr id="11" name="Shape 8"/>
          <p:cNvSpPr/>
          <p:nvPr/>
        </p:nvSpPr>
        <p:spPr>
          <a:xfrm>
            <a:off x="548640" y="1783080"/>
            <a:ext cx="54864" cy="640080"/>
          </a:xfrm>
          <a:prstGeom prst="rect">
            <a:avLst/>
          </a:prstGeom>
          <a:solidFill>
            <a:srgbClr val="B87333"/>
          </a:solidFill>
          <a:ln/>
        </p:spPr>
        <p:txBody>
          <a:bodyPr/>
          <a:p/>
        </p:txBody>
      </p:sp>
      <p:pic>
        <p:nvPicPr>
          <p:cNvPr id="12" name="Image 1" descr="preencoded.png"/>
          <p:cNvPicPr>
            <a:picLocks noChangeAspect="1"/>
          </p:cNvPicPr>
          <p:nvPr/>
        </p:nvPicPr>
        <p:blipFill>
          <a:blip r:embed="rId2"/>
          <a:stretch>
            <a:fillRect/>
          </a:stretch>
        </p:blipFill>
        <p:spPr>
          <a:xfrm>
            <a:off x="777240" y="1920240"/>
            <a:ext cx="320040" cy="320040"/>
          </a:xfrm>
          <a:prstGeom prst="rect">
            <a:avLst/>
          </a:prstGeom>
        </p:spPr>
      </p:pic>
      <p:sp>
        <p:nvSpPr>
          <p:cNvPr id="13" name="Text 9"/>
          <p:cNvSpPr/>
          <p:nvPr/>
        </p:nvSpPr>
        <p:spPr>
          <a:xfrm>
            <a:off x="1280160" y="1783080"/>
            <a:ext cx="2560320" cy="640080"/>
          </a:xfrm>
          <a:prstGeom prst="rect">
            <a:avLst/>
          </a:prstGeom>
          <a:noFill/>
          <a:ln/>
        </p:spPr>
        <p:txBody>
          <a:bodyPr wrap="square" lIns="0" tIns="0" rIns="0" bIns="0" rtlCol="0" anchor="ctr"/>
          <a:lstStyle/>
          <a:p>
            <a:pPr indent="0" marL="0">
              <a:buNone/>
            </a:pPr>
            <a:r>
              <a:rPr lang="en-US" sz="1200" b="1" dirty="0">
                <a:solidFill>
                  <a:srgbClr val="8B5A2B"/>
                </a:solidFill>
                <a:latin typeface="Calibri" pitchFamily="34" charset="0"/>
                <a:ea typeface="Calibri" pitchFamily="34" charset="-122"/>
                <a:cs typeface="Calibri" pitchFamily="34" charset="-120"/>
              </a:rPr>
              <a:t>Non-Sanctioned Activity</a:t>
            </a:r>
            <a:endParaRPr lang="en-US" sz="1200" dirty="0"/>
          </a:p>
        </p:txBody>
      </p:sp>
      <p:sp>
        <p:nvSpPr>
          <p:cNvPr id="14" name="Text 10"/>
          <p:cNvSpPr/>
          <p:nvPr/>
        </p:nvSpPr>
        <p:spPr>
          <a:xfrm>
            <a:off x="3931920" y="1783080"/>
            <a:ext cx="4572000" cy="64008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Industrial galvanizing services are NOT sanctioned</a:t>
            </a:r>
            <a:endParaRPr lang="en-US" sz="1000" dirty="0"/>
          </a:p>
        </p:txBody>
      </p:sp>
      <p:sp>
        <p:nvSpPr>
          <p:cNvPr id="15" name="Shape 11"/>
          <p:cNvSpPr/>
          <p:nvPr/>
        </p:nvSpPr>
        <p:spPr>
          <a:xfrm>
            <a:off x="548640" y="2560320"/>
            <a:ext cx="8046720" cy="640080"/>
          </a:xfrm>
          <a:prstGeom prst="rect">
            <a:avLst/>
          </a:prstGeom>
          <a:solidFill>
            <a:srgbClr val="FFFFFF"/>
          </a:solidFill>
          <a:ln w="6350">
            <a:solidFill>
              <a:srgbClr val="D4C5B2"/>
            </a:solidFill>
            <a:prstDash val="solid"/>
          </a:ln>
        </p:spPr>
        <p:txBody>
          <a:bodyPr/>
          <a:p/>
        </p:txBody>
      </p:sp>
      <p:sp>
        <p:nvSpPr>
          <p:cNvPr id="16" name="Shape 12"/>
          <p:cNvSpPr/>
          <p:nvPr/>
        </p:nvSpPr>
        <p:spPr>
          <a:xfrm>
            <a:off x="548640" y="2560320"/>
            <a:ext cx="54864" cy="640080"/>
          </a:xfrm>
          <a:prstGeom prst="rect">
            <a:avLst/>
          </a:prstGeom>
          <a:solidFill>
            <a:srgbClr val="B87333"/>
          </a:solidFill>
          <a:ln/>
        </p:spPr>
        <p:txBody>
          <a:bodyPr/>
          <a:p/>
        </p:txBody>
      </p:sp>
      <p:pic>
        <p:nvPicPr>
          <p:cNvPr id="17" name="Image 2" descr="preencoded.png"/>
          <p:cNvPicPr>
            <a:picLocks noChangeAspect="1"/>
          </p:cNvPicPr>
          <p:nvPr/>
        </p:nvPicPr>
        <p:blipFill>
          <a:blip r:embed="rId3"/>
          <a:stretch>
            <a:fillRect/>
          </a:stretch>
        </p:blipFill>
        <p:spPr>
          <a:xfrm>
            <a:off x="777240" y="2697480"/>
            <a:ext cx="320040" cy="320040"/>
          </a:xfrm>
          <a:prstGeom prst="rect">
            <a:avLst/>
          </a:prstGeom>
        </p:spPr>
      </p:pic>
      <p:sp>
        <p:nvSpPr>
          <p:cNvPr id="18" name="Text 13"/>
          <p:cNvSpPr/>
          <p:nvPr/>
        </p:nvSpPr>
        <p:spPr>
          <a:xfrm>
            <a:off x="1280160" y="2560320"/>
            <a:ext cx="2560320" cy="640080"/>
          </a:xfrm>
          <a:prstGeom prst="rect">
            <a:avLst/>
          </a:prstGeom>
          <a:noFill/>
          <a:ln/>
        </p:spPr>
        <p:txBody>
          <a:bodyPr wrap="square" lIns="0" tIns="0" rIns="0" bIns="0" rtlCol="0" anchor="ctr"/>
          <a:lstStyle/>
          <a:p>
            <a:pPr indent="0" marL="0">
              <a:buNone/>
            </a:pPr>
            <a:r>
              <a:rPr lang="en-US" sz="1200" b="1" dirty="0">
                <a:solidFill>
                  <a:srgbClr val="8B5A2B"/>
                </a:solidFill>
                <a:latin typeface="Calibri" pitchFamily="34" charset="0"/>
                <a:ea typeface="Calibri" pitchFamily="34" charset="-122"/>
                <a:cs typeface="Calibri" pitchFamily="34" charset="-120"/>
              </a:rPr>
              <a:t>100% Private Capital</a:t>
            </a:r>
            <a:endParaRPr lang="en-US" sz="1200" dirty="0"/>
          </a:p>
        </p:txBody>
      </p:sp>
      <p:sp>
        <p:nvSpPr>
          <p:cNvPr id="19" name="Text 14"/>
          <p:cNvSpPr/>
          <p:nvPr/>
        </p:nvSpPr>
        <p:spPr>
          <a:xfrm>
            <a:off x="3931920" y="2560320"/>
            <a:ext cx="4572000" cy="64008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No government ownership whatsoever</a:t>
            </a:r>
            <a:endParaRPr lang="en-US" sz="1000" dirty="0"/>
          </a:p>
        </p:txBody>
      </p:sp>
      <p:sp>
        <p:nvSpPr>
          <p:cNvPr id="20" name="Shape 15"/>
          <p:cNvSpPr/>
          <p:nvPr/>
        </p:nvSpPr>
        <p:spPr>
          <a:xfrm>
            <a:off x="548640" y="3337560"/>
            <a:ext cx="8046720" cy="640080"/>
          </a:xfrm>
          <a:prstGeom prst="rect">
            <a:avLst/>
          </a:prstGeom>
          <a:solidFill>
            <a:srgbClr val="EDE8E0"/>
          </a:solidFill>
          <a:ln w="6350">
            <a:solidFill>
              <a:srgbClr val="D4C5B2"/>
            </a:solidFill>
            <a:prstDash val="solid"/>
          </a:ln>
        </p:spPr>
        <p:txBody>
          <a:bodyPr/>
          <a:p/>
        </p:txBody>
      </p:sp>
      <p:sp>
        <p:nvSpPr>
          <p:cNvPr id="21" name="Shape 16"/>
          <p:cNvSpPr/>
          <p:nvPr/>
        </p:nvSpPr>
        <p:spPr>
          <a:xfrm>
            <a:off x="548640" y="3337560"/>
            <a:ext cx="54864" cy="640080"/>
          </a:xfrm>
          <a:prstGeom prst="rect">
            <a:avLst/>
          </a:prstGeom>
          <a:solidFill>
            <a:srgbClr val="B87333"/>
          </a:solidFill>
          <a:ln/>
        </p:spPr>
        <p:txBody>
          <a:bodyPr/>
          <a:p/>
        </p:txBody>
      </p:sp>
      <p:pic>
        <p:nvPicPr>
          <p:cNvPr id="22" name="Image 3" descr="preencoded.png"/>
          <p:cNvPicPr>
            <a:picLocks noChangeAspect="1"/>
          </p:cNvPicPr>
          <p:nvPr/>
        </p:nvPicPr>
        <p:blipFill>
          <a:blip r:embed="rId4"/>
          <a:stretch>
            <a:fillRect/>
          </a:stretch>
        </p:blipFill>
        <p:spPr>
          <a:xfrm>
            <a:off x="777240" y="3474720"/>
            <a:ext cx="320040" cy="320040"/>
          </a:xfrm>
          <a:prstGeom prst="rect">
            <a:avLst/>
          </a:prstGeom>
        </p:spPr>
      </p:pic>
      <p:sp>
        <p:nvSpPr>
          <p:cNvPr id="23" name="Text 17"/>
          <p:cNvSpPr/>
          <p:nvPr/>
        </p:nvSpPr>
        <p:spPr>
          <a:xfrm>
            <a:off x="1280160" y="3337560"/>
            <a:ext cx="2560320" cy="640080"/>
          </a:xfrm>
          <a:prstGeom prst="rect">
            <a:avLst/>
          </a:prstGeom>
          <a:noFill/>
          <a:ln/>
        </p:spPr>
        <p:txBody>
          <a:bodyPr wrap="square" lIns="0" tIns="0" rIns="0" bIns="0" rtlCol="0" anchor="ctr"/>
          <a:lstStyle/>
          <a:p>
            <a:pPr indent="0" marL="0">
              <a:buNone/>
            </a:pPr>
            <a:r>
              <a:rPr lang="en-US" sz="1200" b="1" dirty="0">
                <a:solidFill>
                  <a:srgbClr val="8B5A2B"/>
                </a:solidFill>
                <a:latin typeface="Calibri" pitchFamily="34" charset="0"/>
                <a:ea typeface="Calibri" pitchFamily="34" charset="-122"/>
                <a:cs typeface="Calibri" pitchFamily="34" charset="-120"/>
              </a:rPr>
              <a:t>No Sanctioned Entities</a:t>
            </a:r>
            <a:endParaRPr lang="en-US" sz="1200" dirty="0"/>
          </a:p>
        </p:txBody>
      </p:sp>
      <p:sp>
        <p:nvSpPr>
          <p:cNvPr id="24" name="Text 18"/>
          <p:cNvSpPr/>
          <p:nvPr/>
        </p:nvSpPr>
        <p:spPr>
          <a:xfrm>
            <a:off x="3931920" y="3337560"/>
            <a:ext cx="4572000" cy="64008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No involvement with PDVSA beyond standard gas utility</a:t>
            </a:r>
            <a:endParaRPr lang="en-US" sz="1000" dirty="0"/>
          </a:p>
        </p:txBody>
      </p:sp>
      <p:sp>
        <p:nvSpPr>
          <p:cNvPr id="25" name="Shape 19"/>
          <p:cNvSpPr/>
          <p:nvPr/>
        </p:nvSpPr>
        <p:spPr>
          <a:xfrm>
            <a:off x="548640" y="4114800"/>
            <a:ext cx="8046720" cy="640080"/>
          </a:xfrm>
          <a:prstGeom prst="rect">
            <a:avLst/>
          </a:prstGeom>
          <a:solidFill>
            <a:srgbClr val="FFFFFF"/>
          </a:solidFill>
          <a:ln w="6350">
            <a:solidFill>
              <a:srgbClr val="D4C5B2"/>
            </a:solidFill>
            <a:prstDash val="solid"/>
          </a:ln>
        </p:spPr>
        <p:txBody>
          <a:bodyPr/>
          <a:p/>
        </p:txBody>
      </p:sp>
      <p:sp>
        <p:nvSpPr>
          <p:cNvPr id="26" name="Shape 20"/>
          <p:cNvSpPr/>
          <p:nvPr/>
        </p:nvSpPr>
        <p:spPr>
          <a:xfrm>
            <a:off x="548640" y="4114800"/>
            <a:ext cx="54864" cy="640080"/>
          </a:xfrm>
          <a:prstGeom prst="rect">
            <a:avLst/>
          </a:prstGeom>
          <a:solidFill>
            <a:srgbClr val="B87333"/>
          </a:solidFill>
          <a:ln/>
        </p:spPr>
        <p:txBody>
          <a:bodyPr/>
          <a:p/>
        </p:txBody>
      </p:sp>
      <p:pic>
        <p:nvPicPr>
          <p:cNvPr id="27" name="Image 4" descr="preencoded.png"/>
          <p:cNvPicPr>
            <a:picLocks noChangeAspect="1"/>
          </p:cNvPicPr>
          <p:nvPr/>
        </p:nvPicPr>
        <p:blipFill>
          <a:blip r:embed="rId5"/>
          <a:stretch>
            <a:fillRect/>
          </a:stretch>
        </p:blipFill>
        <p:spPr>
          <a:xfrm>
            <a:off x="777240" y="4251960"/>
            <a:ext cx="320040" cy="320040"/>
          </a:xfrm>
          <a:prstGeom prst="rect">
            <a:avLst/>
          </a:prstGeom>
        </p:spPr>
      </p:pic>
      <p:sp>
        <p:nvSpPr>
          <p:cNvPr id="28" name="Text 21"/>
          <p:cNvSpPr/>
          <p:nvPr/>
        </p:nvSpPr>
        <p:spPr>
          <a:xfrm>
            <a:off x="1280160" y="4114800"/>
            <a:ext cx="2560320" cy="640080"/>
          </a:xfrm>
          <a:prstGeom prst="rect">
            <a:avLst/>
          </a:prstGeom>
          <a:noFill/>
          <a:ln/>
        </p:spPr>
        <p:txBody>
          <a:bodyPr wrap="square" lIns="0" tIns="0" rIns="0" bIns="0" rtlCol="0" anchor="ctr"/>
          <a:lstStyle/>
          <a:p>
            <a:pPr indent="0" marL="0">
              <a:buNone/>
            </a:pPr>
            <a:r>
              <a:rPr lang="en-US" sz="1200" b="1" dirty="0">
                <a:solidFill>
                  <a:srgbClr val="8B5A2B"/>
                </a:solidFill>
                <a:latin typeface="Calibri" pitchFamily="34" charset="0"/>
                <a:ea typeface="Calibri" pitchFamily="34" charset="-122"/>
                <a:cs typeface="Calibri" pitchFamily="34" charset="-120"/>
              </a:rPr>
              <a:t>Legal Counsel</a:t>
            </a:r>
            <a:endParaRPr lang="en-US" sz="1200" dirty="0"/>
          </a:p>
        </p:txBody>
      </p:sp>
      <p:sp>
        <p:nvSpPr>
          <p:cNvPr id="29" name="Text 22"/>
          <p:cNvSpPr/>
          <p:nvPr/>
        </p:nvSpPr>
        <p:spPr>
          <a:xfrm>
            <a:off x="3931920" y="4114800"/>
            <a:ext cx="4572000" cy="64008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Consult Venezuela-experienced counsel for specific guidance</a:t>
            </a:r>
            <a:endParaRPr lang="en-US" sz="1000" dirty="0"/>
          </a:p>
        </p:txBody>
      </p:sp>
      <p:sp>
        <p:nvSpPr>
          <p:cNvPr id="30" name="Text 23"/>
          <p:cNvSpPr/>
          <p:nvPr/>
        </p:nvSpPr>
        <p:spPr>
          <a:xfrm>
            <a:off x="548640" y="4754880"/>
            <a:ext cx="8046720" cy="228600"/>
          </a:xfrm>
          <a:prstGeom prst="rect">
            <a:avLst/>
          </a:prstGeom>
          <a:noFill/>
          <a:ln/>
        </p:spPr>
        <p:txBody>
          <a:bodyPr wrap="square" lIns="0" tIns="0" rIns="0" bIns="0" rtlCol="0" anchor="ctr"/>
          <a:lstStyle/>
          <a:p>
            <a:pPr algn="ctr" indent="0" marL="0">
              <a:buNone/>
            </a:pPr>
            <a:r>
              <a:rPr lang="en-US" sz="900" i="1" dirty="0">
                <a:solidFill>
                  <a:srgbClr val="8C8C8C"/>
                </a:solidFill>
                <a:latin typeface="Calibri" pitchFamily="34" charset="0"/>
                <a:ea typeface="Calibri" pitchFamily="34" charset="-122"/>
                <a:cs typeface="Calibri" pitchFamily="34" charset="-120"/>
              </a:rPr>
              <a:t>This presentation does not constitute legal advice.</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29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USD REPATRIATION MECHANISM</a:t>
            </a:r>
            <a:endParaRPr lang="en-US" sz="2800" dirty="0"/>
          </a:p>
        </p:txBody>
      </p:sp>
      <p:sp>
        <p:nvSpPr>
          <p:cNvPr id="5" name="Shape 3"/>
          <p:cNvSpPr/>
          <p:nvPr/>
        </p:nvSpPr>
        <p:spPr>
          <a:xfrm>
            <a:off x="548640" y="1097280"/>
            <a:ext cx="2286000" cy="1371600"/>
          </a:xfrm>
          <a:prstGeom prst="rect">
            <a:avLst/>
          </a:prstGeom>
          <a:solidFill>
            <a:srgbClr val="FFFFFF"/>
          </a:solidFill>
          <a:ln w="19050">
            <a:solidFill>
              <a:srgbClr val="B87333"/>
            </a:solidFill>
            <a:prstDash val="solid"/>
          </a:ln>
          <a:effectLst>
            <a:outerShdw sx="100000" sy="100000" kx="0" ky="0" algn="bl" rotWithShape="0" blurRad="50800" dist="25400" dir="8100000">
              <a:srgbClr val="000000">
                <a:alpha val="8000"/>
              </a:srgbClr>
            </a:outerShdw>
          </a:effectLst>
        </p:spPr>
        <p:txBody>
          <a:bodyPr/>
          <a:p/>
        </p:txBody>
      </p:sp>
      <p:sp>
        <p:nvSpPr>
          <p:cNvPr id="6" name="Text 4"/>
          <p:cNvSpPr/>
          <p:nvPr/>
        </p:nvSpPr>
        <p:spPr>
          <a:xfrm>
            <a:off x="548640" y="1143000"/>
            <a:ext cx="2286000" cy="777240"/>
          </a:xfrm>
          <a:prstGeom prst="rect">
            <a:avLst/>
          </a:prstGeom>
          <a:noFill/>
          <a:ln/>
        </p:spPr>
        <p:txBody>
          <a:bodyPr wrap="square" lIns="0" tIns="0" rIns="0" bIns="0" rtlCol="0" anchor="ctr"/>
          <a:lstStyle/>
          <a:p>
            <a:pPr algn="ctr" indent="0" marL="0">
              <a:buNone/>
            </a:pPr>
            <a:r>
              <a:rPr lang="en-US" sz="1200" b="1" dirty="0">
                <a:solidFill>
                  <a:srgbClr val="8B5A2B"/>
                </a:solidFill>
                <a:latin typeface="Georgia" pitchFamily="34" charset="0"/>
                <a:ea typeface="Georgia" pitchFamily="34" charset="-122"/>
                <a:cs typeface="Georgia" pitchFamily="34" charset="-120"/>
              </a:rPr>
              <a:t>Revenue</a:t>
            </a:r>
            <a:endParaRPr lang="en-US" sz="1200" dirty="0"/>
          </a:p>
          <a:p>
            <a:pPr algn="ctr" indent="0" marL="0">
              <a:buNone/>
            </a:pPr>
            <a:r>
              <a:rPr lang="en-US" sz="1200" b="1" dirty="0">
                <a:solidFill>
                  <a:srgbClr val="8B5A2B"/>
                </a:solidFill>
                <a:latin typeface="Georgia" pitchFamily="34" charset="0"/>
                <a:ea typeface="Georgia" pitchFamily="34" charset="-122"/>
                <a:cs typeface="Georgia" pitchFamily="34" charset="-120"/>
              </a:rPr>
              <a:t>(USD-equivalent)</a:t>
            </a:r>
            <a:endParaRPr lang="en-US" sz="1200" dirty="0"/>
          </a:p>
        </p:txBody>
      </p:sp>
      <p:sp>
        <p:nvSpPr>
          <p:cNvPr id="7" name="Text 5"/>
          <p:cNvSpPr/>
          <p:nvPr/>
        </p:nvSpPr>
        <p:spPr>
          <a:xfrm>
            <a:off x="640080" y="1920240"/>
            <a:ext cx="2103120" cy="457200"/>
          </a:xfrm>
          <a:prstGeom prst="rect">
            <a:avLst/>
          </a:prstGeom>
          <a:noFill/>
          <a:ln/>
        </p:spPr>
        <p:txBody>
          <a:bodyPr wrap="square" lIns="0" tIns="0" rIns="0" bIns="0" rtlCol="0" anchor="t"/>
          <a:lstStyle/>
          <a:p>
            <a:pPr algn="ctr" indent="0" marL="0">
              <a:buNone/>
            </a:pPr>
            <a:r>
              <a:rPr lang="en-US" sz="900" dirty="0">
                <a:solidFill>
                  <a:srgbClr val="7A6555"/>
                </a:solidFill>
                <a:latin typeface="Calibri" pitchFamily="34" charset="0"/>
                <a:ea typeface="Calibri" pitchFamily="34" charset="-122"/>
                <a:cs typeface="Calibri" pitchFamily="34" charset="-120"/>
              </a:rPr>
              <a:t>Clients pay based</a:t>
            </a:r>
            <a:endParaRPr lang="en-US" sz="900" dirty="0"/>
          </a:p>
          <a:p>
            <a:pPr algn="ctr" indent="0" marL="0">
              <a:buNone/>
            </a:pPr>
            <a:r>
              <a:rPr lang="en-US" sz="900" dirty="0">
                <a:solidFill>
                  <a:srgbClr val="7A6555"/>
                </a:solidFill>
                <a:latin typeface="Calibri" pitchFamily="34" charset="0"/>
                <a:ea typeface="Calibri" pitchFamily="34" charset="-122"/>
                <a:cs typeface="Calibri" pitchFamily="34" charset="-120"/>
              </a:rPr>
              <a:t>on exchange rate</a:t>
            </a:r>
            <a:endParaRPr lang="en-US" sz="900" dirty="0"/>
          </a:p>
        </p:txBody>
      </p:sp>
      <p:pic>
        <p:nvPicPr>
          <p:cNvPr id="8" name="Image 0" descr="preencoded.png"/>
          <p:cNvPicPr>
            <a:picLocks noChangeAspect="1"/>
          </p:cNvPicPr>
          <p:nvPr/>
        </p:nvPicPr>
        <p:blipFill>
          <a:blip r:embed="rId1"/>
          <a:stretch>
            <a:fillRect/>
          </a:stretch>
        </p:blipFill>
        <p:spPr>
          <a:xfrm>
            <a:off x="3017520" y="1554480"/>
            <a:ext cx="365760" cy="365760"/>
          </a:xfrm>
          <a:prstGeom prst="rect">
            <a:avLst/>
          </a:prstGeom>
        </p:spPr>
      </p:pic>
      <p:sp>
        <p:nvSpPr>
          <p:cNvPr id="9" name="Shape 6"/>
          <p:cNvSpPr/>
          <p:nvPr/>
        </p:nvSpPr>
        <p:spPr>
          <a:xfrm>
            <a:off x="3474720" y="1097280"/>
            <a:ext cx="2286000" cy="1371600"/>
          </a:xfrm>
          <a:prstGeom prst="rect">
            <a:avLst/>
          </a:prstGeom>
          <a:solidFill>
            <a:srgbClr val="FFFFFF"/>
          </a:solidFill>
          <a:ln w="19050">
            <a:solidFill>
              <a:srgbClr val="B87333"/>
            </a:solidFill>
            <a:prstDash val="solid"/>
          </a:ln>
          <a:effectLst>
            <a:outerShdw sx="100000" sy="100000" kx="0" ky="0" algn="bl" rotWithShape="0" blurRad="50800" dist="25400" dir="8100000">
              <a:srgbClr val="000000">
                <a:alpha val="8000"/>
              </a:srgbClr>
            </a:outerShdw>
          </a:effectLst>
        </p:spPr>
        <p:txBody>
          <a:bodyPr/>
          <a:p/>
        </p:txBody>
      </p:sp>
      <p:sp>
        <p:nvSpPr>
          <p:cNvPr id="10" name="Text 7"/>
          <p:cNvSpPr/>
          <p:nvPr/>
        </p:nvSpPr>
        <p:spPr>
          <a:xfrm>
            <a:off x="3474720" y="1143000"/>
            <a:ext cx="2286000" cy="777240"/>
          </a:xfrm>
          <a:prstGeom prst="rect">
            <a:avLst/>
          </a:prstGeom>
          <a:noFill/>
          <a:ln/>
        </p:spPr>
        <p:txBody>
          <a:bodyPr wrap="square" lIns="0" tIns="0" rIns="0" bIns="0" rtlCol="0" anchor="ctr"/>
          <a:lstStyle/>
          <a:p>
            <a:pPr algn="ctr" indent="0" marL="0">
              <a:buNone/>
            </a:pPr>
            <a:r>
              <a:rPr lang="en-US" sz="1200" b="1" dirty="0">
                <a:solidFill>
                  <a:srgbClr val="8B5A2B"/>
                </a:solidFill>
                <a:latin typeface="Georgia" pitchFamily="34" charset="0"/>
                <a:ea typeface="Georgia" pitchFamily="34" charset="-122"/>
                <a:cs typeface="Georgia" pitchFamily="34" charset="-120"/>
              </a:rPr>
              <a:t>Casa de Cambio</a:t>
            </a:r>
            <a:endParaRPr lang="en-US" sz="1200" dirty="0"/>
          </a:p>
          <a:p>
            <a:pPr algn="ctr" indent="0" marL="0">
              <a:buNone/>
            </a:pPr>
            <a:r>
              <a:rPr lang="en-US" sz="1200" b="1" dirty="0">
                <a:solidFill>
                  <a:srgbClr val="8B5A2B"/>
                </a:solidFill>
                <a:latin typeface="Georgia" pitchFamily="34" charset="0"/>
                <a:ea typeface="Georgia" pitchFamily="34" charset="-122"/>
                <a:cs typeface="Georgia" pitchFamily="34" charset="-120"/>
              </a:rPr>
              <a:t>or Mercantil Panama</a:t>
            </a:r>
            <a:endParaRPr lang="en-US" sz="1200" dirty="0"/>
          </a:p>
        </p:txBody>
      </p:sp>
      <p:sp>
        <p:nvSpPr>
          <p:cNvPr id="11" name="Text 8"/>
          <p:cNvSpPr/>
          <p:nvPr/>
        </p:nvSpPr>
        <p:spPr>
          <a:xfrm>
            <a:off x="3566160" y="1920240"/>
            <a:ext cx="2103120" cy="457200"/>
          </a:xfrm>
          <a:prstGeom prst="rect">
            <a:avLst/>
          </a:prstGeom>
          <a:noFill/>
          <a:ln/>
        </p:spPr>
        <p:txBody>
          <a:bodyPr wrap="square" lIns="0" tIns="0" rIns="0" bIns="0" rtlCol="0" anchor="t"/>
          <a:lstStyle/>
          <a:p>
            <a:pPr algn="ctr" indent="0" marL="0">
              <a:buNone/>
            </a:pPr>
            <a:r>
              <a:rPr lang="en-US" sz="900" dirty="0">
                <a:solidFill>
                  <a:srgbClr val="7A6555"/>
                </a:solidFill>
                <a:latin typeface="Calibri" pitchFamily="34" charset="0"/>
                <a:ea typeface="Calibri" pitchFamily="34" charset="-122"/>
                <a:cs typeface="Calibri" pitchFamily="34" charset="-120"/>
              </a:rPr>
              <a:t>~1.5% fee normally</a:t>
            </a:r>
            <a:endParaRPr lang="en-US" sz="900" dirty="0"/>
          </a:p>
          <a:p>
            <a:pPr algn="ctr" indent="0" marL="0">
              <a:buNone/>
            </a:pPr>
            <a:r>
              <a:rPr lang="en-US" sz="900" dirty="0">
                <a:solidFill>
                  <a:srgbClr val="7A6555"/>
                </a:solidFill>
                <a:latin typeface="Calibri" pitchFamily="34" charset="0"/>
                <a:ea typeface="Calibri" pitchFamily="34" charset="-122"/>
                <a:cs typeface="Calibri" pitchFamily="34" charset="-120"/>
              </a:rPr>
              <a:t>standard FX channel</a:t>
            </a:r>
            <a:endParaRPr lang="en-US" sz="900" dirty="0"/>
          </a:p>
        </p:txBody>
      </p:sp>
      <p:pic>
        <p:nvPicPr>
          <p:cNvPr id="12" name="Image 1" descr="preencoded.png"/>
          <p:cNvPicPr>
            <a:picLocks noChangeAspect="1"/>
          </p:cNvPicPr>
          <p:nvPr/>
        </p:nvPicPr>
        <p:blipFill>
          <a:blip r:embed="rId2"/>
          <a:stretch>
            <a:fillRect/>
          </a:stretch>
        </p:blipFill>
        <p:spPr>
          <a:xfrm>
            <a:off x="5943600" y="1554480"/>
            <a:ext cx="365760" cy="365760"/>
          </a:xfrm>
          <a:prstGeom prst="rect">
            <a:avLst/>
          </a:prstGeom>
        </p:spPr>
      </p:pic>
      <p:sp>
        <p:nvSpPr>
          <p:cNvPr id="13" name="Shape 9"/>
          <p:cNvSpPr/>
          <p:nvPr/>
        </p:nvSpPr>
        <p:spPr>
          <a:xfrm>
            <a:off x="6400800" y="1097280"/>
            <a:ext cx="2286000" cy="1371600"/>
          </a:xfrm>
          <a:prstGeom prst="rect">
            <a:avLst/>
          </a:prstGeom>
          <a:solidFill>
            <a:srgbClr val="FFFFFF"/>
          </a:solidFill>
          <a:ln w="19050">
            <a:solidFill>
              <a:srgbClr val="B87333"/>
            </a:solidFill>
            <a:prstDash val="solid"/>
          </a:ln>
          <a:effectLst>
            <a:outerShdw sx="100000" sy="100000" kx="0" ky="0" algn="bl" rotWithShape="0" blurRad="50800" dist="25400" dir="8100000">
              <a:srgbClr val="000000">
                <a:alpha val="8000"/>
              </a:srgbClr>
            </a:outerShdw>
          </a:effectLst>
        </p:spPr>
        <p:txBody>
          <a:bodyPr/>
          <a:p/>
        </p:txBody>
      </p:sp>
      <p:sp>
        <p:nvSpPr>
          <p:cNvPr id="14" name="Text 10"/>
          <p:cNvSpPr/>
          <p:nvPr/>
        </p:nvSpPr>
        <p:spPr>
          <a:xfrm>
            <a:off x="6400800" y="1143000"/>
            <a:ext cx="2286000" cy="777240"/>
          </a:xfrm>
          <a:prstGeom prst="rect">
            <a:avLst/>
          </a:prstGeom>
          <a:noFill/>
          <a:ln/>
        </p:spPr>
        <p:txBody>
          <a:bodyPr wrap="square" lIns="0" tIns="0" rIns="0" bIns="0" rtlCol="0" anchor="ctr"/>
          <a:lstStyle/>
          <a:p>
            <a:pPr algn="ctr" indent="0" marL="0">
              <a:buNone/>
            </a:pPr>
            <a:r>
              <a:rPr lang="en-US" sz="1200" b="1" dirty="0">
                <a:solidFill>
                  <a:srgbClr val="8B5A2B"/>
                </a:solidFill>
                <a:latin typeface="Georgia" pitchFamily="34" charset="0"/>
                <a:ea typeface="Georgia" pitchFamily="34" charset="-122"/>
                <a:cs typeface="Georgia" pitchFamily="34" charset="-120"/>
              </a:rPr>
              <a:t>International</a:t>
            </a:r>
            <a:endParaRPr lang="en-US" sz="1200" dirty="0"/>
          </a:p>
          <a:p>
            <a:pPr algn="ctr" indent="0" marL="0">
              <a:buNone/>
            </a:pPr>
            <a:r>
              <a:rPr lang="en-US" sz="1200" b="1" dirty="0">
                <a:solidFill>
                  <a:srgbClr val="8B5A2B"/>
                </a:solidFill>
                <a:latin typeface="Georgia" pitchFamily="34" charset="0"/>
                <a:ea typeface="Georgia" pitchFamily="34" charset="-122"/>
                <a:cs typeface="Georgia" pitchFamily="34" charset="-120"/>
              </a:rPr>
              <a:t>Transfer</a:t>
            </a:r>
            <a:endParaRPr lang="en-US" sz="1200" dirty="0"/>
          </a:p>
        </p:txBody>
      </p:sp>
      <p:sp>
        <p:nvSpPr>
          <p:cNvPr id="15" name="Text 11"/>
          <p:cNvSpPr/>
          <p:nvPr/>
        </p:nvSpPr>
        <p:spPr>
          <a:xfrm>
            <a:off x="6492240" y="1920240"/>
            <a:ext cx="2103120" cy="457200"/>
          </a:xfrm>
          <a:prstGeom prst="rect">
            <a:avLst/>
          </a:prstGeom>
          <a:noFill/>
          <a:ln/>
        </p:spPr>
        <p:txBody>
          <a:bodyPr wrap="square" lIns="0" tIns="0" rIns="0" bIns="0" rtlCol="0" anchor="t"/>
          <a:lstStyle/>
          <a:p>
            <a:pPr algn="ctr" indent="0" marL="0">
              <a:buNone/>
            </a:pPr>
            <a:r>
              <a:rPr lang="en-US" sz="900" dirty="0">
                <a:solidFill>
                  <a:srgbClr val="7A6555"/>
                </a:solidFill>
                <a:latin typeface="Calibri" pitchFamily="34" charset="0"/>
                <a:ea typeface="Calibri" pitchFamily="34" charset="-122"/>
                <a:cs typeface="Calibri" pitchFamily="34" charset="-120"/>
              </a:rPr>
              <a:t>USD repatriation</a:t>
            </a:r>
            <a:endParaRPr lang="en-US" sz="900" dirty="0"/>
          </a:p>
          <a:p>
            <a:pPr algn="ctr" indent="0" marL="0">
              <a:buNone/>
            </a:pPr>
            <a:r>
              <a:rPr lang="en-US" sz="900" dirty="0">
                <a:solidFill>
                  <a:srgbClr val="7A6555"/>
                </a:solidFill>
                <a:latin typeface="Calibri" pitchFamily="34" charset="0"/>
                <a:ea typeface="Calibri" pitchFamily="34" charset="-122"/>
                <a:cs typeface="Calibri" pitchFamily="34" charset="-120"/>
              </a:rPr>
              <a:t>to investor</a:t>
            </a:r>
            <a:endParaRPr lang="en-US" sz="900" dirty="0"/>
          </a:p>
        </p:txBody>
      </p:sp>
      <p:pic>
        <p:nvPicPr>
          <p:cNvPr id="16" name="Image 2" descr="preencoded.png"/>
          <p:cNvPicPr>
            <a:picLocks noChangeAspect="1"/>
          </p:cNvPicPr>
          <p:nvPr/>
        </p:nvPicPr>
        <p:blipFill>
          <a:blip r:embed="rId3"/>
          <a:stretch>
            <a:fillRect/>
          </a:stretch>
        </p:blipFill>
        <p:spPr>
          <a:xfrm>
            <a:off x="731520" y="2971800"/>
            <a:ext cx="228600" cy="228600"/>
          </a:xfrm>
          <a:prstGeom prst="rect">
            <a:avLst/>
          </a:prstGeom>
        </p:spPr>
      </p:pic>
      <p:sp>
        <p:nvSpPr>
          <p:cNvPr id="17" name="Text 12"/>
          <p:cNvSpPr/>
          <p:nvPr/>
        </p:nvSpPr>
        <p:spPr>
          <a:xfrm>
            <a:off x="1097280" y="2926080"/>
            <a:ext cx="7315200" cy="36576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Revenue denominated in USD-equivalent pricing</a:t>
            </a:r>
            <a:endParaRPr lang="en-US" sz="1000" dirty="0"/>
          </a:p>
        </p:txBody>
      </p:sp>
      <p:pic>
        <p:nvPicPr>
          <p:cNvPr id="18" name="Image 3" descr="preencoded.png"/>
          <p:cNvPicPr>
            <a:picLocks noChangeAspect="1"/>
          </p:cNvPicPr>
          <p:nvPr/>
        </p:nvPicPr>
        <p:blipFill>
          <a:blip r:embed="rId4"/>
          <a:stretch>
            <a:fillRect/>
          </a:stretch>
        </p:blipFill>
        <p:spPr>
          <a:xfrm>
            <a:off x="731520" y="3429000"/>
            <a:ext cx="228600" cy="228600"/>
          </a:xfrm>
          <a:prstGeom prst="rect">
            <a:avLst/>
          </a:prstGeom>
        </p:spPr>
      </p:pic>
      <p:sp>
        <p:nvSpPr>
          <p:cNvPr id="19" name="Text 13"/>
          <p:cNvSpPr/>
          <p:nvPr/>
        </p:nvSpPr>
        <p:spPr>
          <a:xfrm>
            <a:off x="1097280" y="3383280"/>
            <a:ext cx="7315200" cy="36576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Casa de cambio or Mercantil Panama — ~1.5% fee (standard)</a:t>
            </a:r>
            <a:endParaRPr lang="en-US" sz="1000" dirty="0"/>
          </a:p>
        </p:txBody>
      </p:sp>
      <p:pic>
        <p:nvPicPr>
          <p:cNvPr id="20" name="Image 4" descr="preencoded.png"/>
          <p:cNvPicPr>
            <a:picLocks noChangeAspect="1"/>
          </p:cNvPicPr>
          <p:nvPr/>
        </p:nvPicPr>
        <p:blipFill>
          <a:blip r:embed="rId5"/>
          <a:stretch>
            <a:fillRect/>
          </a:stretch>
        </p:blipFill>
        <p:spPr>
          <a:xfrm>
            <a:off x="731520" y="3886200"/>
            <a:ext cx="228600" cy="228600"/>
          </a:xfrm>
          <a:prstGeom prst="rect">
            <a:avLst/>
          </a:prstGeom>
        </p:spPr>
      </p:pic>
      <p:sp>
        <p:nvSpPr>
          <p:cNvPr id="21" name="Text 14"/>
          <p:cNvSpPr/>
          <p:nvPr/>
        </p:nvSpPr>
        <p:spPr>
          <a:xfrm>
            <a:off x="1097280" y="3840480"/>
            <a:ext cx="7315200" cy="36576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Post-January 2026 government has normalized foreign exchange</a:t>
            </a:r>
            <a:endParaRPr lang="en-US" sz="1000" dirty="0"/>
          </a:p>
        </p:txBody>
      </p:sp>
      <p:pic>
        <p:nvPicPr>
          <p:cNvPr id="22" name="Image 5" descr="preencoded.png"/>
          <p:cNvPicPr>
            <a:picLocks noChangeAspect="1"/>
          </p:cNvPicPr>
          <p:nvPr/>
        </p:nvPicPr>
        <p:blipFill>
          <a:blip r:embed="rId6"/>
          <a:stretch>
            <a:fillRect/>
          </a:stretch>
        </p:blipFill>
        <p:spPr>
          <a:xfrm>
            <a:off x="731520" y="4343400"/>
            <a:ext cx="228600" cy="228600"/>
          </a:xfrm>
          <a:prstGeom prst="rect">
            <a:avLst/>
          </a:prstGeom>
        </p:spPr>
      </p:pic>
      <p:sp>
        <p:nvSpPr>
          <p:cNvPr id="23" name="Text 15"/>
          <p:cNvSpPr/>
          <p:nvPr/>
        </p:nvSpPr>
        <p:spPr>
          <a:xfrm>
            <a:off x="1097280" y="4297680"/>
            <a:ext cx="7315200" cy="36576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Multiple private companies currently repatriating profits via same channels</a:t>
            </a:r>
            <a:endParaRPr lang="en-US" sz="1000" dirty="0"/>
          </a:p>
        </p:txBody>
      </p:sp>
      <p:sp>
        <p:nvSpPr>
          <p:cNvPr id="24" name="Text 16"/>
          <p:cNvSpPr/>
          <p:nvPr/>
        </p:nvSpPr>
        <p:spPr>
          <a:xfrm>
            <a:off x="548640" y="4709160"/>
            <a:ext cx="8046720" cy="228600"/>
          </a:xfrm>
          <a:prstGeom prst="rect">
            <a:avLst/>
          </a:prstGeom>
          <a:noFill/>
          <a:ln/>
        </p:spPr>
        <p:txBody>
          <a:bodyPr wrap="square" lIns="0" tIns="0" rIns="0" bIns="0" rtlCol="0" anchor="ctr"/>
          <a:lstStyle/>
          <a:p>
            <a:pPr algn="ctr" indent="0" marL="0">
              <a:buNone/>
            </a:pPr>
            <a:r>
              <a:rPr lang="en-US" sz="900" i="1" dirty="0">
                <a:solidFill>
                  <a:srgbClr val="C47F17"/>
                </a:solidFill>
                <a:latin typeface="Calibri" pitchFamily="34" charset="0"/>
                <a:ea typeface="Calibri" pitchFamily="34" charset="-122"/>
                <a:cs typeface="Calibri" pitchFamily="34" charset="-120"/>
              </a:rPr>
              <a:t>Currency volatility exists but is mitigated by USD-equivalent pricing model.</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30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KEY RISKS AND MITIGATION</a:t>
            </a:r>
            <a:endParaRPr lang="en-US" sz="2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914400"/>
          <a:ext cx="8046720" cy="914400"/>
        </p:xfrm>
        <a:graphic>
          <a:graphicData uri="http://schemas.openxmlformats.org/drawingml/2006/table">
            <a:tbl>
              <a:tblPr/>
              <a:tblGrid>
                <a:gridCol w="2011680"/>
                <a:gridCol w="914400"/>
                <a:gridCol w="5120640"/>
              </a:tblGrid>
              <a:tr h="32004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Risk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Mitigation</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r h="45720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Zinc price volatility</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47F17"/>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Pass-through cost — client pays based on absorption rate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45720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Regulatory margin cap (30%)</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Market achieves ~50% actual. 30% is legal floor.</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45720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Political/regulatory change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47F17"/>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Infrastructure is bipartisan. Post-Jan 2026 govt is oil-friendly.</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45720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Client volume below forecast</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Break-even at 14 TM/month (4.5% of proven capacity).</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45720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Equipment failure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$25-50K maint. budget. 36+ years of technical expertise on staff.</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45720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Currency/exchange risk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C47F17"/>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USD-equivalent pricing. Revenue follows exchange rate.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bl>
          </a:graphicData>
        </a:graphic>
      </p:graphicFrame>
      <p:sp>
        <p:nvSpPr>
          <p:cNvPr id="6" name="Shape 3"/>
          <p:cNvSpPr/>
          <p:nvPr/>
        </p:nvSpPr>
        <p:spPr>
          <a:xfrm>
            <a:off x="548640" y="4251960"/>
            <a:ext cx="8046720" cy="594360"/>
          </a:xfrm>
          <a:prstGeom prst="rect">
            <a:avLst/>
          </a:prstGeom>
          <a:solidFill>
            <a:srgbClr val="EDE8E0"/>
          </a:solidFill>
          <a:ln w="12700">
            <a:solidFill>
              <a:srgbClr val="B87333"/>
            </a:solidFill>
            <a:prstDash val="solid"/>
          </a:ln>
        </p:spPr>
        <p:txBody>
          <a:bodyPr/>
          <a:p/>
        </p:txBody>
      </p:sp>
      <p:sp>
        <p:nvSpPr>
          <p:cNvPr id="7" name="Text 4"/>
          <p:cNvSpPr/>
          <p:nvPr/>
        </p:nvSpPr>
        <p:spPr>
          <a:xfrm>
            <a:off x="731520" y="4251960"/>
            <a:ext cx="7680960" cy="594360"/>
          </a:xfrm>
          <a:prstGeom prst="rect">
            <a:avLst/>
          </a:prstGeom>
          <a:noFill/>
          <a:ln/>
        </p:spPr>
        <p:txBody>
          <a:bodyPr wrap="square" rtlCol="0" anchor="ctr"/>
          <a:lstStyle/>
          <a:p>
            <a:pPr algn="ctr" indent="0" marL="0">
              <a:buNone/>
            </a:pPr>
            <a:r>
              <a:rPr lang="en-US" sz="1000" i="1" dirty="0">
                <a:solidFill>
                  <a:srgbClr val="8B5A2B"/>
                </a:solidFill>
                <a:latin typeface="Calibri" pitchFamily="34" charset="0"/>
                <a:ea typeface="Calibri" pitchFamily="34" charset="-122"/>
                <a:cs typeface="Calibri" pitchFamily="34" charset="-120"/>
              </a:rPr>
              <a:t>The core risk is macro. The core mitigation is that PYGLARA is an infrastructure play — whoever governs needs galvanized steel.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PYGLARA - Investment Opportunity</dc:title>
  <dc:subject>PptxGenJS Presentation</dc:subject>
  <dc:creator>Andres Montbrun</dc:creator>
  <cp:lastModifiedBy>Andres Montbrun</cp:lastModifiedBy>
  <cp:revision>1</cp:revision>
  <dcterms:created xsi:type="dcterms:W3CDTF">2026-04-06T16:08:58Z</dcterms:created>
  <dcterms:modified xsi:type="dcterms:W3CDTF">2026-04-06T16:08:58Z</dcterms:modified>
</cp:coreProperties>
</file>