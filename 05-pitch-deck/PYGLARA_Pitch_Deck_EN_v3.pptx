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2-1.jpg" ContentType="image/jpg"/>
  <Override PartName="/ppt/media/image-15-1.jpg" ContentType="image/jpg"/>
  <Override PartName="/ppt/media/image-5-6.jpg" ContentType="image/jpg"/>
  <Override PartName="/ppt/media/image-8-1.jpg" ContentType="image/jpg"/>
  <Override PartName="/ppt/media/image-8-2.jpg" ContentType="image/jpg"/>
  <Override PartName="/ppt/media/image-8-3.jpg" ContentType="image/jpg"/>
  <Override PartName="/ppt/media/image-8-4.jpg" ContentType="image/jpg"/>
  <Override PartName="/ppt/media/image-9-5.jpg" ContentType="image/jpg"/>
  <Override PartName="/ppt/media/image-9-6.jpg" ContentType="image/jpg"/>
  <Override PartName="/ppt/media/image-9-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3" r:id="rId34"/>
    <p:sldId id="284" r:id="rId35"/>
    <p:sldId id="285" r:id="rId36"/>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4.xml"/><Relationship Id="rId35" Type="http://schemas.openxmlformats.org/officeDocument/2006/relationships/slide" Target="slides/slide5.xml"/><Relationship Id="rId3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name is Andres Montbrun, commercial representative of PYGLARA. I am going to present you with a unique opportunity in the Venezuelan industrial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plant from scratch today would cost between $2.2 and $3 million. It has German Pilling equipment, proven 300 tons per month, and a UNIQUE copper line in Venezuela.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Venezuela's oil sector needs galvanized steel for EVERYTHING surrounding the pipelines. There are only 2 commercial hot-dip galvanizing service providers in the entire country: ALF Galvanizados in Valencia (~9,000 TM/year) and PYGLARA. PDVSA's transmission pipelines use specialized coatings (FBE/3LPE), not galvanizing. However, ALL structural steel surrounding those pipelines — pipe racks, cable trays, platforms, handrails, grating, and stairs — is hot-dip galvanized per ASTM A123. That structural steel is our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Hot-dip galvanizing creates a metallurgical bond between zinc and steel. Unlike paint, zinc self-heals: if scratched, surrounding zinc cathodically protects exposed steel. Service life is 50-100 years vs. 3-5 for paint, and lifecycle cost is ~70%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esta en el corazon de la Zona Industrial I de Barquisimeto. Titulo limpio, contrato de gas con PDVSA activo, todo listo para operar.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of Venezuela showing Barquisimeto (PYGLARA), Puerto Cabello (2.5h), Caracas (3h) and Maracaibo (oil). Coverage of 8 western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geographic advantages: Puerto Cabello 2.5h, Caracas 3h, Zulia oil 4h, 8-state coverage, clients in same complex, industrial gas/energy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Pilling kettles from world-leading manufacturer since 1873. Proven production: 300 MT/mo with 7-meter kettle.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Pilling Riepe GmbH is the world-leading manufacturer of galvanizing kettles since 1873. Its kettles use electroslag welding with walls up to 80mm. They last decades. PYGLARA kettles alone are worth over $1.1 million at replacement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PYGLARA can galvanize any steel piece. Main sectors are electrical, oil, construction, renewable energy, infrastructure and agriculture. Note: Oil &amp; gas pipelines use specialized coatings (FBE/3LPE), not galvanizing. Our O&amp;G market is the structural steel surrounding the pipelines — pipe racks, cable trays, platforms, grating, and handrails. Mechanically stabilized earth is a retaining wall system using galvanized steel strips — Freyssinet/Geoquest is a historical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other manufacturer of copper grounding rods in Venezuela. Everything is imported. ENELVEN (now CORPOELEC) purchased 20,000 units in 2004-2005. The global copper ground rod market is valued at $2.5 billion (2025) and growing at 7% CAGR. Key growth drivers are exactly our sectors: telecommunications (5G towers), renewable energy (solar installations), and electrical infrastructure rehabilitation. Every 5G tower, solar installation, and electrical substation requires copper grounding. All copper ground rods currently used in Venezuela are imported.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operates under COVENIN 1212-81, ASTM A123 and ASTM A153. In the certificate shown, thickness achieved was 101 um — 55% above the minimum specification of 65 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 Ing. Francisco Ballesteros led PYGLARA 50+ years through 70%+ economic contractions. Ing. Miriam Armas: 36+ years of technical experience. Workers on piece-rate — payroll scales with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data was declared to SENIAT and is verifiable. Top 3 years exceeded $1.7M in sales. CORPOELEC, SASGO, Marullo, Freyssinet, INDUESCA and DISMACA are historical clients. 34 documented clients, 6 interested in reactivating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planta tiene inventario de materia prima: 2 toneladas de zinc, 4.6 toneladas de HCl, 500 kg de NH4Cl. Tres montacargas, dos gruas, bascula. La centrifuga de 65cm esta activa produciendo clavos.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verified this through web research in April 2026. The only other commercial hot-dip galvanizing service provider is ALF Galvanizados in Valencia (~9,000 TM/year, Grupo SUGACA). SIGALCA/MAPLOCA galvanizes its own sheet products — not a third-party service. DISMACA has internal galvanizing for its own EPC projects but doesn't offer it commercially. No other commercial service provider was found in the entire country. Building a new plant costs over $2 million and takes 18-36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costs: $540/MT. Fixed: $5,600-$13,100/mo. Net margin: $529-$916/MT depending on volume and pricing. Zinc and selling price are key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scenarios by volume. Conservative: 100 MT/mo → $53K-$90K profit. Moderate: 200 MT → $119K-$186K. Best historical: 300 MT → $178K-$275K. Break-even: 10-20 MT/mo.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10-20 MT/mo depending on pricing and costs. Less than 7% of proven production of 300 MT/mo.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$336K startup. Potential: $90K-$275K/mo depending on volume. Each phase funds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las cubas Pilling cuestan mas de un millon. El terreno con galpones vale entre $700K y un millon.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inversionista obtiene TODO: planta, equipos, marca, clientes, permisos, 50 anos de reputacion.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unico que falta es zinc en la cuba.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PYGLARA is a private Venezuelan company with zero government ownership. Industrial galvanizing is not a sanctioned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priced in USD-equivalent terms. Conversion through casa de cambio at ~1.5%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investment has risks. PYGLARA is an infrastructure play. Break-even is only 4.5% of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projections — these are signed deals and public announcements with dates. The companies investing billions will need galvanized structural steel for every platform, pipe rack, cable tray, handrail, and grating panel they build. Sources: Rystad Energy (Jan 6 2026), CNBC/Chevron Q4 earnings (Jan 30 2026), Reuters/Repsol (Jan 9-10 2026), Telefonica (Feb 4 2025), CONATEL (Sep 2025), OilPrice.com (Mar 25 2026), Bloomberg (Feb 12 2026), Reuters (Mar 11 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misconception is that galvanizing serves the pipeline itself. In reality, oil &amp; gas pipelines use specialized coatings like FBE or 3LPE. But every refinery, pumping station, terminal, and drilling platform needs thousands of tons of galvanized structural steel for the infrastructure that supports those pipelines. Pipe racks, cable trays, grating, handrails, platforms — all hot-dip galvanized per ASTM A123. These are 3-12 meter pieces that fit perfectly in our 7m and 9m Pilling kettles. Rystad Energy projects $41B in fabrication &amp; construction, $10B+ in materials &amp; metals, and $10B+ in electrical &amp; instrumentation.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Telefonica announced $500 million for Venezuela on February 4, 2025. The CONATEL National Telecom Plan 2025-2031 calls for 1,500 new 4G stations, 500 5G stations, reinforcement of 3,000 existing stations, and 36,000 km of fiber optic. Each of those stations needs a galvanized tower and copper grounding. PYGLARA is the only company that can supply both products domestically.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914400"/>
            <a:ext cx="7680960" cy="1005840"/>
          </a:xfrm>
          <a:prstGeom prst="rect">
            <a:avLst/>
          </a:prstGeom>
          <a:noFill/>
          <a:ln/>
        </p:spPr>
        <p:txBody>
          <a:bodyPr wrap="square" lIns="0" tIns="0" rIns="0" bIns="0" rtlCol="0" anchor="ctr"/>
          <a:lstStyle/>
          <a:p>
            <a:pPr algn="l" indent="0" marL="0">
              <a:buNone/>
            </a:pPr>
            <a:r>
              <a:rPr lang="en-US" sz="5600" b="1" spc="600" kern="0" dirty="0">
                <a:solidFill>
                  <a:srgbClr val="FFFFFF"/>
                </a:solidFill>
                <a:latin typeface="Georgia" pitchFamily="34" charset="0"/>
                <a:ea typeface="Georgia" pitchFamily="34" charset="-122"/>
                <a:cs typeface="Georgia" pitchFamily="34" charset="-120"/>
              </a:rPr>
              <a:t>PYGLARA</a:t>
            </a:r>
            <a:endParaRPr lang="en-US" sz="5600" dirty="0"/>
          </a:p>
        </p:txBody>
      </p:sp>
      <p:sp>
        <p:nvSpPr>
          <p:cNvPr id="4" name="Text 2"/>
          <p:cNvSpPr/>
          <p:nvPr/>
        </p:nvSpPr>
        <p:spPr>
          <a:xfrm>
            <a:off x="731520" y="1874520"/>
            <a:ext cx="7680960" cy="411480"/>
          </a:xfrm>
          <a:prstGeom prst="rect">
            <a:avLst/>
          </a:prstGeom>
          <a:noFill/>
          <a:ln/>
        </p:spPr>
        <p:txBody>
          <a:bodyPr wrap="square" lIns="0" tIns="0" rIns="0" bIns="0" rtlCol="0" anchor="ctr"/>
          <a:lstStyle/>
          <a:p>
            <a:pPr algn="l" indent="0" marL="0">
              <a:buNone/>
            </a:pPr>
            <a:r>
              <a:rPr lang="en-US" sz="1800" dirty="0">
                <a:solidFill>
                  <a:srgbClr val="D4954A"/>
                </a:solidFill>
                <a:latin typeface="Calibri" pitchFamily="34" charset="0"/>
                <a:ea typeface="Calibri" pitchFamily="34" charset="-122"/>
                <a:cs typeface="Calibri" pitchFamily="34" charset="-120"/>
              </a:rPr>
              <a:t>Prensados y Galvanizados de Lara, S.A.</a:t>
            </a:r>
            <a:endParaRPr lang="en-US" sz="1800" dirty="0"/>
          </a:p>
        </p:txBody>
      </p:sp>
      <p:sp>
        <p:nvSpPr>
          <p:cNvPr id="5" name="Text 3"/>
          <p:cNvSpPr/>
          <p:nvPr/>
        </p:nvSpPr>
        <p:spPr>
          <a:xfrm>
            <a:off x="731520" y="2423160"/>
            <a:ext cx="5943600" cy="411480"/>
          </a:xfrm>
          <a:prstGeom prst="rect">
            <a:avLst/>
          </a:prstGeom>
          <a:noFill/>
          <a:ln/>
        </p:spPr>
        <p:txBody>
          <a:bodyPr wrap="square" lIns="0" tIns="0" rIns="0" bIns="0" rtlCol="0" anchor="ctr"/>
          <a:lstStyle/>
          <a:p>
            <a:pPr algn="l" indent="0" marL="0">
              <a:buNone/>
            </a:pPr>
            <a:r>
              <a:rPr lang="en-US" sz="1300" i="1" dirty="0">
                <a:solidFill>
                  <a:srgbClr val="C0B0A0"/>
                </a:solidFill>
                <a:latin typeface="Calibri" pitchFamily="34" charset="0"/>
                <a:ea typeface="Calibri" pitchFamily="34" charset="-122"/>
                <a:cs typeface="Calibri" pitchFamily="34" charset="-120"/>
              </a:rPr>
              <a:t>The largest galvanizing plant in central-western Venezuela</a:t>
            </a:r>
            <a:endParaRPr lang="en-US" sz="1300" dirty="0"/>
          </a:p>
        </p:txBody>
      </p:sp>
      <p:pic>
        <p:nvPicPr>
          <p:cNvPr id="6" name="Image 0" descr="/sessions/sweet-gallant-wright/pyglara-deck/images/cuba9m.jpg"/>
          <p:cNvPicPr>
            <a:picLocks noChangeAspect="1"/>
          </p:cNvPicPr>
          <p:nvPr/>
        </p:nvPicPr>
        <p:blipFill>
          <a:blip r:embed="rId1"/>
          <a:srcRect l="0" r="0" t="0" b="0"/>
          <a:stretch/>
        </p:blipFill>
        <p:spPr>
          <a:xfrm>
            <a:off x="5303520" y="914400"/>
            <a:ext cx="3291840" cy="2286000"/>
          </a:xfrm>
          <a:prstGeom prst="rect">
            <a:avLst/>
          </a:prstGeom>
        </p:spPr>
      </p:pic>
      <p:sp>
        <p:nvSpPr>
          <p:cNvPr id="7" name="Shape 4"/>
          <p:cNvSpPr/>
          <p:nvPr/>
        </p:nvSpPr>
        <p:spPr>
          <a:xfrm>
            <a:off x="5303520" y="914400"/>
            <a:ext cx="3291840" cy="2286000"/>
          </a:xfrm>
          <a:prstGeom prst="rect">
            <a:avLst/>
          </a:prstGeom>
          <a:ln w="19050">
            <a:solidFill>
              <a:srgbClr val="B87333"/>
            </a:solidFill>
            <a:prstDash val="solid"/>
          </a:ln>
        </p:spPr>
        <p:txBody>
          <a:bodyPr/>
          <a:p/>
        </p:txBody>
      </p:sp>
      <p:sp>
        <p:nvSpPr>
          <p:cNvPr id="8" name="Shape 5"/>
          <p:cNvSpPr/>
          <p:nvPr/>
        </p:nvSpPr>
        <p:spPr>
          <a:xfrm>
            <a:off x="0" y="4023360"/>
            <a:ext cx="9144000" cy="1120140"/>
          </a:xfrm>
          <a:prstGeom prst="rect">
            <a:avLst/>
          </a:prstGeom>
          <a:solidFill>
            <a:srgbClr val="1E1508"/>
          </a:solidFill>
          <a:ln/>
        </p:spPr>
        <p:txBody>
          <a:bodyPr/>
          <a:p/>
        </p:txBody>
      </p:sp>
      <p:sp>
        <p:nvSpPr>
          <p:cNvPr id="9" name="Shape 6"/>
          <p:cNvSpPr/>
          <p:nvPr/>
        </p:nvSpPr>
        <p:spPr>
          <a:xfrm>
            <a:off x="0" y="4023360"/>
            <a:ext cx="9144000" cy="22860"/>
          </a:xfrm>
          <a:prstGeom prst="rect">
            <a:avLst/>
          </a:prstGeom>
          <a:solidFill>
            <a:srgbClr val="B87333"/>
          </a:solidFill>
          <a:ln/>
        </p:spPr>
        <p:txBody>
          <a:bodyPr/>
          <a:p/>
        </p:txBody>
      </p:sp>
      <p:sp>
        <p:nvSpPr>
          <p:cNvPr id="10" name="Text 7"/>
          <p:cNvSpPr/>
          <p:nvPr/>
        </p:nvSpPr>
        <p:spPr>
          <a:xfrm>
            <a:off x="731520" y="4160520"/>
            <a:ext cx="4572000" cy="320040"/>
          </a:xfrm>
          <a:prstGeom prst="rect">
            <a:avLst/>
          </a:prstGeom>
          <a:noFill/>
          <a:ln/>
        </p:spPr>
        <p:txBody>
          <a:bodyPr wrap="square" lIns="0" tIns="0" rIns="0" bIns="0" rtlCol="0" anchor="ctr"/>
          <a:lstStyle/>
          <a:p>
            <a:pPr algn="l" indent="0" marL="0">
              <a:buNone/>
            </a:pPr>
            <a:r>
              <a:rPr lang="en-US" sz="1200" dirty="0">
                <a:solidFill>
                  <a:srgbClr val="A09080"/>
                </a:solidFill>
                <a:latin typeface="Calibri" pitchFamily="34" charset="0"/>
                <a:ea typeface="Calibri" pitchFamily="34" charset="-122"/>
                <a:cs typeface="Calibri" pitchFamily="34" charset="-120"/>
              </a:rPr>
              <a:t>Investment Opportunity  |  April 2026</a:t>
            </a:r>
            <a:endParaRPr lang="en-US" sz="1200" dirty="0"/>
          </a:p>
        </p:txBody>
      </p:sp>
      <p:sp>
        <p:nvSpPr>
          <p:cNvPr id="11" name="Text 8"/>
          <p:cNvSpPr/>
          <p:nvPr/>
        </p:nvSpPr>
        <p:spPr>
          <a:xfrm>
            <a:off x="5486400" y="4160520"/>
            <a:ext cx="2926080" cy="320040"/>
          </a:xfrm>
          <a:prstGeom prst="rect">
            <a:avLst/>
          </a:prstGeom>
          <a:noFill/>
          <a:ln/>
        </p:spPr>
        <p:txBody>
          <a:bodyPr wrap="square" lIns="0" tIns="0" rIns="0" bIns="0" rtlCol="0" anchor="ctr"/>
          <a:lstStyle/>
          <a:p>
            <a:pPr algn="r" indent="0" marL="0">
              <a:buNone/>
            </a:pPr>
            <a:r>
              <a:rPr lang="en-US" sz="1100" b="1" spc="400" kern="0" dirty="0">
                <a:solidFill>
                  <a:srgbClr val="B87333"/>
                </a:solidFill>
                <a:latin typeface="Calibri" pitchFamily="34" charset="0"/>
                <a:ea typeface="Calibri" pitchFamily="34" charset="-122"/>
                <a:cs typeface="Calibri" pitchFamily="34" charset="-120"/>
              </a:rPr>
              <a:t>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THE OPPORTUNITY</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A 50-year industrial plant with world-class German equipment</a:t>
            </a:r>
            <a:endParaRPr lang="en-US" sz="13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3749040" cy="36576"/>
          </a:xfrm>
          <a:prstGeom prst="rect">
            <a:avLst/>
          </a:prstGeom>
          <a:solidFill>
            <a:srgbClr val="B87333"/>
          </a:solidFill>
          <a:ln/>
        </p:spPr>
        <p:txBody>
          <a:bodyPr/>
          <a:p/>
        </p:txBody>
      </p:sp>
      <p:sp>
        <p:nvSpPr>
          <p:cNvPr id="8" name="Text 6"/>
          <p:cNvSpPr/>
          <p:nvPr/>
        </p:nvSpPr>
        <p:spPr>
          <a:xfrm>
            <a:off x="5486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$2.2M-$3.0M</a:t>
            </a:r>
            <a:endParaRPr lang="en-US" sz="28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Replacement cost</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(build from scratch)</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3749040" cy="36576"/>
          </a:xfrm>
          <a:prstGeom prst="rect">
            <a:avLst/>
          </a:prstGeom>
          <a:solidFill>
            <a:srgbClr val="B87333"/>
          </a:solidFill>
          <a:ln/>
        </p:spPr>
        <p:txBody>
          <a:bodyPr/>
          <a:p/>
        </p:txBody>
      </p:sp>
      <p:sp>
        <p:nvSpPr>
          <p:cNvPr id="12" name="Text 10"/>
          <p:cNvSpPr/>
          <p:nvPr/>
        </p:nvSpPr>
        <p:spPr>
          <a:xfrm>
            <a:off x="4663440" y="164592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300 TM/mes</a:t>
            </a:r>
            <a:endParaRPr lang="en-US" sz="28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Proven production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(best historical month)</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3749040" cy="36576"/>
          </a:xfrm>
          <a:prstGeom prst="rect">
            <a:avLst/>
          </a:prstGeom>
          <a:solidFill>
            <a:srgbClr val="B87333"/>
          </a:solidFill>
          <a:ln/>
        </p:spPr>
        <p:txBody>
          <a:bodyPr/>
          <a:p/>
        </p:txBody>
      </p:sp>
      <p:sp>
        <p:nvSpPr>
          <p:cNvPr id="16" name="Text 14"/>
          <p:cNvSpPr/>
          <p:nvPr/>
        </p:nvSpPr>
        <p:spPr>
          <a:xfrm>
            <a:off x="5486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936 varillas/dia</a:t>
            </a:r>
            <a:endParaRPr lang="en-US" sz="28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Copper line with no</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domestic competitor</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3749040" cy="36576"/>
          </a:xfrm>
          <a:prstGeom prst="rect">
            <a:avLst/>
          </a:prstGeom>
          <a:solidFill>
            <a:srgbClr val="B87333"/>
          </a:solidFill>
          <a:ln/>
        </p:spPr>
        <p:txBody>
          <a:bodyPr/>
          <a:p/>
        </p:txBody>
      </p:sp>
      <p:sp>
        <p:nvSpPr>
          <p:cNvPr id="20" name="Text 18"/>
          <p:cNvSpPr/>
          <p:nvPr/>
        </p:nvSpPr>
        <p:spPr>
          <a:xfrm>
            <a:off x="4663440" y="3337560"/>
            <a:ext cx="3749040" cy="637794"/>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3 meses</a:t>
            </a:r>
            <a:endParaRPr lang="en-US" sz="28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From investment to</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revenue generation</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Assets valued in the millions. Operational in one quarter.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WHY NOW</a:t>
            </a:r>
            <a:endParaRPr lang="en-US" sz="3400" dirty="0"/>
          </a:p>
        </p:txBody>
      </p:sp>
      <p:sp>
        <p:nvSpPr>
          <p:cNvPr id="5" name="Text 3"/>
          <p:cNvSpPr/>
          <p:nvPr/>
        </p:nvSpPr>
        <p:spPr>
          <a:xfrm>
            <a:off x="548640" y="868680"/>
            <a:ext cx="8046720" cy="36576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Venezuela reopens its oil sector — demand for galvanized steel explodes</a:t>
            </a:r>
            <a:endParaRPr lang="en-US" sz="1200" dirty="0"/>
          </a:p>
        </p:txBody>
      </p:sp>
      <p:sp>
        <p:nvSpPr>
          <p:cNvPr id="6" name="Shape 4"/>
          <p:cNvSpPr/>
          <p:nvPr/>
        </p:nvSpPr>
        <p:spPr>
          <a:xfrm>
            <a:off x="5486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463040"/>
            <a:ext cx="54864" cy="1417320"/>
          </a:xfrm>
          <a:prstGeom prst="rect">
            <a:avLst/>
          </a:prstGeom>
          <a:solidFill>
            <a:srgbClr val="B87333"/>
          </a:solidFill>
          <a:ln/>
        </p:spPr>
        <p:txBody>
          <a:bodyPr/>
          <a:p/>
        </p:txBody>
      </p:sp>
      <p:sp>
        <p:nvSpPr>
          <p:cNvPr id="8" name="Text 6"/>
          <p:cNvSpPr/>
          <p:nvPr/>
        </p:nvSpPr>
        <p:spPr>
          <a:xfrm>
            <a:off x="6858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$183 BN</a:t>
            </a:r>
            <a:endParaRPr lang="en-US" sz="2600" dirty="0"/>
          </a:p>
        </p:txBody>
      </p:sp>
      <p:sp>
        <p:nvSpPr>
          <p:cNvPr id="9" name="Text 7"/>
          <p:cNvSpPr/>
          <p:nvPr/>
        </p:nvSpPr>
        <p:spPr>
          <a:xfrm>
            <a:off x="6858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Oil capex projected</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through 2040 (Rystad Energy)</a:t>
            </a:r>
            <a:endParaRPr lang="en-US" sz="1000" dirty="0"/>
          </a:p>
        </p:txBody>
      </p:sp>
      <p:sp>
        <p:nvSpPr>
          <p:cNvPr id="10" name="Shape 8"/>
          <p:cNvSpPr/>
          <p:nvPr/>
        </p:nvSpPr>
        <p:spPr>
          <a:xfrm>
            <a:off x="4663440" y="146304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4663440" y="1463040"/>
            <a:ext cx="54864" cy="1417320"/>
          </a:xfrm>
          <a:prstGeom prst="rect">
            <a:avLst/>
          </a:prstGeom>
          <a:solidFill>
            <a:srgbClr val="B87333"/>
          </a:solidFill>
          <a:ln/>
        </p:spPr>
        <p:txBody>
          <a:bodyPr/>
          <a:p/>
        </p:txBody>
      </p:sp>
      <p:sp>
        <p:nvSpPr>
          <p:cNvPr id="12" name="Text 10"/>
          <p:cNvSpPr/>
          <p:nvPr/>
        </p:nvSpPr>
        <p:spPr>
          <a:xfrm>
            <a:off x="4800600" y="160020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$41 BN</a:t>
            </a:r>
            <a:endParaRPr lang="en-US" sz="2600" dirty="0"/>
          </a:p>
        </p:txBody>
      </p:sp>
      <p:sp>
        <p:nvSpPr>
          <p:cNvPr id="13" name="Text 11"/>
          <p:cNvSpPr/>
          <p:nvPr/>
        </p:nvSpPr>
        <p:spPr>
          <a:xfrm>
            <a:off x="4800600" y="224256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Fabrication &amp; construction</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#1 service segment</a:t>
            </a:r>
            <a:endParaRPr lang="en-US" sz="1000" dirty="0"/>
          </a:p>
        </p:txBody>
      </p:sp>
      <p:sp>
        <p:nvSpPr>
          <p:cNvPr id="14" name="Shape 12"/>
          <p:cNvSpPr/>
          <p:nvPr/>
        </p:nvSpPr>
        <p:spPr>
          <a:xfrm>
            <a:off x="5486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5" name="Shape 13"/>
          <p:cNvSpPr/>
          <p:nvPr/>
        </p:nvSpPr>
        <p:spPr>
          <a:xfrm>
            <a:off x="548640" y="3154680"/>
            <a:ext cx="54864" cy="1417320"/>
          </a:xfrm>
          <a:prstGeom prst="rect">
            <a:avLst/>
          </a:prstGeom>
          <a:solidFill>
            <a:srgbClr val="B87333"/>
          </a:solidFill>
          <a:ln/>
        </p:spPr>
        <p:txBody>
          <a:bodyPr/>
          <a:p/>
        </p:txBody>
      </p:sp>
      <p:sp>
        <p:nvSpPr>
          <p:cNvPr id="16" name="Text 14"/>
          <p:cNvSpPr/>
          <p:nvPr/>
        </p:nvSpPr>
        <p:spPr>
          <a:xfrm>
            <a:off x="6858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50 YEARS</a:t>
            </a:r>
            <a:endParaRPr lang="en-US" sz="2600" dirty="0"/>
          </a:p>
        </p:txBody>
      </p:sp>
      <p:sp>
        <p:nvSpPr>
          <p:cNvPr id="17" name="Text 15"/>
          <p:cNvSpPr/>
          <p:nvPr/>
        </p:nvSpPr>
        <p:spPr>
          <a:xfrm>
            <a:off x="6858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Without updating</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PDVSA infrastructure</a:t>
            </a:r>
            <a:endParaRPr lang="en-US" sz="1000" dirty="0"/>
          </a:p>
        </p:txBody>
      </p:sp>
      <p:sp>
        <p:nvSpPr>
          <p:cNvPr id="18" name="Shape 16"/>
          <p:cNvSpPr/>
          <p:nvPr/>
        </p:nvSpPr>
        <p:spPr>
          <a:xfrm>
            <a:off x="4663440" y="3154680"/>
            <a:ext cx="3749040" cy="141732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19" name="Shape 17"/>
          <p:cNvSpPr/>
          <p:nvPr/>
        </p:nvSpPr>
        <p:spPr>
          <a:xfrm>
            <a:off x="4663440" y="3154680"/>
            <a:ext cx="54864" cy="1417320"/>
          </a:xfrm>
          <a:prstGeom prst="rect">
            <a:avLst/>
          </a:prstGeom>
          <a:solidFill>
            <a:srgbClr val="B87333"/>
          </a:solidFill>
          <a:ln/>
        </p:spPr>
        <p:txBody>
          <a:bodyPr/>
          <a:p/>
        </p:txBody>
      </p:sp>
      <p:sp>
        <p:nvSpPr>
          <p:cNvPr id="20" name="Text 18"/>
          <p:cNvSpPr/>
          <p:nvPr/>
        </p:nvSpPr>
        <p:spPr>
          <a:xfrm>
            <a:off x="4800600" y="3291840"/>
            <a:ext cx="3474720" cy="680314"/>
          </a:xfrm>
          <a:prstGeom prst="rect">
            <a:avLst/>
          </a:prstGeom>
          <a:noFill/>
          <a:ln/>
        </p:spPr>
        <p:txBody>
          <a:bodyPr wrap="square" lIns="0" tIns="0" rIns="0" bIns="0" rtlCol="0" anchor="ctr"/>
          <a:lstStyle/>
          <a:p>
            <a:pPr algn="ctr" indent="0" marL="0">
              <a:buNone/>
            </a:pPr>
            <a:r>
              <a:rPr lang="en-US" sz="2600" b="1" dirty="0">
                <a:solidFill>
                  <a:srgbClr val="8B5A2B"/>
                </a:solidFill>
                <a:latin typeface="Georgia" pitchFamily="34" charset="0"/>
                <a:ea typeface="Georgia" pitchFamily="34" charset="-122"/>
                <a:cs typeface="Georgia" pitchFamily="34" charset="-120"/>
              </a:rPr>
              <a:t>ONLY 2</a:t>
            </a:r>
            <a:endParaRPr lang="en-US" sz="2600" dirty="0"/>
          </a:p>
        </p:txBody>
      </p:sp>
      <p:sp>
        <p:nvSpPr>
          <p:cNvPr id="21" name="Text 19"/>
          <p:cNvSpPr/>
          <p:nvPr/>
        </p:nvSpPr>
        <p:spPr>
          <a:xfrm>
            <a:off x="4800600" y="3934206"/>
            <a:ext cx="3474720" cy="538582"/>
          </a:xfrm>
          <a:prstGeom prst="rect">
            <a:avLst/>
          </a:prstGeom>
          <a:noFill/>
          <a:ln/>
        </p:spPr>
        <p:txBody>
          <a:bodyPr wrap="square" lIns="0" tIns="0" rIns="0" bIns="0" rtlCol="0" anchor="t"/>
          <a:lstStyle/>
          <a:p>
            <a:pPr algn="ctr" indent="0" marL="0">
              <a:buNone/>
            </a:pPr>
            <a:r>
              <a:rPr lang="en-US" sz="1000" dirty="0">
                <a:solidFill>
                  <a:srgbClr val="7A6555"/>
                </a:solidFill>
                <a:latin typeface="Calibri" pitchFamily="34" charset="0"/>
                <a:ea typeface="Calibri" pitchFamily="34" charset="-122"/>
                <a:cs typeface="Calibri" pitchFamily="34" charset="-120"/>
              </a:rPr>
              <a:t>Commercial galvanizing service</a:t>
            </a:r>
            <a:endParaRPr lang="en-US" sz="1000" dirty="0"/>
          </a:p>
          <a:p>
            <a:pPr algn="ctr" indent="0" marL="0">
              <a:buNone/>
            </a:pPr>
            <a:r>
              <a:rPr lang="en-US" sz="1000" dirty="0">
                <a:solidFill>
                  <a:srgbClr val="7A6555"/>
                </a:solidFill>
                <a:latin typeface="Calibri" pitchFamily="34" charset="0"/>
                <a:ea typeface="Calibri" pitchFamily="34" charset="-122"/>
                <a:cs typeface="Calibri" pitchFamily="34" charset="-120"/>
              </a:rPr>
              <a:t>providers in all of Venezuela</a:t>
            </a:r>
            <a:endParaRPr lang="en-US" sz="1000" dirty="0"/>
          </a:p>
        </p:txBody>
      </p:sp>
      <p:sp>
        <p:nvSpPr>
          <p:cNvPr id="22" name="Text 20"/>
          <p:cNvSpPr/>
          <p:nvPr/>
        </p:nvSpPr>
        <p:spPr>
          <a:xfrm>
            <a:off x="548640" y="4754880"/>
            <a:ext cx="8046720" cy="228600"/>
          </a:xfrm>
          <a:prstGeom prst="rect">
            <a:avLst/>
          </a:prstGeom>
          <a:noFill/>
          <a:ln/>
        </p:spPr>
        <p:txBody>
          <a:bodyPr wrap="square" lIns="0" tIns="0" rIns="0" bIns="0" rtlCol="0" anchor="ctr"/>
          <a:lstStyle/>
          <a:p>
            <a:pPr algn="r" indent="0" marL="0">
              <a:buNone/>
            </a:pPr>
            <a:r>
              <a:rPr lang="en-US" sz="900" i="1" dirty="0">
                <a:solidFill>
                  <a:srgbClr val="8C8C8C"/>
                </a:solidFill>
                <a:latin typeface="Calibri" pitchFamily="34" charset="0"/>
                <a:ea typeface="Calibri" pitchFamily="34" charset="-122"/>
                <a:cs typeface="Calibri" pitchFamily="34" charset="-120"/>
              </a:rPr>
              <a:t>Fuente: Rystad Energy, Oil &amp; Gas Capex Outlook</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EDE6"/>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800" b="1">
                <a:solidFill>
                  <a:srgbClr val="2A1F10"/>
                </a:solidFill>
                <a:latin typeface="Georgia"/>
              </a:rPr>
              <a:t>THE DEMAND IS ALREADY HERE</a:t>
            </a:r>
          </a:p>
        </p:txBody>
      </p:sp>
      <p:sp>
        <p:nvSpPr>
          <p:cNvPr id="4" name="TextBox 3"/>
          <p:cNvSpPr txBox="1"/>
          <p:nvPr/>
        </p:nvSpPr>
        <p:spPr>
          <a:xfrm>
            <a:off x="548640" y="685800"/>
            <a:ext cx="7315200" cy="320040"/>
          </a:xfrm>
          <a:prstGeom prst="rect">
            <a:avLst/>
          </a:prstGeom>
          <a:noFill/>
        </p:spPr>
        <p:txBody>
          <a:bodyPr wrap="square">
            <a:spAutoFit/>
          </a:bodyPr>
          <a:lstStyle/>
          <a:p>
            <a:pPr algn="l"/>
            <a:r>
              <a:rPr sz="1200" b="0">
                <a:solidFill>
                  <a:srgbClr val="B87333"/>
                </a:solidFill>
                <a:latin typeface="Calibri"/>
              </a:rPr>
              <a:t>Concrete investments announced since January 2026</a:t>
            </a:r>
          </a:p>
        </p:txBody>
      </p:sp>
      <p:sp>
        <p:nvSpPr>
          <p:cNvPr id="5" name="Rectangle 4"/>
          <p:cNvSpPr/>
          <p:nvPr/>
        </p:nvSpPr>
        <p:spPr>
          <a:xfrm>
            <a:off x="1858139" y="1278125"/>
            <a:ext cx="32760" cy="2971875"/>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10511" y="12141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72969"/>
            <a:ext cx="1143000" cy="210312"/>
          </a:xfrm>
          <a:prstGeom prst="rect">
            <a:avLst/>
          </a:prstGeom>
          <a:noFill/>
        </p:spPr>
        <p:txBody>
          <a:bodyPr wrap="square">
            <a:spAutoFit/>
          </a:bodyPr>
          <a:lstStyle/>
          <a:p>
            <a:pPr algn="r"/>
            <a:r>
              <a:rPr sz="750" b="0" i="0">
                <a:solidFill>
                  <a:srgbClr val="8B5A2B"/>
                </a:solidFill>
              </a:rPr>
              <a:t>Jan 3, 2026</a:t>
            </a:r>
          </a:p>
        </p:txBody>
      </p:sp>
      <p:sp>
        <p:nvSpPr>
          <p:cNvPr id="8" name="TextBox 7"/>
          <p:cNvSpPr txBox="1"/>
          <p:nvPr/>
        </p:nvSpPr>
        <p:spPr>
          <a:xfrm>
            <a:off x="2039111" y="1159253"/>
            <a:ext cx="6876289" cy="246888"/>
          </a:xfrm>
          <a:prstGeom prst="rect">
            <a:avLst/>
          </a:prstGeom>
          <a:noFill/>
        </p:spPr>
        <p:txBody>
          <a:bodyPr wrap="square">
            <a:spAutoFit/>
          </a:bodyPr>
          <a:lstStyle/>
          <a:p>
            <a:pPr algn="l"/>
            <a:r>
              <a:rPr sz="950" b="1" i="0">
                <a:solidFill>
                  <a:srgbClr val="B87333"/>
                </a:solidFill>
              </a:rPr>
              <a:t>Oil sector reopens to private investment</a:t>
            </a:r>
          </a:p>
        </p:txBody>
      </p:sp>
      <p:sp>
        <p:nvSpPr>
          <p:cNvPr id="9" name="Oval 8"/>
          <p:cNvSpPr/>
          <p:nvPr/>
        </p:nvSpPr>
        <p:spPr>
          <a:xfrm>
            <a:off x="1810511" y="16103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69219"/>
            <a:ext cx="1143000" cy="210312"/>
          </a:xfrm>
          <a:prstGeom prst="rect">
            <a:avLst/>
          </a:prstGeom>
          <a:noFill/>
        </p:spPr>
        <p:txBody>
          <a:bodyPr wrap="square">
            <a:spAutoFit/>
          </a:bodyPr>
          <a:lstStyle/>
          <a:p>
            <a:pPr algn="r"/>
            <a:r>
              <a:rPr sz="750" b="0" i="0">
                <a:solidFill>
                  <a:srgbClr val="8B5A2B"/>
                </a:solidFill>
              </a:rPr>
              <a:t>Jan 6, 2026</a:t>
            </a:r>
          </a:p>
        </p:txBody>
      </p:sp>
      <p:sp>
        <p:nvSpPr>
          <p:cNvPr id="11" name="TextBox 10"/>
          <p:cNvSpPr txBox="1"/>
          <p:nvPr/>
        </p:nvSpPr>
        <p:spPr>
          <a:xfrm>
            <a:off x="2039111" y="1491495"/>
            <a:ext cx="6876289" cy="182880"/>
          </a:xfrm>
          <a:prstGeom prst="rect">
            <a:avLst/>
          </a:prstGeom>
          <a:noFill/>
        </p:spPr>
        <p:txBody>
          <a:bodyPr wrap="square">
            <a:spAutoFit/>
          </a:bodyPr>
          <a:lstStyle/>
          <a:p>
            <a:pPr algn="l"/>
            <a:r>
              <a:rPr sz="900" b="1" i="0">
                <a:solidFill>
                  <a:srgbClr val="2A1F10"/>
                </a:solidFill>
              </a:rPr>
              <a:t>Rystad Energy: $183B oil capex 2026-2040</a:t>
            </a:r>
          </a:p>
        </p:txBody>
      </p:sp>
      <p:sp>
        <p:nvSpPr>
          <p:cNvPr id="12" name="TextBox 11"/>
          <p:cNvSpPr txBox="1"/>
          <p:nvPr/>
        </p:nvSpPr>
        <p:spPr>
          <a:xfrm>
            <a:off x="2039111" y="1683519"/>
            <a:ext cx="6876289" cy="155448"/>
          </a:xfrm>
          <a:prstGeom prst="rect">
            <a:avLst/>
          </a:prstGeom>
          <a:noFill/>
        </p:spPr>
        <p:txBody>
          <a:bodyPr wrap="square">
            <a:spAutoFit/>
          </a:bodyPr>
          <a:lstStyle/>
          <a:p>
            <a:pPr algn="l"/>
            <a:r>
              <a:rPr sz="800" b="0" i="1">
                <a:solidFill>
                  <a:srgbClr val="8B5A2B"/>
                </a:solidFill>
              </a:rPr>
              <a:t>$41B in fabrication &amp; construction alone</a:t>
            </a:r>
          </a:p>
        </p:txBody>
      </p:sp>
      <p:sp>
        <p:nvSpPr>
          <p:cNvPr id="13" name="Oval 12"/>
          <p:cNvSpPr/>
          <p:nvPr/>
        </p:nvSpPr>
        <p:spPr>
          <a:xfrm>
            <a:off x="1810511" y="20066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469"/>
            <a:ext cx="1143000" cy="210312"/>
          </a:xfrm>
          <a:prstGeom prst="rect">
            <a:avLst/>
          </a:prstGeom>
          <a:noFill/>
        </p:spPr>
        <p:txBody>
          <a:bodyPr wrap="square">
            <a:spAutoFit/>
          </a:bodyPr>
          <a:lstStyle/>
          <a:p>
            <a:pPr algn="r"/>
            <a:r>
              <a:rPr sz="750" b="0" i="0">
                <a:solidFill>
                  <a:srgbClr val="8B5A2B"/>
                </a:solidFill>
              </a:rPr>
              <a:t>Jan 9-10, 2026</a:t>
            </a:r>
          </a:p>
        </p:txBody>
      </p:sp>
      <p:sp>
        <p:nvSpPr>
          <p:cNvPr id="15" name="TextBox 14"/>
          <p:cNvSpPr txBox="1"/>
          <p:nvPr/>
        </p:nvSpPr>
        <p:spPr>
          <a:xfrm>
            <a:off x="2039111" y="1887745"/>
            <a:ext cx="6876289" cy="182880"/>
          </a:xfrm>
          <a:prstGeom prst="rect">
            <a:avLst/>
          </a:prstGeom>
          <a:noFill/>
        </p:spPr>
        <p:txBody>
          <a:bodyPr wrap="square">
            <a:spAutoFit/>
          </a:bodyPr>
          <a:lstStyle/>
          <a:p>
            <a:pPr algn="l"/>
            <a:r>
              <a:rPr sz="900" b="1" i="0">
                <a:solidFill>
                  <a:srgbClr val="2A1F10"/>
                </a:solidFill>
              </a:rPr>
              <a:t>Repsol: triple production to 135,000 bpd</a:t>
            </a:r>
          </a:p>
        </p:txBody>
      </p:sp>
      <p:sp>
        <p:nvSpPr>
          <p:cNvPr id="16" name="TextBox 15"/>
          <p:cNvSpPr txBox="1"/>
          <p:nvPr/>
        </p:nvSpPr>
        <p:spPr>
          <a:xfrm>
            <a:off x="2039111" y="2079769"/>
            <a:ext cx="6876289" cy="155448"/>
          </a:xfrm>
          <a:prstGeom prst="rect">
            <a:avLst/>
          </a:prstGeom>
          <a:noFill/>
        </p:spPr>
        <p:txBody>
          <a:bodyPr wrap="square">
            <a:spAutoFit/>
          </a:bodyPr>
          <a:lstStyle/>
          <a:p>
            <a:pPr algn="l"/>
            <a:r>
              <a:rPr sz="800" b="0" i="1">
                <a:solidFill>
                  <a:srgbClr val="8B5A2B"/>
                </a:solidFill>
              </a:rPr>
              <a:t>New Orinoco Belt blocks = new infrastructure</a:t>
            </a:r>
          </a:p>
        </p:txBody>
      </p:sp>
      <p:sp>
        <p:nvSpPr>
          <p:cNvPr id="17" name="Oval 16"/>
          <p:cNvSpPr/>
          <p:nvPr/>
        </p:nvSpPr>
        <p:spPr>
          <a:xfrm>
            <a:off x="1810511" y="24028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361719"/>
            <a:ext cx="1143000" cy="210312"/>
          </a:xfrm>
          <a:prstGeom prst="rect">
            <a:avLst/>
          </a:prstGeom>
          <a:noFill/>
        </p:spPr>
        <p:txBody>
          <a:bodyPr wrap="square">
            <a:spAutoFit/>
          </a:bodyPr>
          <a:lstStyle/>
          <a:p>
            <a:pPr algn="r"/>
            <a:r>
              <a:rPr sz="750" b="0" i="0">
                <a:solidFill>
                  <a:srgbClr val="8B5A2B"/>
                </a:solidFill>
              </a:rPr>
              <a:t>Jan 30, 2026</a:t>
            </a:r>
          </a:p>
        </p:txBody>
      </p:sp>
      <p:sp>
        <p:nvSpPr>
          <p:cNvPr id="19" name="TextBox 18"/>
          <p:cNvSpPr txBox="1"/>
          <p:nvPr/>
        </p:nvSpPr>
        <p:spPr>
          <a:xfrm>
            <a:off x="2039111" y="2283995"/>
            <a:ext cx="6876289" cy="182880"/>
          </a:xfrm>
          <a:prstGeom prst="rect">
            <a:avLst/>
          </a:prstGeom>
          <a:noFill/>
        </p:spPr>
        <p:txBody>
          <a:bodyPr wrap="square">
            <a:spAutoFit/>
          </a:bodyPr>
          <a:lstStyle/>
          <a:p>
            <a:pPr algn="l"/>
            <a:r>
              <a:rPr sz="900" b="1" i="0">
                <a:solidFill>
                  <a:srgbClr val="2A1F10"/>
                </a:solidFill>
              </a:rPr>
              <a:t>Chevron Q4: 240,000 bpd, +50% in 18 months</a:t>
            </a:r>
          </a:p>
        </p:txBody>
      </p:sp>
      <p:sp>
        <p:nvSpPr>
          <p:cNvPr id="20" name="TextBox 19"/>
          <p:cNvSpPr txBox="1"/>
          <p:nvPr/>
        </p:nvSpPr>
        <p:spPr>
          <a:xfrm>
            <a:off x="2039111" y="2476019"/>
            <a:ext cx="6876289" cy="155448"/>
          </a:xfrm>
          <a:prstGeom prst="rect">
            <a:avLst/>
          </a:prstGeom>
          <a:noFill/>
        </p:spPr>
        <p:txBody>
          <a:bodyPr wrap="square">
            <a:spAutoFit/>
          </a:bodyPr>
          <a:lstStyle/>
          <a:p>
            <a:pPr algn="l"/>
            <a:r>
              <a:rPr sz="800" b="0" i="1">
                <a:solidFill>
                  <a:srgbClr val="8B5A2B"/>
                </a:solidFill>
              </a:rPr>
              <a:t>Expansion of existing facilities</a:t>
            </a:r>
          </a:p>
        </p:txBody>
      </p:sp>
      <p:sp>
        <p:nvSpPr>
          <p:cNvPr id="21" name="Oval 20"/>
          <p:cNvSpPr/>
          <p:nvPr/>
        </p:nvSpPr>
        <p:spPr>
          <a:xfrm>
            <a:off x="1810511" y="27991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757969"/>
            <a:ext cx="1143000" cy="210312"/>
          </a:xfrm>
          <a:prstGeom prst="rect">
            <a:avLst/>
          </a:prstGeom>
          <a:noFill/>
        </p:spPr>
        <p:txBody>
          <a:bodyPr wrap="square">
            <a:spAutoFit/>
          </a:bodyPr>
          <a:lstStyle/>
          <a:p>
            <a:pPr algn="r"/>
            <a:r>
              <a:rPr sz="750" b="0" i="0">
                <a:solidFill>
                  <a:srgbClr val="8B5A2B"/>
                </a:solidFill>
              </a:rPr>
              <a:t>Feb 4, 2025</a:t>
            </a:r>
          </a:p>
        </p:txBody>
      </p:sp>
      <p:sp>
        <p:nvSpPr>
          <p:cNvPr id="23" name="TextBox 22"/>
          <p:cNvSpPr txBox="1"/>
          <p:nvPr/>
        </p:nvSpPr>
        <p:spPr>
          <a:xfrm>
            <a:off x="2039111" y="2680245"/>
            <a:ext cx="6876289" cy="182880"/>
          </a:xfrm>
          <a:prstGeom prst="rect">
            <a:avLst/>
          </a:prstGeom>
          <a:noFill/>
        </p:spPr>
        <p:txBody>
          <a:bodyPr wrap="square">
            <a:spAutoFit/>
          </a:bodyPr>
          <a:lstStyle/>
          <a:p>
            <a:pPr algn="l"/>
            <a:r>
              <a:rPr sz="900" b="1" i="0">
                <a:solidFill>
                  <a:srgbClr val="2A1F10"/>
                </a:solidFill>
              </a:rPr>
              <a:t>Movistar/Telefonica: $500M investment</a:t>
            </a:r>
          </a:p>
        </p:txBody>
      </p:sp>
      <p:sp>
        <p:nvSpPr>
          <p:cNvPr id="24" name="TextBox 23"/>
          <p:cNvSpPr txBox="1"/>
          <p:nvPr/>
        </p:nvSpPr>
        <p:spPr>
          <a:xfrm>
            <a:off x="2039111" y="2872269"/>
            <a:ext cx="6876289" cy="155448"/>
          </a:xfrm>
          <a:prstGeom prst="rect">
            <a:avLst/>
          </a:prstGeom>
          <a:noFill/>
        </p:spPr>
        <p:txBody>
          <a:bodyPr wrap="square">
            <a:spAutoFit/>
          </a:bodyPr>
          <a:lstStyle/>
          <a:p>
            <a:pPr algn="l"/>
            <a:r>
              <a:rPr sz="800" b="0" i="1">
                <a:solidFill>
                  <a:srgbClr val="8B5A2B"/>
                </a:solidFill>
              </a:rPr>
              <a:t>805 5G nodes + 500 base stations = galvanized towers</a:t>
            </a:r>
          </a:p>
        </p:txBody>
      </p:sp>
      <p:sp>
        <p:nvSpPr>
          <p:cNvPr id="25" name="Oval 24"/>
          <p:cNvSpPr/>
          <p:nvPr/>
        </p:nvSpPr>
        <p:spPr>
          <a:xfrm>
            <a:off x="1810511" y="31953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154219"/>
            <a:ext cx="1143000" cy="210312"/>
          </a:xfrm>
          <a:prstGeom prst="rect">
            <a:avLst/>
          </a:prstGeom>
          <a:noFill/>
        </p:spPr>
        <p:txBody>
          <a:bodyPr wrap="square">
            <a:spAutoFit/>
          </a:bodyPr>
          <a:lstStyle/>
          <a:p>
            <a:pPr algn="r"/>
            <a:r>
              <a:rPr sz="750" b="0" i="0">
                <a:solidFill>
                  <a:srgbClr val="8B5A2B"/>
                </a:solidFill>
              </a:rPr>
              <a:t>Mar 11, 2026</a:t>
            </a:r>
          </a:p>
        </p:txBody>
      </p:sp>
      <p:sp>
        <p:nvSpPr>
          <p:cNvPr id="27" name="TextBox 26"/>
          <p:cNvSpPr txBox="1"/>
          <p:nvPr/>
        </p:nvSpPr>
        <p:spPr>
          <a:xfrm>
            <a:off x="2039111" y="3076495"/>
            <a:ext cx="6876289" cy="182880"/>
          </a:xfrm>
          <a:prstGeom prst="rect">
            <a:avLst/>
          </a:prstGeom>
          <a:noFill/>
        </p:spPr>
        <p:txBody>
          <a:bodyPr wrap="square">
            <a:spAutoFit/>
          </a:bodyPr>
          <a:lstStyle/>
          <a:p>
            <a:pPr algn="l"/>
            <a:r>
              <a:rPr sz="900" b="1" i="0">
                <a:solidFill>
                  <a:srgbClr val="2A1F10"/>
                </a:solidFill>
              </a:rPr>
              <a:t>Reuters: Chevron &amp; Shell close first major deals</a:t>
            </a:r>
          </a:p>
        </p:txBody>
      </p:sp>
      <p:sp>
        <p:nvSpPr>
          <p:cNvPr id="28" name="TextBox 27"/>
          <p:cNvSpPr txBox="1"/>
          <p:nvPr/>
        </p:nvSpPr>
        <p:spPr>
          <a:xfrm>
            <a:off x="2039111" y="3268519"/>
            <a:ext cx="6876289" cy="155448"/>
          </a:xfrm>
          <a:prstGeom prst="rect">
            <a:avLst/>
          </a:prstGeom>
          <a:noFill/>
        </p:spPr>
        <p:txBody>
          <a:bodyPr wrap="square">
            <a:spAutoFit/>
          </a:bodyPr>
          <a:lstStyle/>
          <a:p>
            <a:pPr algn="l"/>
            <a:r>
              <a:rPr sz="800" b="0" i="1">
                <a:solidFill>
                  <a:srgbClr val="8B5A2B"/>
                </a:solidFill>
              </a:rPr>
              <a:t>Production contracts = immediate structural steel demand</a:t>
            </a:r>
          </a:p>
        </p:txBody>
      </p:sp>
      <p:sp>
        <p:nvSpPr>
          <p:cNvPr id="29" name="Oval 28"/>
          <p:cNvSpPr/>
          <p:nvPr/>
        </p:nvSpPr>
        <p:spPr>
          <a:xfrm>
            <a:off x="1810511" y="359161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550469"/>
            <a:ext cx="1143000" cy="210312"/>
          </a:xfrm>
          <a:prstGeom prst="rect">
            <a:avLst/>
          </a:prstGeom>
          <a:noFill/>
        </p:spPr>
        <p:txBody>
          <a:bodyPr wrap="square">
            <a:spAutoFit/>
          </a:bodyPr>
          <a:lstStyle/>
          <a:p>
            <a:pPr algn="r"/>
            <a:r>
              <a:rPr sz="750" b="0" i="0">
                <a:solidFill>
                  <a:srgbClr val="8B5A2B"/>
                </a:solidFill>
              </a:rPr>
              <a:t>Sep 2025</a:t>
            </a:r>
          </a:p>
        </p:txBody>
      </p:sp>
      <p:sp>
        <p:nvSpPr>
          <p:cNvPr id="31" name="TextBox 30"/>
          <p:cNvSpPr txBox="1"/>
          <p:nvPr/>
        </p:nvSpPr>
        <p:spPr>
          <a:xfrm>
            <a:off x="2039111" y="3472745"/>
            <a:ext cx="6876289" cy="182880"/>
          </a:xfrm>
          <a:prstGeom prst="rect">
            <a:avLst/>
          </a:prstGeom>
          <a:noFill/>
        </p:spPr>
        <p:txBody>
          <a:bodyPr wrap="square">
            <a:spAutoFit/>
          </a:bodyPr>
          <a:lstStyle/>
          <a:p>
            <a:pPr algn="l"/>
            <a:r>
              <a:rPr sz="900" b="1" i="0">
                <a:solidFill>
                  <a:srgbClr val="2A1F10"/>
                </a:solidFill>
              </a:rPr>
              <a:t>CONATEL: National Telecom Plan 2025-2031</a:t>
            </a:r>
          </a:p>
        </p:txBody>
      </p:sp>
      <p:sp>
        <p:nvSpPr>
          <p:cNvPr id="32" name="TextBox 31"/>
          <p:cNvSpPr txBox="1"/>
          <p:nvPr/>
        </p:nvSpPr>
        <p:spPr>
          <a:xfrm>
            <a:off x="2039111" y="3664769"/>
            <a:ext cx="6876289" cy="155448"/>
          </a:xfrm>
          <a:prstGeom prst="rect">
            <a:avLst/>
          </a:prstGeom>
          <a:noFill/>
        </p:spPr>
        <p:txBody>
          <a:bodyPr wrap="square">
            <a:spAutoFit/>
          </a:bodyPr>
          <a:lstStyle/>
          <a:p>
            <a:pPr algn="l"/>
            <a:r>
              <a:rPr sz="800" b="0" i="1">
                <a:solidFill>
                  <a:srgbClr val="8B5A2B"/>
                </a:solidFill>
              </a:rPr>
              <a:t>1,500 4G + 500 5G stations + 36,000 km fiber optic</a:t>
            </a:r>
          </a:p>
        </p:txBody>
      </p:sp>
      <p:sp>
        <p:nvSpPr>
          <p:cNvPr id="33" name="Oval 32"/>
          <p:cNvSpPr/>
          <p:nvPr/>
        </p:nvSpPr>
        <p:spPr>
          <a:xfrm>
            <a:off x="1810511" y="3987867"/>
            <a:ext cx="128016" cy="128016"/>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946719"/>
            <a:ext cx="1143000" cy="210312"/>
          </a:xfrm>
          <a:prstGeom prst="rect">
            <a:avLst/>
          </a:prstGeom>
          <a:noFill/>
        </p:spPr>
        <p:txBody>
          <a:bodyPr wrap="square">
            <a:spAutoFit/>
          </a:bodyPr>
          <a:lstStyle/>
          <a:p>
            <a:pPr algn="r"/>
            <a:r>
              <a:rPr sz="750" b="0" i="0">
                <a:solidFill>
                  <a:srgbClr val="8B5A2B"/>
                </a:solidFill>
              </a:rPr>
              <a:t>Mar 2026</a:t>
            </a:r>
          </a:p>
        </p:txBody>
      </p:sp>
      <p:sp>
        <p:nvSpPr>
          <p:cNvPr id="35" name="TextBox 34"/>
          <p:cNvSpPr txBox="1"/>
          <p:nvPr/>
        </p:nvSpPr>
        <p:spPr>
          <a:xfrm>
            <a:off x="2039111" y="3868995"/>
            <a:ext cx="6876289" cy="182880"/>
          </a:xfrm>
          <a:prstGeom prst="rect">
            <a:avLst/>
          </a:prstGeom>
          <a:noFill/>
        </p:spPr>
        <p:txBody>
          <a:bodyPr wrap="square">
            <a:spAutoFit/>
          </a:bodyPr>
          <a:lstStyle/>
          <a:p>
            <a:pPr algn="l"/>
            <a:r>
              <a:rPr sz="900" b="1" i="0">
                <a:solidFill>
                  <a:srgbClr val="2A1F10"/>
                </a:solidFill>
              </a:rPr>
              <a:t>Venezuela reaches 1.1M bpd production</a:t>
            </a:r>
          </a:p>
        </p:txBody>
      </p:sp>
      <p:sp>
        <p:nvSpPr>
          <p:cNvPr id="36" name="TextBox 35"/>
          <p:cNvSpPr txBox="1"/>
          <p:nvPr/>
        </p:nvSpPr>
        <p:spPr>
          <a:xfrm>
            <a:off x="2039111" y="4061019"/>
            <a:ext cx="6876289" cy="155448"/>
          </a:xfrm>
          <a:prstGeom prst="rect">
            <a:avLst/>
          </a:prstGeom>
          <a:noFill/>
        </p:spPr>
        <p:txBody>
          <a:bodyPr wrap="square">
            <a:spAutoFit/>
          </a:bodyPr>
          <a:lstStyle/>
          <a:p>
            <a:pPr algn="l"/>
            <a:r>
              <a:rPr sz="800" b="0" i="1">
                <a:solidFill>
                  <a:srgbClr val="8B5A2B"/>
                </a:solidFill>
              </a:rPr>
              <a:t>Oil recovery underway — demand accelerates</a:t>
            </a:r>
          </a:p>
        </p:txBody>
      </p:sp>
      <p:sp>
        <p:nvSpPr>
          <p:cNvPr id="37" name="TextBox 36"/>
          <p:cNvSpPr txBox="1"/>
          <p:nvPr/>
        </p:nvSpPr>
        <p:spPr>
          <a:xfrm>
            <a:off x="548640" y="4297680"/>
            <a:ext cx="8046720" cy="365760"/>
          </a:xfrm>
          <a:prstGeom prst="rect">
            <a:avLst/>
          </a:prstGeom>
          <a:noFill/>
        </p:spPr>
        <p:txBody>
          <a:bodyPr wrap="square">
            <a:spAutoFit/>
          </a:bodyPr>
          <a:lstStyle/>
          <a:p>
            <a:pPr algn="l"/>
            <a:r>
              <a:rPr sz="800" b="0" i="1">
                <a:solidFill>
                  <a:srgbClr val="9E978E"/>
                </a:solidFill>
              </a:rPr>
              <a:t>These are not projections — these are signed contracts and public announcements with verified dates.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F1"/>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457200"/>
          </a:xfrm>
          <a:prstGeom prst="rect">
            <a:avLst/>
          </a:prstGeom>
          <a:noFill/>
        </p:spPr>
        <p:txBody>
          <a:bodyPr wrap="square">
            <a:spAutoFit/>
          </a:bodyPr>
          <a:lstStyle/>
          <a:p>
            <a:pPr algn="l"/>
            <a:r>
              <a:rPr sz="2400" b="1">
                <a:solidFill>
                  <a:srgbClr val="2C2C2C"/>
                </a:solidFill>
                <a:latin typeface="Georgia"/>
              </a:rPr>
              <a:t>WHAT THE OIL SECTOR ACTUALLY GALVANIZES</a:t>
            </a:r>
          </a:p>
        </p:txBody>
      </p:sp>
      <p:sp>
        <p:nvSpPr>
          <p:cNvPr id="4" name="TextBox 3"/>
          <p:cNvSpPr txBox="1"/>
          <p:nvPr/>
        </p:nvSpPr>
        <p:spPr>
          <a:xfrm>
            <a:off x="548640" y="914400"/>
            <a:ext cx="7315200" cy="274320"/>
          </a:xfrm>
          <a:prstGeom prst="rect">
            <a:avLst/>
          </a:prstGeom>
          <a:noFill/>
        </p:spPr>
        <p:txBody>
          <a:bodyPr wrap="square">
            <a:spAutoFit/>
          </a:bodyPr>
          <a:lstStyle/>
          <a:p>
            <a:pPr algn="l"/>
            <a:r>
              <a:rPr sz="1200" b="0">
                <a:solidFill>
                  <a:srgbClr val="7A6555"/>
                </a:solidFill>
                <a:latin typeface="Calibri"/>
              </a:rPr>
              <a:t>Not the pipelines — everything around them</a:t>
            </a:r>
          </a:p>
        </p:txBody>
      </p:sp>
      <p:sp>
        <p:nvSpPr>
          <p:cNvPr id="5" name="Oval 4"/>
          <p:cNvSpPr/>
          <p:nvPr/>
        </p:nvSpPr>
        <p:spPr>
          <a:xfrm>
            <a:off x="548640" y="139903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828800" cy="438912"/>
          </a:xfrm>
          <a:prstGeom prst="rect">
            <a:avLst/>
          </a:prstGeom>
          <a:noFill/>
        </p:spPr>
        <p:txBody>
          <a:bodyPr wrap="square">
            <a:spAutoFit/>
          </a:bodyPr>
          <a:lstStyle/>
          <a:p>
            <a:pPr algn="l"/>
            <a:r>
              <a:rPr sz="1100" b="1">
                <a:solidFill>
                  <a:srgbClr val="2C2C2C"/>
                </a:solidFill>
                <a:latin typeface="Calibri"/>
              </a:rPr>
              <a:t>Pipe racks</a:t>
            </a:r>
          </a:p>
        </p:txBody>
      </p:sp>
      <p:sp>
        <p:nvSpPr>
          <p:cNvPr id="7" name="TextBox 6"/>
          <p:cNvSpPr txBox="1"/>
          <p:nvPr/>
        </p:nvSpPr>
        <p:spPr>
          <a:xfrm>
            <a:off x="2651760" y="1325880"/>
            <a:ext cx="1371600" cy="438912"/>
          </a:xfrm>
          <a:prstGeom prst="rect">
            <a:avLst/>
          </a:prstGeom>
          <a:noFill/>
        </p:spPr>
        <p:txBody>
          <a:bodyPr wrap="square">
            <a:spAutoFit/>
          </a:bodyPr>
          <a:lstStyle/>
          <a:p>
            <a:pPr algn="l"/>
            <a:r>
              <a:rPr sz="900" b="0">
                <a:solidFill>
                  <a:srgbClr val="7A6555"/>
                </a:solidFill>
                <a:latin typeface="Calibri"/>
              </a:rPr>
              <a:t>3m-12m pieces</a:t>
            </a:r>
          </a:p>
        </p:txBody>
      </p:sp>
      <p:sp>
        <p:nvSpPr>
          <p:cNvPr id="8" name="TextBox 7"/>
          <p:cNvSpPr txBox="1"/>
          <p:nvPr/>
        </p:nvSpPr>
        <p:spPr>
          <a:xfrm>
            <a:off x="3931920" y="1325880"/>
            <a:ext cx="1371600" cy="438912"/>
          </a:xfrm>
          <a:prstGeom prst="rect">
            <a:avLst/>
          </a:prstGeom>
          <a:noFill/>
        </p:spPr>
        <p:txBody>
          <a:bodyPr wrap="square">
            <a:spAutoFit/>
          </a:bodyPr>
          <a:lstStyle/>
          <a:p>
            <a:pPr algn="l"/>
            <a:r>
              <a:rPr sz="900" b="1">
                <a:solidFill>
                  <a:srgbClr val="B87333"/>
                </a:solidFill>
                <a:latin typeface="Calibri"/>
              </a:rPr>
              <a:t>→ 7m / 9m kettle</a:t>
            </a:r>
          </a:p>
        </p:txBody>
      </p:sp>
      <p:sp>
        <p:nvSpPr>
          <p:cNvPr id="9" name="Oval 8"/>
          <p:cNvSpPr/>
          <p:nvPr/>
        </p:nvSpPr>
        <p:spPr>
          <a:xfrm>
            <a:off x="548640" y="1837944"/>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64792"/>
            <a:ext cx="1828800" cy="438912"/>
          </a:xfrm>
          <a:prstGeom prst="rect">
            <a:avLst/>
          </a:prstGeom>
          <a:noFill/>
        </p:spPr>
        <p:txBody>
          <a:bodyPr wrap="square">
            <a:spAutoFit/>
          </a:bodyPr>
          <a:lstStyle/>
          <a:p>
            <a:pPr algn="l"/>
            <a:r>
              <a:rPr sz="1100" b="1">
                <a:solidFill>
                  <a:srgbClr val="2C2C2C"/>
                </a:solidFill>
                <a:latin typeface="Calibri"/>
              </a:rPr>
              <a:t>Cable trays</a:t>
            </a:r>
          </a:p>
        </p:txBody>
      </p:sp>
      <p:sp>
        <p:nvSpPr>
          <p:cNvPr id="11" name="TextBox 10"/>
          <p:cNvSpPr txBox="1"/>
          <p:nvPr/>
        </p:nvSpPr>
        <p:spPr>
          <a:xfrm>
            <a:off x="2651760" y="1764792"/>
            <a:ext cx="1371600" cy="438912"/>
          </a:xfrm>
          <a:prstGeom prst="rect">
            <a:avLst/>
          </a:prstGeom>
          <a:noFill/>
        </p:spPr>
        <p:txBody>
          <a:bodyPr wrap="square">
            <a:spAutoFit/>
          </a:bodyPr>
          <a:lstStyle/>
          <a:p>
            <a:pPr algn="l"/>
            <a:r>
              <a:rPr sz="900" b="0">
                <a:solidFill>
                  <a:srgbClr val="7A6555"/>
                </a:solidFill>
                <a:latin typeface="Calibri"/>
              </a:rPr>
              <a:t>2.4m-6m sections</a:t>
            </a:r>
          </a:p>
        </p:txBody>
      </p:sp>
      <p:sp>
        <p:nvSpPr>
          <p:cNvPr id="12" name="TextBox 11"/>
          <p:cNvSpPr txBox="1"/>
          <p:nvPr/>
        </p:nvSpPr>
        <p:spPr>
          <a:xfrm>
            <a:off x="3931920" y="1764792"/>
            <a:ext cx="1371600" cy="438912"/>
          </a:xfrm>
          <a:prstGeom prst="rect">
            <a:avLst/>
          </a:prstGeom>
          <a:noFill/>
        </p:spPr>
        <p:txBody>
          <a:bodyPr wrap="square">
            <a:spAutoFit/>
          </a:bodyPr>
          <a:lstStyle/>
          <a:p>
            <a:pPr algn="l"/>
            <a:r>
              <a:rPr sz="900" b="1">
                <a:solidFill>
                  <a:srgbClr val="B87333"/>
                </a:solidFill>
                <a:latin typeface="Calibri"/>
              </a:rPr>
              <a:t>→ 3.5m / 7m kettle</a:t>
            </a:r>
          </a:p>
        </p:txBody>
      </p:sp>
      <p:sp>
        <p:nvSpPr>
          <p:cNvPr id="13" name="Oval 12"/>
          <p:cNvSpPr/>
          <p:nvPr/>
        </p:nvSpPr>
        <p:spPr>
          <a:xfrm>
            <a:off x="548640" y="2276856"/>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3704"/>
            <a:ext cx="1828800" cy="438912"/>
          </a:xfrm>
          <a:prstGeom prst="rect">
            <a:avLst/>
          </a:prstGeom>
          <a:noFill/>
        </p:spPr>
        <p:txBody>
          <a:bodyPr wrap="square">
            <a:spAutoFit/>
          </a:bodyPr>
          <a:lstStyle/>
          <a:p>
            <a:pPr algn="l"/>
            <a:r>
              <a:rPr sz="1100" b="1">
                <a:solidFill>
                  <a:srgbClr val="2C2C2C"/>
                </a:solidFill>
                <a:latin typeface="Calibri"/>
              </a:rPr>
              <a:t>Platforms &amp; walkways</a:t>
            </a:r>
          </a:p>
        </p:txBody>
      </p:sp>
      <p:sp>
        <p:nvSpPr>
          <p:cNvPr id="15" name="TextBox 14"/>
          <p:cNvSpPr txBox="1"/>
          <p:nvPr/>
        </p:nvSpPr>
        <p:spPr>
          <a:xfrm>
            <a:off x="2651760" y="2203704"/>
            <a:ext cx="1371600" cy="438912"/>
          </a:xfrm>
          <a:prstGeom prst="rect">
            <a:avLst/>
          </a:prstGeom>
          <a:noFill/>
        </p:spPr>
        <p:txBody>
          <a:bodyPr wrap="square">
            <a:spAutoFit/>
          </a:bodyPr>
          <a:lstStyle/>
          <a:p>
            <a:pPr algn="l"/>
            <a:r>
              <a:rPr sz="900" b="0">
                <a:solidFill>
                  <a:srgbClr val="7A6555"/>
                </a:solidFill>
                <a:latin typeface="Calibri"/>
              </a:rPr>
              <a:t>Panels up to 6m</a:t>
            </a:r>
          </a:p>
        </p:txBody>
      </p:sp>
      <p:sp>
        <p:nvSpPr>
          <p:cNvPr id="16" name="TextBox 15"/>
          <p:cNvSpPr txBox="1"/>
          <p:nvPr/>
        </p:nvSpPr>
        <p:spPr>
          <a:xfrm>
            <a:off x="3931920" y="2203704"/>
            <a:ext cx="1371600" cy="438912"/>
          </a:xfrm>
          <a:prstGeom prst="rect">
            <a:avLst/>
          </a:prstGeom>
          <a:noFill/>
        </p:spPr>
        <p:txBody>
          <a:bodyPr wrap="square">
            <a:spAutoFit/>
          </a:bodyPr>
          <a:lstStyle/>
          <a:p>
            <a:pPr algn="l"/>
            <a:r>
              <a:rPr sz="900" b="1">
                <a:solidFill>
                  <a:srgbClr val="B87333"/>
                </a:solidFill>
                <a:latin typeface="Calibri"/>
              </a:rPr>
              <a:t>→ 7m kettle</a:t>
            </a:r>
          </a:p>
        </p:txBody>
      </p:sp>
      <p:sp>
        <p:nvSpPr>
          <p:cNvPr id="17" name="Oval 16"/>
          <p:cNvSpPr/>
          <p:nvPr/>
        </p:nvSpPr>
        <p:spPr>
          <a:xfrm>
            <a:off x="548640" y="2715768"/>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642616"/>
            <a:ext cx="1828800" cy="438912"/>
          </a:xfrm>
          <a:prstGeom prst="rect">
            <a:avLst/>
          </a:prstGeom>
          <a:noFill/>
        </p:spPr>
        <p:txBody>
          <a:bodyPr wrap="square">
            <a:spAutoFit/>
          </a:bodyPr>
          <a:lstStyle/>
          <a:p>
            <a:pPr algn="l"/>
            <a:r>
              <a:rPr sz="1100" b="1">
                <a:solidFill>
                  <a:srgbClr val="2C2C2C"/>
                </a:solidFill>
                <a:latin typeface="Calibri"/>
              </a:rPr>
              <a:t>Handrails &amp; stairs</a:t>
            </a:r>
          </a:p>
        </p:txBody>
      </p:sp>
      <p:sp>
        <p:nvSpPr>
          <p:cNvPr id="19" name="TextBox 18"/>
          <p:cNvSpPr txBox="1"/>
          <p:nvPr/>
        </p:nvSpPr>
        <p:spPr>
          <a:xfrm>
            <a:off x="2651760" y="2642616"/>
            <a:ext cx="1371600" cy="438912"/>
          </a:xfrm>
          <a:prstGeom prst="rect">
            <a:avLst/>
          </a:prstGeom>
          <a:noFill/>
        </p:spPr>
        <p:txBody>
          <a:bodyPr wrap="square">
            <a:spAutoFit/>
          </a:bodyPr>
          <a:lstStyle/>
          <a:p>
            <a:pPr algn="l"/>
            <a:r>
              <a:rPr sz="900" b="0">
                <a:solidFill>
                  <a:srgbClr val="7A6555"/>
                </a:solidFill>
                <a:latin typeface="Calibri"/>
              </a:rPr>
              <a:t>3m-6m sections</a:t>
            </a:r>
          </a:p>
        </p:txBody>
      </p:sp>
      <p:sp>
        <p:nvSpPr>
          <p:cNvPr id="20" name="TextBox 19"/>
          <p:cNvSpPr txBox="1"/>
          <p:nvPr/>
        </p:nvSpPr>
        <p:spPr>
          <a:xfrm>
            <a:off x="3931920" y="2642616"/>
            <a:ext cx="1371600" cy="438912"/>
          </a:xfrm>
          <a:prstGeom prst="rect">
            <a:avLst/>
          </a:prstGeom>
          <a:noFill/>
        </p:spPr>
        <p:txBody>
          <a:bodyPr wrap="square">
            <a:spAutoFit/>
          </a:bodyPr>
          <a:lstStyle/>
          <a:p>
            <a:pPr algn="l"/>
            <a:r>
              <a:rPr sz="900" b="1">
                <a:solidFill>
                  <a:srgbClr val="B87333"/>
                </a:solidFill>
                <a:latin typeface="Calibri"/>
              </a:rPr>
              <a:t>→ 7m kettle</a:t>
            </a:r>
          </a:p>
        </p:txBody>
      </p:sp>
      <p:sp>
        <p:nvSpPr>
          <p:cNvPr id="21" name="Oval 20"/>
          <p:cNvSpPr/>
          <p:nvPr/>
        </p:nvSpPr>
        <p:spPr>
          <a:xfrm>
            <a:off x="548640" y="3154680"/>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081528"/>
            <a:ext cx="1828800" cy="438912"/>
          </a:xfrm>
          <a:prstGeom prst="rect">
            <a:avLst/>
          </a:prstGeom>
          <a:noFill/>
        </p:spPr>
        <p:txBody>
          <a:bodyPr wrap="square">
            <a:spAutoFit/>
          </a:bodyPr>
          <a:lstStyle/>
          <a:p>
            <a:pPr algn="l"/>
            <a:r>
              <a:rPr sz="1100" b="1">
                <a:solidFill>
                  <a:srgbClr val="2C2C2C"/>
                </a:solidFill>
                <a:latin typeface="Calibri"/>
              </a:rPr>
              <a:t>Grating (floor panels)</a:t>
            </a:r>
          </a:p>
        </p:txBody>
      </p:sp>
      <p:sp>
        <p:nvSpPr>
          <p:cNvPr id="23" name="TextBox 22"/>
          <p:cNvSpPr txBox="1"/>
          <p:nvPr/>
        </p:nvSpPr>
        <p:spPr>
          <a:xfrm>
            <a:off x="2651760" y="3081528"/>
            <a:ext cx="1371600" cy="438912"/>
          </a:xfrm>
          <a:prstGeom prst="rect">
            <a:avLst/>
          </a:prstGeom>
          <a:noFill/>
        </p:spPr>
        <p:txBody>
          <a:bodyPr wrap="square">
            <a:spAutoFit/>
          </a:bodyPr>
          <a:lstStyle/>
          <a:p>
            <a:pPr algn="l"/>
            <a:r>
              <a:rPr sz="900" b="0">
                <a:solidFill>
                  <a:srgbClr val="7A6555"/>
                </a:solidFill>
                <a:latin typeface="Calibri"/>
              </a:rPr>
              <a:t>Standard panels</a:t>
            </a:r>
          </a:p>
        </p:txBody>
      </p:sp>
      <p:sp>
        <p:nvSpPr>
          <p:cNvPr id="24" name="TextBox 23"/>
          <p:cNvSpPr txBox="1"/>
          <p:nvPr/>
        </p:nvSpPr>
        <p:spPr>
          <a:xfrm>
            <a:off x="3931920" y="3081528"/>
            <a:ext cx="1371600" cy="438912"/>
          </a:xfrm>
          <a:prstGeom prst="rect">
            <a:avLst/>
          </a:prstGeom>
          <a:noFill/>
        </p:spPr>
        <p:txBody>
          <a:bodyPr wrap="square">
            <a:spAutoFit/>
          </a:bodyPr>
          <a:lstStyle/>
          <a:p>
            <a:pPr algn="l"/>
            <a:r>
              <a:rPr sz="900" b="1">
                <a:solidFill>
                  <a:srgbClr val="B87333"/>
                </a:solidFill>
                <a:latin typeface="Calibri"/>
              </a:rPr>
              <a:t>→ 7m kettle</a:t>
            </a:r>
          </a:p>
        </p:txBody>
      </p:sp>
      <p:sp>
        <p:nvSpPr>
          <p:cNvPr id="25" name="Oval 24"/>
          <p:cNvSpPr/>
          <p:nvPr/>
        </p:nvSpPr>
        <p:spPr>
          <a:xfrm>
            <a:off x="548640" y="3593592"/>
            <a:ext cx="109728" cy="109728"/>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520440"/>
            <a:ext cx="1828800" cy="438912"/>
          </a:xfrm>
          <a:prstGeom prst="rect">
            <a:avLst/>
          </a:prstGeom>
          <a:noFill/>
        </p:spPr>
        <p:txBody>
          <a:bodyPr wrap="square">
            <a:spAutoFit/>
          </a:bodyPr>
          <a:lstStyle/>
          <a:p>
            <a:pPr algn="l"/>
            <a:r>
              <a:rPr sz="1100" b="1">
                <a:solidFill>
                  <a:srgbClr val="2C2C2C"/>
                </a:solidFill>
                <a:latin typeface="Calibri"/>
              </a:rPr>
              <a:t>Bolts, nuts, hardware</a:t>
            </a:r>
          </a:p>
        </p:txBody>
      </p:sp>
      <p:sp>
        <p:nvSpPr>
          <p:cNvPr id="27" name="TextBox 26"/>
          <p:cNvSpPr txBox="1"/>
          <p:nvPr/>
        </p:nvSpPr>
        <p:spPr>
          <a:xfrm>
            <a:off x="2651760" y="3520440"/>
            <a:ext cx="1371600" cy="438912"/>
          </a:xfrm>
          <a:prstGeom prst="rect">
            <a:avLst/>
          </a:prstGeom>
          <a:noFill/>
        </p:spPr>
        <p:txBody>
          <a:bodyPr wrap="square">
            <a:spAutoFit/>
          </a:bodyPr>
          <a:lstStyle/>
          <a:p>
            <a:pPr algn="l"/>
            <a:r>
              <a:rPr sz="900" b="0">
                <a:solidFill>
                  <a:srgbClr val="7A6555"/>
                </a:solidFill>
                <a:latin typeface="Calibri"/>
              </a:rPr>
              <a:t>Per ASTM A153</a:t>
            </a:r>
          </a:p>
        </p:txBody>
      </p:sp>
      <p:sp>
        <p:nvSpPr>
          <p:cNvPr id="28" name="TextBox 27"/>
          <p:cNvSpPr txBox="1"/>
          <p:nvPr/>
        </p:nvSpPr>
        <p:spPr>
          <a:xfrm>
            <a:off x="3931920" y="3520440"/>
            <a:ext cx="1371600" cy="438912"/>
          </a:xfrm>
          <a:prstGeom prst="rect">
            <a:avLst/>
          </a:prstGeom>
          <a:noFill/>
        </p:spPr>
        <p:txBody>
          <a:bodyPr wrap="square">
            <a:spAutoFit/>
          </a:bodyPr>
          <a:lstStyle/>
          <a:p>
            <a:pPr algn="l"/>
            <a:r>
              <a:rPr sz="900" b="1">
                <a:solidFill>
                  <a:srgbClr val="B87333"/>
                </a:solidFill>
                <a:latin typeface="Calibri"/>
              </a:rPr>
              <a:t>→ 65cm centrifuge</a:t>
            </a:r>
          </a:p>
        </p:txBody>
      </p:sp>
      <p:sp>
        <p:nvSpPr>
          <p:cNvPr id="29" name="TextBox 28"/>
          <p:cNvSpPr txBox="1"/>
          <p:nvPr/>
        </p:nvSpPr>
        <p:spPr>
          <a:xfrm>
            <a:off x="5669280" y="1417320"/>
            <a:ext cx="2286000" cy="548640"/>
          </a:xfrm>
          <a:prstGeom prst="rect">
            <a:avLst/>
          </a:prstGeom>
          <a:noFill/>
        </p:spPr>
        <p:txBody>
          <a:bodyPr wrap="square">
            <a:spAutoFit/>
          </a:bodyPr>
          <a:lstStyle/>
          <a:p>
            <a:pPr algn="ctr"/>
            <a:r>
              <a:rPr sz="3600" b="1">
                <a:solidFill>
                  <a:srgbClr val="B87333"/>
                </a:solidFill>
                <a:latin typeface="Georgia"/>
              </a:rPr>
              <a:t>$41B</a:t>
            </a:r>
          </a:p>
        </p:txBody>
      </p:sp>
      <p:sp>
        <p:nvSpPr>
          <p:cNvPr id="30" name="TextBox 29"/>
          <p:cNvSpPr txBox="1"/>
          <p:nvPr/>
        </p:nvSpPr>
        <p:spPr>
          <a:xfrm>
            <a:off x="5669280" y="1920240"/>
            <a:ext cx="2286000" cy="457200"/>
          </a:xfrm>
          <a:prstGeom prst="rect">
            <a:avLst/>
          </a:prstGeom>
          <a:noFill/>
        </p:spPr>
        <p:txBody>
          <a:bodyPr wrap="square">
            <a:spAutoFit/>
          </a:bodyPr>
          <a:lstStyle/>
          <a:p>
            <a:pPr algn="ctr"/>
            <a:r>
              <a:rPr sz="900" b="0">
                <a:solidFill>
                  <a:srgbClr val="5A4A3A"/>
                </a:solidFill>
                <a:latin typeface="Calibri"/>
              </a:rPr>
              <a:t>Fabrication &amp; construction
(Rystad Energy, Jan 2026)</a:t>
            </a:r>
          </a:p>
        </p:txBody>
      </p:sp>
      <p:sp>
        <p:nvSpPr>
          <p:cNvPr id="31" name="TextBox 30"/>
          <p:cNvSpPr txBox="1"/>
          <p:nvPr/>
        </p:nvSpPr>
        <p:spPr>
          <a:xfrm>
            <a:off x="5669280" y="251460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2" name="TextBox 31"/>
          <p:cNvSpPr txBox="1"/>
          <p:nvPr/>
        </p:nvSpPr>
        <p:spPr>
          <a:xfrm>
            <a:off x="5669280" y="3063240"/>
            <a:ext cx="2286000" cy="457200"/>
          </a:xfrm>
          <a:prstGeom prst="rect">
            <a:avLst/>
          </a:prstGeom>
          <a:noFill/>
        </p:spPr>
        <p:txBody>
          <a:bodyPr wrap="square">
            <a:spAutoFit/>
          </a:bodyPr>
          <a:lstStyle/>
          <a:p>
            <a:pPr algn="ctr"/>
            <a:r>
              <a:rPr sz="900" b="0">
                <a:solidFill>
                  <a:srgbClr val="7A6555"/>
                </a:solidFill>
                <a:latin typeface="Calibri"/>
              </a:rPr>
              <a:t>Materials &amp; metals</a:t>
            </a:r>
          </a:p>
        </p:txBody>
      </p:sp>
      <p:sp>
        <p:nvSpPr>
          <p:cNvPr id="33" name="TextBox 32"/>
          <p:cNvSpPr txBox="1"/>
          <p:nvPr/>
        </p:nvSpPr>
        <p:spPr>
          <a:xfrm>
            <a:off x="5669280" y="3520440"/>
            <a:ext cx="2286000" cy="548640"/>
          </a:xfrm>
          <a:prstGeom prst="rect">
            <a:avLst/>
          </a:prstGeom>
          <a:noFill/>
        </p:spPr>
        <p:txBody>
          <a:bodyPr wrap="square">
            <a:spAutoFit/>
          </a:bodyPr>
          <a:lstStyle/>
          <a:p>
            <a:pPr algn="ctr"/>
            <a:r>
              <a:rPr sz="2800" b="1">
                <a:solidFill>
                  <a:srgbClr val="5A4A3A"/>
                </a:solidFill>
                <a:latin typeface="Georgia"/>
              </a:rPr>
              <a:t>$10B+</a:t>
            </a:r>
          </a:p>
        </p:txBody>
      </p:sp>
      <p:sp>
        <p:nvSpPr>
          <p:cNvPr id="34" name="TextBox 33"/>
          <p:cNvSpPr txBox="1"/>
          <p:nvPr/>
        </p:nvSpPr>
        <p:spPr>
          <a:xfrm>
            <a:off x="5669280" y="4069080"/>
            <a:ext cx="2286000" cy="457200"/>
          </a:xfrm>
          <a:prstGeom prst="rect">
            <a:avLst/>
          </a:prstGeom>
          <a:noFill/>
        </p:spPr>
        <p:txBody>
          <a:bodyPr wrap="square">
            <a:spAutoFit/>
          </a:bodyPr>
          <a:lstStyle/>
          <a:p>
            <a:pPr algn="ctr"/>
            <a:r>
              <a:rPr sz="900" b="0">
                <a:solidFill>
                  <a:srgbClr val="7A6555"/>
                </a:solidFill>
                <a:latin typeface="Calibri"/>
              </a:rPr>
              <a:t>Electrical &amp; instrumentation</a:t>
            </a:r>
          </a:p>
        </p:txBody>
      </p:sp>
      <p:sp>
        <p:nvSpPr>
          <p:cNvPr id="35" name="Rectangle 34"/>
          <p:cNvSpPr/>
          <p:nvPr/>
        </p:nvSpPr>
        <p:spPr>
          <a:xfrm>
            <a:off x="502920" y="4315968"/>
            <a:ext cx="8138160" cy="548640"/>
          </a:xfrm>
          <a:prstGeom prst="rect">
            <a:avLst/>
          </a:prstGeom>
          <a:solidFill>
            <a:srgbClr val="F0E4D0"/>
          </a:solidFill>
          <a:ln w="12700">
            <a:solidFill>
              <a:srgbClr val="B87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352544"/>
            <a:ext cx="7863840" cy="475488"/>
          </a:xfrm>
          <a:prstGeom prst="rect">
            <a:avLst/>
          </a:prstGeom>
          <a:noFill/>
        </p:spPr>
        <p:txBody>
          <a:bodyPr wrap="square">
            <a:spAutoFit/>
          </a:bodyPr>
          <a:lstStyle/>
          <a:p>
            <a:pPr algn="ctr"/>
            <a:r>
              <a:rPr sz="800" b="0" i="1">
                <a:solidFill>
                  <a:srgbClr val="2A1F10"/>
                </a:solidFill>
              </a:rPr>
              <a:t>PYGLARA's kettles handle every product category on this slide. At 300 TM/month, we need to capture less than 3% of the oil sector's annual galvanizing demand to operate at 100% of proven capacity. Only 2 active galvanizers serve all of Venezuela.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2C2C"/>
        </a:solidFill>
        <a:effectLst/>
      </p:bgPr>
    </p:bg>
    <p:spTree>
      <p:nvGrpSpPr>
        <p:cNvPr id="1" name=""/>
        <p:cNvGrpSpPr/>
        <p:nvPr/>
      </p:nvGrpSpPr>
      <p:grpSpPr/>
      <p:sp>
        <p:nvSpPr>
          <p:cNvPr id="2" name="Rectangle 1"/>
          <p:cNvSpPr/>
          <p:nvPr/>
        </p:nvSpPr>
        <p:spPr>
          <a:xfrm>
            <a:off x="0" y="0"/>
            <a:ext cx="9144000" cy="4572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315200" cy="502920"/>
          </a:xfrm>
          <a:prstGeom prst="rect">
            <a:avLst/>
          </a:prstGeom>
          <a:noFill/>
        </p:spPr>
        <p:txBody>
          <a:bodyPr wrap="square">
            <a:spAutoFit/>
          </a:bodyPr>
          <a:lstStyle/>
          <a:p>
            <a:pPr algn="l"/>
            <a:r>
              <a:rPr sz="2600" b="1">
                <a:solidFill>
                  <a:srgbClr val="B87333"/>
                </a:solidFill>
                <a:latin typeface="Georgia"/>
              </a:rPr>
              <a:t>TELECOMMUNICATIONS: 2,000+ NEW TOWERS</a:t>
            </a:r>
          </a:p>
        </p:txBody>
      </p:sp>
      <p:sp>
        <p:nvSpPr>
          <p:cNvPr id="10" name="TextBox 9"/>
          <p:cNvSpPr txBox="1"/>
          <p:nvPr/>
        </p:nvSpPr>
        <p:spPr>
          <a:xfrm>
            <a:off x="548640" y="4617720"/>
            <a:ext cx="8046720" cy="457200"/>
          </a:xfrm>
          <a:prstGeom prst="rect">
            <a:avLst/>
          </a:prstGeom>
          <a:noFill/>
        </p:spPr>
        <p:txBody>
          <a:bodyPr wrap="square">
            <a:spAutoFit/>
          </a:bodyPr>
          <a:lstStyle/>
          <a:p>
            <a:pPr algn="ctr"/>
            <a:r>
              <a:rPr sz="850" b="0" i="1">
                <a:solidFill>
                  <a:srgbClr val="CCC5BA"/>
                </a:solidFill>
                <a:latin typeface="Calibri"/>
              </a:rPr>
              <a:t>Every cell tower requires galvanized steel structure. Every base station needs copper grounding rods. PYGLARA serves BOTH needs — the only company in Venezuela that can.</a:t>
            </a:r>
          </a:p>
        </p:txBody>
      </p:sp>
      <p:sp>
        <p:nvSpPr>
          <p:cNvPr id="11" name="Rectangle 10"/>
          <p:cNvSpPr/>
          <p:nvPr/>
        </p:nvSpPr>
        <p:spPr>
          <a:xfrm>
            <a:off x="685800" y="777240"/>
            <a:ext cx="18288" cy="3246120"/>
          </a:xfrm>
          <a:prstGeom prst="rect">
            <a:avLst/>
          </a:prstGeom>
          <a:solidFill>
            <a:srgbClr val="9E97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4005072"/>
            <a:ext cx="4069080" cy="18288"/>
          </a:xfrm>
          <a:prstGeom prst="rect">
            <a:avLst/>
          </a:prstGeom>
          <a:solidFill>
            <a:srgbClr val="9E97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48234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390900"/>
            <a:ext cx="292608" cy="182880"/>
          </a:xfrm>
          <a:prstGeom prst="rect">
            <a:avLst/>
          </a:prstGeom>
          <a:noFill/>
        </p:spPr>
        <p:txBody>
          <a:bodyPr wrap="square">
            <a:spAutoFit/>
          </a:bodyPr>
          <a:lstStyle/>
          <a:p>
            <a:pPr algn="r"/>
            <a:r>
              <a:rPr sz="700" b="0" i="0">
                <a:solidFill>
                  <a:srgbClr val="CCC5BA"/>
                </a:solidFill>
              </a:rPr>
              <a:t>1K</a:t>
            </a:r>
          </a:p>
        </p:txBody>
      </p:sp>
      <p:sp>
        <p:nvSpPr>
          <p:cNvPr id="15" name="Rectangle 14"/>
          <p:cNvSpPr/>
          <p:nvPr/>
        </p:nvSpPr>
        <p:spPr>
          <a:xfrm>
            <a:off x="685800" y="294132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849880"/>
            <a:ext cx="292608" cy="182880"/>
          </a:xfrm>
          <a:prstGeom prst="rect">
            <a:avLst/>
          </a:prstGeom>
          <a:noFill/>
        </p:spPr>
        <p:txBody>
          <a:bodyPr wrap="square">
            <a:spAutoFit/>
          </a:bodyPr>
          <a:lstStyle/>
          <a:p>
            <a:pPr algn="r"/>
            <a:r>
              <a:rPr sz="700" b="0" i="0">
                <a:solidFill>
                  <a:srgbClr val="CCC5BA"/>
                </a:solidFill>
              </a:rPr>
              <a:t>2K</a:t>
            </a:r>
          </a:p>
        </p:txBody>
      </p:sp>
      <p:sp>
        <p:nvSpPr>
          <p:cNvPr id="17" name="Rectangle 16"/>
          <p:cNvSpPr/>
          <p:nvPr/>
        </p:nvSpPr>
        <p:spPr>
          <a:xfrm>
            <a:off x="685800" y="240030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308860"/>
            <a:ext cx="292608" cy="182880"/>
          </a:xfrm>
          <a:prstGeom prst="rect">
            <a:avLst/>
          </a:prstGeom>
          <a:noFill/>
        </p:spPr>
        <p:txBody>
          <a:bodyPr wrap="square">
            <a:spAutoFit/>
          </a:bodyPr>
          <a:lstStyle/>
          <a:p>
            <a:pPr algn="r"/>
            <a:r>
              <a:rPr sz="700" b="0" i="0">
                <a:solidFill>
                  <a:srgbClr val="CCC5BA"/>
                </a:solidFill>
              </a:rPr>
              <a:t>3K</a:t>
            </a:r>
          </a:p>
        </p:txBody>
      </p:sp>
      <p:sp>
        <p:nvSpPr>
          <p:cNvPr id="19" name="Rectangle 18"/>
          <p:cNvSpPr/>
          <p:nvPr/>
        </p:nvSpPr>
        <p:spPr>
          <a:xfrm>
            <a:off x="685800" y="185928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1767840"/>
            <a:ext cx="292608" cy="182880"/>
          </a:xfrm>
          <a:prstGeom prst="rect">
            <a:avLst/>
          </a:prstGeom>
          <a:noFill/>
        </p:spPr>
        <p:txBody>
          <a:bodyPr wrap="square">
            <a:spAutoFit/>
          </a:bodyPr>
          <a:lstStyle/>
          <a:p>
            <a:pPr algn="r"/>
            <a:r>
              <a:rPr sz="700" b="0" i="0">
                <a:solidFill>
                  <a:srgbClr val="CCC5BA"/>
                </a:solidFill>
              </a:rPr>
              <a:t>4K</a:t>
            </a:r>
          </a:p>
        </p:txBody>
      </p:sp>
      <p:sp>
        <p:nvSpPr>
          <p:cNvPr id="21" name="Rectangle 20"/>
          <p:cNvSpPr/>
          <p:nvPr/>
        </p:nvSpPr>
        <p:spPr>
          <a:xfrm>
            <a:off x="685800" y="1318260"/>
            <a:ext cx="3977640" cy="9144"/>
          </a:xfrm>
          <a:prstGeom prst="rect">
            <a:avLst/>
          </a:prstGeom>
          <a:solidFill>
            <a:srgbClr val="554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1226820"/>
            <a:ext cx="292608" cy="182880"/>
          </a:xfrm>
          <a:prstGeom prst="rect">
            <a:avLst/>
          </a:prstGeom>
          <a:noFill/>
        </p:spPr>
        <p:txBody>
          <a:bodyPr wrap="square">
            <a:spAutoFit/>
          </a:bodyPr>
          <a:lstStyle/>
          <a:p>
            <a:pPr algn="r"/>
            <a:r>
              <a:rPr sz="700" b="0" i="0">
                <a:solidFill>
                  <a:srgbClr val="CCC5BA"/>
                </a:solidFill>
              </a:rPr>
              <a:t>5K</a:t>
            </a:r>
          </a:p>
        </p:txBody>
      </p:sp>
      <p:sp>
        <p:nvSpPr>
          <p:cNvPr id="23" name="TextBox 22"/>
          <p:cNvSpPr txBox="1"/>
          <p:nvPr/>
        </p:nvSpPr>
        <p:spPr>
          <a:xfrm>
            <a:off x="713232" y="576072"/>
            <a:ext cx="1828800" cy="182880"/>
          </a:xfrm>
          <a:prstGeom prst="rect">
            <a:avLst/>
          </a:prstGeom>
          <a:noFill/>
        </p:spPr>
        <p:txBody>
          <a:bodyPr wrap="square">
            <a:spAutoFit/>
          </a:bodyPr>
          <a:lstStyle/>
          <a:p>
            <a:pPr algn="l"/>
            <a:r>
              <a:rPr sz="750" b="0" i="1">
                <a:solidFill>
                  <a:srgbClr val="CCC5BA"/>
                </a:solidFill>
              </a:rPr>
              <a:t>Stations</a:t>
            </a:r>
          </a:p>
        </p:txBody>
      </p:sp>
      <p:sp>
        <p:nvSpPr>
          <p:cNvPr id="24" name="Rectangle 23"/>
          <p:cNvSpPr/>
          <p:nvPr/>
        </p:nvSpPr>
        <p:spPr>
          <a:xfrm>
            <a:off x="960120" y="2400300"/>
            <a:ext cx="1143000" cy="1623060"/>
          </a:xfrm>
          <a:prstGeom prst="rect">
            <a:avLst/>
          </a:prstGeom>
          <a:solidFill>
            <a:srgbClr val="9E97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2171700"/>
            <a:ext cx="1143000" cy="201168"/>
          </a:xfrm>
          <a:prstGeom prst="rect">
            <a:avLst/>
          </a:prstGeom>
          <a:noFill/>
        </p:spPr>
        <p:txBody>
          <a:bodyPr wrap="square">
            <a:spAutoFit/>
          </a:bodyPr>
          <a:lstStyle/>
          <a:p>
            <a:pPr algn="ctr"/>
            <a:r>
              <a:rPr sz="1300" b="1" i="0">
                <a:solidFill>
                  <a:srgbClr val="CCC5BA"/>
                </a:solidFill>
              </a:rPr>
              <a:t>3,000</a:t>
            </a:r>
          </a:p>
        </p:txBody>
      </p:sp>
      <p:sp>
        <p:nvSpPr>
          <p:cNvPr id="26" name="TextBox 25"/>
          <p:cNvSpPr txBox="1"/>
          <p:nvPr/>
        </p:nvSpPr>
        <p:spPr>
          <a:xfrm>
            <a:off x="960120" y="4087368"/>
            <a:ext cx="1143000" cy="365760"/>
          </a:xfrm>
          <a:prstGeom prst="rect">
            <a:avLst/>
          </a:prstGeom>
          <a:noFill/>
        </p:spPr>
        <p:txBody>
          <a:bodyPr wrap="square">
            <a:spAutoFit/>
          </a:bodyPr>
          <a:lstStyle/>
          <a:p>
            <a:pPr algn="ctr"/>
            <a:r>
              <a:rPr sz="850" b="0" i="0">
                <a:solidFill>
                  <a:srgbClr val="CCC5BA"/>
                </a:solidFill>
              </a:rPr>
              <a:t>2024
Existing</a:t>
            </a:r>
          </a:p>
        </p:txBody>
      </p:sp>
      <p:sp>
        <p:nvSpPr>
          <p:cNvPr id="27" name="Rectangle 26"/>
          <p:cNvSpPr/>
          <p:nvPr/>
        </p:nvSpPr>
        <p:spPr>
          <a:xfrm>
            <a:off x="2697480" y="1318260"/>
            <a:ext cx="1143000" cy="2705100"/>
          </a:xfrm>
          <a:prstGeom prst="rect">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7480" y="1089660"/>
            <a:ext cx="1143000" cy="201168"/>
          </a:xfrm>
          <a:prstGeom prst="rect">
            <a:avLst/>
          </a:prstGeom>
          <a:noFill/>
        </p:spPr>
        <p:txBody>
          <a:bodyPr wrap="square">
            <a:spAutoFit/>
          </a:bodyPr>
          <a:lstStyle/>
          <a:p>
            <a:pPr algn="ctr"/>
            <a:r>
              <a:rPr sz="1300" b="1" i="0">
                <a:solidFill>
                  <a:srgbClr val="B87333"/>
                </a:solidFill>
              </a:rPr>
              <a:t>5,000</a:t>
            </a:r>
          </a:p>
        </p:txBody>
      </p:sp>
      <p:sp>
        <p:nvSpPr>
          <p:cNvPr id="29" name="TextBox 28"/>
          <p:cNvSpPr txBox="1"/>
          <p:nvPr/>
        </p:nvSpPr>
        <p:spPr>
          <a:xfrm>
            <a:off x="2697480" y="4087368"/>
            <a:ext cx="1143000" cy="365760"/>
          </a:xfrm>
          <a:prstGeom prst="rect">
            <a:avLst/>
          </a:prstGeom>
          <a:noFill/>
        </p:spPr>
        <p:txBody>
          <a:bodyPr wrap="square">
            <a:spAutoFit/>
          </a:bodyPr>
          <a:lstStyle/>
          <a:p>
            <a:pPr algn="ctr"/>
            <a:r>
              <a:rPr sz="850" b="0" i="0">
                <a:solidFill>
                  <a:srgbClr val="FFFFFF"/>
                </a:solidFill>
              </a:rPr>
              <a:t>2031
Plan</a:t>
            </a:r>
          </a:p>
        </p:txBody>
      </p:sp>
      <p:sp>
        <p:nvSpPr>
          <p:cNvPr id="30" name="TextBox 29"/>
          <p:cNvSpPr txBox="1"/>
          <p:nvPr/>
        </p:nvSpPr>
        <p:spPr>
          <a:xfrm>
            <a:off x="2148840" y="1299972"/>
            <a:ext cx="502920" cy="365760"/>
          </a:xfrm>
          <a:prstGeom prst="rect">
            <a:avLst/>
          </a:prstGeom>
          <a:noFill/>
        </p:spPr>
        <p:txBody>
          <a:bodyPr wrap="square">
            <a:spAutoFit/>
          </a:bodyPr>
          <a:lstStyle/>
          <a:p>
            <a:pPr algn="ctr"/>
            <a:r>
              <a:rPr sz="800" b="1" i="0">
                <a:solidFill>
                  <a:srgbClr val="B87333"/>
                </a:solidFill>
              </a:rPr>
              <a:t>+2,000 new stations</a:t>
            </a:r>
          </a:p>
        </p:txBody>
      </p:sp>
      <p:sp>
        <p:nvSpPr>
          <p:cNvPr id="31" name="Rectangle 30"/>
          <p:cNvSpPr/>
          <p:nvPr/>
        </p:nvSpPr>
        <p:spPr>
          <a:xfrm>
            <a:off x="4846320" y="731520"/>
            <a:ext cx="3977639" cy="3337560"/>
          </a:xfrm>
          <a:prstGeom prst="rect">
            <a:avLst/>
          </a:prstGeom>
          <a:solidFill>
            <a:srgbClr val="3A2A10"/>
          </a:solidFill>
          <a:ln w="19050">
            <a:solidFill>
              <a:srgbClr val="B87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83480" y="822960"/>
            <a:ext cx="3703319" cy="320040"/>
          </a:xfrm>
          <a:prstGeom prst="rect">
            <a:avLst/>
          </a:prstGeom>
          <a:noFill/>
        </p:spPr>
        <p:txBody>
          <a:bodyPr wrap="square">
            <a:spAutoFit/>
          </a:bodyPr>
          <a:lstStyle/>
          <a:p>
            <a:pPr algn="l"/>
            <a:r>
              <a:rPr sz="950" b="1" i="0">
                <a:solidFill>
                  <a:srgbClr val="B87333"/>
                </a:solidFill>
              </a:rPr>
              <a:t>PYGLARA SERVES BOTH DEMAND STREAMS</a:t>
            </a:r>
          </a:p>
        </p:txBody>
      </p:sp>
      <p:sp>
        <p:nvSpPr>
          <p:cNvPr id="33" name="Rectangle 32"/>
          <p:cNvSpPr/>
          <p:nvPr/>
        </p:nvSpPr>
        <p:spPr>
          <a:xfrm>
            <a:off x="4983480" y="1188720"/>
            <a:ext cx="3703319" cy="13716"/>
          </a:xfrm>
          <a:prstGeom prst="rect">
            <a:avLst/>
          </a:prstGeom>
          <a:solidFill>
            <a:srgbClr val="8B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047488" y="1307592"/>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93792" y="1261872"/>
            <a:ext cx="3493007" cy="475487"/>
          </a:xfrm>
          <a:prstGeom prst="rect">
            <a:avLst/>
          </a:prstGeom>
          <a:noFill/>
        </p:spPr>
        <p:txBody>
          <a:bodyPr wrap="square">
            <a:spAutoFit/>
          </a:bodyPr>
          <a:lstStyle/>
          <a:p>
            <a:pPr algn="l"/>
            <a:r>
              <a:rPr sz="850" b="0" i="0">
                <a:solidFill>
                  <a:srgbClr val="FFFFFF"/>
                </a:solidFill>
              </a:rPr>
              <a:t>Tower steel demand: ~10,000 tons (2025-2031)</a:t>
            </a:r>
          </a:p>
        </p:txBody>
      </p:sp>
      <p:sp>
        <p:nvSpPr>
          <p:cNvPr id="36" name="Oval 35"/>
          <p:cNvSpPr/>
          <p:nvPr/>
        </p:nvSpPr>
        <p:spPr>
          <a:xfrm>
            <a:off x="5047488" y="1828799"/>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3792" y="1783079"/>
            <a:ext cx="3493007" cy="475487"/>
          </a:xfrm>
          <a:prstGeom prst="rect">
            <a:avLst/>
          </a:prstGeom>
          <a:noFill/>
        </p:spPr>
        <p:txBody>
          <a:bodyPr wrap="square">
            <a:spAutoFit/>
          </a:bodyPr>
          <a:lstStyle/>
          <a:p>
            <a:pPr algn="l"/>
            <a:r>
              <a:rPr sz="850" b="0" i="0">
                <a:solidFill>
                  <a:srgbClr val="FFFFFF"/>
                </a:solidFill>
              </a:rPr>
              <a:t>Ground rod demand: ~18,000 copper rods nationwide</a:t>
            </a:r>
          </a:p>
        </p:txBody>
      </p:sp>
      <p:sp>
        <p:nvSpPr>
          <p:cNvPr id="38" name="Oval 37"/>
          <p:cNvSpPr/>
          <p:nvPr/>
        </p:nvSpPr>
        <p:spPr>
          <a:xfrm>
            <a:off x="5047488" y="2350006"/>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3792" y="2304286"/>
            <a:ext cx="3493007" cy="475487"/>
          </a:xfrm>
          <a:prstGeom prst="rect">
            <a:avLst/>
          </a:prstGeom>
          <a:noFill/>
        </p:spPr>
        <p:txBody>
          <a:bodyPr wrap="square">
            <a:spAutoFit/>
          </a:bodyPr>
          <a:lstStyle/>
          <a:p>
            <a:pPr algn="l"/>
            <a:r>
              <a:rPr sz="850" b="0" i="0">
                <a:solidFill>
                  <a:srgbClr val="FFFFFF"/>
                </a:solidFill>
              </a:rPr>
              <a:t>At 300 TM/month: all tower steel covered in 3 months</a:t>
            </a:r>
          </a:p>
        </p:txBody>
      </p:sp>
      <p:sp>
        <p:nvSpPr>
          <p:cNvPr id="40" name="Oval 39"/>
          <p:cNvSpPr/>
          <p:nvPr/>
        </p:nvSpPr>
        <p:spPr>
          <a:xfrm>
            <a:off x="5047488" y="2871213"/>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93792" y="2825493"/>
            <a:ext cx="3493007" cy="475487"/>
          </a:xfrm>
          <a:prstGeom prst="rect">
            <a:avLst/>
          </a:prstGeom>
          <a:noFill/>
        </p:spPr>
        <p:txBody>
          <a:bodyPr wrap="square">
            <a:spAutoFit/>
          </a:bodyPr>
          <a:lstStyle/>
          <a:p>
            <a:pPr algn="l"/>
            <a:r>
              <a:rPr sz="850" b="0" i="0">
                <a:solidFill>
                  <a:srgbClr val="FFFFFF"/>
                </a:solidFill>
              </a:rPr>
              <a:t>At 936 rods/day: all ground rods produced in 20 days</a:t>
            </a:r>
          </a:p>
        </p:txBody>
      </p:sp>
      <p:sp>
        <p:nvSpPr>
          <p:cNvPr id="42" name="Oval 41"/>
          <p:cNvSpPr/>
          <p:nvPr/>
        </p:nvSpPr>
        <p:spPr>
          <a:xfrm>
            <a:off x="5047488" y="3392420"/>
            <a:ext cx="73152" cy="73152"/>
          </a:xfrm>
          <a:prstGeom prst="ellipse">
            <a:avLst/>
          </a:prstGeom>
          <a:solidFill>
            <a:srgbClr val="B87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93792" y="3346700"/>
            <a:ext cx="3493007" cy="475487"/>
          </a:xfrm>
          <a:prstGeom prst="rect">
            <a:avLst/>
          </a:prstGeom>
          <a:noFill/>
        </p:spPr>
        <p:txBody>
          <a:bodyPr wrap="square">
            <a:spAutoFit/>
          </a:bodyPr>
          <a:lstStyle/>
          <a:p>
            <a:pPr algn="l"/>
            <a:r>
              <a:rPr sz="850" b="0" i="0">
                <a:solidFill>
                  <a:srgbClr val="FFFFFF"/>
                </a:solidFill>
              </a:rPr>
              <a:t>Only company in Venezuela providing both: galvanized structure + copper grounding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WHY GALVANIZING</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Hot-dip galvanizing outperforms paint in every aspect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377440"/>
                <a:gridCol w="2834640"/>
                <a:gridCol w="283464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GALVANIZED</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2D7D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PAINT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B83B3B"/>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Service life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50-100 years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3-5 years (requires repainting)</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Bond type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Metallurgical bond (zinc-iron)</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Surface adhesion (peels off)</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Self-healing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YES — zinc protects cuts and scratches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NO — any damage exposes the steel</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Lifecycle cost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~70% cheaper long-term</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Repainting every 3-5 years adds up</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Impact resistance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Excellent — no bubbles, flakes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Cracks, blisters and peels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Corner protection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Corners receive MORE zinc (galvanic)</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Corners receive LESS paint</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5C4033"/>
                          </a:solidFill>
                          <a:latin typeface="Calibri" pitchFamily="34" charset="0"/>
                          <a:ea typeface="Calibri" pitchFamily="34" charset="-122"/>
                          <a:cs typeface="Calibri" pitchFamily="34" charset="-120"/>
                        </a:rPr>
                        <a:t>Maintenance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D7D46"/>
                          </a:solidFill>
                          <a:latin typeface="Calibri" pitchFamily="34" charset="0"/>
                          <a:ea typeface="Calibri" pitchFamily="34" charset="-122"/>
                          <a:cs typeface="Calibri" pitchFamily="34" charset="-120"/>
                        </a:rPr>
                        <a:t>Zero for decades</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83B3B"/>
                          </a:solidFill>
                          <a:latin typeface="Calibri" pitchFamily="34" charset="0"/>
                          <a:ea typeface="Calibri" pitchFamily="34" charset="-122"/>
                          <a:cs typeface="Calibri" pitchFamily="34" charset="-120"/>
                        </a:rPr>
                        <a:t>Constant inspection and repainting</a:t>
                      </a:r>
                      <a:endParaRPr lang="en-US" sz="95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389120"/>
            <a:ext cx="8046720" cy="548640"/>
          </a:xfrm>
          <a:prstGeom prst="rect">
            <a:avLst/>
          </a:prstGeom>
          <a:solidFill>
            <a:srgbClr val="EDE8E0"/>
          </a:solidFill>
          <a:ln w="19050">
            <a:solidFill>
              <a:srgbClr val="B87333"/>
            </a:solidFill>
            <a:prstDash val="solid"/>
          </a:ln>
        </p:spPr>
        <p:txBody>
          <a:bodyPr/>
          <a:p/>
        </p:txBody>
      </p:sp>
      <p:sp>
        <p:nvSpPr>
          <p:cNvPr id="8" name="Text 5"/>
          <p:cNvSpPr/>
          <p:nvPr/>
        </p:nvSpPr>
        <p:spPr>
          <a:xfrm>
            <a:off x="731520" y="4389120"/>
            <a:ext cx="7680960" cy="548640"/>
          </a:xfrm>
          <a:prstGeom prst="rect">
            <a:avLst/>
          </a:prstGeom>
          <a:noFill/>
          <a:ln/>
        </p:spPr>
        <p:txBody>
          <a:bodyPr wrap="square" rtlCol="0" anchor="ctr"/>
          <a:lstStyle/>
          <a:p>
            <a:pPr algn="ctr" indent="0" marL="0">
              <a:buNone/>
            </a:pPr>
            <a:r>
              <a:rPr lang="en-US" sz="1050" b="1" i="1" dirty="0">
                <a:solidFill>
                  <a:srgbClr val="8B5A2B"/>
                </a:solidFill>
                <a:latin typeface="Calibri" pitchFamily="34" charset="0"/>
                <a:ea typeface="Calibri" pitchFamily="34" charset="-122"/>
                <a:cs typeface="Calibri" pitchFamily="34" charset="-120"/>
              </a:rPr>
              <a:t>Galvanizing is not a coating — it is a permanent metallurgical bond between zinc and steel. The zinc sacrifices itself to protect the iron (cathodic protection).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8 / 30</a:t>
            </a:r>
            <a:endParaRPr lang="en-US" sz="800" dirty="0"/>
          </a:p>
        </p:txBody>
      </p:sp>
      <p:sp>
        <p:nvSpPr>
          <p:cNvPr id="4" name="Text 2"/>
          <p:cNvSpPr/>
          <p:nvPr/>
        </p:nvSpPr>
        <p:spPr>
          <a:xfrm>
            <a:off x="548640" y="274320"/>
            <a:ext cx="411480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THE PLANT</a:t>
            </a:r>
            <a:endParaRPr lang="en-US" sz="3400" dirty="0"/>
          </a:p>
        </p:txBody>
      </p:sp>
      <p:sp>
        <p:nvSpPr>
          <p:cNvPr id="5" name="Text 3"/>
          <p:cNvSpPr/>
          <p:nvPr/>
        </p:nvSpPr>
        <p:spPr>
          <a:xfrm>
            <a:off x="548640" y="822960"/>
            <a:ext cx="4114800" cy="320040"/>
          </a:xfrm>
          <a:prstGeom prst="rect">
            <a:avLst/>
          </a:prstGeom>
          <a:noFill/>
          <a:ln/>
        </p:spPr>
        <p:txBody>
          <a:bodyPr wrap="square" lIns="0" tIns="0" rIns="0" bIns="0" rtlCol="0" anchor="ctr"/>
          <a:lstStyle/>
          <a:p>
            <a:pPr indent="0" marL="0">
              <a:buNone/>
            </a:pPr>
            <a:r>
              <a:rPr lang="en-US" sz="1300" i="1" dirty="0">
                <a:solidFill>
                  <a:srgbClr val="8B5A2B"/>
                </a:solidFill>
                <a:latin typeface="Calibri" pitchFamily="34" charset="0"/>
                <a:ea typeface="Calibri" pitchFamily="34" charset="-122"/>
                <a:cs typeface="Calibri" pitchFamily="34" charset="-120"/>
              </a:rPr>
              <a:t>50 years of industrial operations</a:t>
            </a:r>
            <a:endParaRPr lang="en-US" sz="1300" dirty="0"/>
          </a:p>
        </p:txBody>
      </p:sp>
      <p:pic>
        <p:nvPicPr>
          <p:cNvPr id="6" name="Image 0" descr="preencoded.png"/>
          <p:cNvPicPr>
            <a:picLocks noChangeAspect="1"/>
          </p:cNvPicPr>
          <p:nvPr/>
        </p:nvPicPr>
        <p:blipFill>
          <a:blip r:embed="rId1"/>
          <a:stretch>
            <a:fillRect/>
          </a:stretch>
        </p:blipFill>
        <p:spPr>
          <a:xfrm>
            <a:off x="640080" y="1463040"/>
            <a:ext cx="292608" cy="292608"/>
          </a:xfrm>
          <a:prstGeom prst="rect">
            <a:avLst/>
          </a:prstGeom>
        </p:spPr>
      </p:pic>
      <p:sp>
        <p:nvSpPr>
          <p:cNvPr id="7" name="Text 4"/>
          <p:cNvSpPr/>
          <p:nvPr/>
        </p:nvSpPr>
        <p:spPr>
          <a:xfrm>
            <a:off x="1097280" y="1417320"/>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Zona Industrial I, Barquisimeto, Estado Lara</a:t>
            </a:r>
            <a:endParaRPr lang="en-US" sz="1100" dirty="0"/>
          </a:p>
        </p:txBody>
      </p:sp>
      <p:pic>
        <p:nvPicPr>
          <p:cNvPr id="8" name="Image 1" descr="preencoded.png"/>
          <p:cNvPicPr>
            <a:picLocks noChangeAspect="1"/>
          </p:cNvPicPr>
          <p:nvPr/>
        </p:nvPicPr>
        <p:blipFill>
          <a:blip r:embed="rId2"/>
          <a:stretch>
            <a:fillRect/>
          </a:stretch>
        </p:blipFill>
        <p:spPr>
          <a:xfrm>
            <a:off x="640080" y="2121408"/>
            <a:ext cx="292608" cy="292608"/>
          </a:xfrm>
          <a:prstGeom prst="rect">
            <a:avLst/>
          </a:prstGeom>
        </p:spPr>
      </p:pic>
      <p:sp>
        <p:nvSpPr>
          <p:cNvPr id="9" name="Text 5"/>
          <p:cNvSpPr/>
          <p:nvPr/>
        </p:nvSpPr>
        <p:spPr>
          <a:xfrm>
            <a:off x="1097280" y="2075688"/>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3,640 m2 across 2 industrial warehouses</a:t>
            </a:r>
            <a:endParaRPr lang="en-US" sz="1100" dirty="0"/>
          </a:p>
        </p:txBody>
      </p:sp>
      <p:pic>
        <p:nvPicPr>
          <p:cNvPr id="10" name="Image 2" descr="preencoded.png"/>
          <p:cNvPicPr>
            <a:picLocks noChangeAspect="1"/>
          </p:cNvPicPr>
          <p:nvPr/>
        </p:nvPicPr>
        <p:blipFill>
          <a:blip r:embed="rId3"/>
          <a:stretch>
            <a:fillRect/>
          </a:stretch>
        </p:blipFill>
        <p:spPr>
          <a:xfrm>
            <a:off x="640080" y="2779776"/>
            <a:ext cx="292608" cy="292608"/>
          </a:xfrm>
          <a:prstGeom prst="rect">
            <a:avLst/>
          </a:prstGeom>
        </p:spPr>
      </p:pic>
      <p:sp>
        <p:nvSpPr>
          <p:cNvPr id="11" name="Text 6"/>
          <p:cNvSpPr/>
          <p:nvPr/>
        </p:nvSpPr>
        <p:spPr>
          <a:xfrm>
            <a:off x="1097280" y="2734056"/>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Property title: clean</a:t>
            </a:r>
            <a:endParaRPr lang="en-US" sz="1100" dirty="0"/>
          </a:p>
        </p:txBody>
      </p:sp>
      <p:pic>
        <p:nvPicPr>
          <p:cNvPr id="12" name="Image 3" descr="preencoded.png"/>
          <p:cNvPicPr>
            <a:picLocks noChangeAspect="1"/>
          </p:cNvPicPr>
          <p:nvPr/>
        </p:nvPicPr>
        <p:blipFill>
          <a:blip r:embed="rId4"/>
          <a:stretch>
            <a:fillRect/>
          </a:stretch>
        </p:blipFill>
        <p:spPr>
          <a:xfrm>
            <a:off x="640080" y="3438144"/>
            <a:ext cx="292608" cy="292608"/>
          </a:xfrm>
          <a:prstGeom prst="rect">
            <a:avLst/>
          </a:prstGeom>
        </p:spPr>
      </p:pic>
      <p:sp>
        <p:nvSpPr>
          <p:cNvPr id="13" name="Text 7"/>
          <p:cNvSpPr/>
          <p:nvPr/>
        </p:nvSpPr>
        <p:spPr>
          <a:xfrm>
            <a:off x="1097280" y="3392424"/>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PDVSA gas (active contract), 66 kVA, industrial water</a:t>
            </a:r>
            <a:endParaRPr lang="en-US" sz="1100" dirty="0"/>
          </a:p>
        </p:txBody>
      </p:sp>
      <p:pic>
        <p:nvPicPr>
          <p:cNvPr id="14" name="Image 4" descr="preencoded.png"/>
          <p:cNvPicPr>
            <a:picLocks noChangeAspect="1"/>
          </p:cNvPicPr>
          <p:nvPr/>
        </p:nvPicPr>
        <p:blipFill>
          <a:blip r:embed="rId5"/>
          <a:stretch>
            <a:fillRect/>
          </a:stretch>
        </p:blipFill>
        <p:spPr>
          <a:xfrm>
            <a:off x="640080" y="4096512"/>
            <a:ext cx="292608" cy="292608"/>
          </a:xfrm>
          <a:prstGeom prst="rect">
            <a:avLst/>
          </a:prstGeom>
        </p:spPr>
      </p:pic>
      <p:sp>
        <p:nvSpPr>
          <p:cNvPr id="15" name="Text 8"/>
          <p:cNvSpPr/>
          <p:nvPr/>
        </p:nvSpPr>
        <p:spPr>
          <a:xfrm>
            <a:off x="1097280" y="4050792"/>
            <a:ext cx="3474720" cy="502920"/>
          </a:xfrm>
          <a:prstGeom prst="rect">
            <a:avLst/>
          </a:prstGeom>
          <a:noFill/>
          <a:ln/>
        </p:spPr>
        <p:txBody>
          <a:bodyPr wrap="square" lIns="0" tIns="0" rIns="0" bIns="0" rtlCol="0" anchor="ctr"/>
          <a:lstStyle/>
          <a:p>
            <a:pPr indent="0" marL="0">
              <a:buNone/>
            </a:pPr>
            <a:r>
              <a:rPr lang="en-US" sz="1100" dirty="0">
                <a:solidFill>
                  <a:srgbClr val="5C4033"/>
                </a:solidFill>
                <a:latin typeface="Calibri" pitchFamily="34" charset="0"/>
                <a:ea typeface="Calibri" pitchFamily="34" charset="-122"/>
                <a:cs typeface="Calibri" pitchFamily="34" charset="-120"/>
              </a:rPr>
              <a:t>RIF: J-07014488-0 | Active municipal license</a:t>
            </a:r>
            <a:endParaRPr lang="en-US" sz="1100" dirty="0"/>
          </a:p>
        </p:txBody>
      </p:sp>
      <p:pic>
        <p:nvPicPr>
          <p:cNvPr id="16" name="Image 5" descr="/sessions/sweet-gallant-wright/pyglara-deck/images/exterior.jpg"/>
          <p:cNvPicPr>
            <a:picLocks noChangeAspect="1"/>
          </p:cNvPicPr>
          <p:nvPr/>
        </p:nvPicPr>
        <p:blipFill>
          <a:blip r:embed="rId6"/>
          <a:srcRect l="0" r="0" t="0" b="0"/>
          <a:stretch/>
        </p:blipFill>
        <p:spPr>
          <a:xfrm>
            <a:off x="5029200" y="548640"/>
            <a:ext cx="3657600" cy="4023360"/>
          </a:xfrm>
          <a:prstGeom prst="rect">
            <a:avLst/>
          </a:prstGeom>
        </p:spPr>
      </p:pic>
      <p:sp>
        <p:nvSpPr>
          <p:cNvPr id="17" name="Shape 9"/>
          <p:cNvSpPr/>
          <p:nvPr/>
        </p:nvSpPr>
        <p:spPr>
          <a:xfrm>
            <a:off x="5029200" y="548640"/>
            <a:ext cx="3657600" cy="4023360"/>
          </a:xfrm>
          <a:prstGeom prst="rect">
            <a:avLst/>
          </a:prstGeom>
          <a:ln w="19050">
            <a:solidFill>
              <a:srgbClr val="B87333"/>
            </a:solidFill>
            <a:prstDash val="solid"/>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9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STRATEGIC LOCATION</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Barquisimeto: logistics hub of central-western Venezuela</a:t>
            </a:r>
            <a:endParaRPr lang="en-US" sz="1100" dirty="0"/>
          </a:p>
        </p:txBody>
      </p:sp>
      <p:pic>
        <p:nvPicPr>
          <p:cNvPr id="6" name="Image 0" descr="/sessions/sweet-gallant-wright/pyglara-deck/images/map_venezuela_real.png"/>
          <p:cNvPicPr>
            <a:picLocks noChangeAspect="1"/>
          </p:cNvPicPr>
          <p:nvPr/>
        </p:nvPicPr>
        <p:blipFill>
          <a:blip r:embed="rId1"/>
          <a:srcRect l="0" r="0" t="0" b="0"/>
          <a:stretch/>
        </p:blipFill>
        <p:spPr>
          <a:xfrm>
            <a:off x="274320" y="868680"/>
            <a:ext cx="8595360" cy="4206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10 / 30</a:t>
            </a:r>
            <a:endParaRPr lang="en-US" sz="800" dirty="0"/>
          </a:p>
        </p:txBody>
      </p:sp>
      <p:sp>
        <p:nvSpPr>
          <p:cNvPr id="4" name="Text 2"/>
          <p:cNvSpPr/>
          <p:nvPr/>
        </p:nvSpPr>
        <p:spPr>
          <a:xfrm>
            <a:off x="548640" y="137160"/>
            <a:ext cx="8046720" cy="45720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GEOGRAPHIC ADVANTAGES</a:t>
            </a:r>
            <a:endParaRPr lang="en-US" sz="2800" dirty="0"/>
          </a:p>
        </p:txBody>
      </p:sp>
      <p:sp>
        <p:nvSpPr>
          <p:cNvPr id="5" name="Text 3"/>
          <p:cNvSpPr/>
          <p:nvPr/>
        </p:nvSpPr>
        <p:spPr>
          <a:xfrm>
            <a:off x="548640" y="594360"/>
            <a:ext cx="8046720" cy="22860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What our location means for the plant</a:t>
            </a:r>
            <a:endParaRPr lang="en-US" sz="1100" dirty="0"/>
          </a:p>
        </p:txBody>
      </p:sp>
      <p:sp>
        <p:nvSpPr>
          <p:cNvPr id="6" name="Shape 4"/>
          <p:cNvSpPr/>
          <p:nvPr/>
        </p:nvSpPr>
        <p:spPr>
          <a:xfrm>
            <a:off x="54864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005840"/>
            <a:ext cx="54864" cy="109728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143000"/>
            <a:ext cx="365760" cy="365760"/>
          </a:xfrm>
          <a:prstGeom prst="rect">
            <a:avLst/>
          </a:prstGeom>
        </p:spPr>
      </p:pic>
      <p:sp>
        <p:nvSpPr>
          <p:cNvPr id="9" name="Text 6"/>
          <p:cNvSpPr/>
          <p:nvPr/>
        </p:nvSpPr>
        <p:spPr>
          <a:xfrm>
            <a:off x="123444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Puerto Cabello — 2.5 hours</a:t>
            </a:r>
            <a:endParaRPr lang="en-US" sz="1100" dirty="0"/>
          </a:p>
        </p:txBody>
      </p:sp>
      <p:sp>
        <p:nvSpPr>
          <p:cNvPr id="10" name="Text 7"/>
          <p:cNvSpPr/>
          <p:nvPr/>
        </p:nvSpPr>
        <p:spPr>
          <a:xfrm>
            <a:off x="123444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Main zinc import port in the country. Reduces raw material delivery costs and lead times.</a:t>
            </a:r>
            <a:endParaRPr lang="en-US" sz="900" dirty="0"/>
          </a:p>
        </p:txBody>
      </p:sp>
      <p:sp>
        <p:nvSpPr>
          <p:cNvPr id="11" name="Shape 8"/>
          <p:cNvSpPr/>
          <p:nvPr/>
        </p:nvSpPr>
        <p:spPr>
          <a:xfrm>
            <a:off x="4754880" y="100584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4754880" y="1005840"/>
            <a:ext cx="54864" cy="109728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4937760" y="1143000"/>
            <a:ext cx="365760" cy="365760"/>
          </a:xfrm>
          <a:prstGeom prst="rect">
            <a:avLst/>
          </a:prstGeom>
        </p:spPr>
      </p:pic>
      <p:sp>
        <p:nvSpPr>
          <p:cNvPr id="14" name="Text 10"/>
          <p:cNvSpPr/>
          <p:nvPr/>
        </p:nvSpPr>
        <p:spPr>
          <a:xfrm>
            <a:off x="5440680" y="107899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Caracas — 3 hours</a:t>
            </a:r>
            <a:endParaRPr lang="en-US" sz="1100" dirty="0"/>
          </a:p>
        </p:txBody>
      </p:sp>
      <p:sp>
        <p:nvSpPr>
          <p:cNvPr id="15" name="Text 11"/>
          <p:cNvSpPr/>
          <p:nvPr/>
        </p:nvSpPr>
        <p:spPr>
          <a:xfrm>
            <a:off x="5440680" y="141732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Direct highway connection to the capital. Access to construction and infrastructure clients.</a:t>
            </a:r>
            <a:endParaRPr lang="en-US" sz="900" dirty="0"/>
          </a:p>
        </p:txBody>
      </p:sp>
      <p:sp>
        <p:nvSpPr>
          <p:cNvPr id="16" name="Shape 12"/>
          <p:cNvSpPr/>
          <p:nvPr/>
        </p:nvSpPr>
        <p:spPr>
          <a:xfrm>
            <a:off x="54864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2286000"/>
            <a:ext cx="54864" cy="109728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2423160"/>
            <a:ext cx="365760" cy="365760"/>
          </a:xfrm>
          <a:prstGeom prst="rect">
            <a:avLst/>
          </a:prstGeom>
        </p:spPr>
      </p:pic>
      <p:sp>
        <p:nvSpPr>
          <p:cNvPr id="19" name="Text 14"/>
          <p:cNvSpPr/>
          <p:nvPr/>
        </p:nvSpPr>
        <p:spPr>
          <a:xfrm>
            <a:off x="123444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Oil sector — Zulia 4 hours</a:t>
            </a:r>
            <a:endParaRPr lang="en-US" sz="1100" dirty="0"/>
          </a:p>
        </p:txBody>
      </p:sp>
      <p:sp>
        <p:nvSpPr>
          <p:cNvPr id="20" name="Text 15"/>
          <p:cNvSpPr/>
          <p:nvPr/>
        </p:nvSpPr>
        <p:spPr>
          <a:xfrm>
            <a:off x="123444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Direct access to Lake Maracaibo oil region. PDVSA and contractors need galvanized steel.</a:t>
            </a:r>
            <a:endParaRPr lang="en-US" sz="900" dirty="0"/>
          </a:p>
        </p:txBody>
      </p:sp>
      <p:sp>
        <p:nvSpPr>
          <p:cNvPr id="21" name="Shape 16"/>
          <p:cNvSpPr/>
          <p:nvPr/>
        </p:nvSpPr>
        <p:spPr>
          <a:xfrm>
            <a:off x="4754880" y="228600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754880" y="2286000"/>
            <a:ext cx="54864" cy="109728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4937760" y="2423160"/>
            <a:ext cx="365760" cy="365760"/>
          </a:xfrm>
          <a:prstGeom prst="rect">
            <a:avLst/>
          </a:prstGeom>
        </p:spPr>
      </p:pic>
      <p:sp>
        <p:nvSpPr>
          <p:cNvPr id="24" name="Text 18"/>
          <p:cNvSpPr/>
          <p:nvPr/>
        </p:nvSpPr>
        <p:spPr>
          <a:xfrm>
            <a:off x="5440680" y="235915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Coverage of 8 states</a:t>
            </a:r>
            <a:endParaRPr lang="en-US" sz="1100" dirty="0"/>
          </a:p>
        </p:txBody>
      </p:sp>
      <p:sp>
        <p:nvSpPr>
          <p:cNvPr id="25" name="Text 19"/>
          <p:cNvSpPr/>
          <p:nvPr/>
        </p:nvSpPr>
        <p:spPr>
          <a:xfrm>
            <a:off x="5440680" y="269748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Lara, Yaracuy, Portuguesa, Falcon, Trujillo, Barinas, Merida, and Zulia. No nearby competitor in the entire region.</a:t>
            </a:r>
            <a:endParaRPr lang="en-US" sz="900" dirty="0"/>
          </a:p>
        </p:txBody>
      </p:sp>
      <p:sp>
        <p:nvSpPr>
          <p:cNvPr id="26" name="Shape 20"/>
          <p:cNvSpPr/>
          <p:nvPr/>
        </p:nvSpPr>
        <p:spPr>
          <a:xfrm>
            <a:off x="54864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548640" y="3566160"/>
            <a:ext cx="54864" cy="1097280"/>
          </a:xfrm>
          <a:prstGeom prst="rect">
            <a:avLst/>
          </a:prstGeom>
          <a:solidFill>
            <a:srgbClr val="B87333"/>
          </a:solidFill>
          <a:ln/>
        </p:spPr>
        <p:txBody>
          <a:bodyPr/>
          <a:p/>
        </p:txBody>
      </p:sp>
      <p:pic>
        <p:nvPicPr>
          <p:cNvPr id="28" name="Image 4" descr="preencoded.png"/>
          <p:cNvPicPr>
            <a:picLocks noChangeAspect="1"/>
          </p:cNvPicPr>
          <p:nvPr/>
        </p:nvPicPr>
        <p:blipFill>
          <a:blip r:embed="rId5"/>
          <a:stretch>
            <a:fillRect/>
          </a:stretch>
        </p:blipFill>
        <p:spPr>
          <a:xfrm>
            <a:off x="731520" y="3703320"/>
            <a:ext cx="365760" cy="365760"/>
          </a:xfrm>
          <a:prstGeom prst="rect">
            <a:avLst/>
          </a:prstGeom>
        </p:spPr>
      </p:pic>
      <p:sp>
        <p:nvSpPr>
          <p:cNvPr id="29" name="Text 22"/>
          <p:cNvSpPr/>
          <p:nvPr/>
        </p:nvSpPr>
        <p:spPr>
          <a:xfrm>
            <a:off x="123444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Industrial Zone I — clients meters away</a:t>
            </a:r>
            <a:endParaRPr lang="en-US" sz="1100" dirty="0"/>
          </a:p>
        </p:txBody>
      </p:sp>
      <p:sp>
        <p:nvSpPr>
          <p:cNvPr id="30" name="Text 23"/>
          <p:cNvSpPr/>
          <p:nvPr/>
        </p:nvSpPr>
        <p:spPr>
          <a:xfrm>
            <a:off x="123444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CORPOELEC, SASGO, Marullo and INDUESCA are in the SAME industrial complex. Zero transport costs.</a:t>
            </a:r>
            <a:endParaRPr lang="en-US" sz="900" dirty="0"/>
          </a:p>
        </p:txBody>
      </p:sp>
      <p:sp>
        <p:nvSpPr>
          <p:cNvPr id="31" name="Shape 24"/>
          <p:cNvSpPr/>
          <p:nvPr/>
        </p:nvSpPr>
        <p:spPr>
          <a:xfrm>
            <a:off x="4754880" y="3566160"/>
            <a:ext cx="393192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4754880" y="3566160"/>
            <a:ext cx="54864" cy="1097280"/>
          </a:xfrm>
          <a:prstGeom prst="rect">
            <a:avLst/>
          </a:prstGeom>
          <a:solidFill>
            <a:srgbClr val="B87333"/>
          </a:solidFill>
          <a:ln/>
        </p:spPr>
        <p:txBody>
          <a:bodyPr/>
          <a:p/>
        </p:txBody>
      </p:sp>
      <p:pic>
        <p:nvPicPr>
          <p:cNvPr id="33" name="Image 5" descr="preencoded.png"/>
          <p:cNvPicPr>
            <a:picLocks noChangeAspect="1"/>
          </p:cNvPicPr>
          <p:nvPr/>
        </p:nvPicPr>
        <p:blipFill>
          <a:blip r:embed="rId6"/>
          <a:stretch>
            <a:fillRect/>
          </a:stretch>
        </p:blipFill>
        <p:spPr>
          <a:xfrm>
            <a:off x="4937760" y="3703320"/>
            <a:ext cx="365760" cy="365760"/>
          </a:xfrm>
          <a:prstGeom prst="rect">
            <a:avLst/>
          </a:prstGeom>
        </p:spPr>
      </p:pic>
      <p:sp>
        <p:nvSpPr>
          <p:cNvPr id="34" name="Text 26"/>
          <p:cNvSpPr/>
          <p:nvPr/>
        </p:nvSpPr>
        <p:spPr>
          <a:xfrm>
            <a:off x="5440680" y="3639312"/>
            <a:ext cx="3017520" cy="320040"/>
          </a:xfrm>
          <a:prstGeom prst="rect">
            <a:avLst/>
          </a:prstGeom>
          <a:noFill/>
          <a:ln/>
        </p:spPr>
        <p:txBody>
          <a:bodyPr wrap="square" lIns="0" tIns="0" rIns="0" bIns="0" rtlCol="0" anchor="ctr"/>
          <a:lstStyle/>
          <a:p>
            <a:pPr indent="0" marL="0">
              <a:buNone/>
            </a:pPr>
            <a:r>
              <a:rPr lang="en-US" sz="1100" b="1" dirty="0">
                <a:solidFill>
                  <a:srgbClr val="8B5A2B"/>
                </a:solidFill>
                <a:latin typeface="Calibri" pitchFamily="34" charset="0"/>
                <a:ea typeface="Calibri" pitchFamily="34" charset="-122"/>
                <a:cs typeface="Calibri" pitchFamily="34" charset="-120"/>
              </a:rPr>
              <a:t>Industrial gas and energy pricing</a:t>
            </a:r>
            <a:endParaRPr lang="en-US" sz="1100" dirty="0"/>
          </a:p>
        </p:txBody>
      </p:sp>
      <p:sp>
        <p:nvSpPr>
          <p:cNvPr id="35" name="Text 27"/>
          <p:cNvSpPr/>
          <p:nvPr/>
        </p:nvSpPr>
        <p:spPr>
          <a:xfrm>
            <a:off x="5440680" y="3977640"/>
            <a:ext cx="3017520" cy="59436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PDVSA Gas rate for industrial zone. Regulated electricity pricing — very competitive fixed costs.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WORLD-CLASS EQUIPMENT</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Pilling Kettles — W. Pilling Riepe GmbH &amp; Co. KG, Germany (since 1873)</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828800"/>
                <a:gridCol w="3474720"/>
                <a:gridCol w="274320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KETTLE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APPLICATION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7 meters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Installed, burners OK, awaiting zinc</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Towers, poles, structures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9 meters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Pending installation (valued $570K)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Oversized work pieces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3.5 meters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Inactive — needs repair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Cable trays, supports, barriers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Centrifuga 65cm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ACTIVE, good condition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Nails, hardware, bolts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7" name="Shape 4"/>
          <p:cNvSpPr/>
          <p:nvPr/>
        </p:nvSpPr>
        <p:spPr>
          <a:xfrm>
            <a:off x="548640" y="3383280"/>
            <a:ext cx="8046720" cy="1005840"/>
          </a:xfrm>
          <a:prstGeom prst="rect">
            <a:avLst/>
          </a:prstGeom>
          <a:solidFill>
            <a:srgbClr val="FFFFFF"/>
          </a:solidFill>
          <a:ln w="12700">
            <a:solidFill>
              <a:srgbClr val="D4C5B2"/>
            </a:solidFill>
            <a:prstDash val="solid"/>
          </a:ln>
          <a:effectLst>
            <a:outerShdw sx="100000" sy="100000" kx="0" ky="0" algn="bl" rotWithShape="0" blurRad="50800" dist="25400" dir="8100000">
              <a:srgbClr val="000000">
                <a:alpha val="8000"/>
              </a:srgbClr>
            </a:outerShdw>
          </a:effectLst>
        </p:spPr>
        <p:txBody>
          <a:bodyPr/>
          <a:p/>
        </p:txBody>
      </p:sp>
      <p:sp>
        <p:nvSpPr>
          <p:cNvPr id="8" name="Text 5"/>
          <p:cNvSpPr/>
          <p:nvPr/>
        </p:nvSpPr>
        <p:spPr>
          <a:xfrm>
            <a:off x="731520" y="3429000"/>
            <a:ext cx="7680960" cy="457200"/>
          </a:xfrm>
          <a:prstGeom prst="rect">
            <a:avLst/>
          </a:prstGeom>
          <a:noFill/>
          <a:ln/>
        </p:spPr>
        <p:txBody>
          <a:bodyPr wrap="square" rtlCol="0" anchor="ctr"/>
          <a:lstStyle/>
          <a:p>
            <a:pPr indent="0" marL="0">
              <a:buNone/>
            </a:pPr>
            <a:r>
              <a:rPr lang="en-US" sz="1200" dirty="0">
                <a:solidFill>
                  <a:srgbClr val="5C4033"/>
                </a:solidFill>
                <a:latin typeface="Calibri" pitchFamily="34" charset="0"/>
                <a:ea typeface="Calibri" pitchFamily="34" charset="-122"/>
                <a:cs typeface="Calibri" pitchFamily="34" charset="-120"/>
              </a:rPr>
              <a:t xml:space="preserve">Proven production (7m): </a:t>
            </a:r>
            <a:pPr indent="0" marL="0">
              <a:buNone/>
            </a:pPr>
            <a:r>
              <a:rPr lang="en-US" sz="1800" b="1" dirty="0">
                <a:solidFill>
                  <a:srgbClr val="8B5A2B"/>
                </a:solidFill>
                <a:latin typeface="Georgia" pitchFamily="34" charset="0"/>
                <a:ea typeface="Georgia" pitchFamily="34" charset="-122"/>
                <a:cs typeface="Georgia" pitchFamily="34" charset="-120"/>
              </a:rPr>
              <a:t>300 TM/mes</a:t>
            </a:r>
            <a:endParaRPr lang="en-US" sz="1200" dirty="0"/>
          </a:p>
        </p:txBody>
      </p:sp>
      <p:sp>
        <p:nvSpPr>
          <p:cNvPr id="9" name="Text 6"/>
          <p:cNvSpPr/>
          <p:nvPr/>
        </p:nvSpPr>
        <p:spPr>
          <a:xfrm>
            <a:off x="731520" y="3886200"/>
            <a:ext cx="7680960" cy="365760"/>
          </a:xfrm>
          <a:prstGeom prst="rect">
            <a:avLst/>
          </a:prstGeom>
          <a:noFill/>
          <a:ln/>
        </p:spPr>
        <p:txBody>
          <a:bodyPr wrap="square" lIns="0" tIns="0" rIns="0" bIns="0" rtlCol="0" anchor="ctr"/>
          <a:lstStyle/>
          <a:p>
            <a:pPr indent="0" marL="0">
              <a:buNone/>
            </a:pPr>
            <a:r>
              <a:rPr lang="en-US" sz="900" i="1" dirty="0">
                <a:solidFill>
                  <a:srgbClr val="5C4033"/>
                </a:solidFill>
                <a:latin typeface="Calibri" pitchFamily="34" charset="0"/>
                <a:ea typeface="Calibri" pitchFamily="34" charset="-122"/>
                <a:cs typeface="Calibri" pitchFamily="34" charset="-120"/>
              </a:rPr>
              <a:t>Mejor mes historico. La cuba de 9m (pendiente de instalar) y la de 3.5m (en reparacion) representan capacidad adicional futura.</a:t>
            </a:r>
            <a:endParaRPr lang="en-US" sz="900" dirty="0"/>
          </a:p>
        </p:txBody>
      </p:sp>
      <p:pic>
        <p:nvPicPr>
          <p:cNvPr id="10" name="Image 0" descr="/sessions/sweet-gallant-wright/pyglara-deck/images/cuba7m.jpg"/>
          <p:cNvPicPr>
            <a:picLocks noChangeAspect="1"/>
          </p:cNvPicPr>
          <p:nvPr/>
        </p:nvPicPr>
        <p:blipFill>
          <a:blip r:embed="rId1"/>
          <a:srcRect l="0" r="0" t="0" b="0"/>
          <a:stretch/>
        </p:blipFill>
        <p:spPr>
          <a:xfrm>
            <a:off x="475488" y="3977640"/>
            <a:ext cx="1965960" cy="1234440"/>
          </a:xfrm>
          <a:prstGeom prst="rect">
            <a:avLst/>
          </a:prstGeom>
        </p:spPr>
      </p:pic>
      <p:sp>
        <p:nvSpPr>
          <p:cNvPr id="11" name="Shape 7"/>
          <p:cNvSpPr/>
          <p:nvPr/>
        </p:nvSpPr>
        <p:spPr>
          <a:xfrm>
            <a:off x="475488" y="3977640"/>
            <a:ext cx="1965960" cy="1234440"/>
          </a:xfrm>
          <a:prstGeom prst="rect">
            <a:avLst/>
          </a:prstGeom>
          <a:ln w="9525">
            <a:solidFill>
              <a:srgbClr val="B87333"/>
            </a:solidFill>
            <a:prstDash val="solid"/>
          </a:ln>
        </p:spPr>
        <p:txBody>
          <a:bodyPr/>
          <a:p/>
        </p:txBody>
      </p:sp>
      <p:pic>
        <p:nvPicPr>
          <p:cNvPr id="12" name="Image 1" descr="/sessions/sweet-gallant-wright/pyglara-deck/images/cuba9m.jpg"/>
          <p:cNvPicPr>
            <a:picLocks noChangeAspect="1"/>
          </p:cNvPicPr>
          <p:nvPr/>
        </p:nvPicPr>
        <p:blipFill>
          <a:blip r:embed="rId2"/>
          <a:srcRect l="0" r="0" t="0" b="0"/>
          <a:stretch/>
        </p:blipFill>
        <p:spPr>
          <a:xfrm>
            <a:off x="2551176" y="3977640"/>
            <a:ext cx="1965960" cy="1234440"/>
          </a:xfrm>
          <a:prstGeom prst="rect">
            <a:avLst/>
          </a:prstGeom>
        </p:spPr>
      </p:pic>
      <p:sp>
        <p:nvSpPr>
          <p:cNvPr id="13" name="Shape 8"/>
          <p:cNvSpPr/>
          <p:nvPr/>
        </p:nvSpPr>
        <p:spPr>
          <a:xfrm>
            <a:off x="2551176" y="3977640"/>
            <a:ext cx="1965960" cy="1234440"/>
          </a:xfrm>
          <a:prstGeom prst="rect">
            <a:avLst/>
          </a:prstGeom>
          <a:ln w="9525">
            <a:solidFill>
              <a:srgbClr val="B87333"/>
            </a:solidFill>
            <a:prstDash val="solid"/>
          </a:ln>
        </p:spPr>
        <p:txBody>
          <a:bodyPr/>
          <a:p/>
        </p:txBody>
      </p:sp>
      <p:pic>
        <p:nvPicPr>
          <p:cNvPr id="14" name="Image 2" descr="/sessions/sweet-gallant-wright/pyglara-deck/images/centrifuga.jpg"/>
          <p:cNvPicPr>
            <a:picLocks noChangeAspect="1"/>
          </p:cNvPicPr>
          <p:nvPr/>
        </p:nvPicPr>
        <p:blipFill>
          <a:blip r:embed="rId3"/>
          <a:srcRect l="0" r="0" t="0" b="0"/>
          <a:stretch/>
        </p:blipFill>
        <p:spPr>
          <a:xfrm>
            <a:off x="4626864" y="3977640"/>
            <a:ext cx="1965960" cy="1234440"/>
          </a:xfrm>
          <a:prstGeom prst="rect">
            <a:avLst/>
          </a:prstGeom>
        </p:spPr>
      </p:pic>
      <p:sp>
        <p:nvSpPr>
          <p:cNvPr id="15" name="Shape 9"/>
          <p:cNvSpPr/>
          <p:nvPr/>
        </p:nvSpPr>
        <p:spPr>
          <a:xfrm>
            <a:off x="4626864" y="3977640"/>
            <a:ext cx="1965960" cy="1234440"/>
          </a:xfrm>
          <a:prstGeom prst="rect">
            <a:avLst/>
          </a:prstGeom>
          <a:ln w="9525">
            <a:solidFill>
              <a:srgbClr val="B87333"/>
            </a:solidFill>
            <a:prstDash val="solid"/>
          </a:ln>
        </p:spPr>
        <p:txBody>
          <a:bodyPr/>
          <a:p/>
        </p:txBody>
      </p:sp>
      <p:pic>
        <p:nvPicPr>
          <p:cNvPr id="16" name="Image 3" descr="/sessions/sweet-gallant-wright/pyglara-deck/images/horno.jpg"/>
          <p:cNvPicPr>
            <a:picLocks noChangeAspect="1"/>
          </p:cNvPicPr>
          <p:nvPr/>
        </p:nvPicPr>
        <p:blipFill>
          <a:blip r:embed="rId4"/>
          <a:srcRect l="0" r="0" t="0" b="0"/>
          <a:stretch/>
        </p:blipFill>
        <p:spPr>
          <a:xfrm>
            <a:off x="6702552" y="3977640"/>
            <a:ext cx="1965960" cy="1234440"/>
          </a:xfrm>
          <a:prstGeom prst="rect">
            <a:avLst/>
          </a:prstGeom>
        </p:spPr>
      </p:pic>
      <p:sp>
        <p:nvSpPr>
          <p:cNvPr id="17" name="Shape 10"/>
          <p:cNvSpPr/>
          <p:nvPr/>
        </p:nvSpPr>
        <p:spPr>
          <a:xfrm>
            <a:off x="6702552" y="3977640"/>
            <a:ext cx="1965960" cy="1234440"/>
          </a:xfrm>
          <a:prstGeom prst="rect">
            <a:avLst/>
          </a:prstGeom>
          <a:ln w="9525">
            <a:solidFill>
              <a:srgbClr val="B87333"/>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THE PILLING ADVANTAGE</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400" b="1" i="1" dirty="0">
                <a:solidFill>
                  <a:srgbClr val="8B5A2B"/>
                </a:solidFill>
                <a:latin typeface="Calibri" pitchFamily="34" charset="0"/>
                <a:ea typeface="Calibri" pitchFamily="34" charset="-122"/>
                <a:cs typeface="Calibri" pitchFamily="34" charset="-120"/>
              </a:rPr>
              <a:t>“The Ferrari of galvanizing kettles”</a:t>
            </a:r>
            <a:endParaRPr lang="en-US" sz="1400" dirty="0"/>
          </a:p>
        </p:txBody>
      </p:sp>
      <p:sp>
        <p:nvSpPr>
          <p:cNvPr id="6" name="Shape 4"/>
          <p:cNvSpPr/>
          <p:nvPr/>
        </p:nvSpPr>
        <p:spPr>
          <a:xfrm>
            <a:off x="548640" y="12344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34440"/>
            <a:ext cx="54864" cy="777240"/>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731520" y="1435608"/>
            <a:ext cx="320040" cy="320040"/>
          </a:xfrm>
          <a:prstGeom prst="rect">
            <a:avLst/>
          </a:prstGeom>
        </p:spPr>
      </p:pic>
      <p:sp>
        <p:nvSpPr>
          <p:cNvPr id="9" name="Text 6"/>
          <p:cNvSpPr/>
          <p:nvPr/>
        </p:nvSpPr>
        <p:spPr>
          <a:xfrm>
            <a:off x="1188720" y="12344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W. Pilling Riepe GmbH &amp; Co. KG</a:t>
            </a:r>
            <a:endParaRPr lang="en-US" sz="1100" dirty="0"/>
          </a:p>
        </p:txBody>
      </p:sp>
      <p:sp>
        <p:nvSpPr>
          <p:cNvPr id="10" name="Text 7"/>
          <p:cNvSpPr/>
          <p:nvPr/>
        </p:nvSpPr>
        <p:spPr>
          <a:xfrm>
            <a:off x="1188720" y="15819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World's leading manufacturer of galvanizing kettles since 1873 — over 150 years of German engineering.</a:t>
            </a:r>
            <a:endParaRPr lang="en-US" sz="900" dirty="0"/>
          </a:p>
        </p:txBody>
      </p:sp>
      <p:sp>
        <p:nvSpPr>
          <p:cNvPr id="11" name="Shape 8"/>
          <p:cNvSpPr/>
          <p:nvPr/>
        </p:nvSpPr>
        <p:spPr>
          <a:xfrm>
            <a:off x="548640" y="21488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548640" y="2148840"/>
            <a:ext cx="54864" cy="777240"/>
          </a:xfrm>
          <a:prstGeom prst="rect">
            <a:avLst/>
          </a:prstGeom>
          <a:solidFill>
            <a:srgbClr val="B87333"/>
          </a:solidFill>
          <a:ln/>
        </p:spPr>
        <p:txBody>
          <a:bodyPr/>
          <a:p/>
        </p:txBody>
      </p:sp>
      <p:pic>
        <p:nvPicPr>
          <p:cNvPr id="13" name="Image 1" descr="preencoded.png"/>
          <p:cNvPicPr>
            <a:picLocks noChangeAspect="1"/>
          </p:cNvPicPr>
          <p:nvPr/>
        </p:nvPicPr>
        <p:blipFill>
          <a:blip r:embed="rId2"/>
          <a:stretch>
            <a:fillRect/>
          </a:stretch>
        </p:blipFill>
        <p:spPr>
          <a:xfrm>
            <a:off x="731520" y="2350008"/>
            <a:ext cx="320040" cy="320040"/>
          </a:xfrm>
          <a:prstGeom prst="rect">
            <a:avLst/>
          </a:prstGeom>
        </p:spPr>
      </p:pic>
      <p:sp>
        <p:nvSpPr>
          <p:cNvPr id="14" name="Text 10"/>
          <p:cNvSpPr/>
          <p:nvPr/>
        </p:nvSpPr>
        <p:spPr>
          <a:xfrm>
            <a:off x="1188720" y="21488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Electroslag welding</a:t>
            </a:r>
            <a:endParaRPr lang="en-US" sz="1100" dirty="0"/>
          </a:p>
        </p:txBody>
      </p:sp>
      <p:sp>
        <p:nvSpPr>
          <p:cNvPr id="15" name="Text 11"/>
          <p:cNvSpPr/>
          <p:nvPr/>
        </p:nvSpPr>
        <p:spPr>
          <a:xfrm>
            <a:off x="1188720" y="24963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Patented process that creates defect-free joints. Wall thickness up to 80mm — indestructible.</a:t>
            </a:r>
            <a:endParaRPr lang="en-US" sz="900" dirty="0"/>
          </a:p>
        </p:txBody>
      </p:sp>
      <p:sp>
        <p:nvSpPr>
          <p:cNvPr id="16" name="Shape 12"/>
          <p:cNvSpPr/>
          <p:nvPr/>
        </p:nvSpPr>
        <p:spPr>
          <a:xfrm>
            <a:off x="548640" y="30632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548640" y="3063240"/>
            <a:ext cx="54864" cy="777240"/>
          </a:xfrm>
          <a:prstGeom prst="rect">
            <a:avLst/>
          </a:prstGeom>
          <a:solidFill>
            <a:srgbClr val="B87333"/>
          </a:solidFill>
          <a:ln/>
        </p:spPr>
        <p:txBody>
          <a:bodyPr/>
          <a:p/>
        </p:txBody>
      </p:sp>
      <p:pic>
        <p:nvPicPr>
          <p:cNvPr id="18" name="Image 2" descr="preencoded.png"/>
          <p:cNvPicPr>
            <a:picLocks noChangeAspect="1"/>
          </p:cNvPicPr>
          <p:nvPr/>
        </p:nvPicPr>
        <p:blipFill>
          <a:blip r:embed="rId3"/>
          <a:stretch>
            <a:fillRect/>
          </a:stretch>
        </p:blipFill>
        <p:spPr>
          <a:xfrm>
            <a:off x="731520" y="3264408"/>
            <a:ext cx="320040" cy="320040"/>
          </a:xfrm>
          <a:prstGeom prst="rect">
            <a:avLst/>
          </a:prstGeom>
        </p:spPr>
      </p:pic>
      <p:sp>
        <p:nvSpPr>
          <p:cNvPr id="19" name="Text 14"/>
          <p:cNvSpPr/>
          <p:nvPr/>
        </p:nvSpPr>
        <p:spPr>
          <a:xfrm>
            <a:off x="1188720" y="30632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Decades of service life</a:t>
            </a:r>
            <a:endParaRPr lang="en-US" sz="1100" dirty="0"/>
          </a:p>
        </p:txBody>
      </p:sp>
      <p:sp>
        <p:nvSpPr>
          <p:cNvPr id="20" name="Text 15"/>
          <p:cNvSpPr/>
          <p:nvPr/>
        </p:nvSpPr>
        <p:spPr>
          <a:xfrm>
            <a:off x="1188720" y="34107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Pilling kettles last 20-30+ years with basic maintenance. PYGLARA's burners confirmed in good condition.</a:t>
            </a:r>
            <a:endParaRPr lang="en-US" sz="900" dirty="0"/>
          </a:p>
        </p:txBody>
      </p:sp>
      <p:sp>
        <p:nvSpPr>
          <p:cNvPr id="21" name="Shape 16"/>
          <p:cNvSpPr/>
          <p:nvPr/>
        </p:nvSpPr>
        <p:spPr>
          <a:xfrm>
            <a:off x="548640" y="3977640"/>
            <a:ext cx="475488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548640" y="3977640"/>
            <a:ext cx="54864" cy="777240"/>
          </a:xfrm>
          <a:prstGeom prst="rect">
            <a:avLst/>
          </a:prstGeom>
          <a:solidFill>
            <a:srgbClr val="B87333"/>
          </a:solidFill>
          <a:ln/>
        </p:spPr>
        <p:txBody>
          <a:bodyPr/>
          <a:p/>
        </p:txBody>
      </p:sp>
      <p:pic>
        <p:nvPicPr>
          <p:cNvPr id="23" name="Image 3" descr="preencoded.png"/>
          <p:cNvPicPr>
            <a:picLocks noChangeAspect="1"/>
          </p:cNvPicPr>
          <p:nvPr/>
        </p:nvPicPr>
        <p:blipFill>
          <a:blip r:embed="rId4"/>
          <a:stretch>
            <a:fillRect/>
          </a:stretch>
        </p:blipFill>
        <p:spPr>
          <a:xfrm>
            <a:off x="731520" y="4178808"/>
            <a:ext cx="320040" cy="320040"/>
          </a:xfrm>
          <a:prstGeom prst="rect">
            <a:avLst/>
          </a:prstGeom>
        </p:spPr>
      </p:pic>
      <p:sp>
        <p:nvSpPr>
          <p:cNvPr id="24" name="Text 18"/>
          <p:cNvSpPr/>
          <p:nvPr/>
        </p:nvSpPr>
        <p:spPr>
          <a:xfrm>
            <a:off x="1188720" y="3977640"/>
            <a:ext cx="3931920" cy="347472"/>
          </a:xfrm>
          <a:prstGeom prst="rect">
            <a:avLst/>
          </a:prstGeom>
          <a:noFill/>
          <a:ln/>
        </p:spPr>
        <p:txBody>
          <a:bodyPr wrap="square" lIns="0" tIns="0" rIns="0" bIns="0" rtlCol="0" anchor="b"/>
          <a:lstStyle/>
          <a:p>
            <a:pPr indent="0" marL="0">
              <a:buNone/>
            </a:pPr>
            <a:r>
              <a:rPr lang="en-US" sz="1100" b="1" dirty="0">
                <a:solidFill>
                  <a:srgbClr val="8B5A2B"/>
                </a:solidFill>
                <a:latin typeface="Calibri" pitchFamily="34" charset="0"/>
                <a:ea typeface="Calibri" pitchFamily="34" charset="-122"/>
                <a:cs typeface="Calibri" pitchFamily="34" charset="-120"/>
              </a:rPr>
              <a:t>Replacement value: $1.1M+</a:t>
            </a:r>
            <a:endParaRPr lang="en-US" sz="1100" dirty="0"/>
          </a:p>
        </p:txBody>
      </p:sp>
      <p:sp>
        <p:nvSpPr>
          <p:cNvPr id="25" name="Text 19"/>
          <p:cNvSpPr/>
          <p:nvPr/>
        </p:nvSpPr>
        <p:spPr>
          <a:xfrm>
            <a:off x="1188720" y="4325112"/>
            <a:ext cx="3931920" cy="384048"/>
          </a:xfrm>
          <a:prstGeom prst="rect">
            <a:avLst/>
          </a:prstGeom>
          <a:noFill/>
          <a:ln/>
        </p:spPr>
        <p:txBody>
          <a:bodyPr wrap="square" lIns="0" tIns="0" rIns="0" bIns="0" rtlCol="0" anchor="t"/>
          <a:lstStyle/>
          <a:p>
            <a:pPr indent="0" marL="0">
              <a:buNone/>
            </a:pPr>
            <a:r>
              <a:rPr lang="en-US" sz="900" dirty="0">
                <a:solidFill>
                  <a:srgbClr val="7A6555"/>
                </a:solidFill>
                <a:latin typeface="Calibri" pitchFamily="34" charset="0"/>
                <a:ea typeface="Calibri" pitchFamily="34" charset="-122"/>
                <a:cs typeface="Calibri" pitchFamily="34" charset="-120"/>
              </a:rPr>
              <a:t>The kettles alone (7m + 9m + 3.5m + centrifuge) cost between $1.14M and $1.34M at replacement price.</a:t>
            </a:r>
            <a:endParaRPr lang="en-US" sz="900" dirty="0"/>
          </a:p>
        </p:txBody>
      </p:sp>
      <p:pic>
        <p:nvPicPr>
          <p:cNvPr id="26" name="Image 4" descr="/sessions/sweet-gallant-wright/pyglara-deck/images/cuba9m.jpg"/>
          <p:cNvPicPr>
            <a:picLocks noChangeAspect="1"/>
          </p:cNvPicPr>
          <p:nvPr/>
        </p:nvPicPr>
        <p:blipFill>
          <a:blip r:embed="rId5"/>
          <a:srcRect l="0" r="0" t="0" b="0"/>
          <a:stretch/>
        </p:blipFill>
        <p:spPr>
          <a:xfrm>
            <a:off x="5577840" y="1234440"/>
            <a:ext cx="3108960" cy="2194560"/>
          </a:xfrm>
          <a:prstGeom prst="rect">
            <a:avLst/>
          </a:prstGeom>
        </p:spPr>
      </p:pic>
      <p:sp>
        <p:nvSpPr>
          <p:cNvPr id="27" name="Shape 20"/>
          <p:cNvSpPr/>
          <p:nvPr/>
        </p:nvSpPr>
        <p:spPr>
          <a:xfrm>
            <a:off x="5577840" y="1234440"/>
            <a:ext cx="3108960" cy="2194560"/>
          </a:xfrm>
          <a:prstGeom prst="rect">
            <a:avLst/>
          </a:prstGeom>
          <a:ln w="19050">
            <a:solidFill>
              <a:srgbClr val="B87333"/>
            </a:solidFill>
            <a:prstDash val="solid"/>
          </a:ln>
        </p:spPr>
        <p:txBody>
          <a:bodyPr/>
          <a:p/>
        </p:txBody>
      </p:sp>
      <p:sp>
        <p:nvSpPr>
          <p:cNvPr id="28" name="Text 21"/>
          <p:cNvSpPr/>
          <p:nvPr/>
        </p:nvSpPr>
        <p:spPr>
          <a:xfrm>
            <a:off x="5577840" y="3520440"/>
            <a:ext cx="3108960" cy="457200"/>
          </a:xfrm>
          <a:prstGeom prst="rect">
            <a:avLst/>
          </a:prstGeom>
          <a:noFill/>
          <a:ln/>
        </p:spPr>
        <p:txBody>
          <a:bodyPr wrap="square" lIns="0" tIns="0" rIns="0" bIns="0" rtlCol="0" anchor="ctr"/>
          <a:lstStyle/>
          <a:p>
            <a:pPr algn="ctr" indent="0" marL="0">
              <a:buNone/>
            </a:pPr>
            <a:r>
              <a:rPr lang="en-US" sz="1000" b="1" dirty="0">
                <a:solidFill>
                  <a:srgbClr val="5C4033"/>
                </a:solidFill>
                <a:latin typeface="Calibri" pitchFamily="34" charset="0"/>
                <a:ea typeface="Calibri" pitchFamily="34" charset="-122"/>
                <a:cs typeface="Calibri" pitchFamily="34" charset="-120"/>
              </a:rPr>
              <a:t>9m Pilling Kettle</a:t>
            </a:r>
            <a:endParaRPr lang="en-US" sz="1000" dirty="0"/>
          </a:p>
          <a:p>
            <a:pPr algn="ctr" indent="0" marL="0">
              <a:buNone/>
            </a:pPr>
            <a:r>
              <a:rPr lang="en-US" sz="1000" b="1" dirty="0">
                <a:solidFill>
                  <a:srgbClr val="5C4033"/>
                </a:solidFill>
                <a:latin typeface="Calibri" pitchFamily="34" charset="0"/>
                <a:ea typeface="Calibri" pitchFamily="34" charset="-122"/>
                <a:cs typeface="Calibri" pitchFamily="34" charset="-120"/>
              </a:rPr>
              <a:t>Valued at $570,000</a:t>
            </a:r>
            <a:endParaRPr lang="en-US" sz="1000" dirty="0"/>
          </a:p>
        </p:txBody>
      </p:sp>
      <p:pic>
        <p:nvPicPr>
          <p:cNvPr id="29" name="Image 5" descr="/sessions/sweet-gallant-wright/pyglara-deck/images/cuba7m.jpg"/>
          <p:cNvPicPr>
            <a:picLocks noChangeAspect="1"/>
          </p:cNvPicPr>
          <p:nvPr/>
        </p:nvPicPr>
        <p:blipFill>
          <a:blip r:embed="rId6"/>
          <a:srcRect l="0" r="0" t="0" b="0"/>
          <a:stretch/>
        </p:blipFill>
        <p:spPr>
          <a:xfrm>
            <a:off x="5577840" y="4069080"/>
            <a:ext cx="1463040" cy="914400"/>
          </a:xfrm>
          <a:prstGeom prst="rect">
            <a:avLst/>
          </a:prstGeom>
        </p:spPr>
      </p:pic>
      <p:sp>
        <p:nvSpPr>
          <p:cNvPr id="30" name="Shape 22"/>
          <p:cNvSpPr/>
          <p:nvPr/>
        </p:nvSpPr>
        <p:spPr>
          <a:xfrm>
            <a:off x="5577840" y="4069080"/>
            <a:ext cx="1463040" cy="914400"/>
          </a:xfrm>
          <a:prstGeom prst="rect">
            <a:avLst/>
          </a:prstGeom>
          <a:ln w="9525">
            <a:solidFill>
              <a:srgbClr val="B87333"/>
            </a:solidFill>
            <a:prstDash val="solid"/>
          </a:ln>
        </p:spPr>
        <p:txBody>
          <a:bodyPr/>
          <a:p/>
        </p:txBody>
      </p:sp>
      <p:pic>
        <p:nvPicPr>
          <p:cNvPr id="31" name="Image 6" descr="/sessions/sweet-gallant-wright/pyglara-deck/images/horno.jpg"/>
          <p:cNvPicPr>
            <a:picLocks noChangeAspect="1"/>
          </p:cNvPicPr>
          <p:nvPr/>
        </p:nvPicPr>
        <p:blipFill>
          <a:blip r:embed="rId7"/>
          <a:srcRect l="0" r="0" t="0" b="0"/>
          <a:stretch/>
        </p:blipFill>
        <p:spPr>
          <a:xfrm>
            <a:off x="7178040" y="4069080"/>
            <a:ext cx="1508760" cy="914400"/>
          </a:xfrm>
          <a:prstGeom prst="rect">
            <a:avLst/>
          </a:prstGeom>
        </p:spPr>
      </p:pic>
      <p:sp>
        <p:nvSpPr>
          <p:cNvPr id="32" name="Shape 23"/>
          <p:cNvSpPr/>
          <p:nvPr/>
        </p:nvSpPr>
        <p:spPr>
          <a:xfrm>
            <a:off x="7178040" y="4069080"/>
            <a:ext cx="1508760" cy="914400"/>
          </a:xfrm>
          <a:prstGeom prst="rect">
            <a:avLst/>
          </a:prstGeom>
          <a:ln w="9525">
            <a:solidFill>
              <a:srgbClr val="B87333"/>
            </a:solidFill>
            <a:prstDash val="solid"/>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PRODUCTS &amp; APPLICATIONS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Every type of steel that needs corrosion protection</a:t>
            </a:r>
            <a:endParaRPr lang="en-US" sz="1200" dirty="0"/>
          </a:p>
        </p:txBody>
      </p:sp>
      <p:sp>
        <p:nvSpPr>
          <p:cNvPr id="6" name="Shape 4"/>
          <p:cNvSpPr/>
          <p:nvPr/>
        </p:nvSpPr>
        <p:spPr>
          <a:xfrm>
            <a:off x="45720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457200" y="1143000"/>
            <a:ext cx="2606040" cy="36576"/>
          </a:xfrm>
          <a:prstGeom prst="rect">
            <a:avLst/>
          </a:prstGeom>
          <a:solidFill>
            <a:srgbClr val="B87333"/>
          </a:solidFill>
          <a:ln/>
        </p:spPr>
        <p:txBody>
          <a:bodyPr/>
          <a:p/>
        </p:txBody>
      </p:sp>
      <p:pic>
        <p:nvPicPr>
          <p:cNvPr id="8" name="Image 0" descr="preencoded.png"/>
          <p:cNvPicPr>
            <a:picLocks noChangeAspect="1"/>
          </p:cNvPicPr>
          <p:nvPr/>
        </p:nvPicPr>
        <p:blipFill>
          <a:blip r:embed="rId1"/>
          <a:stretch>
            <a:fillRect/>
          </a:stretch>
        </p:blipFill>
        <p:spPr>
          <a:xfrm>
            <a:off x="594360" y="1280160"/>
            <a:ext cx="274320" cy="274320"/>
          </a:xfrm>
          <a:prstGeom prst="rect">
            <a:avLst/>
          </a:prstGeom>
        </p:spPr>
      </p:pic>
      <p:sp>
        <p:nvSpPr>
          <p:cNvPr id="9" name="Text 6"/>
          <p:cNvSpPr/>
          <p:nvPr/>
        </p:nvSpPr>
        <p:spPr>
          <a:xfrm>
            <a:off x="96012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ELECTRICAL</a:t>
            </a:r>
            <a:endParaRPr lang="en-US" sz="1000" dirty="0"/>
          </a:p>
        </p:txBody>
      </p:sp>
      <p:sp>
        <p:nvSpPr>
          <p:cNvPr id="10" name="Text 7"/>
          <p:cNvSpPr/>
          <p:nvPr/>
        </p:nvSpPr>
        <p:spPr>
          <a:xfrm>
            <a:off x="59436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Poles, transmission towers,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cable trays, hardware</a:t>
            </a:r>
            <a:endParaRPr lang="en-US" sz="900" dirty="0"/>
          </a:p>
          <a:p>
            <a:pPr algn="l">
              <a:spcBef>
                <a:spcPts val="400"/>
              </a:spcBef>
            </a:pPr>
            <a:r>
              <a:rPr sz="750" b="0" i="1">
                <a:solidFill>
                  <a:srgbClr val="8B5A2B"/>
                </a:solidFill>
              </a:rPr>
              <a:t>Demand: 2,000+ new 4G/5G towers + CORPOELEC on-site. Every pole needs galvanizing.</a:t>
            </a:r>
          </a:p>
        </p:txBody>
      </p:sp>
      <p:sp>
        <p:nvSpPr>
          <p:cNvPr id="11" name="Shape 8"/>
          <p:cNvSpPr/>
          <p:nvPr/>
        </p:nvSpPr>
        <p:spPr>
          <a:xfrm>
            <a:off x="329184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2" name="Shape 9"/>
          <p:cNvSpPr/>
          <p:nvPr/>
        </p:nvSpPr>
        <p:spPr>
          <a:xfrm>
            <a:off x="3291840" y="1143000"/>
            <a:ext cx="2606040" cy="36576"/>
          </a:xfrm>
          <a:prstGeom prst="rect">
            <a:avLst/>
          </a:prstGeom>
          <a:solidFill>
            <a:srgbClr val="A67C52"/>
          </a:solidFill>
          <a:ln/>
        </p:spPr>
        <p:txBody>
          <a:bodyPr/>
          <a:p/>
        </p:txBody>
      </p:sp>
      <p:pic>
        <p:nvPicPr>
          <p:cNvPr id="13" name="Image 1" descr="preencoded.png"/>
          <p:cNvPicPr>
            <a:picLocks noChangeAspect="1"/>
          </p:cNvPicPr>
          <p:nvPr/>
        </p:nvPicPr>
        <p:blipFill>
          <a:blip r:embed="rId2"/>
          <a:stretch>
            <a:fillRect/>
          </a:stretch>
        </p:blipFill>
        <p:spPr>
          <a:xfrm>
            <a:off x="3429000" y="1280160"/>
            <a:ext cx="274320" cy="274320"/>
          </a:xfrm>
          <a:prstGeom prst="rect">
            <a:avLst/>
          </a:prstGeom>
        </p:spPr>
      </p:pic>
      <p:sp>
        <p:nvSpPr>
          <p:cNvPr id="14" name="Text 10"/>
          <p:cNvSpPr/>
          <p:nvPr/>
        </p:nvSpPr>
        <p:spPr>
          <a:xfrm>
            <a:off x="379476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OIL &amp; GAS</a:t>
            </a:r>
            <a:endParaRPr lang="en-US" sz="1000" dirty="0"/>
          </a:p>
        </p:txBody>
      </p:sp>
      <p:sp>
        <p:nvSpPr>
          <p:cNvPr id="15" name="Text 11"/>
          <p:cNvSpPr/>
          <p:nvPr/>
        </p:nvSpPr>
        <p:spPr>
          <a:xfrm>
            <a:off x="342900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Pipe racks, cable trays,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platforms, grating, handrails</a:t>
            </a:r>
            <a:endParaRPr lang="en-US" sz="900" dirty="0"/>
          </a:p>
          <a:p>
            <a:pPr algn="l">
              <a:spcBef>
                <a:spcPts val="400"/>
              </a:spcBef>
            </a:pPr>
            <a:r>
              <a:rPr sz="750" b="0" i="1">
                <a:solidFill>
                  <a:srgbClr val="8B5A2B"/>
                </a:solidFill>
              </a:rPr>
              <a:t>Demand: $41B Rystad fab &amp; construction segment 2026-2040. Pipe racks alone fill a month.</a:t>
            </a:r>
          </a:p>
        </p:txBody>
      </p:sp>
      <p:sp>
        <p:nvSpPr>
          <p:cNvPr id="16" name="Shape 12"/>
          <p:cNvSpPr/>
          <p:nvPr/>
        </p:nvSpPr>
        <p:spPr>
          <a:xfrm>
            <a:off x="6126480" y="114300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Shape 13"/>
          <p:cNvSpPr/>
          <p:nvPr/>
        </p:nvSpPr>
        <p:spPr>
          <a:xfrm>
            <a:off x="6126480" y="1143000"/>
            <a:ext cx="2606040" cy="36576"/>
          </a:xfrm>
          <a:prstGeom prst="rect">
            <a:avLst/>
          </a:prstGeom>
          <a:solidFill>
            <a:srgbClr val="8B5A2B"/>
          </a:solidFill>
          <a:ln/>
        </p:spPr>
        <p:txBody>
          <a:bodyPr/>
          <a:p/>
        </p:txBody>
      </p:sp>
      <p:pic>
        <p:nvPicPr>
          <p:cNvPr id="18" name="Image 2" descr="preencoded.png"/>
          <p:cNvPicPr>
            <a:picLocks noChangeAspect="1"/>
          </p:cNvPicPr>
          <p:nvPr/>
        </p:nvPicPr>
        <p:blipFill>
          <a:blip r:embed="rId3"/>
          <a:stretch>
            <a:fillRect/>
          </a:stretch>
        </p:blipFill>
        <p:spPr>
          <a:xfrm>
            <a:off x="6263640" y="1280160"/>
            <a:ext cx="274320" cy="274320"/>
          </a:xfrm>
          <a:prstGeom prst="rect">
            <a:avLst/>
          </a:prstGeom>
        </p:spPr>
      </p:pic>
      <p:sp>
        <p:nvSpPr>
          <p:cNvPr id="19" name="Text 14"/>
          <p:cNvSpPr/>
          <p:nvPr/>
        </p:nvSpPr>
        <p:spPr>
          <a:xfrm>
            <a:off x="6629400" y="123444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CONSTRUCTION</a:t>
            </a:r>
            <a:endParaRPr lang="en-US" sz="1000" dirty="0"/>
          </a:p>
        </p:txBody>
      </p:sp>
      <p:sp>
        <p:nvSpPr>
          <p:cNvPr id="20" name="Text 15"/>
          <p:cNvSpPr/>
          <p:nvPr/>
        </p:nvSpPr>
        <p:spPr>
          <a:xfrm>
            <a:off x="6263640" y="164592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Beams, columns, sheets,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roofing, stairs, crash barriers</a:t>
            </a:r>
            <a:endParaRPr lang="en-US" sz="900" dirty="0"/>
          </a:p>
          <a:p>
            <a:pPr algn="l">
              <a:spcBef>
                <a:spcPts val="400"/>
              </a:spcBef>
            </a:pPr>
            <a:r>
              <a:rPr sz="750" b="0" i="1">
                <a:solidFill>
                  <a:srgbClr val="8B5A2B"/>
                </a:solidFill>
              </a:rPr>
              <a:t>Demand: VINCI/Freyssinet MSE walls in active projects + housing &amp; highway boom.</a:t>
            </a:r>
          </a:p>
        </p:txBody>
      </p:sp>
      <p:sp>
        <p:nvSpPr>
          <p:cNvPr id="21" name="Shape 16"/>
          <p:cNvSpPr/>
          <p:nvPr/>
        </p:nvSpPr>
        <p:spPr>
          <a:xfrm>
            <a:off x="45720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2" name="Shape 17"/>
          <p:cNvSpPr/>
          <p:nvPr/>
        </p:nvSpPr>
        <p:spPr>
          <a:xfrm>
            <a:off x="457200" y="2834640"/>
            <a:ext cx="2606040" cy="36576"/>
          </a:xfrm>
          <a:prstGeom prst="rect">
            <a:avLst/>
          </a:prstGeom>
          <a:solidFill>
            <a:srgbClr val="CD853F"/>
          </a:solidFill>
          <a:ln/>
        </p:spPr>
        <p:txBody>
          <a:bodyPr/>
          <a:p/>
        </p:txBody>
      </p:sp>
      <p:pic>
        <p:nvPicPr>
          <p:cNvPr id="23" name="Image 3" descr="preencoded.png"/>
          <p:cNvPicPr>
            <a:picLocks noChangeAspect="1"/>
          </p:cNvPicPr>
          <p:nvPr/>
        </p:nvPicPr>
        <p:blipFill>
          <a:blip r:embed="rId4"/>
          <a:stretch>
            <a:fillRect/>
          </a:stretch>
        </p:blipFill>
        <p:spPr>
          <a:xfrm>
            <a:off x="594360" y="2971800"/>
            <a:ext cx="274320" cy="274320"/>
          </a:xfrm>
          <a:prstGeom prst="rect">
            <a:avLst/>
          </a:prstGeom>
        </p:spPr>
      </p:pic>
      <p:sp>
        <p:nvSpPr>
          <p:cNvPr id="24" name="Text 18"/>
          <p:cNvSpPr/>
          <p:nvPr/>
        </p:nvSpPr>
        <p:spPr>
          <a:xfrm>
            <a:off x="96012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RENEWABLE ENERGY</a:t>
            </a:r>
            <a:endParaRPr lang="en-US" sz="1000" dirty="0"/>
          </a:p>
        </p:txBody>
      </p:sp>
      <p:sp>
        <p:nvSpPr>
          <p:cNvPr id="25" name="Text 19"/>
          <p:cNvSpPr/>
          <p:nvPr/>
        </p:nvSpPr>
        <p:spPr>
          <a:xfrm>
            <a:off x="59436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Solar panel mounts,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wind towers, brackets</a:t>
            </a:r>
            <a:endParaRPr lang="en-US" sz="900" dirty="0"/>
          </a:p>
          <a:p>
            <a:pPr algn="l">
              <a:spcBef>
                <a:spcPts val="400"/>
              </a:spcBef>
            </a:pPr>
            <a:r>
              <a:rPr sz="750" b="0" i="1">
                <a:solidFill>
                  <a:srgbClr val="8B5A2B"/>
                </a:solidFill>
              </a:rPr>
              <a:t>Demand: National solar expansion + grid modernization. Mounting systems all galvanized.</a:t>
            </a:r>
          </a:p>
        </p:txBody>
      </p:sp>
      <p:sp>
        <p:nvSpPr>
          <p:cNvPr id="26" name="Shape 20"/>
          <p:cNvSpPr/>
          <p:nvPr/>
        </p:nvSpPr>
        <p:spPr>
          <a:xfrm>
            <a:off x="329184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27" name="Shape 21"/>
          <p:cNvSpPr/>
          <p:nvPr/>
        </p:nvSpPr>
        <p:spPr>
          <a:xfrm>
            <a:off x="3291840" y="2834640"/>
            <a:ext cx="2606040" cy="36576"/>
          </a:xfrm>
          <a:prstGeom prst="rect">
            <a:avLst/>
          </a:prstGeom>
          <a:solidFill>
            <a:srgbClr val="DAA520"/>
          </a:solidFill>
          <a:ln/>
        </p:spPr>
        <p:txBody>
          <a:bodyPr/>
          <a:p/>
        </p:txBody>
      </p:sp>
      <p:pic>
        <p:nvPicPr>
          <p:cNvPr id="28" name="Image 4" descr="preencoded.png"/>
          <p:cNvPicPr>
            <a:picLocks noChangeAspect="1"/>
          </p:cNvPicPr>
          <p:nvPr/>
        </p:nvPicPr>
        <p:blipFill>
          <a:blip r:embed="rId5"/>
          <a:stretch>
            <a:fillRect/>
          </a:stretch>
        </p:blipFill>
        <p:spPr>
          <a:xfrm>
            <a:off x="3429000" y="2971800"/>
            <a:ext cx="274320" cy="274320"/>
          </a:xfrm>
          <a:prstGeom prst="rect">
            <a:avLst/>
          </a:prstGeom>
        </p:spPr>
      </p:pic>
      <p:sp>
        <p:nvSpPr>
          <p:cNvPr id="29" name="Text 22"/>
          <p:cNvSpPr/>
          <p:nvPr/>
        </p:nvSpPr>
        <p:spPr>
          <a:xfrm>
            <a:off x="379476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INFRASTRUCTURE</a:t>
            </a:r>
            <a:endParaRPr lang="en-US" sz="1000" dirty="0"/>
          </a:p>
        </p:txBody>
      </p:sp>
      <p:sp>
        <p:nvSpPr>
          <p:cNvPr id="30" name="Text 23"/>
          <p:cNvSpPr/>
          <p:nvPr/>
        </p:nvSpPr>
        <p:spPr>
          <a:xfrm>
            <a:off x="342900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Mechanically stabilized earth walls,</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signage, pedestrian bridges</a:t>
            </a:r>
            <a:endParaRPr lang="en-US" sz="900" dirty="0"/>
          </a:p>
          <a:p>
            <a:pPr algn="l">
              <a:spcBef>
                <a:spcPts val="400"/>
              </a:spcBef>
            </a:pPr>
            <a:r>
              <a:rPr sz="750" b="0" i="1">
                <a:solidFill>
                  <a:srgbClr val="8B5A2B"/>
                </a:solidFill>
              </a:rPr>
              <a:t>Demand: 34 historical clients. Freyssinet and road/bridge projects in pipeline.</a:t>
            </a:r>
          </a:p>
        </p:txBody>
      </p:sp>
      <p:sp>
        <p:nvSpPr>
          <p:cNvPr id="31" name="Shape 24"/>
          <p:cNvSpPr/>
          <p:nvPr/>
        </p:nvSpPr>
        <p:spPr>
          <a:xfrm>
            <a:off x="6126480" y="2834640"/>
            <a:ext cx="2606040" cy="150876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32" name="Shape 25"/>
          <p:cNvSpPr/>
          <p:nvPr/>
        </p:nvSpPr>
        <p:spPr>
          <a:xfrm>
            <a:off x="6126480" y="2834640"/>
            <a:ext cx="2606040" cy="36576"/>
          </a:xfrm>
          <a:prstGeom prst="rect">
            <a:avLst/>
          </a:prstGeom>
          <a:solidFill>
            <a:srgbClr val="7A6555"/>
          </a:solidFill>
          <a:ln/>
        </p:spPr>
        <p:txBody>
          <a:bodyPr/>
          <a:p/>
        </p:txBody>
      </p:sp>
      <p:pic>
        <p:nvPicPr>
          <p:cNvPr id="33" name="Image 5" descr="preencoded.png"/>
          <p:cNvPicPr>
            <a:picLocks noChangeAspect="1"/>
          </p:cNvPicPr>
          <p:nvPr/>
        </p:nvPicPr>
        <p:blipFill>
          <a:blip r:embed="rId6"/>
          <a:stretch>
            <a:fillRect/>
          </a:stretch>
        </p:blipFill>
        <p:spPr>
          <a:xfrm>
            <a:off x="6263640" y="2971800"/>
            <a:ext cx="274320" cy="274320"/>
          </a:xfrm>
          <a:prstGeom prst="rect">
            <a:avLst/>
          </a:prstGeom>
        </p:spPr>
      </p:pic>
      <p:sp>
        <p:nvSpPr>
          <p:cNvPr id="34" name="Text 26"/>
          <p:cNvSpPr/>
          <p:nvPr/>
        </p:nvSpPr>
        <p:spPr>
          <a:xfrm>
            <a:off x="6629400" y="2926080"/>
            <a:ext cx="1965960" cy="320040"/>
          </a:xfrm>
          <a:prstGeom prst="rect">
            <a:avLst/>
          </a:prstGeom>
          <a:noFill/>
          <a:ln/>
        </p:spPr>
        <p:txBody>
          <a:bodyPr wrap="square" lIns="0" tIns="0" rIns="0" bIns="0" rtlCol="0" anchor="ctr"/>
          <a:lstStyle/>
          <a:p>
            <a:pPr indent="0" marL="0">
              <a:buNone/>
            </a:pPr>
            <a:r>
              <a:rPr lang="en-US" sz="1000" b="1" dirty="0">
                <a:solidFill>
                  <a:srgbClr val="8B5A2B"/>
                </a:solidFill>
                <a:latin typeface="Georgia" pitchFamily="34" charset="0"/>
                <a:ea typeface="Georgia" pitchFamily="34" charset="-122"/>
                <a:cs typeface="Georgia" pitchFamily="34" charset="-120"/>
              </a:rPr>
              <a:t>AGRO / INDUSTRIAL</a:t>
            </a:r>
            <a:endParaRPr lang="en-US" sz="1000" dirty="0"/>
          </a:p>
        </p:txBody>
      </p:sp>
      <p:sp>
        <p:nvSpPr>
          <p:cNvPr id="35" name="Text 27"/>
          <p:cNvSpPr/>
          <p:nvPr/>
        </p:nvSpPr>
        <p:spPr>
          <a:xfrm>
            <a:off x="6263640" y="3337560"/>
            <a:ext cx="2331720" cy="8686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Fencing, mesh, barbed wire,</a:t>
            </a:r>
            <a:endParaRPr lang="en-US" sz="900" dirty="0"/>
          </a:p>
          <a:p>
            <a:pPr indent="0" marL="0">
              <a:buNone/>
            </a:pPr>
            <a:r>
              <a:rPr lang="en-US" sz="900" dirty="0">
                <a:solidFill>
                  <a:srgbClr val="5C4033"/>
                </a:solidFill>
                <a:latin typeface="Calibri" pitchFamily="34" charset="0"/>
                <a:ea typeface="Calibri" pitchFamily="34" charset="-122"/>
                <a:cs typeface="Calibri" pitchFamily="34" charset="-120"/>
              </a:rPr>
              <a:t>silos, tanks, gates</a:t>
            </a:r>
            <a:endParaRPr lang="en-US" sz="900" dirty="0"/>
          </a:p>
          <a:p>
            <a:pPr algn="l">
              <a:spcBef>
                <a:spcPts val="400"/>
              </a:spcBef>
            </a:pPr>
            <a:r>
              <a:rPr sz="750" b="0" i="1">
                <a:solidFill>
                  <a:srgbClr val="8B5A2B"/>
                </a:solidFill>
              </a:rPr>
              <a:t>Demand: Marullo (same block) + PROALCA + regional agroindustrial restart.</a:t>
            </a:r>
          </a:p>
        </p:txBody>
      </p:sp>
      <p:sp>
        <p:nvSpPr>
          <p:cNvPr id="36" name="Shape 28"/>
          <p:cNvSpPr/>
          <p:nvPr/>
        </p:nvSpPr>
        <p:spPr>
          <a:xfrm>
            <a:off x="457200" y="4572000"/>
            <a:ext cx="8229600" cy="365760"/>
          </a:xfrm>
          <a:prstGeom prst="rect">
            <a:avLst/>
          </a:prstGeom>
          <a:solidFill>
            <a:srgbClr val="EDE8E0"/>
          </a:solidFill>
          <a:ln w="12700">
            <a:solidFill>
              <a:srgbClr val="B87333"/>
            </a:solidFill>
            <a:prstDash val="solid"/>
          </a:ln>
        </p:spPr>
        <p:txBody>
          <a:bodyPr/>
          <a:p/>
        </p:txBody>
      </p:sp>
      <p:sp>
        <p:nvSpPr>
          <p:cNvPr id="37" name="Text 29"/>
          <p:cNvSpPr/>
          <p:nvPr/>
        </p:nvSpPr>
        <p:spPr>
          <a:xfrm>
            <a:off x="640080" y="4572000"/>
            <a:ext cx="7863840" cy="365760"/>
          </a:xfrm>
          <a:prstGeom prst="rect">
            <a:avLst/>
          </a:prstGeom>
          <a:noFill/>
          <a:ln/>
        </p:spPr>
        <p:txBody>
          <a:bodyPr wrap="square" rtlCol="0" anchor="ctr"/>
          <a:lstStyle/>
          <a:p>
            <a:pPr algn="l" indent="0" marL="0">
              <a:buNone/>
            </a:pPr>
            <a:r>
              <a:rPr sz="800" b="0" i="1">
                <a:solidFill>
                  <a:srgbClr val="2A1F10"/>
                </a:solidFill>
              </a:rPr>
              <a:t>MSE retaining walls (VINCI/Freyssinet, Zona Industrial I): galvanized steel strips embedded in fill — PYGLARA's 7m kettle is purpose-built for this. At 300 TM/month proven output, one kettle serves all six categories above. Filling PYGLARA to capacity requires less than 3% of Venezuela's oil sector galvanizing demand.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14 / 30</a:t>
            </a:r>
            <a:endParaRPr lang="en-US" sz="800" dirty="0"/>
          </a:p>
        </p:txBody>
      </p:sp>
      <p:sp>
        <p:nvSpPr>
          <p:cNvPr id="4" name="Shape 2"/>
          <p:cNvSpPr/>
          <p:nvPr/>
        </p:nvSpPr>
        <p:spPr>
          <a:xfrm>
            <a:off x="0" y="45720"/>
            <a:ext cx="54864" cy="5097780"/>
          </a:xfrm>
          <a:prstGeom prst="rect">
            <a:avLst/>
          </a:prstGeom>
          <a:solidFill>
            <a:srgbClr val="B87333"/>
          </a:solidFill>
          <a:ln/>
        </p:spPr>
        <p:txBody>
          <a:bodyPr/>
          <a:p/>
        </p:txBody>
      </p:sp>
      <p:sp>
        <p:nvSpPr>
          <p:cNvPr id="5" name="Text 3"/>
          <p:cNvSpPr/>
          <p:nvPr/>
        </p:nvSpPr>
        <p:spPr>
          <a:xfrm>
            <a:off x="548640" y="228600"/>
            <a:ext cx="4754880" cy="457200"/>
          </a:xfrm>
          <a:prstGeom prst="rect">
            <a:avLst/>
          </a:prstGeom>
          <a:noFill/>
          <a:ln/>
        </p:spPr>
        <p:txBody>
          <a:bodyPr wrap="square" lIns="0" tIns="0" rIns="0" bIns="0" rtlCol="0" anchor="ctr"/>
          <a:lstStyle/>
          <a:p>
            <a:pPr indent="0" marL="0">
              <a:buNone/>
            </a:pPr>
            <a:r>
              <a:rPr lang="en-US" sz="2200" b="1" dirty="0">
                <a:solidFill>
                  <a:srgbClr val="3E2C1C"/>
                </a:solidFill>
                <a:latin typeface="Georgia" pitchFamily="34" charset="0"/>
                <a:ea typeface="Georgia" pitchFamily="34" charset="-122"/>
                <a:cs typeface="Georgia" pitchFamily="34" charset="-120"/>
              </a:rPr>
              <a:t>COPPER ELECTROPLATING</a:t>
            </a:r>
            <a:endParaRPr lang="en-US" sz="2200" dirty="0"/>
          </a:p>
        </p:txBody>
      </p:sp>
      <p:sp>
        <p:nvSpPr>
          <p:cNvPr id="6" name="Text 4"/>
          <p:cNvSpPr/>
          <p:nvPr/>
        </p:nvSpPr>
        <p:spPr>
          <a:xfrm>
            <a:off x="548640" y="685800"/>
            <a:ext cx="4572000" cy="320040"/>
          </a:xfrm>
          <a:prstGeom prst="rect">
            <a:avLst/>
          </a:prstGeom>
          <a:noFill/>
          <a:ln/>
        </p:spPr>
        <p:txBody>
          <a:bodyPr wrap="square" lIns="0" tIns="0" rIns="0" bIns="0" rtlCol="0" anchor="ctr"/>
          <a:lstStyle/>
          <a:p>
            <a:pPr indent="0" marL="0">
              <a:buNone/>
            </a:pPr>
            <a:r>
              <a:rPr lang="en-US" sz="1400" b="1" dirty="0">
                <a:solidFill>
                  <a:srgbClr val="8B5A2B"/>
                </a:solidFill>
                <a:latin typeface="Georgia" pitchFamily="34" charset="0"/>
                <a:ea typeface="Georgia" pitchFamily="34" charset="-122"/>
                <a:cs typeface="Georgia" pitchFamily="34" charset="-120"/>
              </a:rPr>
              <a:t>ZERO domestic competitors</a:t>
            </a:r>
            <a:endParaRPr lang="en-US" sz="1400" dirty="0"/>
          </a:p>
        </p:txBody>
      </p:sp>
      <p:sp>
        <p:nvSpPr>
          <p:cNvPr id="7" name="Text 5"/>
          <p:cNvSpPr/>
          <p:nvPr/>
        </p:nvSpPr>
        <p:spPr>
          <a:xfrm>
            <a:off x="548640" y="128016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Product</a:t>
            </a:r>
            <a:endParaRPr lang="en-US" sz="1000" dirty="0"/>
          </a:p>
        </p:txBody>
      </p:sp>
      <p:sp>
        <p:nvSpPr>
          <p:cNvPr id="8" name="Text 6"/>
          <p:cNvSpPr/>
          <p:nvPr/>
        </p:nvSpPr>
        <p:spPr>
          <a:xfrm>
            <a:off x="2194560" y="128016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Copperweld-type grounding rods</a:t>
            </a:r>
            <a:endParaRPr lang="en-US" sz="1000" dirty="0"/>
          </a:p>
        </p:txBody>
      </p:sp>
      <p:sp>
        <p:nvSpPr>
          <p:cNvPr id="9" name="Text 7"/>
          <p:cNvSpPr/>
          <p:nvPr/>
        </p:nvSpPr>
        <p:spPr>
          <a:xfrm>
            <a:off x="548640" y="171907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Process</a:t>
            </a:r>
            <a:endParaRPr lang="en-US" sz="1000" dirty="0"/>
          </a:p>
        </p:txBody>
      </p:sp>
      <p:sp>
        <p:nvSpPr>
          <p:cNvPr id="10" name="Text 8"/>
          <p:cNvSpPr/>
          <p:nvPr/>
        </p:nvSpPr>
        <p:spPr>
          <a:xfrm>
            <a:off x="2194560" y="171907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Copper electroplating (electrolytic bath)</a:t>
            </a:r>
            <a:endParaRPr lang="en-US" sz="1000" dirty="0"/>
          </a:p>
        </p:txBody>
      </p:sp>
      <p:sp>
        <p:nvSpPr>
          <p:cNvPr id="11" name="Text 9"/>
          <p:cNvSpPr/>
          <p:nvPr/>
        </p:nvSpPr>
        <p:spPr>
          <a:xfrm>
            <a:off x="548640" y="2157984"/>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Diameter</a:t>
            </a:r>
            <a:endParaRPr lang="en-US" sz="1000" dirty="0"/>
          </a:p>
        </p:txBody>
      </p:sp>
      <p:sp>
        <p:nvSpPr>
          <p:cNvPr id="12" name="Text 10"/>
          <p:cNvSpPr/>
          <p:nvPr/>
        </p:nvSpPr>
        <p:spPr>
          <a:xfrm>
            <a:off x="2194560" y="2157984"/>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5/8" to 1"</a:t>
            </a:r>
            <a:endParaRPr lang="en-US" sz="1000" dirty="0"/>
          </a:p>
        </p:txBody>
      </p:sp>
      <p:sp>
        <p:nvSpPr>
          <p:cNvPr id="13" name="Text 11"/>
          <p:cNvSpPr/>
          <p:nvPr/>
        </p:nvSpPr>
        <p:spPr>
          <a:xfrm>
            <a:off x="548640" y="2596896"/>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Length</a:t>
            </a:r>
            <a:endParaRPr lang="en-US" sz="1000" dirty="0"/>
          </a:p>
        </p:txBody>
      </p:sp>
      <p:sp>
        <p:nvSpPr>
          <p:cNvPr id="14" name="Text 12"/>
          <p:cNvSpPr/>
          <p:nvPr/>
        </p:nvSpPr>
        <p:spPr>
          <a:xfrm>
            <a:off x="2194560" y="2596896"/>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1.2m to 3.0m</a:t>
            </a:r>
            <a:endParaRPr lang="en-US" sz="1000" dirty="0"/>
          </a:p>
        </p:txBody>
      </p:sp>
      <p:sp>
        <p:nvSpPr>
          <p:cNvPr id="15" name="Text 13"/>
          <p:cNvSpPr/>
          <p:nvPr/>
        </p:nvSpPr>
        <p:spPr>
          <a:xfrm>
            <a:off x="548640" y="3035808"/>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Coating</a:t>
            </a:r>
            <a:endParaRPr lang="en-US" sz="1000" dirty="0"/>
          </a:p>
        </p:txBody>
      </p:sp>
      <p:sp>
        <p:nvSpPr>
          <p:cNvPr id="16" name="Text 14"/>
          <p:cNvSpPr/>
          <p:nvPr/>
        </p:nvSpPr>
        <p:spPr>
          <a:xfrm>
            <a:off x="2194560" y="3035808"/>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300 um +/- 50 copper</a:t>
            </a:r>
            <a:endParaRPr lang="en-US" sz="1000" dirty="0"/>
          </a:p>
        </p:txBody>
      </p:sp>
      <p:sp>
        <p:nvSpPr>
          <p:cNvPr id="17" name="Text 15"/>
          <p:cNvSpPr/>
          <p:nvPr/>
        </p:nvSpPr>
        <p:spPr>
          <a:xfrm>
            <a:off x="548640" y="3474720"/>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Capacity</a:t>
            </a:r>
            <a:endParaRPr lang="en-US" sz="1000" dirty="0"/>
          </a:p>
        </p:txBody>
      </p:sp>
      <p:sp>
        <p:nvSpPr>
          <p:cNvPr id="18" name="Text 16"/>
          <p:cNvSpPr/>
          <p:nvPr/>
        </p:nvSpPr>
        <p:spPr>
          <a:xfrm>
            <a:off x="2194560" y="3474720"/>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936 units/day (24h cycle)</a:t>
            </a:r>
            <a:endParaRPr lang="en-US" sz="1000" dirty="0"/>
          </a:p>
        </p:txBody>
      </p:sp>
      <p:sp>
        <p:nvSpPr>
          <p:cNvPr id="19" name="Text 17"/>
          <p:cNvSpPr/>
          <p:nvPr/>
        </p:nvSpPr>
        <p:spPr>
          <a:xfrm>
            <a:off x="548640" y="3913632"/>
            <a:ext cx="1645920" cy="347472"/>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Revenue</a:t>
            </a:r>
            <a:endParaRPr lang="en-US" sz="1000" dirty="0"/>
          </a:p>
        </p:txBody>
      </p:sp>
      <p:sp>
        <p:nvSpPr>
          <p:cNvPr id="20" name="Text 18"/>
          <p:cNvSpPr/>
          <p:nvPr/>
        </p:nvSpPr>
        <p:spPr>
          <a:xfrm>
            <a:off x="2194560" y="3913632"/>
            <a:ext cx="2926080" cy="347472"/>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$561K - $1.05M/year at full capacity</a:t>
            </a:r>
            <a:endParaRPr lang="en-US" sz="1000" dirty="0"/>
          </a:p>
        </p:txBody>
      </p:sp>
      <p:sp>
        <p:nvSpPr>
          <p:cNvPr id="21" name="Shape 19"/>
          <p:cNvSpPr/>
          <p:nvPr/>
        </p:nvSpPr>
        <p:spPr>
          <a:xfrm>
            <a:off x="548640" y="4434840"/>
            <a:ext cx="4572000" cy="502920"/>
          </a:xfrm>
          <a:prstGeom prst="rect">
            <a:avLst/>
          </a:prstGeom>
          <a:solidFill>
            <a:srgbClr val="EDE8E0"/>
          </a:solidFill>
          <a:ln w="12700">
            <a:solidFill>
              <a:srgbClr val="B87333"/>
            </a:solidFill>
            <a:prstDash val="solid"/>
          </a:ln>
        </p:spPr>
        <p:txBody>
          <a:bodyPr/>
          <a:p/>
        </p:txBody>
      </p:sp>
      <p:sp>
        <p:nvSpPr>
          <p:cNvPr id="22" name="Text 20"/>
          <p:cNvSpPr/>
          <p:nvPr/>
        </p:nvSpPr>
        <p:spPr>
          <a:xfrm>
            <a:off x="640080" y="4434840"/>
            <a:ext cx="4389120" cy="502920"/>
          </a:xfrm>
          <a:prstGeom prst="rect">
            <a:avLst/>
          </a:prstGeom>
          <a:noFill/>
          <a:ln/>
        </p:spPr>
        <p:txBody>
          <a:bodyPr wrap="square" lIns="0" tIns="0" rIns="0" bIns="0" rtlCol="0" anchor="ctr"/>
          <a:lstStyle/>
          <a:p>
            <a:pPr indent="0" marL="0">
              <a:buNone/>
            </a:pPr>
            <a:r>
              <a:rPr lang="en-US" sz="1000" b="1" dirty="0">
                <a:solidFill>
                  <a:srgbClr val="8B5A2B"/>
                </a:solidFill>
                <a:latin typeface="Calibri" pitchFamily="34" charset="0"/>
                <a:ea typeface="Calibri" pitchFamily="34" charset="-122"/>
                <a:cs typeface="Calibri" pitchFamily="34" charset="-120"/>
              </a:rPr>
              <a:t>ENELVEN (now CORPOELEC) purchased 20,000 rods in 2004-2005</a:t>
            </a:r>
            <a:endParaRPr lang="en-US" sz="1000" dirty="0"/>
          </a:p>
        </p:txBody>
      </p:sp>
      <p:pic>
        <p:nvPicPr>
          <p:cNvPr id="23" name="Image 0" descr="/sessions/sweet-gallant-wright/pyglara-deck/images/rectificadores.jpg"/>
          <p:cNvPicPr>
            <a:picLocks noChangeAspect="1"/>
          </p:cNvPicPr>
          <p:nvPr/>
        </p:nvPicPr>
        <p:blipFill>
          <a:blip r:embed="rId1"/>
          <a:srcRect l="0" r="0" t="0" b="0"/>
          <a:stretch/>
        </p:blipFill>
        <p:spPr>
          <a:xfrm>
            <a:off x="5303520" y="457200"/>
            <a:ext cx="3383280" cy="4206240"/>
          </a:xfrm>
          <a:prstGeom prst="rect">
            <a:avLst/>
          </a:prstGeom>
        </p:spPr>
      </p:pic>
      <p:sp>
        <p:nvSpPr>
          <p:cNvPr id="24" name="Shape 21"/>
          <p:cNvSpPr/>
          <p:nvPr/>
        </p:nvSpPr>
        <p:spPr>
          <a:xfrm>
            <a:off x="5303520" y="457200"/>
            <a:ext cx="3383280" cy="4206240"/>
          </a:xfrm>
          <a:prstGeom prst="rect">
            <a:avLst/>
          </a:prstGeom>
          <a:ln w="19050">
            <a:solidFill>
              <a:srgbClr val="B87333"/>
            </a:solidFill>
            <a:prstDash val="solid"/>
          </a:ln>
        </p:spPr>
        <p:txBody>
          <a:body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QUALITY &amp; CERTIFICATIONS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International certifications + quality control on every batch</a:t>
            </a:r>
            <a:endParaRPr lang="en-US" sz="1200" dirty="0"/>
          </a:p>
        </p:txBody>
      </p:sp>
      <p:pic>
        <p:nvPicPr>
          <p:cNvPr id="6" name="Image 0" descr="/sessions/sweet-gallant-wright/pyglara-deck/images/certificado.jpg"/>
          <p:cNvPicPr>
            <a:picLocks noChangeAspect="1"/>
          </p:cNvPicPr>
          <p:nvPr/>
        </p:nvPicPr>
        <p:blipFill>
          <a:blip r:embed="rId1"/>
          <a:srcRect l="0" r="0" t="0" b="0"/>
          <a:stretch/>
        </p:blipFill>
        <p:spPr>
          <a:xfrm>
            <a:off x="548640" y="1097280"/>
            <a:ext cx="3200400" cy="3566160"/>
          </a:xfrm>
          <a:prstGeom prst="rect">
            <a:avLst/>
          </a:prstGeom>
        </p:spPr>
      </p:pic>
      <p:sp>
        <p:nvSpPr>
          <p:cNvPr id="7" name="Shape 4"/>
          <p:cNvSpPr/>
          <p:nvPr/>
        </p:nvSpPr>
        <p:spPr>
          <a:xfrm>
            <a:off x="548640" y="1097280"/>
            <a:ext cx="3200400" cy="3566160"/>
          </a:xfrm>
          <a:prstGeom prst="rect">
            <a:avLst/>
          </a:prstGeom>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8" name="Shape 5"/>
          <p:cNvSpPr/>
          <p:nvPr/>
        </p:nvSpPr>
        <p:spPr>
          <a:xfrm>
            <a:off x="4114800" y="128016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9" name="Shape 6"/>
          <p:cNvSpPr/>
          <p:nvPr/>
        </p:nvSpPr>
        <p:spPr>
          <a:xfrm>
            <a:off x="4114800" y="1280160"/>
            <a:ext cx="54864" cy="777240"/>
          </a:xfrm>
          <a:prstGeom prst="rect">
            <a:avLst/>
          </a:prstGeom>
          <a:solidFill>
            <a:srgbClr val="B87333"/>
          </a:solidFill>
          <a:ln/>
        </p:spPr>
        <p:txBody>
          <a:bodyPr/>
          <a:p/>
        </p:txBody>
      </p:sp>
      <p:pic>
        <p:nvPicPr>
          <p:cNvPr id="10" name="Image 1" descr="preencoded.png"/>
          <p:cNvPicPr>
            <a:picLocks noChangeAspect="1"/>
          </p:cNvPicPr>
          <p:nvPr/>
        </p:nvPicPr>
        <p:blipFill>
          <a:blip r:embed="rId2"/>
          <a:stretch>
            <a:fillRect/>
          </a:stretch>
        </p:blipFill>
        <p:spPr>
          <a:xfrm>
            <a:off x="4297680" y="1463040"/>
            <a:ext cx="320040" cy="320040"/>
          </a:xfrm>
          <a:prstGeom prst="rect">
            <a:avLst/>
          </a:prstGeom>
        </p:spPr>
      </p:pic>
      <p:sp>
        <p:nvSpPr>
          <p:cNvPr id="11" name="Text 7"/>
          <p:cNvSpPr/>
          <p:nvPr/>
        </p:nvSpPr>
        <p:spPr>
          <a:xfrm>
            <a:off x="4754880" y="128016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COVENIN 1212-81</a:t>
            </a:r>
            <a:endParaRPr lang="en-US" sz="1300" dirty="0"/>
          </a:p>
        </p:txBody>
      </p:sp>
      <p:sp>
        <p:nvSpPr>
          <p:cNvPr id="12" name="Text 8"/>
          <p:cNvSpPr/>
          <p:nvPr/>
        </p:nvSpPr>
        <p:spPr>
          <a:xfrm>
            <a:off x="4754880" y="169164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Venezuelan galvanizing standard</a:t>
            </a:r>
            <a:endParaRPr lang="en-US" sz="1000" dirty="0"/>
          </a:p>
        </p:txBody>
      </p:sp>
      <p:sp>
        <p:nvSpPr>
          <p:cNvPr id="13" name="Shape 9"/>
          <p:cNvSpPr/>
          <p:nvPr/>
        </p:nvSpPr>
        <p:spPr>
          <a:xfrm>
            <a:off x="4114800" y="224028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Shape 10"/>
          <p:cNvSpPr/>
          <p:nvPr/>
        </p:nvSpPr>
        <p:spPr>
          <a:xfrm>
            <a:off x="4114800" y="2240280"/>
            <a:ext cx="54864" cy="777240"/>
          </a:xfrm>
          <a:prstGeom prst="rect">
            <a:avLst/>
          </a:prstGeom>
          <a:solidFill>
            <a:srgbClr val="B87333"/>
          </a:solidFill>
          <a:ln/>
        </p:spPr>
        <p:txBody>
          <a:bodyPr/>
          <a:p/>
        </p:txBody>
      </p:sp>
      <p:pic>
        <p:nvPicPr>
          <p:cNvPr id="15" name="Image 2" descr="preencoded.png"/>
          <p:cNvPicPr>
            <a:picLocks noChangeAspect="1"/>
          </p:cNvPicPr>
          <p:nvPr/>
        </p:nvPicPr>
        <p:blipFill>
          <a:blip r:embed="rId3"/>
          <a:stretch>
            <a:fillRect/>
          </a:stretch>
        </p:blipFill>
        <p:spPr>
          <a:xfrm>
            <a:off x="4297680" y="2423160"/>
            <a:ext cx="320040" cy="320040"/>
          </a:xfrm>
          <a:prstGeom prst="rect">
            <a:avLst/>
          </a:prstGeom>
        </p:spPr>
      </p:pic>
      <p:sp>
        <p:nvSpPr>
          <p:cNvPr id="16" name="Text 11"/>
          <p:cNvSpPr/>
          <p:nvPr/>
        </p:nvSpPr>
        <p:spPr>
          <a:xfrm>
            <a:off x="4754880" y="224028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A123</a:t>
            </a:r>
            <a:endParaRPr lang="en-US" sz="1300" dirty="0"/>
          </a:p>
        </p:txBody>
      </p:sp>
      <p:sp>
        <p:nvSpPr>
          <p:cNvPr id="17" name="Text 12"/>
          <p:cNvSpPr/>
          <p:nvPr/>
        </p:nvSpPr>
        <p:spPr>
          <a:xfrm>
            <a:off x="4754880" y="265176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Zinc coatings on iron/steel</a:t>
            </a:r>
            <a:endParaRPr lang="en-US" sz="1000" dirty="0"/>
          </a:p>
        </p:txBody>
      </p:sp>
      <p:sp>
        <p:nvSpPr>
          <p:cNvPr id="18" name="Shape 13"/>
          <p:cNvSpPr/>
          <p:nvPr/>
        </p:nvSpPr>
        <p:spPr>
          <a:xfrm>
            <a:off x="4114800" y="3200400"/>
            <a:ext cx="457200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9" name="Shape 14"/>
          <p:cNvSpPr/>
          <p:nvPr/>
        </p:nvSpPr>
        <p:spPr>
          <a:xfrm>
            <a:off x="4114800" y="3200400"/>
            <a:ext cx="54864" cy="777240"/>
          </a:xfrm>
          <a:prstGeom prst="rect">
            <a:avLst/>
          </a:prstGeom>
          <a:solidFill>
            <a:srgbClr val="B87333"/>
          </a:solidFill>
          <a:ln/>
        </p:spPr>
        <p:txBody>
          <a:bodyPr/>
          <a:p/>
        </p:txBody>
      </p:sp>
      <p:pic>
        <p:nvPicPr>
          <p:cNvPr id="20" name="Image 3" descr="preencoded.png"/>
          <p:cNvPicPr>
            <a:picLocks noChangeAspect="1"/>
          </p:cNvPicPr>
          <p:nvPr/>
        </p:nvPicPr>
        <p:blipFill>
          <a:blip r:embed="rId4"/>
          <a:stretch>
            <a:fillRect/>
          </a:stretch>
        </p:blipFill>
        <p:spPr>
          <a:xfrm>
            <a:off x="4297680" y="3383280"/>
            <a:ext cx="320040" cy="320040"/>
          </a:xfrm>
          <a:prstGeom prst="rect">
            <a:avLst/>
          </a:prstGeom>
        </p:spPr>
      </p:pic>
      <p:sp>
        <p:nvSpPr>
          <p:cNvPr id="21" name="Text 15"/>
          <p:cNvSpPr/>
          <p:nvPr/>
        </p:nvSpPr>
        <p:spPr>
          <a:xfrm>
            <a:off x="4754880" y="3200400"/>
            <a:ext cx="3657600" cy="411480"/>
          </a:xfrm>
          <a:prstGeom prst="rect">
            <a:avLst/>
          </a:prstGeom>
          <a:noFill/>
          <a:ln/>
        </p:spPr>
        <p:txBody>
          <a:bodyPr wrap="square" lIns="0" tIns="0" rIns="0" bIns="0" rtlCol="0" anchor="b"/>
          <a:lstStyle/>
          <a:p>
            <a:pPr indent="0" marL="0">
              <a:buNone/>
            </a:pPr>
            <a:r>
              <a:rPr lang="en-US" sz="1300" b="1" dirty="0">
                <a:solidFill>
                  <a:srgbClr val="8B5A2B"/>
                </a:solidFill>
                <a:latin typeface="Georgia" pitchFamily="34" charset="0"/>
                <a:ea typeface="Georgia" pitchFamily="34" charset="-122"/>
                <a:cs typeface="Georgia" pitchFamily="34" charset="-120"/>
              </a:rPr>
              <a:t>ASTM A153</a:t>
            </a:r>
            <a:endParaRPr lang="en-US" sz="1300" dirty="0"/>
          </a:p>
        </p:txBody>
      </p:sp>
      <p:sp>
        <p:nvSpPr>
          <p:cNvPr id="22" name="Text 16"/>
          <p:cNvSpPr/>
          <p:nvPr/>
        </p:nvSpPr>
        <p:spPr>
          <a:xfrm>
            <a:off x="4754880" y="3611880"/>
            <a:ext cx="3657600" cy="320040"/>
          </a:xfrm>
          <a:prstGeom prst="rect">
            <a:avLst/>
          </a:prstGeom>
          <a:noFill/>
          <a:ln/>
        </p:spPr>
        <p:txBody>
          <a:bodyPr wrap="square" lIns="0" tIns="0" rIns="0" bIns="0" rtlCol="0" anchor="t"/>
          <a:lstStyle/>
          <a:p>
            <a:pPr indent="0" marL="0">
              <a:buNone/>
            </a:pPr>
            <a:r>
              <a:rPr lang="en-US" sz="1000" dirty="0">
                <a:solidFill>
                  <a:srgbClr val="7A6555"/>
                </a:solidFill>
                <a:latin typeface="Calibri" pitchFamily="34" charset="0"/>
                <a:ea typeface="Calibri" pitchFamily="34" charset="-122"/>
                <a:cs typeface="Calibri" pitchFamily="34" charset="-120"/>
              </a:rPr>
              <a:t>Zinc coatings on hardware</a:t>
            </a:r>
            <a:endParaRPr lang="en-US" sz="1000" dirty="0"/>
          </a:p>
        </p:txBody>
      </p:sp>
      <p:sp>
        <p:nvSpPr>
          <p:cNvPr id="23" name="Shape 17"/>
          <p:cNvSpPr/>
          <p:nvPr/>
        </p:nvSpPr>
        <p:spPr>
          <a:xfrm>
            <a:off x="4114800" y="4206240"/>
            <a:ext cx="4572000" cy="502920"/>
          </a:xfrm>
          <a:prstGeom prst="rect">
            <a:avLst/>
          </a:prstGeom>
          <a:solidFill>
            <a:srgbClr val="EDE8E0"/>
          </a:solidFill>
          <a:ln w="12700">
            <a:solidFill>
              <a:srgbClr val="B87333"/>
            </a:solidFill>
            <a:prstDash val="solid"/>
          </a:ln>
        </p:spPr>
        <p:txBody>
          <a:bodyPr/>
          <a:p/>
        </p:txBody>
      </p:sp>
      <p:sp>
        <p:nvSpPr>
          <p:cNvPr id="24" name="Text 18"/>
          <p:cNvSpPr/>
          <p:nvPr/>
        </p:nvSpPr>
        <p:spPr>
          <a:xfrm>
            <a:off x="4206240" y="4206240"/>
            <a:ext cx="4389120" cy="502920"/>
          </a:xfrm>
          <a:prstGeom prst="rect">
            <a:avLst/>
          </a:prstGeom>
          <a:noFill/>
          <a:ln/>
        </p:spPr>
        <p:txBody>
          <a:bodyPr wrap="square" lIns="0" tIns="0" rIns="0" bIns="0" rtlCol="0" anchor="ctr"/>
          <a:lstStyle/>
          <a:p>
            <a:pPr indent="0" marL="0">
              <a:buNone/>
            </a:pPr>
            <a:r>
              <a:rPr lang="en-US" sz="1100" b="1" i="1" dirty="0">
                <a:solidFill>
                  <a:srgbClr val="8B5A2B"/>
                </a:solidFill>
                <a:latin typeface="Calibri" pitchFamily="34" charset="0"/>
                <a:ea typeface="Calibri" pitchFamily="34" charset="-122"/>
                <a:cs typeface="Calibri" pitchFamily="34" charset="-120"/>
              </a:rPr>
              <a:t>"Certificamos cada lote — espesor obtenido: 101 um (55% sobre especificacion)"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16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THE TEAM</a:t>
            </a:r>
            <a:endParaRPr lang="en-US" sz="30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years of accumulated experience in industrial galvanizing</a:t>
            </a:r>
            <a:endParaRPr lang="en-US" sz="1200" dirty="0"/>
          </a:p>
        </p:txBody>
      </p:sp>
      <p:sp>
        <p:nvSpPr>
          <p:cNvPr id="6" name="Shape 4"/>
          <p:cNvSpPr/>
          <p:nvPr/>
        </p:nvSpPr>
        <p:spPr>
          <a:xfrm>
            <a:off x="54864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548640" y="1188720"/>
            <a:ext cx="3840480" cy="36576"/>
          </a:xfrm>
          <a:prstGeom prst="rect">
            <a:avLst/>
          </a:prstGeom>
          <a:solidFill>
            <a:srgbClr val="B87333"/>
          </a:solidFill>
          <a:ln/>
        </p:spPr>
        <p:txBody>
          <a:bodyPr/>
          <a:p/>
        </p:txBody>
      </p:sp>
      <p:sp>
        <p:nvSpPr>
          <p:cNvPr id="8" name="Shape 6"/>
          <p:cNvSpPr/>
          <p:nvPr/>
        </p:nvSpPr>
        <p:spPr>
          <a:xfrm>
            <a:off x="822960" y="1417320"/>
            <a:ext cx="1097280" cy="1280160"/>
          </a:xfrm>
          <a:prstGeom prst="rect">
            <a:avLst/>
          </a:prstGeom>
          <a:solidFill>
            <a:srgbClr val="EDE8E0"/>
          </a:solidFill>
          <a:ln w="12700">
            <a:solidFill>
              <a:srgbClr val="D4C5B2"/>
            </a:solidFill>
            <a:prstDash val="solid"/>
          </a:ln>
        </p:spPr>
        <p:txBody>
          <a:bodyPr/>
          <a:p/>
        </p:txBody>
      </p:sp>
      <p:sp>
        <p:nvSpPr>
          <p:cNvPr id="9" name="Text 7"/>
          <p:cNvSpPr/>
          <p:nvPr/>
        </p:nvSpPr>
        <p:spPr>
          <a:xfrm>
            <a:off x="82296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0" name="Text 8"/>
          <p:cNvSpPr/>
          <p:nvPr/>
        </p:nvSpPr>
        <p:spPr>
          <a:xfrm>
            <a:off x="210312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Francisco Ballesteros Z.</a:t>
            </a:r>
            <a:endParaRPr lang="en-US" sz="1200" dirty="0"/>
          </a:p>
        </p:txBody>
      </p:sp>
      <p:sp>
        <p:nvSpPr>
          <p:cNvPr id="11" name="Text 9"/>
          <p:cNvSpPr/>
          <p:nvPr/>
        </p:nvSpPr>
        <p:spPr>
          <a:xfrm>
            <a:off x="210312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FOUNDER</a:t>
            </a:r>
            <a:endParaRPr lang="en-US" sz="900" dirty="0"/>
          </a:p>
        </p:txBody>
      </p:sp>
      <p:sp>
        <p:nvSpPr>
          <p:cNvPr id="12" name="Text 10"/>
          <p:cNvSpPr/>
          <p:nvPr/>
        </p:nvSpPr>
        <p:spPr>
          <a:xfrm>
            <a:off x="210312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Founded and led PYGLARA for over 50 years, keeping it operational through economic contractions exceeding 70%. Extensive industrial network across Venezuela and abroad. Undisputed authority in industrial galvanizing.</a:t>
            </a:r>
            <a:endParaRPr lang="en-US" sz="900" dirty="0"/>
          </a:p>
        </p:txBody>
      </p:sp>
      <p:sp>
        <p:nvSpPr>
          <p:cNvPr id="13" name="Shape 11"/>
          <p:cNvSpPr/>
          <p:nvPr/>
        </p:nvSpPr>
        <p:spPr>
          <a:xfrm>
            <a:off x="4754880" y="1188720"/>
            <a:ext cx="3840480" cy="237744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Shape 12"/>
          <p:cNvSpPr/>
          <p:nvPr/>
        </p:nvSpPr>
        <p:spPr>
          <a:xfrm>
            <a:off x="4754880" y="1188720"/>
            <a:ext cx="3840480" cy="36576"/>
          </a:xfrm>
          <a:prstGeom prst="rect">
            <a:avLst/>
          </a:prstGeom>
          <a:solidFill>
            <a:srgbClr val="B87333"/>
          </a:solidFill>
          <a:ln/>
        </p:spPr>
        <p:txBody>
          <a:bodyPr/>
          <a:p/>
        </p:txBody>
      </p:sp>
      <p:sp>
        <p:nvSpPr>
          <p:cNvPr id="15" name="Shape 13"/>
          <p:cNvSpPr/>
          <p:nvPr/>
        </p:nvSpPr>
        <p:spPr>
          <a:xfrm>
            <a:off x="5029200" y="1417320"/>
            <a:ext cx="1097280" cy="1280160"/>
          </a:xfrm>
          <a:prstGeom prst="rect">
            <a:avLst/>
          </a:prstGeom>
          <a:solidFill>
            <a:srgbClr val="EDE8E0"/>
          </a:solidFill>
          <a:ln w="12700">
            <a:solidFill>
              <a:srgbClr val="D4C5B2"/>
            </a:solidFill>
            <a:prstDash val="solid"/>
          </a:ln>
        </p:spPr>
        <p:txBody>
          <a:bodyPr/>
          <a:p/>
        </p:txBody>
      </p:sp>
      <p:sp>
        <p:nvSpPr>
          <p:cNvPr id="16" name="Text 14"/>
          <p:cNvSpPr/>
          <p:nvPr/>
        </p:nvSpPr>
        <p:spPr>
          <a:xfrm>
            <a:off x="5029200" y="1783080"/>
            <a:ext cx="1097280" cy="548640"/>
          </a:xfrm>
          <a:prstGeom prst="rect">
            <a:avLst/>
          </a:prstGeom>
          <a:noFill/>
          <a:ln/>
        </p:spPr>
        <p:txBody>
          <a:bodyPr wrap="square" rtlCol="0" anchor="ctr"/>
          <a:lstStyle/>
          <a:p>
            <a:pPr algn="ctr" indent="0" marL="0">
              <a:buNone/>
            </a:pPr>
            <a:r>
              <a:rPr lang="en-US" sz="1000" dirty="0">
                <a:solidFill>
                  <a:srgbClr val="7A6555"/>
                </a:solidFill>
                <a:latin typeface="Calibri" pitchFamily="34" charset="0"/>
                <a:ea typeface="Calibri" pitchFamily="34" charset="-122"/>
                <a:cs typeface="Calibri" pitchFamily="34" charset="-120"/>
              </a:rPr>
              <a:t>FOTO</a:t>
            </a:r>
            <a:endParaRPr lang="en-US" sz="1000" dirty="0"/>
          </a:p>
        </p:txBody>
      </p:sp>
      <p:sp>
        <p:nvSpPr>
          <p:cNvPr id="17" name="Text 15"/>
          <p:cNvSpPr/>
          <p:nvPr/>
        </p:nvSpPr>
        <p:spPr>
          <a:xfrm>
            <a:off x="6309360" y="1417320"/>
            <a:ext cx="2103120" cy="320040"/>
          </a:xfrm>
          <a:prstGeom prst="rect">
            <a:avLst/>
          </a:prstGeom>
          <a:noFill/>
          <a:ln/>
        </p:spPr>
        <p:txBody>
          <a:bodyPr wrap="square" lIns="0" tIns="0" rIns="0" bIns="0" rtlCol="0" anchor="ctr"/>
          <a:lstStyle/>
          <a:p>
            <a:pPr indent="0" marL="0">
              <a:buNone/>
            </a:pPr>
            <a:r>
              <a:rPr lang="en-US" sz="1200" b="1" dirty="0">
                <a:solidFill>
                  <a:srgbClr val="8B5A2B"/>
                </a:solidFill>
                <a:latin typeface="Georgia" pitchFamily="34" charset="0"/>
                <a:ea typeface="Georgia" pitchFamily="34" charset="-122"/>
                <a:cs typeface="Georgia" pitchFamily="34" charset="-120"/>
              </a:rPr>
              <a:t>Ing. Miriam Armas</a:t>
            </a:r>
            <a:endParaRPr lang="en-US" sz="1200" dirty="0"/>
          </a:p>
        </p:txBody>
      </p:sp>
      <p:sp>
        <p:nvSpPr>
          <p:cNvPr id="18" name="Text 16"/>
          <p:cNvSpPr/>
          <p:nvPr/>
        </p:nvSpPr>
        <p:spPr>
          <a:xfrm>
            <a:off x="6309360" y="1691640"/>
            <a:ext cx="2103120" cy="228600"/>
          </a:xfrm>
          <a:prstGeom prst="rect">
            <a:avLst/>
          </a:prstGeom>
          <a:noFill/>
          <a:ln/>
        </p:spPr>
        <p:txBody>
          <a:bodyPr wrap="square" lIns="0" tIns="0" rIns="0" bIns="0" rtlCol="0" anchor="ctr"/>
          <a:lstStyle/>
          <a:p>
            <a:pPr indent="0" marL="0">
              <a:buNone/>
            </a:pPr>
            <a:r>
              <a:rPr lang="en-US" sz="900" b="1" spc="200" kern="0" dirty="0">
                <a:solidFill>
                  <a:srgbClr val="B87333"/>
                </a:solidFill>
                <a:latin typeface="Calibri" pitchFamily="34" charset="0"/>
                <a:ea typeface="Calibri" pitchFamily="34" charset="-122"/>
                <a:cs typeface="Calibri" pitchFamily="34" charset="-120"/>
              </a:rPr>
              <a:t>PLANT ENGINEER</a:t>
            </a:r>
            <a:endParaRPr lang="en-US" sz="900" dirty="0"/>
          </a:p>
        </p:txBody>
      </p:sp>
      <p:sp>
        <p:nvSpPr>
          <p:cNvPr id="19" name="Text 17"/>
          <p:cNvSpPr/>
          <p:nvPr/>
        </p:nvSpPr>
        <p:spPr>
          <a:xfrm>
            <a:off x="6309360" y="1965960"/>
            <a:ext cx="2103120" cy="1097280"/>
          </a:xfrm>
          <a:prstGeom prst="rect">
            <a:avLst/>
          </a:prstGeom>
          <a:noFill/>
          <a:ln/>
        </p:spPr>
        <p:txBody>
          <a:bodyPr wrap="square" lIns="0" tIns="0" rIns="0" bIns="0" rtlCol="0" anchor="t"/>
          <a:lstStyle/>
          <a:p>
            <a:pPr indent="0" marL="0">
              <a:buNone/>
            </a:pPr>
            <a:r>
              <a:rPr lang="en-US" sz="900" dirty="0">
                <a:solidFill>
                  <a:srgbClr val="5C4033"/>
                </a:solidFill>
                <a:latin typeface="Calibri" pitchFamily="34" charset="0"/>
                <a:ea typeface="Calibri" pitchFamily="34" charset="-122"/>
                <a:cs typeface="Calibri" pitchFamily="34" charset="-120"/>
              </a:rPr>
              <a:t>36+ years of technical experience. Responsible for quality, production and certifications. Knows every piece of the plant. Primary source for technical due diligence.</a:t>
            </a:r>
            <a:endParaRPr lang="en-US" sz="900" dirty="0"/>
          </a:p>
        </p:txBody>
      </p:sp>
      <p:sp>
        <p:nvSpPr>
          <p:cNvPr id="20" name="Shape 18"/>
          <p:cNvSpPr/>
          <p:nvPr/>
        </p:nvSpPr>
        <p:spPr>
          <a:xfrm>
            <a:off x="548640" y="3840480"/>
            <a:ext cx="8046720" cy="914400"/>
          </a:xfrm>
          <a:prstGeom prst="rect">
            <a:avLst/>
          </a:prstGeom>
          <a:solidFill>
            <a:srgbClr val="FFFFFF"/>
          </a:solidFill>
          <a:ln w="12700">
            <a:solidFill>
              <a:srgbClr val="D4C5B2"/>
            </a:solidFill>
            <a:prstDash val="solid"/>
          </a:ln>
        </p:spPr>
        <p:txBody>
          <a:bodyPr/>
          <a:p/>
        </p:txBody>
      </p:sp>
      <p:sp>
        <p:nvSpPr>
          <p:cNvPr id="21" name="Text 19"/>
          <p:cNvSpPr/>
          <p:nvPr/>
        </p:nvSpPr>
        <p:spPr>
          <a:xfrm>
            <a:off x="731520" y="3886200"/>
            <a:ext cx="18288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OPERATIONS TEAM</a:t>
            </a:r>
            <a:endParaRPr lang="en-US" sz="1000" dirty="0"/>
          </a:p>
        </p:txBody>
      </p:sp>
      <p:sp>
        <p:nvSpPr>
          <p:cNvPr id="22" name="Text 20"/>
          <p:cNvSpPr/>
          <p:nvPr/>
        </p:nvSpPr>
        <p:spPr>
          <a:xfrm>
            <a:off x="731520" y="4160520"/>
            <a:ext cx="7680960" cy="502920"/>
          </a:xfrm>
          <a:prstGeom prst="rect">
            <a:avLst/>
          </a:prstGeom>
          <a:noFill/>
          <a:ln/>
        </p:spPr>
        <p:txBody>
          <a:bodyPr wrap="square" lIns="0" tIns="0" rIns="0" bIns="0" rtlCol="0" anchor="t"/>
          <a:lstStyle/>
          <a:p>
            <a:pPr indent="0" marL="0">
              <a:buNone/>
            </a:pPr>
            <a:r>
              <a:rPr lang="en-US" sz="1000" dirty="0">
                <a:solidFill>
                  <a:srgbClr val="5C4033"/>
                </a:solidFill>
                <a:latin typeface="Calibri" pitchFamily="34" charset="0"/>
                <a:ea typeface="Calibri" pitchFamily="34" charset="-122"/>
                <a:cs typeface="Calibri" pitchFamily="34" charset="-120"/>
              </a:rPr>
              <a:t>At full capacity: 15 workers (piece-rate). Currently: 3 workers. Direct supervision by Ing. Miriam. Hiring scales with production — no fixed payroll commitments until there is volume.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17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TRACK RECORD &amp; CLIENTS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50 years of operation — financial data confirmed by SENIAT</a:t>
            </a:r>
            <a:endParaRPr lang="en-US" sz="1200" dirty="0"/>
          </a:p>
        </p:txBody>
      </p:sp>
      <p:sp>
        <p:nvSpPr>
          <p:cNvPr id="6" name="Text 4"/>
          <p:cNvSpPr/>
          <p:nvPr/>
        </p:nvSpPr>
        <p:spPr>
          <a:xfrm>
            <a:off x="548640" y="1097280"/>
            <a:ext cx="475488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TOP 3 YEARS (SENIAT)</a:t>
            </a:r>
            <a:endParaRPr lang="en-US" sz="1100" dirty="0"/>
          </a:p>
        </p:txBody>
      </p:sp>
      <p:sp>
        <p:nvSpPr>
          <p:cNvPr id="7" name="Shape 5"/>
          <p:cNvSpPr/>
          <p:nvPr/>
        </p:nvSpPr>
        <p:spPr>
          <a:xfrm>
            <a:off x="1005840" y="1560870"/>
            <a:ext cx="1005840" cy="1913850"/>
          </a:xfrm>
          <a:prstGeom prst="rect">
            <a:avLst/>
          </a:prstGeom>
          <a:solidFill>
            <a:srgbClr val="B87333"/>
          </a:solidFill>
          <a:ln/>
        </p:spPr>
        <p:txBody>
          <a:bodyPr/>
          <a:p/>
        </p:txBody>
      </p:sp>
      <p:sp>
        <p:nvSpPr>
          <p:cNvPr id="8" name="Shape 6"/>
          <p:cNvSpPr/>
          <p:nvPr/>
        </p:nvSpPr>
        <p:spPr>
          <a:xfrm>
            <a:off x="1005840" y="3153328"/>
            <a:ext cx="1005840" cy="321392"/>
          </a:xfrm>
          <a:prstGeom prst="rect">
            <a:avLst/>
          </a:prstGeom>
          <a:solidFill>
            <a:srgbClr val="2D7D46">
              <a:alpha val="70000"/>
            </a:srgbClr>
          </a:solidFill>
          <a:ln/>
        </p:spPr>
        <p:txBody>
          <a:bodyPr/>
          <a:p/>
        </p:txBody>
      </p:sp>
      <p:sp>
        <p:nvSpPr>
          <p:cNvPr id="9" name="Text 7"/>
          <p:cNvSpPr/>
          <p:nvPr/>
        </p:nvSpPr>
        <p:spPr>
          <a:xfrm>
            <a:off x="100584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2006</a:t>
            </a:r>
            <a:endParaRPr lang="en-US" sz="1100" dirty="0"/>
          </a:p>
        </p:txBody>
      </p:sp>
      <p:sp>
        <p:nvSpPr>
          <p:cNvPr id="10" name="Text 8"/>
          <p:cNvSpPr/>
          <p:nvPr/>
        </p:nvSpPr>
        <p:spPr>
          <a:xfrm>
            <a:off x="1005840" y="1332270"/>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$1.71M</a:t>
            </a:r>
            <a:endParaRPr lang="en-US" sz="1000" dirty="0"/>
          </a:p>
        </p:txBody>
      </p:sp>
      <p:sp>
        <p:nvSpPr>
          <p:cNvPr id="11" name="Text 9"/>
          <p:cNvSpPr/>
          <p:nvPr/>
        </p:nvSpPr>
        <p:spPr>
          <a:xfrm>
            <a:off x="1005840" y="1652310"/>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$288K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(16.8%)</a:t>
            </a:r>
            <a:endParaRPr lang="en-US" sz="800" dirty="0"/>
          </a:p>
        </p:txBody>
      </p:sp>
      <p:sp>
        <p:nvSpPr>
          <p:cNvPr id="12" name="Shape 10"/>
          <p:cNvSpPr/>
          <p:nvPr/>
        </p:nvSpPr>
        <p:spPr>
          <a:xfrm>
            <a:off x="2331720" y="1531112"/>
            <a:ext cx="1005840" cy="1943608"/>
          </a:xfrm>
          <a:prstGeom prst="rect">
            <a:avLst/>
          </a:prstGeom>
          <a:solidFill>
            <a:srgbClr val="B87333"/>
          </a:solidFill>
          <a:ln/>
        </p:spPr>
        <p:txBody>
          <a:bodyPr/>
          <a:p/>
        </p:txBody>
      </p:sp>
      <p:sp>
        <p:nvSpPr>
          <p:cNvPr id="13" name="Shape 11"/>
          <p:cNvSpPr/>
          <p:nvPr/>
        </p:nvSpPr>
        <p:spPr>
          <a:xfrm>
            <a:off x="2331720" y="3122059"/>
            <a:ext cx="1005840" cy="352661"/>
          </a:xfrm>
          <a:prstGeom prst="rect">
            <a:avLst/>
          </a:prstGeom>
          <a:solidFill>
            <a:srgbClr val="2D7D46">
              <a:alpha val="70000"/>
            </a:srgbClr>
          </a:solidFill>
          <a:ln/>
        </p:spPr>
        <p:txBody>
          <a:bodyPr/>
          <a:p/>
        </p:txBody>
      </p:sp>
      <p:sp>
        <p:nvSpPr>
          <p:cNvPr id="14" name="Text 12"/>
          <p:cNvSpPr/>
          <p:nvPr/>
        </p:nvSpPr>
        <p:spPr>
          <a:xfrm>
            <a:off x="233172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2009</a:t>
            </a:r>
            <a:endParaRPr lang="en-US" sz="1100" dirty="0"/>
          </a:p>
        </p:txBody>
      </p:sp>
      <p:sp>
        <p:nvSpPr>
          <p:cNvPr id="15" name="Text 13"/>
          <p:cNvSpPr/>
          <p:nvPr/>
        </p:nvSpPr>
        <p:spPr>
          <a:xfrm>
            <a:off x="2331720" y="1302512"/>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$1.74M</a:t>
            </a:r>
            <a:endParaRPr lang="en-US" sz="1000" dirty="0"/>
          </a:p>
        </p:txBody>
      </p:sp>
      <p:sp>
        <p:nvSpPr>
          <p:cNvPr id="16" name="Text 14"/>
          <p:cNvSpPr/>
          <p:nvPr/>
        </p:nvSpPr>
        <p:spPr>
          <a:xfrm>
            <a:off x="2331720" y="1622552"/>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$316K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(18.1%)</a:t>
            </a:r>
            <a:endParaRPr lang="en-US" sz="800" dirty="0"/>
          </a:p>
        </p:txBody>
      </p:sp>
      <p:sp>
        <p:nvSpPr>
          <p:cNvPr id="17" name="Shape 15"/>
          <p:cNvSpPr/>
          <p:nvPr/>
        </p:nvSpPr>
        <p:spPr>
          <a:xfrm>
            <a:off x="3657600" y="1545555"/>
            <a:ext cx="1005840" cy="1929165"/>
          </a:xfrm>
          <a:prstGeom prst="rect">
            <a:avLst/>
          </a:prstGeom>
          <a:solidFill>
            <a:srgbClr val="B87333"/>
          </a:solidFill>
          <a:ln/>
        </p:spPr>
        <p:txBody>
          <a:bodyPr/>
          <a:p/>
        </p:txBody>
      </p:sp>
      <p:sp>
        <p:nvSpPr>
          <p:cNvPr id="18" name="Shape 16"/>
          <p:cNvSpPr/>
          <p:nvPr/>
        </p:nvSpPr>
        <p:spPr>
          <a:xfrm>
            <a:off x="3657600" y="3247475"/>
            <a:ext cx="1005840" cy="227245"/>
          </a:xfrm>
          <a:prstGeom prst="rect">
            <a:avLst/>
          </a:prstGeom>
          <a:solidFill>
            <a:srgbClr val="2D7D46">
              <a:alpha val="70000"/>
            </a:srgbClr>
          </a:solidFill>
          <a:ln/>
        </p:spPr>
        <p:txBody>
          <a:bodyPr/>
          <a:p/>
        </p:txBody>
      </p:sp>
      <p:sp>
        <p:nvSpPr>
          <p:cNvPr id="19" name="Text 17"/>
          <p:cNvSpPr/>
          <p:nvPr/>
        </p:nvSpPr>
        <p:spPr>
          <a:xfrm>
            <a:off x="3657600" y="3520440"/>
            <a:ext cx="1005840" cy="228600"/>
          </a:xfrm>
          <a:prstGeom prst="rect">
            <a:avLst/>
          </a:prstGeom>
          <a:noFill/>
          <a:ln/>
        </p:spPr>
        <p:txBody>
          <a:bodyPr wrap="square" lIns="0" tIns="0" rIns="0" bIns="0" rtlCol="0" anchor="ctr"/>
          <a:lstStyle/>
          <a:p>
            <a:pPr algn="ctr" indent="0" marL="0">
              <a:buNone/>
            </a:pPr>
            <a:r>
              <a:rPr lang="en-US" sz="1100" b="1" dirty="0">
                <a:solidFill>
                  <a:srgbClr val="3E2C1C"/>
                </a:solidFill>
                <a:latin typeface="Georgia" pitchFamily="34" charset="0"/>
                <a:ea typeface="Georgia" pitchFamily="34" charset="-122"/>
                <a:cs typeface="Georgia" pitchFamily="34" charset="-120"/>
              </a:rPr>
              <a:t>2012</a:t>
            </a:r>
            <a:endParaRPr lang="en-US" sz="1100" dirty="0"/>
          </a:p>
        </p:txBody>
      </p:sp>
      <p:sp>
        <p:nvSpPr>
          <p:cNvPr id="20" name="Text 18"/>
          <p:cNvSpPr/>
          <p:nvPr/>
        </p:nvSpPr>
        <p:spPr>
          <a:xfrm>
            <a:off x="3657600" y="1316955"/>
            <a:ext cx="1005840" cy="228600"/>
          </a:xfrm>
          <a:prstGeom prst="rect">
            <a:avLst/>
          </a:prstGeom>
          <a:noFill/>
          <a:ln/>
        </p:spPr>
        <p:txBody>
          <a:bodyPr wrap="square" lIns="0" tIns="0" rIns="0" bIns="0" rtlCol="0" anchor="ctr"/>
          <a:lstStyle/>
          <a:p>
            <a:pPr algn="ctr" indent="0" marL="0">
              <a:buNone/>
            </a:pPr>
            <a:r>
              <a:rPr lang="en-US" sz="1000" b="1" dirty="0">
                <a:solidFill>
                  <a:srgbClr val="8B5A2B"/>
                </a:solidFill>
                <a:latin typeface="Calibri" pitchFamily="34" charset="0"/>
                <a:ea typeface="Calibri" pitchFamily="34" charset="-122"/>
                <a:cs typeface="Calibri" pitchFamily="34" charset="-120"/>
              </a:rPr>
              <a:t>$1.73M</a:t>
            </a:r>
            <a:endParaRPr lang="en-US" sz="1000" dirty="0"/>
          </a:p>
        </p:txBody>
      </p:sp>
      <p:sp>
        <p:nvSpPr>
          <p:cNvPr id="21" name="Text 19"/>
          <p:cNvSpPr/>
          <p:nvPr/>
        </p:nvSpPr>
        <p:spPr>
          <a:xfrm>
            <a:off x="3657600" y="1636995"/>
            <a:ext cx="100584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$203K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(11.8%)</a:t>
            </a:r>
            <a:endParaRPr lang="en-US" sz="800" dirty="0"/>
          </a:p>
        </p:txBody>
      </p:sp>
      <p:sp>
        <p:nvSpPr>
          <p:cNvPr id="22" name="Shape 20"/>
          <p:cNvSpPr/>
          <p:nvPr/>
        </p:nvSpPr>
        <p:spPr>
          <a:xfrm>
            <a:off x="731520" y="3749040"/>
            <a:ext cx="274320" cy="137160"/>
          </a:xfrm>
          <a:prstGeom prst="rect">
            <a:avLst/>
          </a:prstGeom>
          <a:solidFill>
            <a:srgbClr val="B87333"/>
          </a:solidFill>
          <a:ln/>
        </p:spPr>
        <p:txBody>
          <a:bodyPr/>
          <a:p/>
        </p:txBody>
      </p:sp>
      <p:sp>
        <p:nvSpPr>
          <p:cNvPr id="23" name="Text 21"/>
          <p:cNvSpPr/>
          <p:nvPr/>
        </p:nvSpPr>
        <p:spPr>
          <a:xfrm>
            <a:off x="1051560" y="3703320"/>
            <a:ext cx="91440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Sales</a:t>
            </a:r>
            <a:endParaRPr lang="en-US" sz="800" dirty="0"/>
          </a:p>
        </p:txBody>
      </p:sp>
      <p:sp>
        <p:nvSpPr>
          <p:cNvPr id="24" name="Shape 22"/>
          <p:cNvSpPr/>
          <p:nvPr/>
        </p:nvSpPr>
        <p:spPr>
          <a:xfrm>
            <a:off x="2103120" y="3749040"/>
            <a:ext cx="274320" cy="137160"/>
          </a:xfrm>
          <a:prstGeom prst="rect">
            <a:avLst/>
          </a:prstGeom>
          <a:solidFill>
            <a:srgbClr val="2D7D46"/>
          </a:solidFill>
          <a:ln/>
        </p:spPr>
        <p:txBody>
          <a:bodyPr/>
          <a:p/>
        </p:txBody>
      </p:sp>
      <p:sp>
        <p:nvSpPr>
          <p:cNvPr id="25" name="Text 23"/>
          <p:cNvSpPr/>
          <p:nvPr/>
        </p:nvSpPr>
        <p:spPr>
          <a:xfrm>
            <a:off x="2423160" y="3703320"/>
            <a:ext cx="1097280" cy="228600"/>
          </a:xfrm>
          <a:prstGeom prst="rect">
            <a:avLst/>
          </a:prstGeom>
          <a:noFill/>
          <a:ln/>
        </p:spPr>
        <p:txBody>
          <a:bodyPr wrap="square" lIns="0" tIns="0" rIns="0" bIns="0" rtlCol="0" anchor="ctr"/>
          <a:lstStyle/>
          <a:p>
            <a:pPr indent="0" marL="0">
              <a:buNone/>
            </a:pPr>
            <a:r>
              <a:rPr lang="en-US" sz="800" dirty="0">
                <a:solidFill>
                  <a:srgbClr val="5C4033"/>
                </a:solidFill>
                <a:latin typeface="Calibri" pitchFamily="34" charset="0"/>
                <a:ea typeface="Calibri" pitchFamily="34" charset="-122"/>
                <a:cs typeface="Calibri" pitchFamily="34" charset="-120"/>
              </a:rPr>
              <a:t>Profit</a:t>
            </a:r>
            <a:endParaRPr lang="en-US" sz="800" dirty="0"/>
          </a:p>
        </p:txBody>
      </p:sp>
      <p:sp>
        <p:nvSpPr>
          <p:cNvPr id="26" name="Text 24"/>
          <p:cNvSpPr/>
          <p:nvPr/>
        </p:nvSpPr>
        <p:spPr>
          <a:xfrm>
            <a:off x="548640" y="3931920"/>
            <a:ext cx="4754880" cy="274320"/>
          </a:xfrm>
          <a:prstGeom prst="rect">
            <a:avLst/>
          </a:prstGeom>
          <a:noFill/>
          <a:ln/>
        </p:spPr>
        <p:txBody>
          <a:bodyPr wrap="square" lIns="0" tIns="0" rIns="0" bIns="0" rtlCol="0" anchor="ctr"/>
          <a:lstStyle/>
          <a:p>
            <a:pPr indent="0" marL="0">
              <a:buNone/>
            </a:pPr>
            <a:r>
              <a:rPr lang="en-US" sz="750" i="1" dirty="0">
                <a:solidFill>
                  <a:srgbClr val="8C8C8C"/>
                </a:solidFill>
                <a:latin typeface="Calibri" pitchFamily="34" charset="0"/>
                <a:ea typeface="Calibri" pitchFamily="34" charset="-122"/>
                <a:cs typeface="Calibri" pitchFamily="34" charset="-120"/>
              </a:rPr>
              <a:t>Data declared to SENIAT (verifiable). Exchange rates: CADIVI 2006/2009, post-devaluation 2012.</a:t>
            </a:r>
            <a:endParaRPr lang="en-US" sz="750" dirty="0"/>
          </a:p>
        </p:txBody>
      </p:sp>
      <p:sp>
        <p:nvSpPr>
          <p:cNvPr id="27" name="Text 25"/>
          <p:cNvSpPr/>
          <p:nvPr/>
        </p:nvSpPr>
        <p:spPr>
          <a:xfrm>
            <a:off x="5486400" y="1097280"/>
            <a:ext cx="3200400" cy="274320"/>
          </a:xfrm>
          <a:prstGeom prst="rect">
            <a:avLst/>
          </a:prstGeom>
          <a:noFill/>
          <a:ln/>
        </p:spPr>
        <p:txBody>
          <a:bodyPr wrap="square" lIns="0" tIns="0" rIns="0" bIns="0" rtlCol="0" anchor="ctr"/>
          <a:lstStyle/>
          <a:p>
            <a:pPr indent="0" marL="0">
              <a:buNone/>
            </a:pPr>
            <a:r>
              <a:rPr lang="en-US" sz="1100" b="1" dirty="0">
                <a:solidFill>
                  <a:srgbClr val="B87333"/>
                </a:solidFill>
                <a:latin typeface="Georgia" pitchFamily="34" charset="0"/>
                <a:ea typeface="Georgia" pitchFamily="34" charset="-122"/>
                <a:cs typeface="Georgia" pitchFamily="34" charset="-120"/>
              </a:rPr>
              <a:t>CLIENTS &amp; PARTNERS</a:t>
            </a:r>
            <a:endParaRPr lang="en-US" sz="1100" dirty="0"/>
          </a:p>
        </p:txBody>
      </p:sp>
      <p:sp>
        <p:nvSpPr>
          <p:cNvPr id="28" name="Shape 26"/>
          <p:cNvSpPr/>
          <p:nvPr/>
        </p:nvSpPr>
        <p:spPr>
          <a:xfrm>
            <a:off x="548640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29" name="Text 27"/>
          <p:cNvSpPr/>
          <p:nvPr/>
        </p:nvSpPr>
        <p:spPr>
          <a:xfrm>
            <a:off x="548640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CORPOELEC</a:t>
            </a:r>
            <a:endParaRPr lang="en-US" sz="1100" dirty="0"/>
          </a:p>
        </p:txBody>
      </p:sp>
      <p:sp>
        <p:nvSpPr>
          <p:cNvPr id="30" name="Text 28"/>
          <p:cNvSpPr/>
          <p:nvPr/>
        </p:nvSpPr>
        <p:spPr>
          <a:xfrm>
            <a:off x="553212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20,000 copper ground rods</a:t>
            </a:r>
            <a:endParaRPr lang="en-US" sz="700" dirty="0"/>
          </a:p>
        </p:txBody>
      </p:sp>
      <p:sp>
        <p:nvSpPr>
          <p:cNvPr id="31" name="Shape 29"/>
          <p:cNvSpPr/>
          <p:nvPr/>
        </p:nvSpPr>
        <p:spPr>
          <a:xfrm>
            <a:off x="7178040" y="146304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2" name="Text 30"/>
          <p:cNvSpPr/>
          <p:nvPr/>
        </p:nvSpPr>
        <p:spPr>
          <a:xfrm>
            <a:off x="7178040" y="148132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SASGO</a:t>
            </a:r>
            <a:endParaRPr lang="en-US" sz="1100" dirty="0"/>
          </a:p>
        </p:txBody>
      </p:sp>
      <p:sp>
        <p:nvSpPr>
          <p:cNvPr id="33" name="Text 31"/>
          <p:cNvSpPr/>
          <p:nvPr/>
        </p:nvSpPr>
        <p:spPr>
          <a:xfrm>
            <a:off x="7223760" y="175564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Electric poles &amp; towers</a:t>
            </a:r>
            <a:endParaRPr lang="en-US" sz="700" dirty="0"/>
          </a:p>
        </p:txBody>
      </p:sp>
      <p:sp>
        <p:nvSpPr>
          <p:cNvPr id="34" name="Shape 32"/>
          <p:cNvSpPr/>
          <p:nvPr/>
        </p:nvSpPr>
        <p:spPr>
          <a:xfrm>
            <a:off x="548640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5" name="Text 33"/>
          <p:cNvSpPr/>
          <p:nvPr/>
        </p:nvSpPr>
        <p:spPr>
          <a:xfrm>
            <a:off x="548640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MARULLO</a:t>
            </a:r>
            <a:endParaRPr lang="en-US" sz="1100" dirty="0"/>
          </a:p>
        </p:txBody>
      </p:sp>
      <p:sp>
        <p:nvSpPr>
          <p:cNvPr id="36" name="Text 34"/>
          <p:cNvSpPr/>
          <p:nvPr/>
        </p:nvSpPr>
        <p:spPr>
          <a:xfrm>
            <a:off x="553212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Agroindustrial machinery</a:t>
            </a:r>
            <a:endParaRPr lang="en-US" sz="700" dirty="0"/>
          </a:p>
        </p:txBody>
      </p:sp>
      <p:sp>
        <p:nvSpPr>
          <p:cNvPr id="37" name="Shape 35"/>
          <p:cNvSpPr/>
          <p:nvPr/>
        </p:nvSpPr>
        <p:spPr>
          <a:xfrm>
            <a:off x="7178040" y="228600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38" name="Text 36"/>
          <p:cNvSpPr/>
          <p:nvPr/>
        </p:nvSpPr>
        <p:spPr>
          <a:xfrm>
            <a:off x="7178040" y="230428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FREYSSINET</a:t>
            </a:r>
            <a:endParaRPr lang="en-US" sz="1100" dirty="0"/>
          </a:p>
        </p:txBody>
      </p:sp>
      <p:sp>
        <p:nvSpPr>
          <p:cNvPr id="39" name="Text 37"/>
          <p:cNvSpPr/>
          <p:nvPr/>
        </p:nvSpPr>
        <p:spPr>
          <a:xfrm>
            <a:off x="7223760" y="257860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MSE retaining walls (VINCI Group)</a:t>
            </a:r>
            <a:endParaRPr lang="en-US" sz="700" dirty="0"/>
          </a:p>
        </p:txBody>
      </p:sp>
      <p:sp>
        <p:nvSpPr>
          <p:cNvPr id="40" name="Shape 38"/>
          <p:cNvSpPr/>
          <p:nvPr/>
        </p:nvSpPr>
        <p:spPr>
          <a:xfrm>
            <a:off x="548640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1" name="Text 39"/>
          <p:cNvSpPr/>
          <p:nvPr/>
        </p:nvSpPr>
        <p:spPr>
          <a:xfrm>
            <a:off x="548640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INDUESCA</a:t>
            </a:r>
            <a:endParaRPr lang="en-US" sz="1100" dirty="0"/>
          </a:p>
        </p:txBody>
      </p:sp>
      <p:sp>
        <p:nvSpPr>
          <p:cNvPr id="42" name="Text 40"/>
          <p:cNvSpPr/>
          <p:nvPr/>
        </p:nvSpPr>
        <p:spPr>
          <a:xfrm>
            <a:off x="553212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Cable trays &amp; towers</a:t>
            </a:r>
            <a:endParaRPr lang="en-US" sz="700" dirty="0"/>
          </a:p>
        </p:txBody>
      </p:sp>
      <p:sp>
        <p:nvSpPr>
          <p:cNvPr id="43" name="Shape 41"/>
          <p:cNvSpPr/>
          <p:nvPr/>
        </p:nvSpPr>
        <p:spPr>
          <a:xfrm>
            <a:off x="7178040" y="3108960"/>
            <a:ext cx="1554480" cy="502920"/>
          </a:xfrm>
          <a:prstGeom prst="rect">
            <a:avLst/>
          </a:prstGeom>
          <a:solidFill>
            <a:srgbClr val="FFFFFF"/>
          </a:solidFill>
          <a:ln w="12700">
            <a:solidFill>
              <a:srgbClr val="B87333"/>
            </a:solidFill>
            <a:prstDash val="solid"/>
          </a:ln>
          <a:effectLst>
            <a:outerShdw sx="100000" sy="100000" kx="0" ky="0" algn="bl" rotWithShape="0" blurRad="25400" dist="12700" dir="8100000">
              <a:srgbClr val="000000">
                <a:alpha val="6000"/>
              </a:srgbClr>
            </a:outerShdw>
          </a:effectLst>
        </p:spPr>
        <p:txBody>
          <a:bodyPr/>
          <a:p/>
        </p:txBody>
      </p:sp>
      <p:sp>
        <p:nvSpPr>
          <p:cNvPr id="44" name="Text 42"/>
          <p:cNvSpPr/>
          <p:nvPr/>
        </p:nvSpPr>
        <p:spPr>
          <a:xfrm>
            <a:off x="7178040" y="3127248"/>
            <a:ext cx="1554480" cy="292608"/>
          </a:xfrm>
          <a:prstGeom prst="rect">
            <a:avLst/>
          </a:prstGeom>
          <a:noFill/>
          <a:ln/>
        </p:spPr>
        <p:txBody>
          <a:bodyPr wrap="square" lIns="0" tIns="0" rIns="0" bIns="0" rtlCol="0" anchor="ctr"/>
          <a:lstStyle/>
          <a:p>
            <a:pPr algn="ctr" indent="0" marL="0">
              <a:buNone/>
            </a:pPr>
            <a:r>
              <a:rPr lang="en-US" sz="1100" b="1" dirty="0">
                <a:solidFill>
                  <a:srgbClr val="8B5A2B"/>
                </a:solidFill>
                <a:latin typeface="Georgia" pitchFamily="34" charset="0"/>
                <a:ea typeface="Georgia" pitchFamily="34" charset="-122"/>
                <a:cs typeface="Georgia" pitchFamily="34" charset="-120"/>
              </a:rPr>
              <a:t>DISMACA</a:t>
            </a:r>
            <a:endParaRPr lang="en-US" sz="1100" dirty="0"/>
          </a:p>
        </p:txBody>
      </p:sp>
      <p:sp>
        <p:nvSpPr>
          <p:cNvPr id="45" name="Text 43"/>
          <p:cNvSpPr/>
          <p:nvPr/>
        </p:nvSpPr>
        <p:spPr>
          <a:xfrm>
            <a:off x="7223760" y="3401568"/>
            <a:ext cx="1463040" cy="182880"/>
          </a:xfrm>
          <a:prstGeom prst="rect">
            <a:avLst/>
          </a:prstGeom>
          <a:noFill/>
          <a:ln/>
        </p:spPr>
        <p:txBody>
          <a:bodyPr wrap="square" lIns="0" tIns="0" rIns="0" bIns="0" rtlCol="0" anchor="t"/>
          <a:lstStyle/>
          <a:p>
            <a:pPr algn="ctr" indent="0" marL="0">
              <a:buNone/>
            </a:pPr>
            <a:r>
              <a:rPr lang="en-US" sz="700" dirty="0">
                <a:solidFill>
                  <a:srgbClr val="7A6555"/>
                </a:solidFill>
                <a:latin typeface="Calibri" pitchFamily="34" charset="0"/>
                <a:ea typeface="Calibri" pitchFamily="34" charset="-122"/>
                <a:cs typeface="Calibri" pitchFamily="34" charset="-120"/>
              </a:rPr>
              <a:t>EPC / Oil &amp; Gas</a:t>
            </a:r>
            <a:endParaRPr lang="en-US" sz="700" dirty="0"/>
          </a:p>
        </p:txBody>
      </p:sp>
      <p:sp>
        <p:nvSpPr>
          <p:cNvPr id="46" name="Shape 44"/>
          <p:cNvSpPr/>
          <p:nvPr/>
        </p:nvSpPr>
        <p:spPr>
          <a:xfrm>
            <a:off x="5486400" y="3977640"/>
            <a:ext cx="3200400" cy="777240"/>
          </a:xfrm>
          <a:prstGeom prst="rect">
            <a:avLst/>
          </a:prstGeom>
          <a:solidFill>
            <a:srgbClr val="EDE8E0"/>
          </a:solidFill>
          <a:ln w="12700">
            <a:solidFill>
              <a:srgbClr val="B87333"/>
            </a:solidFill>
            <a:prstDash val="solid"/>
          </a:ln>
        </p:spPr>
        <p:txBody>
          <a:bodyPr/>
          <a:p/>
        </p:txBody>
      </p:sp>
      <p:sp>
        <p:nvSpPr>
          <p:cNvPr id="47" name="Text 45"/>
          <p:cNvSpPr/>
          <p:nvPr/>
        </p:nvSpPr>
        <p:spPr>
          <a:xfrm>
            <a:off x="5623560" y="3977640"/>
            <a:ext cx="2926080" cy="777240"/>
          </a:xfrm>
          <a:prstGeom prst="rect">
            <a:avLst/>
          </a:prstGeom>
          <a:noFill/>
          <a:ln/>
        </p:spPr>
        <p:txBody>
          <a:bodyPr wrap="square" rtlCol="0" anchor="ctr"/>
          <a:lstStyle/>
          <a:p>
            <a:pPr indent="0" marL="0">
              <a:buNone/>
            </a:pPr>
            <a:r>
              <a:rPr lang="en-US" sz="2000" b="1" dirty="0">
                <a:solidFill>
                  <a:srgbClr val="8B5A2B"/>
                </a:solidFill>
                <a:latin typeface="Georgia" pitchFamily="34" charset="0"/>
                <a:ea typeface="Georgia" pitchFamily="34" charset="-122"/>
                <a:cs typeface="Georgia" pitchFamily="34" charset="-120"/>
              </a:rPr>
              <a:t>34</a:t>
            </a:r>
            <a:pPr indent="0" marL="0">
              <a:buNone/>
            </a:pPr>
            <a:r>
              <a:rPr lang="en-US" sz="1000" dirty="0">
                <a:solidFill>
                  <a:srgbClr val="5C4033"/>
                </a:solidFill>
                <a:latin typeface="Calibri" pitchFamily="34" charset="0"/>
                <a:ea typeface="Calibri" pitchFamily="34" charset="-122"/>
                <a:cs typeface="Calibri" pitchFamily="34" charset="-120"/>
              </a:rPr>
              <a:t xml:space="preserve"> clientes historicos
</a:t>
            </a:r>
            <a:pPr indent="0" marL="0">
              <a:buNone/>
            </a:pPr>
            <a:r>
              <a:rPr lang="en-US" sz="2000" b="1" dirty="0">
                <a:solidFill>
                  <a:srgbClr val="2D7D46"/>
                </a:solidFill>
                <a:latin typeface="Georgia" pitchFamily="34" charset="0"/>
                <a:ea typeface="Georgia" pitchFamily="34" charset="-122"/>
                <a:cs typeface="Georgia" pitchFamily="34" charset="-120"/>
              </a:rPr>
              <a:t>6</a:t>
            </a:r>
            <a:pPr indent="0" marL="0">
              <a:buNone/>
            </a:pPr>
            <a:r>
              <a:rPr lang="en-US" sz="1000" dirty="0">
                <a:solidFill>
                  <a:srgbClr val="5C4033"/>
                </a:solidFill>
                <a:latin typeface="Calibri" pitchFamily="34" charset="0"/>
                <a:ea typeface="Calibri" pitchFamily="34" charset="-122"/>
                <a:cs typeface="Calibri" pitchFamily="34" charset="-120"/>
              </a:rPr>
              <a:t xml:space="preserve"> interested in reactivating orders</a:t>
            </a:r>
            <a:endParaRPr lang="en-US" sz="2000" dirty="0"/>
          </a:p>
        </p:txBody>
      </p:sp>
      <p:sp>
        <p:nvSpPr>
          <p:cNvPr id="48" name="Text 46"/>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Last year of continuous operation: 2015. 675 MT of flat bars that year alone. Stopped due to lack of zinc, NOT lack of demand.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CURRENT PLANT INVENTORY</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Materials, equipment and machinery available at the time of transaction</a:t>
            </a:r>
            <a:endParaRPr lang="en-US" sz="1200" dirty="0"/>
          </a:p>
        </p:txBody>
      </p:sp>
      <p:sp>
        <p:nvSpPr>
          <p:cNvPr id="6" name="Text 4"/>
          <p:cNvSpPr/>
          <p:nvPr/>
        </p:nvSpPr>
        <p:spPr>
          <a:xfrm>
            <a:off x="548640" y="1143000"/>
            <a:ext cx="3657600" cy="27432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RAW MATERIALS ON SITE</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3840480" cy="914400"/>
        </p:xfrm>
        <a:graphic>
          <a:graphicData uri="http://schemas.openxmlformats.org/drawingml/2006/table">
            <a:tbl>
              <a:tblPr/>
              <a:tblGrid>
                <a:gridCol w="2560320"/>
                <a:gridCol w="128016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Material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Quantity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2,041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Hydrochloric acid (HCl)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4,600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47472">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Ammonium chloride (NH4Cl)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274320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MACHINERY &amp; EQUIPMENT</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8640" y="2999232"/>
          <a:ext cx="3840480" cy="914400"/>
        </p:xfrm>
        <a:graphic>
          <a:graphicData uri="http://schemas.openxmlformats.org/drawingml/2006/table">
            <a:tbl>
              <a:tblPr/>
              <a:tblGrid>
                <a:gridCol w="2560320"/>
                <a:gridCol w="1280160"/>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Equipment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Quantity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Clark Forklifts (2,500 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3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Overhead Cranes (2-5 MT)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2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Industrial Scale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 unit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Three-phase Rectifiers (copper)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Electrolytic Tanks (copper)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 units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246888">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65cm Centrifuge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ACTIVE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pic>
        <p:nvPicPr>
          <p:cNvPr id="10" name="Image 0" descr="/sessions/sweet-gallant-wright/pyglara-deck/images/clavos.jpg"/>
          <p:cNvPicPr>
            <a:picLocks noChangeAspect="1"/>
          </p:cNvPicPr>
          <p:nvPr/>
        </p:nvPicPr>
        <p:blipFill>
          <a:blip r:embed="rId1"/>
          <a:srcRect l="0" r="0" t="0" b="0"/>
          <a:stretch/>
        </p:blipFill>
        <p:spPr>
          <a:xfrm>
            <a:off x="4754880" y="1143000"/>
            <a:ext cx="3931920" cy="2560320"/>
          </a:xfrm>
          <a:prstGeom prst="rect">
            <a:avLst/>
          </a:prstGeom>
        </p:spPr>
      </p:pic>
      <p:sp>
        <p:nvSpPr>
          <p:cNvPr id="11" name="Shape 6"/>
          <p:cNvSpPr/>
          <p:nvPr/>
        </p:nvSpPr>
        <p:spPr>
          <a:xfrm>
            <a:off x="4754880" y="1143000"/>
            <a:ext cx="3931920" cy="2560320"/>
          </a:xfrm>
          <a:prstGeom prst="rect">
            <a:avLst/>
          </a:prstGeom>
          <a:ln w="19050">
            <a:solidFill>
              <a:srgbClr val="B87333"/>
            </a:solidFill>
            <a:prstDash val="solid"/>
          </a:ln>
        </p:spPr>
        <p:txBody>
          <a:bodyPr/>
          <a:p/>
        </p:txBody>
      </p:sp>
      <p:sp>
        <p:nvSpPr>
          <p:cNvPr id="12" name="Text 7"/>
          <p:cNvSpPr/>
          <p:nvPr/>
        </p:nvSpPr>
        <p:spPr>
          <a:xfrm>
            <a:off x="4754880" y="3749040"/>
            <a:ext cx="3931920" cy="274320"/>
          </a:xfrm>
          <a:prstGeom prst="rect">
            <a:avLst/>
          </a:prstGeom>
          <a:noFill/>
          <a:ln/>
        </p:spPr>
        <p:txBody>
          <a:bodyPr wrap="square" lIns="0" tIns="0" rIns="0" bIns="0" rtlCol="0" anchor="ctr"/>
          <a:lstStyle/>
          <a:p>
            <a:pPr algn="ctr" indent="0" marL="0">
              <a:buNone/>
            </a:pPr>
            <a:r>
              <a:rPr lang="en-US" sz="900" i="1" dirty="0">
                <a:solidFill>
                  <a:srgbClr val="7A6555"/>
                </a:solidFill>
                <a:latin typeface="Calibri" pitchFamily="34" charset="0"/>
                <a:ea typeface="Calibri" pitchFamily="34" charset="-122"/>
                <a:cs typeface="Calibri" pitchFamily="34" charset="-120"/>
              </a:rPr>
              <a:t>Galvanized nails — current production with 65cm centrifuge</a:t>
            </a:r>
            <a:endParaRPr lang="en-US" sz="900" dirty="0"/>
          </a:p>
        </p:txBody>
      </p:sp>
      <p:sp>
        <p:nvSpPr>
          <p:cNvPr id="13" name="Shape 8"/>
          <p:cNvSpPr/>
          <p:nvPr/>
        </p:nvSpPr>
        <p:spPr>
          <a:xfrm>
            <a:off x="4754880" y="4069080"/>
            <a:ext cx="3931920" cy="640080"/>
          </a:xfrm>
          <a:prstGeom prst="rect">
            <a:avLst/>
          </a:prstGeom>
          <a:solidFill>
            <a:srgbClr val="EDE8E0"/>
          </a:solidFill>
          <a:ln w="12700">
            <a:solidFill>
              <a:srgbClr val="B87333"/>
            </a:solidFill>
            <a:prstDash val="solid"/>
          </a:ln>
        </p:spPr>
        <p:txBody>
          <a:bodyPr/>
          <a:p/>
        </p:txBody>
      </p:sp>
      <p:sp>
        <p:nvSpPr>
          <p:cNvPr id="14" name="Text 9"/>
          <p:cNvSpPr/>
          <p:nvPr/>
        </p:nvSpPr>
        <p:spPr>
          <a:xfrm>
            <a:off x="4937760" y="4069080"/>
            <a:ext cx="3566160" cy="640080"/>
          </a:xfrm>
          <a:prstGeom prst="rect">
            <a:avLst/>
          </a:prstGeom>
          <a:noFill/>
          <a:ln/>
        </p:spPr>
        <p:txBody>
          <a:bodyPr wrap="square" rtlCol="0" anchor="ctr"/>
          <a:lstStyle/>
          <a:p>
            <a:pPr indent="0" marL="0">
              <a:buNone/>
            </a:pPr>
            <a:r>
              <a:rPr lang="en-US" sz="900" b="1" dirty="0">
                <a:solidFill>
                  <a:srgbClr val="8B5A2B"/>
                </a:solidFill>
                <a:latin typeface="Calibri" pitchFamily="34" charset="0"/>
                <a:ea typeface="Calibri" pitchFamily="34" charset="-122"/>
                <a:cs typeface="Calibri" pitchFamily="34" charset="-120"/>
              </a:rPr>
              <a:t>The 65cm centrifuge is OPERATIONAL and producing galvanized nails TODAY — the plant is not completely idle.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19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3000" b="1" dirty="0">
                <a:solidFill>
                  <a:srgbClr val="3E2C1C"/>
                </a:solidFill>
                <a:latin typeface="Georgia" pitchFamily="34" charset="0"/>
                <a:ea typeface="Georgia" pitchFamily="34" charset="-122"/>
                <a:cs typeface="Georgia" pitchFamily="34" charset="-120"/>
              </a:rPr>
              <a:t>COMPETITIVE POSITION</a:t>
            </a:r>
            <a:endParaRPr lang="en-US" sz="3000" dirty="0"/>
          </a:p>
        </p:txBody>
      </p:sp>
      <p:sp>
        <p:nvSpPr>
          <p:cNvPr id="5" name="Text 3"/>
          <p:cNvSpPr/>
          <p:nvPr/>
        </p:nvSpPr>
        <p:spPr>
          <a:xfrm>
            <a:off x="548640" y="731520"/>
            <a:ext cx="8046720" cy="32004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Only 2 commercial galvanizing service providers in the entire country — all others galvanize only their own products</a:t>
            </a:r>
            <a:endParaRPr lang="en-US" sz="1200" dirty="0"/>
          </a:p>
        </p:txBody>
      </p:sp>
      <p:sp>
        <p:nvSpPr>
          <p:cNvPr id="6" name="Shape 4"/>
          <p:cNvSpPr/>
          <p:nvPr/>
        </p:nvSpPr>
        <p:spPr>
          <a:xfrm>
            <a:off x="54864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7" name="Shape 5"/>
          <p:cNvSpPr/>
          <p:nvPr/>
        </p:nvSpPr>
        <p:spPr>
          <a:xfrm>
            <a:off x="548640" y="1280160"/>
            <a:ext cx="54864" cy="1097280"/>
          </a:xfrm>
          <a:prstGeom prst="rect">
            <a:avLst/>
          </a:prstGeom>
          <a:solidFill>
            <a:srgbClr val="B87333"/>
          </a:solidFill>
          <a:ln/>
        </p:spPr>
        <p:txBody>
          <a:bodyPr/>
          <a:p/>
        </p:txBody>
      </p:sp>
      <p:sp>
        <p:nvSpPr>
          <p:cNvPr id="8" name="Text 6"/>
          <p:cNvSpPr/>
          <p:nvPr/>
        </p:nvSpPr>
        <p:spPr>
          <a:xfrm>
            <a:off x="54864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a:t>
            </a:r>
            <a:endParaRPr lang="en-US" sz="2800" dirty="0"/>
          </a:p>
        </p:txBody>
      </p:sp>
      <p:sp>
        <p:nvSpPr>
          <p:cNvPr id="9" name="Text 7"/>
          <p:cNvSpPr/>
          <p:nvPr/>
        </p:nvSpPr>
        <p:spPr>
          <a:xfrm>
            <a:off x="64008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Commercial service providers</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in all of Venezuela</a:t>
            </a:r>
            <a:endParaRPr lang="en-US" sz="1000" dirty="0"/>
          </a:p>
        </p:txBody>
      </p:sp>
      <p:sp>
        <p:nvSpPr>
          <p:cNvPr id="10" name="Shape 8"/>
          <p:cNvSpPr/>
          <p:nvPr/>
        </p:nvSpPr>
        <p:spPr>
          <a:xfrm>
            <a:off x="342900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Shape 9"/>
          <p:cNvSpPr/>
          <p:nvPr/>
        </p:nvSpPr>
        <p:spPr>
          <a:xfrm>
            <a:off x="3429000" y="1280160"/>
            <a:ext cx="54864" cy="1097280"/>
          </a:xfrm>
          <a:prstGeom prst="rect">
            <a:avLst/>
          </a:prstGeom>
          <a:solidFill>
            <a:srgbClr val="B87333"/>
          </a:solidFill>
          <a:ln/>
        </p:spPr>
        <p:txBody>
          <a:bodyPr/>
          <a:p/>
        </p:txBody>
      </p:sp>
      <p:sp>
        <p:nvSpPr>
          <p:cNvPr id="12" name="Text 10"/>
          <p:cNvSpPr/>
          <p:nvPr/>
        </p:nvSpPr>
        <p:spPr>
          <a:xfrm>
            <a:off x="342900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$2.2M</a:t>
            </a:r>
            <a:endParaRPr lang="en-US" sz="2800" dirty="0"/>
          </a:p>
        </p:txBody>
      </p:sp>
      <p:sp>
        <p:nvSpPr>
          <p:cNvPr id="13" name="Text 11"/>
          <p:cNvSpPr/>
          <p:nvPr/>
        </p:nvSpPr>
        <p:spPr>
          <a:xfrm>
            <a:off x="352044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Minimum investment for</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a new entrant</a:t>
            </a:r>
            <a:endParaRPr lang="en-US" sz="1000" dirty="0"/>
          </a:p>
        </p:txBody>
      </p:sp>
      <p:sp>
        <p:nvSpPr>
          <p:cNvPr id="14" name="Shape 12"/>
          <p:cNvSpPr/>
          <p:nvPr/>
        </p:nvSpPr>
        <p:spPr>
          <a:xfrm>
            <a:off x="6309360" y="1280160"/>
            <a:ext cx="265176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5" name="Shape 13"/>
          <p:cNvSpPr/>
          <p:nvPr/>
        </p:nvSpPr>
        <p:spPr>
          <a:xfrm>
            <a:off x="6309360" y="1280160"/>
            <a:ext cx="54864" cy="1097280"/>
          </a:xfrm>
          <a:prstGeom prst="rect">
            <a:avLst/>
          </a:prstGeom>
          <a:solidFill>
            <a:srgbClr val="B87333"/>
          </a:solidFill>
          <a:ln/>
        </p:spPr>
        <p:txBody>
          <a:bodyPr/>
          <a:p/>
        </p:txBody>
      </p:sp>
      <p:sp>
        <p:nvSpPr>
          <p:cNvPr id="16" name="Text 14"/>
          <p:cNvSpPr/>
          <p:nvPr/>
        </p:nvSpPr>
        <p:spPr>
          <a:xfrm>
            <a:off x="6309360" y="1325880"/>
            <a:ext cx="2651760" cy="548640"/>
          </a:xfrm>
          <a:prstGeom prst="rect">
            <a:avLst/>
          </a:prstGeom>
          <a:noFill/>
          <a:ln/>
        </p:spPr>
        <p:txBody>
          <a:bodyPr wrap="square" lIns="0" tIns="0" rIns="0" bIns="0" rtlCol="0" anchor="ctr"/>
          <a:lstStyle/>
          <a:p>
            <a:pPr algn="ctr" indent="0" marL="0">
              <a:buNone/>
            </a:pPr>
            <a:r>
              <a:rPr lang="en-US" sz="2800" b="1" dirty="0">
                <a:solidFill>
                  <a:srgbClr val="8B5A2B"/>
                </a:solidFill>
                <a:latin typeface="Georgia" pitchFamily="34" charset="0"/>
                <a:ea typeface="Georgia" pitchFamily="34" charset="-122"/>
                <a:cs typeface="Georgia" pitchFamily="34" charset="-120"/>
              </a:rPr>
              <a:t>18-36</a:t>
            </a:r>
            <a:endParaRPr lang="en-US" sz="2800" dirty="0"/>
          </a:p>
        </p:txBody>
      </p:sp>
      <p:sp>
        <p:nvSpPr>
          <p:cNvPr id="17" name="Text 15"/>
          <p:cNvSpPr/>
          <p:nvPr/>
        </p:nvSpPr>
        <p:spPr>
          <a:xfrm>
            <a:off x="6400800" y="1874520"/>
            <a:ext cx="2468880" cy="411480"/>
          </a:xfrm>
          <a:prstGeom prst="rect">
            <a:avLst/>
          </a:prstGeom>
          <a:noFill/>
          <a:ln/>
        </p:spPr>
        <p:txBody>
          <a:bodyPr wrap="square" lIns="0" tIns="0" rIns="0" bIns="0" rtlCol="0" anchor="t"/>
          <a:lstStyle/>
          <a:p>
            <a:pPr algn="ctr" indent="0" marL="0">
              <a:buNone/>
            </a:pPr>
            <a:r>
              <a:rPr lang="en-US" sz="1000" dirty="0">
                <a:solidFill>
                  <a:srgbClr val="5C4033"/>
                </a:solidFill>
                <a:latin typeface="Calibri" pitchFamily="34" charset="0"/>
                <a:ea typeface="Calibri" pitchFamily="34" charset="-122"/>
                <a:cs typeface="Calibri" pitchFamily="34" charset="-120"/>
              </a:rPr>
              <a:t>Months of construction</a:t>
            </a:r>
            <a:endParaRPr lang="en-US" sz="1000" dirty="0"/>
          </a:p>
          <a:p>
            <a:pPr algn="ctr" indent="0" marL="0">
              <a:buNone/>
            </a:pPr>
            <a:r>
              <a:rPr lang="en-US" sz="1000" dirty="0">
                <a:solidFill>
                  <a:srgbClr val="5C4033"/>
                </a:solidFill>
                <a:latin typeface="Calibri" pitchFamily="34" charset="0"/>
                <a:ea typeface="Calibri" pitchFamily="34" charset="-122"/>
                <a:cs typeface="Calibri" pitchFamily="34" charset="-120"/>
              </a:rPr>
              <a:t>to compete</a:t>
            </a:r>
            <a:endParaRPr lang="en-US" sz="1000" dirty="0"/>
          </a:p>
        </p:txBody>
      </p:sp>
      <p:sp>
        <p:nvSpPr>
          <p:cNvPr id="18" name="Shape 16"/>
          <p:cNvSpPr/>
          <p:nvPr/>
        </p:nvSpPr>
        <p:spPr>
          <a:xfrm>
            <a:off x="548640" y="2743200"/>
            <a:ext cx="8046720" cy="411480"/>
          </a:xfrm>
          <a:prstGeom prst="rect">
            <a:avLst/>
          </a:prstGeom>
          <a:solidFill>
            <a:srgbClr val="FFFFFF"/>
          </a:solidFill>
          <a:ln w="6350">
            <a:solidFill>
              <a:srgbClr val="D4C5B2"/>
            </a:solidFill>
            <a:prstDash val="solid"/>
          </a:ln>
        </p:spPr>
        <p:txBody>
          <a:bodyPr/>
          <a:p/>
        </p:txBody>
      </p:sp>
      <p:pic>
        <p:nvPicPr>
          <p:cNvPr id="19" name="Image 0" descr="preencoded.png"/>
          <p:cNvPicPr>
            <a:picLocks noChangeAspect="1"/>
          </p:cNvPicPr>
          <p:nvPr/>
        </p:nvPicPr>
        <p:blipFill>
          <a:blip r:embed="rId1"/>
          <a:stretch>
            <a:fillRect/>
          </a:stretch>
        </p:blipFill>
        <p:spPr>
          <a:xfrm>
            <a:off x="685800" y="2807208"/>
            <a:ext cx="228600" cy="228600"/>
          </a:xfrm>
          <a:prstGeom prst="rect">
            <a:avLst/>
          </a:prstGeom>
        </p:spPr>
      </p:pic>
      <p:sp>
        <p:nvSpPr>
          <p:cNvPr id="20" name="Text 17"/>
          <p:cNvSpPr/>
          <p:nvPr/>
        </p:nvSpPr>
        <p:spPr>
          <a:xfrm>
            <a:off x="1051560" y="274320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Extremely high barrier to entry — building a galvanizing plant takes years and millions of dollars</a:t>
            </a:r>
            <a:endParaRPr lang="en-US" sz="950" dirty="0"/>
          </a:p>
        </p:txBody>
      </p:sp>
      <p:sp>
        <p:nvSpPr>
          <p:cNvPr id="21" name="Shape 18"/>
          <p:cNvSpPr/>
          <p:nvPr/>
        </p:nvSpPr>
        <p:spPr>
          <a:xfrm>
            <a:off x="548640" y="3246120"/>
            <a:ext cx="8046720" cy="411480"/>
          </a:xfrm>
          <a:prstGeom prst="rect">
            <a:avLst/>
          </a:prstGeom>
          <a:solidFill>
            <a:srgbClr val="EDE8E0"/>
          </a:solidFill>
          <a:ln w="6350">
            <a:solidFill>
              <a:srgbClr val="D4C5B2"/>
            </a:solidFill>
            <a:prstDash val="solid"/>
          </a:ln>
        </p:spPr>
        <p:txBody>
          <a:bodyPr/>
          <a:p/>
        </p:txBody>
      </p:sp>
      <p:pic>
        <p:nvPicPr>
          <p:cNvPr id="22" name="Image 1" descr="preencoded.png"/>
          <p:cNvPicPr>
            <a:picLocks noChangeAspect="1"/>
          </p:cNvPicPr>
          <p:nvPr/>
        </p:nvPicPr>
        <p:blipFill>
          <a:blip r:embed="rId2"/>
          <a:stretch>
            <a:fillRect/>
          </a:stretch>
        </p:blipFill>
        <p:spPr>
          <a:xfrm>
            <a:off x="685800" y="3310128"/>
            <a:ext cx="228600" cy="228600"/>
          </a:xfrm>
          <a:prstGeom prst="rect">
            <a:avLst/>
          </a:prstGeom>
        </p:spPr>
      </p:pic>
      <p:sp>
        <p:nvSpPr>
          <p:cNvPr id="23" name="Text 19"/>
          <p:cNvSpPr/>
          <p:nvPr/>
        </p:nvSpPr>
        <p:spPr>
          <a:xfrm>
            <a:off x="1051560" y="324612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Pilling equipment (Germany) is not available locally — impossible to replicate quickly</a:t>
            </a:r>
            <a:endParaRPr lang="en-US" sz="950" dirty="0"/>
          </a:p>
        </p:txBody>
      </p:sp>
      <p:sp>
        <p:nvSpPr>
          <p:cNvPr id="24" name="Shape 20"/>
          <p:cNvSpPr/>
          <p:nvPr/>
        </p:nvSpPr>
        <p:spPr>
          <a:xfrm>
            <a:off x="548640" y="3749040"/>
            <a:ext cx="8046720" cy="411480"/>
          </a:xfrm>
          <a:prstGeom prst="rect">
            <a:avLst/>
          </a:prstGeom>
          <a:solidFill>
            <a:srgbClr val="FFFFFF"/>
          </a:solidFill>
          <a:ln w="6350">
            <a:solidFill>
              <a:srgbClr val="D4C5B2"/>
            </a:solidFill>
            <a:prstDash val="solid"/>
          </a:ln>
        </p:spPr>
        <p:txBody>
          <a:bodyPr/>
          <a:p/>
        </p:txBody>
      </p:sp>
      <p:pic>
        <p:nvPicPr>
          <p:cNvPr id="25" name="Image 2" descr="preencoded.png"/>
          <p:cNvPicPr>
            <a:picLocks noChangeAspect="1"/>
          </p:cNvPicPr>
          <p:nvPr/>
        </p:nvPicPr>
        <p:blipFill>
          <a:blip r:embed="rId3"/>
          <a:stretch>
            <a:fillRect/>
          </a:stretch>
        </p:blipFill>
        <p:spPr>
          <a:xfrm>
            <a:off x="685800" y="3813048"/>
            <a:ext cx="228600" cy="228600"/>
          </a:xfrm>
          <a:prstGeom prst="rect">
            <a:avLst/>
          </a:prstGeom>
        </p:spPr>
      </p:pic>
      <p:sp>
        <p:nvSpPr>
          <p:cNvPr id="26" name="Text 21"/>
          <p:cNvSpPr/>
          <p:nvPr/>
        </p:nvSpPr>
        <p:spPr>
          <a:xfrm>
            <a:off x="1051560" y="3749040"/>
            <a:ext cx="7406640" cy="411480"/>
          </a:xfrm>
          <a:prstGeom prst="rect">
            <a:avLst/>
          </a:prstGeom>
          <a:noFill/>
          <a:ln/>
        </p:spPr>
        <p:txBody>
          <a:bodyPr wrap="square" lIns="0" tIns="0" rIns="0" bIns="0" rtlCol="0" anchor="ctr"/>
          <a:lstStyle/>
          <a:p>
            <a:pPr indent="0" marL="0">
              <a:buNone/>
            </a:pPr>
            <a:r>
              <a:rPr lang="en-US" sz="950" dirty="0">
                <a:solidFill>
                  <a:srgbClr val="5C4033"/>
                </a:solidFill>
                <a:latin typeface="Calibri" pitchFamily="34" charset="0"/>
                <a:ea typeface="Calibri" pitchFamily="34" charset="-122"/>
                <a:cs typeface="Calibri" pitchFamily="34" charset="-120"/>
              </a:rPr>
              <a:t>PYGLARA has clean title, active permits, and is ready to operate in 3 months</a:t>
            </a:r>
            <a:endParaRPr lang="en-US" sz="950" dirty="0"/>
          </a:p>
        </p:txBody>
      </p:sp>
      <p:sp>
        <p:nvSpPr>
          <p:cNvPr id="27" name="Shape 22"/>
          <p:cNvSpPr/>
          <p:nvPr/>
        </p:nvSpPr>
        <p:spPr>
          <a:xfrm>
            <a:off x="548640" y="4251960"/>
            <a:ext cx="8046720" cy="411480"/>
          </a:xfrm>
          <a:prstGeom prst="rect">
            <a:avLst/>
          </a:prstGeom>
          <a:solidFill>
            <a:srgbClr val="EDE8E0"/>
          </a:solidFill>
          <a:ln w="6350">
            <a:solidFill>
              <a:srgbClr val="D4C5B2"/>
            </a:solidFill>
            <a:prstDash val="solid"/>
          </a:ln>
        </p:spPr>
        <p:txBody>
          <a:bodyPr/>
          <a:p/>
        </p:txBody>
      </p:sp>
      <p:pic>
        <p:nvPicPr>
          <p:cNvPr id="28" name="Image 3" descr="preencoded.png"/>
          <p:cNvPicPr>
            <a:picLocks noChangeAspect="1"/>
          </p:cNvPicPr>
          <p:nvPr/>
        </p:nvPicPr>
        <p:blipFill>
          <a:blip r:embed="rId4"/>
          <a:stretch>
            <a:fillRect/>
          </a:stretch>
        </p:blipFill>
        <p:spPr>
          <a:xfrm>
            <a:off x="685800" y="4315968"/>
            <a:ext cx="228600" cy="228600"/>
          </a:xfrm>
          <a:prstGeom prst="rect">
            <a:avLst/>
          </a:prstGeom>
        </p:spPr>
      </p:pic>
      <p:sp>
        <p:nvSpPr>
          <p:cNvPr id="29" name="Text 23"/>
          <p:cNvSpPr/>
          <p:nvPr/>
        </p:nvSpPr>
        <p:spPr>
          <a:xfrm>
            <a:off x="1051560" y="4251960"/>
            <a:ext cx="7406640" cy="411480"/>
          </a:xfrm>
          <a:prstGeom prst="rect">
            <a:avLst/>
          </a:prstGeom>
          <a:noFill/>
          <a:ln/>
        </p:spPr>
        <p:txBody>
          <a:bodyPr wrap="square" lIns="0" tIns="0" rIns="0" bIns="0" rtlCol="0" anchor="ctr"/>
          <a:lstStyle/>
          <a:p>
            <a:pPr indent="0" marL="0" algn="l">
              <a:buNone/>
            </a:pPr>
            <a:r>
              <a:rPr sz="800" b="0" i="0">
                <a:solidFill>
                  <a:srgbClr val="FFFFFF"/>
                </a:solidFill>
              </a:rPr>
              <a:t>Coverage: Lara, Yaracuy, Portuguesa, Falcon, Barinas, Zulia (oil) — at 300 TM/month: est. 6-12% of Venezuela's active galvanizing demand</a:t>
            </a:r>
            <a:endParaRPr lang="en-US" sz="950" dirty="0"/>
          </a:p>
        </p:txBody>
      </p:sp>
      <p:sp>
        <p:nvSpPr>
          <p:cNvPr id="30" name="Text 2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1200" b="1" i="1" dirty="0">
                <a:solidFill>
                  <a:srgbClr val="8B5A2B"/>
                </a:solidFill>
                <a:latin typeface="Calibri" pitchFamily="34" charset="0"/>
                <a:ea typeface="Calibri" pitchFamily="34" charset="-122"/>
                <a:cs typeface="Calibri" pitchFamily="34" charset="-120"/>
              </a:rPr>
              <a:t>"Extremely high barrier to entry"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GALVANIZING ECONOMICS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Variable and fixed cost structure per galvanized ton</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3200400"/>
                <a:gridCol w="1645920"/>
                <a:gridCol w="1554480"/>
                <a:gridCol w="164592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Variable Costs (per ton)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SHG 99.99% (10% absorption x $4,220/TM)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$0.422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Hydrochloric acid HCl (4.2% x $1,174/MT)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$0.049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Ammonium chloride NH4Cl (3% x $2,300/MT)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$0.069</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TOTAL VARIABLE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$540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$0.54</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5C4033"/>
                    </a:solidFill>
                  </a:tcPr>
                </a:tc>
              </a:tr>
              <a:tr h="384048">
                <a:tc>
                  <a:txBody>
                    <a:bodyPr/>
                    <a:lstStyle/>
                    <a:p>
                      <a:pPr algn="l" indent="0" marL="0">
                        <a:buNone/>
                      </a:pPr>
                      <a:r>
                        <a:rPr lang="en-US" sz="1100" b="1" dirty="0">
                          <a:solidFill>
                            <a:srgbClr val="8B5A2B"/>
                          </a:solidFill>
                          <a:latin typeface="Calibri" pitchFamily="34" charset="0"/>
                          <a:ea typeface="Calibri" pitchFamily="34" charset="-122"/>
                          <a:cs typeface="Calibri" pitchFamily="34" charset="-120"/>
                        </a:rPr>
                        <a:t>SELLING PRICE (market range)</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$1,200-$1,500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100" b="1" dirty="0">
                          <a:solidFill>
                            <a:srgbClr val="8B5A2B"/>
                          </a:solidFill>
                          <a:latin typeface="Calibri" pitchFamily="34" charset="0"/>
                          <a:ea typeface="Calibri" pitchFamily="34" charset="-122"/>
                          <a:cs typeface="Calibri" pitchFamily="34" charset="-120"/>
                        </a:rPr>
                        <a:t>$1.20-$1.50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indent="0" marL="0">
                        <a:buNone/>
                      </a:pPr>
                      <a:endParaRPr lang="en-US" sz="1200" dirty="0"/>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02336">
                <a:tc>
                  <a:txBody>
                    <a:bodyPr/>
                    <a:lstStyle/>
                    <a:p>
                      <a:pPr algn="l" indent="0" marL="0">
                        <a:buNone/>
                      </a:pPr>
                      <a:r>
                        <a:rPr lang="en-US" sz="1100" b="1" dirty="0">
                          <a:solidFill>
                            <a:srgbClr val="2D7D46"/>
                          </a:solidFill>
                          <a:latin typeface="Calibri" pitchFamily="34" charset="0"/>
                          <a:ea typeface="Calibri" pitchFamily="34" charset="-122"/>
                          <a:cs typeface="Calibri" pitchFamily="34" charset="-120"/>
                        </a:rPr>
                        <a:t>CONTRIBUTION MARGIN (range)</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Calibri" pitchFamily="34" charset="0"/>
                          <a:ea typeface="Calibri" pitchFamily="34" charset="-122"/>
                          <a:cs typeface="Calibri" pitchFamily="34" charset="-120"/>
                        </a:rPr>
                        <a:t>$660-$960</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$0.66-$0.96</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D7D46"/>
                          </a:solidFill>
                          <a:latin typeface="Georgia" pitchFamily="34" charset="0"/>
                          <a:ea typeface="Georgia" pitchFamily="34" charset="-122"/>
                          <a:cs typeface="Georgia" pitchFamily="34" charset="-120"/>
                        </a:rPr>
                        <a:t>55%-64%</a:t>
                      </a:r>
                      <a:endParaRPr lang="en-US" sz="11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3657600"/>
            <a:ext cx="3840480" cy="109728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8" name="Text 5"/>
          <p:cNvSpPr/>
          <p:nvPr/>
        </p:nvSpPr>
        <p:spPr>
          <a:xfrm>
            <a:off x="73152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MONTHLY FIXED COSTS</a:t>
            </a:r>
            <a:endParaRPr lang="en-US" sz="1000" dirty="0"/>
          </a:p>
        </p:txBody>
      </p:sp>
      <p:sp>
        <p:nvSpPr>
          <p:cNvPr id="9" name="Text 6"/>
          <p:cNvSpPr/>
          <p:nvPr/>
        </p:nvSpPr>
        <p:spPr>
          <a:xfrm>
            <a:off x="731520" y="3986784"/>
            <a:ext cx="3474720" cy="365760"/>
          </a:xfrm>
          <a:prstGeom prst="rect">
            <a:avLst/>
          </a:prstGeom>
          <a:noFill/>
          <a:ln/>
        </p:spPr>
        <p:txBody>
          <a:bodyPr wrap="square" lIns="0" tIns="0" rIns="0" bIns="0" rtlCol="0" anchor="ctr"/>
          <a:lstStyle/>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Gas PDVSA: $1,800  |  Seguridad: $1,200</a:t>
            </a:r>
            <a:endParaRPr lang="en-US" sz="900" dirty="0"/>
          </a:p>
          <a:p>
            <a:pPr indent="0" marL="0">
              <a:lnSpc>
                <a:spcPct val="115000"/>
              </a:lnSpc>
              <a:buNone/>
            </a:pPr>
            <a:r>
              <a:rPr lang="en-US" sz="900" dirty="0">
                <a:solidFill>
                  <a:srgbClr val="5C4033"/>
                </a:solidFill>
                <a:latin typeface="Calibri" pitchFamily="34" charset="0"/>
                <a:ea typeface="Calibri" pitchFamily="34" charset="-122"/>
                <a:cs typeface="Calibri" pitchFamily="34" charset="-120"/>
              </a:rPr>
              <a:t>Salarios: $2,300  |  Electricidad: $200  |  Otros: $100</a:t>
            </a:r>
            <a:endParaRPr lang="en-US" sz="900" dirty="0"/>
          </a:p>
        </p:txBody>
      </p:sp>
      <p:sp>
        <p:nvSpPr>
          <p:cNvPr id="10" name="Text 7"/>
          <p:cNvSpPr/>
          <p:nvPr/>
        </p:nvSpPr>
        <p:spPr>
          <a:xfrm>
            <a:off x="731520" y="4352544"/>
            <a:ext cx="3474720" cy="228600"/>
          </a:xfrm>
          <a:prstGeom prst="rect">
            <a:avLst/>
          </a:prstGeom>
          <a:noFill/>
          <a:ln/>
        </p:spPr>
        <p:txBody>
          <a:bodyPr wrap="square" lIns="0" tIns="0" rIns="0" bIns="0" rtlCol="0" anchor="ctr"/>
          <a:lstStyle/>
          <a:p>
            <a:pPr indent="0" marL="0">
              <a:buNone/>
            </a:pPr>
            <a:r>
              <a:rPr lang="en-US" sz="900" b="1" dirty="0">
                <a:solidFill>
                  <a:srgbClr val="5C4033"/>
                </a:solidFill>
                <a:latin typeface="Calibri" pitchFamily="34" charset="0"/>
                <a:ea typeface="Calibri" pitchFamily="34" charset="-122"/>
                <a:cs typeface="Calibri" pitchFamily="34" charset="-120"/>
              </a:rPr>
              <a:t>Total: $5,600/mo  (+$7,500 labor at full capacity)</a:t>
            </a:r>
            <a:endParaRPr lang="en-US" sz="900" dirty="0"/>
          </a:p>
        </p:txBody>
      </p:sp>
      <p:sp>
        <p:nvSpPr>
          <p:cNvPr id="11" name="Text 8"/>
          <p:cNvSpPr/>
          <p:nvPr/>
        </p:nvSpPr>
        <p:spPr>
          <a:xfrm>
            <a:off x="731520" y="4535424"/>
            <a:ext cx="3474720" cy="182880"/>
          </a:xfrm>
          <a:prstGeom prst="rect">
            <a:avLst/>
          </a:prstGeom>
          <a:noFill/>
          <a:ln/>
        </p:spPr>
        <p:txBody>
          <a:bodyPr wrap="square" lIns="0" tIns="0" rIns="0" bIns="0" rtlCol="0" anchor="ctr"/>
          <a:lstStyle/>
          <a:p>
            <a:pPr indent="0" marL="0">
              <a:buNone/>
            </a:pPr>
            <a:r>
              <a:rPr lang="en-US" sz="900" b="1" i="1" dirty="0">
                <a:solidFill>
                  <a:srgbClr val="B87333"/>
                </a:solidFill>
                <a:latin typeface="Calibri" pitchFamily="34" charset="0"/>
                <a:ea typeface="Calibri" pitchFamily="34" charset="-122"/>
                <a:cs typeface="Calibri" pitchFamily="34" charset="-120"/>
              </a:rPr>
              <a:t>= $13,100/mo at 300 MT → only $44/MT additional</a:t>
            </a:r>
            <a:endParaRPr lang="en-US" sz="900" dirty="0"/>
          </a:p>
        </p:txBody>
      </p:sp>
      <p:sp>
        <p:nvSpPr>
          <p:cNvPr id="12" name="Shape 9"/>
          <p:cNvSpPr/>
          <p:nvPr/>
        </p:nvSpPr>
        <p:spPr>
          <a:xfrm>
            <a:off x="4754880" y="3657600"/>
            <a:ext cx="3840480" cy="1097280"/>
          </a:xfrm>
          <a:prstGeom prst="rect">
            <a:avLst/>
          </a:prstGeom>
          <a:solidFill>
            <a:srgbClr val="EDE8E0"/>
          </a:solidFill>
          <a:ln w="19050">
            <a:solidFill>
              <a:srgbClr val="B87333"/>
            </a:solidFill>
            <a:prstDash val="solid"/>
          </a:ln>
          <a:effectLst>
            <a:outerShdw sx="100000" sy="100000" kx="0" ky="0" algn="bl" rotWithShape="0" blurRad="38100" dist="12700" dir="8100000">
              <a:srgbClr val="000000">
                <a:alpha val="6000"/>
              </a:srgbClr>
            </a:outerShdw>
          </a:effectLst>
        </p:spPr>
        <p:txBody>
          <a:bodyPr/>
          <a:p/>
        </p:txBody>
      </p:sp>
      <p:sp>
        <p:nvSpPr>
          <p:cNvPr id="13" name="Text 10"/>
          <p:cNvSpPr/>
          <p:nvPr/>
        </p:nvSpPr>
        <p:spPr>
          <a:xfrm>
            <a:off x="4937760" y="3730752"/>
            <a:ext cx="3474720" cy="256032"/>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NET PROFIT PER TON (range)</a:t>
            </a:r>
            <a:endParaRPr lang="en-US" sz="1000" dirty="0"/>
          </a:p>
        </p:txBody>
      </p:sp>
      <p:sp>
        <p:nvSpPr>
          <p:cNvPr id="14" name="Text 11"/>
          <p:cNvSpPr/>
          <p:nvPr/>
        </p:nvSpPr>
        <p:spPr>
          <a:xfrm>
            <a:off x="4937760" y="4023360"/>
            <a:ext cx="3474720" cy="201168"/>
          </a:xfrm>
          <a:prstGeom prst="rect">
            <a:avLst/>
          </a:prstGeom>
          <a:noFill/>
          <a:ln/>
        </p:spPr>
        <p:txBody>
          <a:bodyPr wrap="square" lIns="0" tIns="0" rIns="0" bIns="0" rtlCol="0" anchor="ctr"/>
          <a:lstStyle/>
          <a:p>
            <a:pPr indent="0" marL="0">
              <a:buNone/>
            </a:pPr>
            <a:r>
              <a:rPr lang="en-US" sz="900" dirty="0">
                <a:solidFill>
                  <a:srgbClr val="5C4033"/>
                </a:solidFill>
                <a:latin typeface="Calibri" pitchFamily="34" charset="0"/>
                <a:ea typeface="Calibri" pitchFamily="34" charset="-122"/>
                <a:cs typeface="Calibri" pitchFamily="34" charset="-120"/>
              </a:rPr>
              <a:t>Revenue: $1,200-$1,500 - Variable: $540 - Fixed: ~$44-$131</a:t>
            </a:r>
            <a:endParaRPr lang="en-US" sz="900" dirty="0"/>
          </a:p>
        </p:txBody>
      </p:sp>
      <p:sp>
        <p:nvSpPr>
          <p:cNvPr id="15" name="Text 12"/>
          <p:cNvSpPr/>
          <p:nvPr/>
        </p:nvSpPr>
        <p:spPr>
          <a:xfrm>
            <a:off x="4937760" y="4224528"/>
            <a:ext cx="3474720" cy="320040"/>
          </a:xfrm>
          <a:prstGeom prst="rect">
            <a:avLst/>
          </a:prstGeom>
          <a:noFill/>
          <a:ln/>
        </p:spPr>
        <p:txBody>
          <a:bodyPr wrap="square" lIns="0" tIns="0" rIns="0" bIns="0" rtlCol="0" anchor="ctr"/>
          <a:lstStyle/>
          <a:p>
            <a:pPr indent="0" marL="0">
              <a:buNone/>
            </a:pPr>
            <a:r>
              <a:rPr lang="en-US" sz="1800" b="1" dirty="0">
                <a:solidFill>
                  <a:srgbClr val="2D7D46"/>
                </a:solidFill>
                <a:latin typeface="Georgia" pitchFamily="34" charset="0"/>
                <a:ea typeface="Georgia" pitchFamily="34" charset="-122"/>
                <a:cs typeface="Georgia" pitchFamily="34" charset="-120"/>
              </a:rPr>
              <a:t>$529 - $916 / MT net</a:t>
            </a:r>
            <a:endParaRPr lang="en-US" sz="1800" dirty="0"/>
          </a:p>
        </p:txBody>
      </p:sp>
      <p:sp>
        <p:nvSpPr>
          <p:cNvPr id="16" name="Text 13"/>
          <p:cNvSpPr/>
          <p:nvPr/>
        </p:nvSpPr>
        <p:spPr>
          <a:xfrm>
            <a:off x="4937760" y="4526280"/>
            <a:ext cx="3474720" cy="182880"/>
          </a:xfrm>
          <a:prstGeom prst="rect">
            <a:avLst/>
          </a:prstGeom>
          <a:noFill/>
          <a:ln/>
        </p:spPr>
        <p:txBody>
          <a:bodyPr wrap="square" lIns="0" tIns="0" rIns="0" bIns="0" rtlCol="0" anchor="ctr"/>
          <a:lstStyle/>
          <a:p>
            <a:pPr indent="0" marL="0">
              <a:buNone/>
            </a:pPr>
            <a:r>
              <a:rPr lang="en-US" sz="900" i="1" dirty="0">
                <a:solidFill>
                  <a:srgbClr val="7A6555"/>
                </a:solidFill>
                <a:latin typeface="Calibri" pitchFamily="34" charset="0"/>
                <a:ea typeface="Calibri" pitchFamily="34" charset="-122"/>
                <a:cs typeface="Calibri" pitchFamily="34" charset="-120"/>
              </a:rPr>
              <a:t>Depends on volume, zinc price, and selling price</a:t>
            </a:r>
            <a:endParaRPr lang="en-US" sz="900" dirty="0"/>
          </a:p>
        </p:txBody>
      </p:sp>
      <p:sp>
        <p:nvSpPr>
          <p:cNvPr id="17" name="Text 14"/>
          <p:cNvSpPr/>
          <p:nvPr/>
        </p:nvSpPr>
        <p:spPr>
          <a:xfrm>
            <a:off x="548640" y="4846320"/>
            <a:ext cx="8046720" cy="228600"/>
          </a:xfrm>
          <a:prstGeom prst="rect">
            <a:avLst/>
          </a:prstGeom>
          <a:noFill/>
          <a:ln/>
        </p:spPr>
        <p:txBody>
          <a:bodyPr wrap="square" lIns="0" tIns="0" rIns="0" bIns="0" rtlCol="0" anchor="ctr"/>
          <a:lstStyle/>
          <a:p>
            <a:pPr algn="ctr" indent="0" marL="0">
              <a:buNone/>
            </a:pPr>
            <a:r>
              <a:rPr lang="en-US" sz="800" i="1" dirty="0">
                <a:solidFill>
                  <a:srgbClr val="8C8C8C"/>
                </a:solidFill>
                <a:latin typeface="Calibri" pitchFamily="34" charset="0"/>
                <a:ea typeface="Calibri" pitchFamily="34" charset="-122"/>
                <a:cs typeface="Calibri" pitchFamily="34" charset="-120"/>
              </a:rPr>
              <a:t>Sources: Ing. Miriam (verified), LME zinc March 2026. Prices and costs subject to market volatility.</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21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FINANCIAL PROJECTIONS</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100" i="1" dirty="0">
                <a:solidFill>
                  <a:srgbClr val="8B5A2B"/>
                </a:solidFill>
                <a:latin typeface="Calibri" pitchFamily="34" charset="0"/>
                <a:ea typeface="Calibri" pitchFamily="34" charset="-122"/>
                <a:cs typeface="Calibri" pitchFamily="34" charset="-120"/>
              </a:rPr>
              <a:t>Three scenarios — actual production depends on demand, zinc supply, and operational capacity</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371600"/>
                <a:gridCol w="822960"/>
                <a:gridCol w="1371600"/>
                <a:gridCol w="1371600"/>
                <a:gridCol w="1554480"/>
                <a:gridCol w="155448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MT/mo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Costs/mo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Profit/mo</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Profit/yr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11480">
                <a:tc>
                  <a:txBody>
                    <a:bodyPr/>
                    <a:lstStyle/>
                    <a:p>
                      <a:pPr algn="l" indent="0" marL="0">
                        <a:buNone/>
                      </a:pPr>
                      <a:r>
                        <a:rPr lang="en-US" sz="1000" b="1" dirty="0">
                          <a:solidFill>
                            <a:srgbClr val="C47F17"/>
                          </a:solidFill>
                          <a:latin typeface="Calibri" pitchFamily="34" charset="0"/>
                          <a:ea typeface="Calibri" pitchFamily="34" charset="-122"/>
                          <a:cs typeface="Calibri" pitchFamily="34" charset="-120"/>
                        </a:rPr>
                        <a:t>Conservative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$120K-$150K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$60K-$67K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$53K-$90K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$636K-$1.1M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11480">
                <a:tc>
                  <a:txBody>
                    <a:bodyPr/>
                    <a:lstStyle/>
                    <a:p>
                      <a:pPr algn="l" indent="0" marL="0">
                        <a:buNone/>
                      </a:pPr>
                      <a:r>
                        <a:rPr lang="en-US" sz="1000" b="1" dirty="0">
                          <a:solidFill>
                            <a:srgbClr val="8B5A2B"/>
                          </a:solidFill>
                          <a:latin typeface="Calibri" pitchFamily="34" charset="0"/>
                          <a:ea typeface="Calibri" pitchFamily="34" charset="-122"/>
                          <a:cs typeface="Calibri" pitchFamily="34" charset="-120"/>
                        </a:rPr>
                        <a:t>Moderate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$240K-$300K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$114K-$121K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$119K-$186K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$1.4M-$2.2M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000" b="1" dirty="0">
                          <a:solidFill>
                            <a:srgbClr val="2D7D46"/>
                          </a:solidFill>
                          <a:latin typeface="Calibri" pitchFamily="34" charset="0"/>
                          <a:ea typeface="Calibri" pitchFamily="34" charset="-122"/>
                          <a:cs typeface="Calibri" pitchFamily="34" charset="-120"/>
                        </a:rPr>
                        <a:t>Best historical</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4033"/>
                          </a:solidFill>
                          <a:latin typeface="Calibri" pitchFamily="34" charset="0"/>
                          <a:ea typeface="Calibri" pitchFamily="34" charset="-122"/>
                          <a:cs typeface="Calibri" pitchFamily="34" charset="-120"/>
                        </a:rPr>
                        <a:t>$360K-$450K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3B3B"/>
                          </a:solidFill>
                          <a:latin typeface="Calibri" pitchFamily="34" charset="0"/>
                          <a:ea typeface="Calibri" pitchFamily="34" charset="-122"/>
                          <a:cs typeface="Calibri" pitchFamily="34" charset="-120"/>
                        </a:rPr>
                        <a:t>$175K-$182K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$178K-$275K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$2.1M-$3.3M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2788920"/>
            <a:ext cx="8046720" cy="1005840"/>
          </a:xfrm>
          <a:prstGeom prst="rect">
            <a:avLst/>
          </a:prstGeom>
          <a:solidFill>
            <a:srgbClr val="EDE8E0"/>
          </a:solidFill>
          <a:ln w="12700">
            <a:solidFill>
              <a:srgbClr val="D4C5B2"/>
            </a:solidFill>
            <a:prstDash val="solid"/>
          </a:ln>
        </p:spPr>
        <p:txBody>
          <a:bodyPr/>
          <a:p/>
        </p:txBody>
      </p:sp>
      <p:sp>
        <p:nvSpPr>
          <p:cNvPr id="8" name="Text 5"/>
          <p:cNvSpPr/>
          <p:nvPr/>
        </p:nvSpPr>
        <p:spPr>
          <a:xfrm>
            <a:off x="731520" y="2834640"/>
            <a:ext cx="3657600" cy="228600"/>
          </a:xfrm>
          <a:prstGeom prst="rect">
            <a:avLst/>
          </a:prstGeom>
          <a:noFill/>
          <a:ln/>
        </p:spPr>
        <p:txBody>
          <a:bodyPr wrap="square" lIns="0" tIns="0" rIns="0" bIns="0" rtlCol="0" anchor="ctr"/>
          <a:lstStyle/>
          <a:p>
            <a:pPr indent="0" marL="0">
              <a:buNone/>
            </a:pPr>
            <a:r>
              <a:rPr lang="en-US" sz="1000" b="1" dirty="0">
                <a:solidFill>
                  <a:srgbClr val="B87333"/>
                </a:solidFill>
                <a:latin typeface="Georgia" pitchFamily="34" charset="0"/>
                <a:ea typeface="Georgia" pitchFamily="34" charset="-122"/>
                <a:cs typeface="Georgia" pitchFamily="34" charset="-120"/>
              </a:rPr>
              <a:t>KEY ASSUMPTIONS &amp; VARIABLES</a:t>
            </a:r>
            <a:endParaRPr lang="en-US" sz="1000" dirty="0"/>
          </a:p>
        </p:txBody>
      </p:sp>
      <p:sp>
        <p:nvSpPr>
          <p:cNvPr id="9" name="Text 6"/>
          <p:cNvSpPr/>
          <p:nvPr/>
        </p:nvSpPr>
        <p:spPr>
          <a:xfrm>
            <a:off x="731520" y="3063240"/>
            <a:ext cx="7680960" cy="685800"/>
          </a:xfrm>
          <a:prstGeom prst="rect">
            <a:avLst/>
          </a:prstGeom>
          <a:noFill/>
          <a:ln/>
        </p:spPr>
        <p:txBody>
          <a:bodyPr wrap="square" lIns="0" tIns="0" rIns="0" bIns="0" rtlCol="0" anchor="ctr"/>
          <a:lstStyle/>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Selling price: $1,200-$1,500/MT (depends on market and part type)</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Variable cost: ~$540/MT (zinc at current LME price — subject to volatility)</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Fixed costs: $5,600-$13,100/mo (scale with labor based on volume)</a:t>
            </a:r>
            <a:endParaRPr lang="en-US" sz="900" dirty="0"/>
          </a:p>
          <a:p>
            <a:pPr indent="0" marL="0">
              <a:lnSpc>
                <a:spcPct val="120000"/>
              </a:lnSpc>
              <a:buNone/>
            </a:pPr>
            <a:r>
              <a:rPr lang="en-US" sz="900" dirty="0">
                <a:solidFill>
                  <a:srgbClr val="5C4033"/>
                </a:solidFill>
                <a:latin typeface="Calibri" pitchFamily="34" charset="0"/>
                <a:ea typeface="Calibri" pitchFamily="34" charset="-122"/>
                <a:cs typeface="Calibri" pitchFamily="34" charset="-120"/>
              </a:rPr>
              <a:t>Ranges reflect factors such as zinc availability, seasonal demand, and actual operational capacity.</a:t>
            </a:r>
            <a:endParaRPr lang="en-US" sz="900" dirty="0"/>
          </a:p>
        </p:txBody>
      </p:sp>
      <p:sp>
        <p:nvSpPr>
          <p:cNvPr id="10" name="Shape 7"/>
          <p:cNvSpPr/>
          <p:nvPr/>
        </p:nvSpPr>
        <p:spPr>
          <a:xfrm>
            <a:off x="54864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1" name="Text 8"/>
          <p:cNvSpPr/>
          <p:nvPr/>
        </p:nvSpPr>
        <p:spPr>
          <a:xfrm>
            <a:off x="54864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55%-64%</a:t>
            </a:r>
            <a:endParaRPr lang="en-US" sz="2000" dirty="0"/>
          </a:p>
        </p:txBody>
      </p:sp>
      <p:sp>
        <p:nvSpPr>
          <p:cNvPr id="12" name="Text 9"/>
          <p:cNvSpPr/>
          <p:nvPr/>
        </p:nvSpPr>
        <p:spPr>
          <a:xfrm>
            <a:off x="64008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Operating margin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range</a:t>
            </a:r>
            <a:endParaRPr lang="en-US" sz="900" dirty="0"/>
          </a:p>
        </p:txBody>
      </p:sp>
      <p:sp>
        <p:nvSpPr>
          <p:cNvPr id="13" name="Shape 10"/>
          <p:cNvSpPr/>
          <p:nvPr/>
        </p:nvSpPr>
        <p:spPr>
          <a:xfrm>
            <a:off x="342900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4" name="Text 11"/>
          <p:cNvSpPr/>
          <p:nvPr/>
        </p:nvSpPr>
        <p:spPr>
          <a:xfrm>
            <a:off x="342900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10-20 MT</a:t>
            </a:r>
            <a:endParaRPr lang="en-US" sz="2000" dirty="0"/>
          </a:p>
        </p:txBody>
      </p:sp>
      <p:sp>
        <p:nvSpPr>
          <p:cNvPr id="15" name="Text 12"/>
          <p:cNvSpPr/>
          <p:nvPr/>
        </p:nvSpPr>
        <p:spPr>
          <a:xfrm>
            <a:off x="352044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Break-even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range/month</a:t>
            </a:r>
            <a:endParaRPr lang="en-US" sz="900" dirty="0"/>
          </a:p>
        </p:txBody>
      </p:sp>
      <p:sp>
        <p:nvSpPr>
          <p:cNvPr id="16" name="Shape 13"/>
          <p:cNvSpPr/>
          <p:nvPr/>
        </p:nvSpPr>
        <p:spPr>
          <a:xfrm>
            <a:off x="6309360" y="3977640"/>
            <a:ext cx="2651760" cy="777240"/>
          </a:xfrm>
          <a:prstGeom prst="rect">
            <a:avLst/>
          </a:prstGeom>
          <a:solidFill>
            <a:srgbClr val="FFFFFF"/>
          </a:solidFill>
          <a:ln w="12700">
            <a:solidFill>
              <a:srgbClr val="D4C5B2"/>
            </a:solidFill>
            <a:prstDash val="solid"/>
          </a:ln>
          <a:effectLst>
            <a:outerShdw sx="100000" sy="100000" kx="0" ky="0" algn="bl" rotWithShape="0" blurRad="38100" dist="12700" dir="8100000">
              <a:srgbClr val="000000">
                <a:alpha val="6000"/>
              </a:srgbClr>
            </a:outerShdw>
          </a:effectLst>
        </p:spPr>
        <p:txBody>
          <a:bodyPr/>
          <a:p/>
        </p:txBody>
      </p:sp>
      <p:sp>
        <p:nvSpPr>
          <p:cNvPr id="17" name="Text 14"/>
          <p:cNvSpPr/>
          <p:nvPr/>
        </p:nvSpPr>
        <p:spPr>
          <a:xfrm>
            <a:off x="6309360" y="4005072"/>
            <a:ext cx="2651760" cy="411480"/>
          </a:xfrm>
          <a:prstGeom prst="rect">
            <a:avLst/>
          </a:prstGeom>
          <a:noFill/>
          <a:ln/>
        </p:spPr>
        <p:txBody>
          <a:bodyPr wrap="square" lIns="0" tIns="0" rIns="0" bIns="0" rtlCol="0" anchor="ctr"/>
          <a:lstStyle/>
          <a:p>
            <a:pPr algn="ctr" indent="0" marL="0">
              <a:buNone/>
            </a:pPr>
            <a:r>
              <a:rPr lang="en-US" sz="2000" b="1" dirty="0">
                <a:solidFill>
                  <a:srgbClr val="8B5A2B"/>
                </a:solidFill>
                <a:latin typeface="Georgia" pitchFamily="34" charset="0"/>
                <a:ea typeface="Georgia" pitchFamily="34" charset="-122"/>
                <a:cs typeface="Georgia" pitchFamily="34" charset="-120"/>
              </a:rPr>
              <a:t>&lt;7%</a:t>
            </a:r>
            <a:endParaRPr lang="en-US" sz="2000" dirty="0"/>
          </a:p>
        </p:txBody>
      </p:sp>
      <p:sp>
        <p:nvSpPr>
          <p:cNvPr id="18" name="Text 15"/>
          <p:cNvSpPr/>
          <p:nvPr/>
        </p:nvSpPr>
        <p:spPr>
          <a:xfrm>
            <a:off x="6400800" y="4416552"/>
            <a:ext cx="2468880" cy="32004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Break-even as</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 of capacity</a:t>
            </a:r>
            <a:endParaRPr lang="en-US" sz="900" dirty="0"/>
          </a:p>
        </p:txBody>
      </p:sp>
      <p:sp>
        <p:nvSpPr>
          <p:cNvPr id="20" name="TextBox 19"/>
          <p:cNvSpPr txBox="1"/>
          <p:nvPr/>
        </p:nvSpPr>
        <p:spPr>
          <a:xfrm>
            <a:off x="548640" y="3794760"/>
            <a:ext cx="7498079" cy="182880"/>
          </a:xfrm>
          <a:prstGeom prst="rect">
            <a:avLst/>
          </a:prstGeom>
          <a:noFill/>
        </p:spPr>
        <p:txBody>
          <a:bodyPr wrap="square">
            <a:spAutoFit/>
          </a:bodyPr>
          <a:lstStyle/>
          <a:p>
            <a:pPr algn="l"/>
            <a:r>
              <a:rPr sz="800" b="1">
                <a:solidFill>
                  <a:srgbClr val="B87333"/>
                </a:solidFill>
                <a:latin typeface="Calibri"/>
              </a:rPr>
              <a:t>+ Copper electroplating line at full capacity: $561K - $1.05M/year additional revenue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22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BREAK-EVEN POINT</a:t>
            </a:r>
            <a:endParaRPr lang="en-US" sz="2800" dirty="0"/>
          </a:p>
        </p:txBody>
      </p:sp>
      <p:sp>
        <p:nvSpPr>
          <p:cNvPr id="5" name="Text 3"/>
          <p:cNvSpPr/>
          <p:nvPr/>
        </p:nvSpPr>
        <p:spPr>
          <a:xfrm>
            <a:off x="548640" y="777240"/>
            <a:ext cx="8046720" cy="411480"/>
          </a:xfrm>
          <a:prstGeom prst="rect">
            <a:avLst/>
          </a:prstGeom>
          <a:noFill/>
          <a:ln/>
        </p:spPr>
        <p:txBody>
          <a:bodyPr wrap="square" lIns="0" tIns="0" rIns="0" bIns="0" rtlCol="0" anchor="ctr"/>
          <a:lstStyle/>
          <a:p>
            <a:pPr indent="0" marL="0">
              <a:buNone/>
            </a:pPr>
            <a:r>
              <a:rPr lang="en-US" sz="1400" dirty="0">
                <a:solidFill>
                  <a:srgbClr val="5C4033"/>
                </a:solidFill>
                <a:latin typeface="Calibri" pitchFamily="34" charset="0"/>
                <a:ea typeface="Calibri" pitchFamily="34" charset="-122"/>
                <a:cs typeface="Calibri" pitchFamily="34" charset="-120"/>
              </a:rPr>
              <a:t xml:space="preserve">Estimated break-even: </a:t>
            </a:r>
            <a:pPr indent="0" marL="0">
              <a:buNone/>
            </a:pPr>
            <a:r>
              <a:rPr lang="en-US" sz="2000" b="1" dirty="0">
                <a:solidFill>
                  <a:srgbClr val="8B5A2B"/>
                </a:solidFill>
                <a:latin typeface="Georgia" pitchFamily="34" charset="0"/>
                <a:ea typeface="Georgia" pitchFamily="34" charset="-122"/>
                <a:cs typeface="Georgia" pitchFamily="34" charset="-120"/>
              </a:rPr>
              <a:t>10-20 MT/mo</a:t>
            </a:r>
            <a:pPr indent="0" marL="0">
              <a:buNone/>
            </a:pPr>
            <a:r>
              <a:rPr lang="en-US" sz="1400" dirty="0">
                <a:solidFill>
                  <a:srgbClr val="5C4033"/>
                </a:solidFill>
                <a:latin typeface="Calibri" pitchFamily="34" charset="0"/>
                <a:ea typeface="Calibri" pitchFamily="34" charset="-122"/>
                <a:cs typeface="Calibri" pitchFamily="34" charset="-120"/>
              </a:rPr>
              <a:t xml:space="preserve"> — less than 7% of proven production</a:t>
            </a:r>
            <a:endParaRPr lang="en-US" sz="1400" dirty="0"/>
          </a:p>
        </p:txBody>
      </p:sp>
      <p:sp>
        <p:nvSpPr>
          <p:cNvPr id="6" name="Shape 4"/>
          <p:cNvSpPr/>
          <p:nvPr/>
        </p:nvSpPr>
        <p:spPr>
          <a:xfrm>
            <a:off x="548640" y="1508760"/>
            <a:ext cx="8046720" cy="914400"/>
          </a:xfrm>
          <a:prstGeom prst="rect">
            <a:avLst/>
          </a:prstGeom>
          <a:solidFill>
            <a:srgbClr val="EDE8E0"/>
          </a:solidFill>
          <a:ln w="12700">
            <a:solidFill>
              <a:srgbClr val="D4C5B2"/>
            </a:solidFill>
            <a:prstDash val="solid"/>
          </a:ln>
        </p:spPr>
        <p:txBody>
          <a:bodyPr/>
          <a:p/>
        </p:txBody>
      </p:sp>
      <p:sp>
        <p:nvSpPr>
          <p:cNvPr id="7" name="Shape 5"/>
          <p:cNvSpPr/>
          <p:nvPr/>
        </p:nvSpPr>
        <p:spPr>
          <a:xfrm>
            <a:off x="548640" y="1508760"/>
            <a:ext cx="731520" cy="914400"/>
          </a:xfrm>
          <a:prstGeom prst="rect">
            <a:avLst/>
          </a:prstGeom>
          <a:solidFill>
            <a:srgbClr val="B83B3B">
              <a:alpha val="80000"/>
            </a:srgbClr>
          </a:solidFill>
          <a:ln/>
        </p:spPr>
        <p:txBody>
          <a:bodyPr/>
          <a:p/>
        </p:txBody>
      </p:sp>
      <p:sp>
        <p:nvSpPr>
          <p:cNvPr id="8" name="Shape 6"/>
          <p:cNvSpPr/>
          <p:nvPr/>
        </p:nvSpPr>
        <p:spPr>
          <a:xfrm>
            <a:off x="548640" y="1508760"/>
            <a:ext cx="8046720" cy="914400"/>
          </a:xfrm>
          <a:prstGeom prst="rect">
            <a:avLst/>
          </a:prstGeom>
          <a:solidFill>
            <a:srgbClr val="2D7D46">
              <a:alpha val="15000"/>
            </a:srgbClr>
          </a:solidFill>
          <a:ln/>
        </p:spPr>
        <p:txBody>
          <a:bodyPr/>
          <a:p/>
        </p:txBody>
      </p:sp>
      <p:sp>
        <p:nvSpPr>
          <p:cNvPr id="9" name="Text 7"/>
          <p:cNvSpPr/>
          <p:nvPr/>
        </p:nvSpPr>
        <p:spPr>
          <a:xfrm>
            <a:off x="594360" y="1645920"/>
            <a:ext cx="640080" cy="640080"/>
          </a:xfrm>
          <a:prstGeom prst="rect">
            <a:avLst/>
          </a:prstGeom>
          <a:noFill/>
          <a:ln/>
        </p:spPr>
        <p:txBody>
          <a:bodyPr wrap="square" lIns="0" tIns="0" rIns="0" bIns="0" rtlCol="0" anchor="ctr"/>
          <a:lstStyle/>
          <a:p>
            <a:pPr algn="ctr" indent="0" marL="0">
              <a:buNone/>
            </a:pPr>
            <a:r>
              <a:rPr lang="en-US" sz="1000" b="1" dirty="0">
                <a:solidFill>
                  <a:srgbClr val="B83B3B"/>
                </a:solidFill>
                <a:latin typeface="Calibri" pitchFamily="34" charset="0"/>
                <a:ea typeface="Calibri" pitchFamily="34" charset="-122"/>
                <a:cs typeface="Calibri" pitchFamily="34" charset="-120"/>
              </a:rPr>
              <a:t>10-20 MT</a:t>
            </a:r>
            <a:endParaRPr lang="en-US" sz="1000" dirty="0"/>
          </a:p>
          <a:p>
            <a:pPr algn="ctr" indent="0" marL="0">
              <a:buNone/>
            </a:pPr>
            <a:r>
              <a:rPr lang="en-US" sz="1000" b="1" dirty="0">
                <a:solidFill>
                  <a:srgbClr val="B83B3B"/>
                </a:solidFill>
                <a:latin typeface="Calibri" pitchFamily="34" charset="0"/>
                <a:ea typeface="Calibri" pitchFamily="34" charset="-122"/>
                <a:cs typeface="Calibri" pitchFamily="34" charset="-120"/>
              </a:rPr>
              <a:t>Break-even</a:t>
            </a:r>
            <a:endParaRPr lang="en-US" sz="1000" dirty="0"/>
          </a:p>
        </p:txBody>
      </p:sp>
      <p:sp>
        <p:nvSpPr>
          <p:cNvPr id="10" name="Text 8"/>
          <p:cNvSpPr/>
          <p:nvPr/>
        </p:nvSpPr>
        <p:spPr>
          <a:xfrm>
            <a:off x="2743200" y="1737360"/>
            <a:ext cx="4572000" cy="457200"/>
          </a:xfrm>
          <a:prstGeom prst="rect">
            <a:avLst/>
          </a:prstGeom>
          <a:noFill/>
          <a:ln/>
        </p:spPr>
        <p:txBody>
          <a:bodyPr wrap="square" lIns="0" tIns="0" rIns="0" bIns="0" rtlCol="0" anchor="ctr"/>
          <a:lstStyle/>
          <a:p>
            <a:pPr algn="ctr" indent="0" marL="0">
              <a:buNone/>
            </a:pPr>
            <a:r>
              <a:rPr lang="en-US" sz="1400" b="1" dirty="0">
                <a:solidFill>
                  <a:srgbClr val="2D7D46"/>
                </a:solidFill>
                <a:latin typeface="Georgia" pitchFamily="34" charset="0"/>
                <a:ea typeface="Georgia" pitchFamily="34" charset="-122"/>
                <a:cs typeface="Georgia" pitchFamily="34" charset="-120"/>
              </a:rPr>
              <a:t>300 MT/mo — Proven production</a:t>
            </a:r>
            <a:endParaRPr lang="en-US" sz="1400" dirty="0"/>
          </a:p>
        </p:txBody>
      </p:sp>
      <p:sp>
        <p:nvSpPr>
          <p:cNvPr id="11" name="Shape 9"/>
          <p:cNvSpPr/>
          <p:nvPr/>
        </p:nvSpPr>
        <p:spPr>
          <a:xfrm>
            <a:off x="1097280" y="2834640"/>
            <a:ext cx="6949440" cy="429768"/>
          </a:xfrm>
          <a:prstGeom prst="rect">
            <a:avLst/>
          </a:prstGeom>
          <a:solidFill>
            <a:srgbClr val="FFFFFF"/>
          </a:solidFill>
          <a:ln w="6350">
            <a:solidFill>
              <a:srgbClr val="D4C5B2"/>
            </a:solidFill>
            <a:prstDash val="solid"/>
          </a:ln>
        </p:spPr>
        <p:txBody>
          <a:bodyPr/>
          <a:p/>
        </p:txBody>
      </p:sp>
      <p:pic>
        <p:nvPicPr>
          <p:cNvPr id="12" name="Image 0" descr="preencoded.png"/>
          <p:cNvPicPr>
            <a:picLocks noChangeAspect="1"/>
          </p:cNvPicPr>
          <p:nvPr/>
        </p:nvPicPr>
        <p:blipFill>
          <a:blip r:embed="rId1"/>
          <a:stretch>
            <a:fillRect/>
          </a:stretch>
        </p:blipFill>
        <p:spPr>
          <a:xfrm>
            <a:off x="1234440" y="2907792"/>
            <a:ext cx="228600" cy="228600"/>
          </a:xfrm>
          <a:prstGeom prst="rect">
            <a:avLst/>
          </a:prstGeom>
        </p:spPr>
      </p:pic>
      <p:sp>
        <p:nvSpPr>
          <p:cNvPr id="13" name="Text 10"/>
          <p:cNvSpPr/>
          <p:nvPr/>
        </p:nvSpPr>
        <p:spPr>
          <a:xfrm>
            <a:off x="1600200" y="283464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Profitable from a very low volume — wide margin of safety</a:t>
            </a:r>
            <a:endParaRPr lang="en-US" sz="1000" dirty="0"/>
          </a:p>
        </p:txBody>
      </p:sp>
      <p:sp>
        <p:nvSpPr>
          <p:cNvPr id="14" name="Shape 11"/>
          <p:cNvSpPr/>
          <p:nvPr/>
        </p:nvSpPr>
        <p:spPr>
          <a:xfrm>
            <a:off x="1097280" y="3337560"/>
            <a:ext cx="6949440" cy="429768"/>
          </a:xfrm>
          <a:prstGeom prst="rect">
            <a:avLst/>
          </a:prstGeom>
          <a:solidFill>
            <a:srgbClr val="FFFFFF"/>
          </a:solidFill>
          <a:ln w="6350">
            <a:solidFill>
              <a:srgbClr val="D4C5B2"/>
            </a:solidFill>
            <a:prstDash val="solid"/>
          </a:ln>
        </p:spPr>
        <p:txBody>
          <a:bodyPr/>
          <a:p/>
        </p:txBody>
      </p:sp>
      <p:pic>
        <p:nvPicPr>
          <p:cNvPr id="15" name="Image 1" descr="preencoded.png"/>
          <p:cNvPicPr>
            <a:picLocks noChangeAspect="1"/>
          </p:cNvPicPr>
          <p:nvPr/>
        </p:nvPicPr>
        <p:blipFill>
          <a:blip r:embed="rId2"/>
          <a:stretch>
            <a:fillRect/>
          </a:stretch>
        </p:blipFill>
        <p:spPr>
          <a:xfrm>
            <a:off x="1234440" y="3410712"/>
            <a:ext cx="228600" cy="228600"/>
          </a:xfrm>
          <a:prstGeom prst="rect">
            <a:avLst/>
          </a:prstGeom>
        </p:spPr>
      </p:pic>
      <p:sp>
        <p:nvSpPr>
          <p:cNvPr id="16" name="Text 12"/>
          <p:cNvSpPr/>
          <p:nvPr/>
        </p:nvSpPr>
        <p:spPr>
          <a:xfrm>
            <a:off x="1600200" y="333756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Best historical month was 300 MT. Break-even is less than 7% of that capacity.</a:t>
            </a:r>
            <a:endParaRPr lang="en-US" sz="1000" dirty="0"/>
          </a:p>
        </p:txBody>
      </p:sp>
      <p:sp>
        <p:nvSpPr>
          <p:cNvPr id="17" name="Shape 13"/>
          <p:cNvSpPr/>
          <p:nvPr/>
        </p:nvSpPr>
        <p:spPr>
          <a:xfrm>
            <a:off x="1097280" y="3840480"/>
            <a:ext cx="6949440" cy="429768"/>
          </a:xfrm>
          <a:prstGeom prst="rect">
            <a:avLst/>
          </a:prstGeom>
          <a:solidFill>
            <a:srgbClr val="FFFFFF"/>
          </a:solidFill>
          <a:ln w="6350">
            <a:solidFill>
              <a:srgbClr val="D4C5B2"/>
            </a:solidFill>
            <a:prstDash val="solid"/>
          </a:ln>
        </p:spPr>
        <p:txBody>
          <a:bodyPr/>
          <a:p/>
        </p:txBody>
      </p:sp>
      <p:pic>
        <p:nvPicPr>
          <p:cNvPr id="18" name="Image 2" descr="preencoded.png"/>
          <p:cNvPicPr>
            <a:picLocks noChangeAspect="1"/>
          </p:cNvPicPr>
          <p:nvPr/>
        </p:nvPicPr>
        <p:blipFill>
          <a:blip r:embed="rId3"/>
          <a:stretch>
            <a:fillRect/>
          </a:stretch>
        </p:blipFill>
        <p:spPr>
          <a:xfrm>
            <a:off x="1234440" y="3913632"/>
            <a:ext cx="228600" cy="228600"/>
          </a:xfrm>
          <a:prstGeom prst="rect">
            <a:avLst/>
          </a:prstGeom>
        </p:spPr>
      </p:pic>
      <p:sp>
        <p:nvSpPr>
          <p:cNvPr id="19" name="Text 14"/>
          <p:cNvSpPr/>
          <p:nvPr/>
        </p:nvSpPr>
        <p:spPr>
          <a:xfrm>
            <a:off x="1600200" y="384048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Fixed costs: $5,600-$13,100/mo (depends on scale). Variable: ~$540/MT (subject to zinc price).</a:t>
            </a:r>
            <a:endParaRPr lang="en-US" sz="1000" dirty="0"/>
          </a:p>
        </p:txBody>
      </p:sp>
      <p:sp>
        <p:nvSpPr>
          <p:cNvPr id="20" name="Shape 15"/>
          <p:cNvSpPr/>
          <p:nvPr/>
        </p:nvSpPr>
        <p:spPr>
          <a:xfrm>
            <a:off x="1097280" y="4343400"/>
            <a:ext cx="6949440" cy="429768"/>
          </a:xfrm>
          <a:prstGeom prst="rect">
            <a:avLst/>
          </a:prstGeom>
          <a:solidFill>
            <a:srgbClr val="FFFFFF"/>
          </a:solidFill>
          <a:ln w="6350">
            <a:solidFill>
              <a:srgbClr val="D4C5B2"/>
            </a:solidFill>
            <a:prstDash val="solid"/>
          </a:ln>
        </p:spPr>
        <p:txBody>
          <a:bodyPr/>
          <a:p/>
        </p:txBody>
      </p:sp>
      <p:pic>
        <p:nvPicPr>
          <p:cNvPr id="21" name="Image 3" descr="preencoded.png"/>
          <p:cNvPicPr>
            <a:picLocks noChangeAspect="1"/>
          </p:cNvPicPr>
          <p:nvPr/>
        </p:nvPicPr>
        <p:blipFill>
          <a:blip r:embed="rId4"/>
          <a:stretch>
            <a:fillRect/>
          </a:stretch>
        </p:blipFill>
        <p:spPr>
          <a:xfrm>
            <a:off x="1234440" y="4416552"/>
            <a:ext cx="228600" cy="228600"/>
          </a:xfrm>
          <a:prstGeom prst="rect">
            <a:avLst/>
          </a:prstGeom>
        </p:spPr>
      </p:pic>
      <p:sp>
        <p:nvSpPr>
          <p:cNvPr id="22" name="Text 16"/>
          <p:cNvSpPr/>
          <p:nvPr/>
        </p:nvSpPr>
        <p:spPr>
          <a:xfrm>
            <a:off x="1600200" y="4343400"/>
            <a:ext cx="6263640" cy="429768"/>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Range depends on selling price ($1,200-$1,500/MT), zinc cost, and labor level.</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23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CAPITAL DEPLOYMENT</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Phased startup capital — each phase funds the next</a:t>
            </a:r>
            <a:endParaRPr lang="en-US" sz="1200" dirty="0"/>
          </a:p>
        </p:txBody>
      </p:sp>
      <p:sp>
        <p:nvSpPr>
          <p:cNvPr id="6" name="Shape 4"/>
          <p:cNvSpPr/>
          <p:nvPr/>
        </p:nvSpPr>
        <p:spPr>
          <a:xfrm>
            <a:off x="548640" y="1188720"/>
            <a:ext cx="8046720" cy="685800"/>
          </a:xfrm>
          <a:prstGeom prst="rect">
            <a:avLst/>
          </a:prstGeom>
          <a:solidFill>
            <a:srgbClr val="FFFFFF"/>
          </a:solidFill>
          <a:ln w="12700">
            <a:solidFill>
              <a:srgbClr val="D4C5B2"/>
            </a:solidFill>
            <a:prstDash val="solid"/>
          </a:ln>
        </p:spPr>
        <p:txBody>
          <a:bodyPr/>
          <a:p/>
        </p:txBody>
      </p:sp>
      <p:sp>
        <p:nvSpPr>
          <p:cNvPr id="7" name="Shape 5"/>
          <p:cNvSpPr/>
          <p:nvPr/>
        </p:nvSpPr>
        <p:spPr>
          <a:xfrm>
            <a:off x="548640" y="1188720"/>
            <a:ext cx="73152" cy="685800"/>
          </a:xfrm>
          <a:prstGeom prst="rect">
            <a:avLst/>
          </a:prstGeom>
          <a:solidFill>
            <a:srgbClr val="A67C52"/>
          </a:solidFill>
          <a:ln/>
        </p:spPr>
        <p:txBody>
          <a:bodyPr/>
          <a:p/>
        </p:txBody>
      </p:sp>
      <p:sp>
        <p:nvSpPr>
          <p:cNvPr id="8" name="Text 6"/>
          <p:cNvSpPr/>
          <p:nvPr/>
        </p:nvSpPr>
        <p:spPr>
          <a:xfrm>
            <a:off x="777240" y="118872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1: 3.5m Kettle</a:t>
            </a:r>
            <a:endParaRPr lang="en-US" sz="1100" dirty="0"/>
          </a:p>
        </p:txBody>
      </p:sp>
      <p:sp>
        <p:nvSpPr>
          <p:cNvPr id="9" name="Text 7"/>
          <p:cNvSpPr/>
          <p:nvPr/>
        </p:nvSpPr>
        <p:spPr>
          <a:xfrm>
            <a:off x="777240" y="155448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Repair + 20 MT zinc</a:t>
            </a:r>
            <a:endParaRPr lang="en-US" sz="800" dirty="0"/>
          </a:p>
        </p:txBody>
      </p:sp>
      <p:sp>
        <p:nvSpPr>
          <p:cNvPr id="10" name="Text 8"/>
          <p:cNvSpPr/>
          <p:nvPr/>
        </p:nvSpPr>
        <p:spPr>
          <a:xfrm>
            <a:off x="2926080" y="1188720"/>
            <a:ext cx="1645920" cy="685800"/>
          </a:xfrm>
          <a:prstGeom prst="rect">
            <a:avLst/>
          </a:prstGeom>
          <a:noFill/>
          <a:ln/>
        </p:spPr>
        <p:txBody>
          <a:bodyPr wrap="square" lIns="0" tIns="0" rIns="0" bIns="0" rtlCol="0" anchor="ctr"/>
          <a:lstStyle/>
          <a:p>
            <a:pPr algn="ctr" indent="0" marL="0">
              <a:buNone/>
            </a:pPr>
            <a:r>
              <a:rPr lang="en-US" sz="1600" b="1" dirty="0">
                <a:solidFill>
                  <a:srgbClr val="A67C52"/>
                </a:solidFill>
                <a:latin typeface="Georgia" pitchFamily="34" charset="0"/>
                <a:ea typeface="Georgia" pitchFamily="34" charset="-122"/>
                <a:cs typeface="Georgia" pitchFamily="34" charset="-120"/>
              </a:rPr>
              <a:t>$94,400</a:t>
            </a:r>
            <a:endParaRPr lang="en-US" sz="1600" dirty="0"/>
          </a:p>
        </p:txBody>
      </p:sp>
      <p:pic>
        <p:nvPicPr>
          <p:cNvPr id="11" name="Image 0" descr="preencoded.png"/>
          <p:cNvPicPr>
            <a:picLocks noChangeAspect="1"/>
          </p:cNvPicPr>
          <p:nvPr/>
        </p:nvPicPr>
        <p:blipFill>
          <a:blip r:embed="rId1"/>
          <a:stretch>
            <a:fillRect/>
          </a:stretch>
        </p:blipFill>
        <p:spPr>
          <a:xfrm>
            <a:off x="4754880" y="1371600"/>
            <a:ext cx="274320" cy="274320"/>
          </a:xfrm>
          <a:prstGeom prst="rect">
            <a:avLst/>
          </a:prstGeom>
        </p:spPr>
      </p:pic>
      <p:sp>
        <p:nvSpPr>
          <p:cNvPr id="12" name="Text 9"/>
          <p:cNvSpPr/>
          <p:nvPr/>
        </p:nvSpPr>
        <p:spPr>
          <a:xfrm>
            <a:off x="5212080" y="118872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~$30K-$80K/mo</a:t>
            </a:r>
            <a:endParaRPr lang="en-US" sz="1400" dirty="0"/>
          </a:p>
        </p:txBody>
      </p:sp>
      <p:sp>
        <p:nvSpPr>
          <p:cNvPr id="13" name="Shape 10"/>
          <p:cNvSpPr/>
          <p:nvPr/>
        </p:nvSpPr>
        <p:spPr>
          <a:xfrm>
            <a:off x="548640" y="2011680"/>
            <a:ext cx="8046720" cy="685800"/>
          </a:xfrm>
          <a:prstGeom prst="rect">
            <a:avLst/>
          </a:prstGeom>
          <a:solidFill>
            <a:srgbClr val="FFFFFF"/>
          </a:solidFill>
          <a:ln w="12700">
            <a:solidFill>
              <a:srgbClr val="D4C5B2"/>
            </a:solidFill>
            <a:prstDash val="solid"/>
          </a:ln>
        </p:spPr>
        <p:txBody>
          <a:bodyPr/>
          <a:p/>
        </p:txBody>
      </p:sp>
      <p:sp>
        <p:nvSpPr>
          <p:cNvPr id="14" name="Shape 11"/>
          <p:cNvSpPr/>
          <p:nvPr/>
        </p:nvSpPr>
        <p:spPr>
          <a:xfrm>
            <a:off x="548640" y="2011680"/>
            <a:ext cx="73152" cy="685800"/>
          </a:xfrm>
          <a:prstGeom prst="rect">
            <a:avLst/>
          </a:prstGeom>
          <a:solidFill>
            <a:srgbClr val="B87333"/>
          </a:solidFill>
          <a:ln/>
        </p:spPr>
        <p:txBody>
          <a:bodyPr/>
          <a:p/>
        </p:txBody>
      </p:sp>
      <p:sp>
        <p:nvSpPr>
          <p:cNvPr id="15" name="Text 12"/>
          <p:cNvSpPr/>
          <p:nvPr/>
        </p:nvSpPr>
        <p:spPr>
          <a:xfrm>
            <a:off x="777240" y="201168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2: 7m Kettle</a:t>
            </a:r>
            <a:endParaRPr lang="en-US" sz="1100" dirty="0"/>
          </a:p>
        </p:txBody>
      </p:sp>
      <p:sp>
        <p:nvSpPr>
          <p:cNvPr id="16" name="Text 13"/>
          <p:cNvSpPr/>
          <p:nvPr/>
        </p:nvSpPr>
        <p:spPr>
          <a:xfrm>
            <a:off x="777240" y="237744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50 MT zinc + cranes</a:t>
            </a:r>
            <a:endParaRPr lang="en-US" sz="800" dirty="0"/>
          </a:p>
        </p:txBody>
      </p:sp>
      <p:sp>
        <p:nvSpPr>
          <p:cNvPr id="17" name="Text 14"/>
          <p:cNvSpPr/>
          <p:nvPr/>
        </p:nvSpPr>
        <p:spPr>
          <a:xfrm>
            <a:off x="2926080" y="2011680"/>
            <a:ext cx="1645920" cy="685800"/>
          </a:xfrm>
          <a:prstGeom prst="rect">
            <a:avLst/>
          </a:prstGeom>
          <a:noFill/>
          <a:ln/>
        </p:spPr>
        <p:txBody>
          <a:bodyPr wrap="square" lIns="0" tIns="0" rIns="0" bIns="0" rtlCol="0" anchor="ctr"/>
          <a:lstStyle/>
          <a:p>
            <a:pPr algn="ctr" indent="0" marL="0">
              <a:buNone/>
            </a:pPr>
            <a:r>
              <a:rPr lang="en-US" sz="1600" b="1" dirty="0">
                <a:solidFill>
                  <a:srgbClr val="B87333"/>
                </a:solidFill>
                <a:latin typeface="Georgia" pitchFamily="34" charset="0"/>
                <a:ea typeface="Georgia" pitchFamily="34" charset="-122"/>
                <a:cs typeface="Georgia" pitchFamily="34" charset="-120"/>
              </a:rPr>
              <a:t>$216,000</a:t>
            </a:r>
            <a:endParaRPr lang="en-US" sz="1600" dirty="0"/>
          </a:p>
        </p:txBody>
      </p:sp>
      <p:pic>
        <p:nvPicPr>
          <p:cNvPr id="18" name="Image 1" descr="preencoded.png"/>
          <p:cNvPicPr>
            <a:picLocks noChangeAspect="1"/>
          </p:cNvPicPr>
          <p:nvPr/>
        </p:nvPicPr>
        <p:blipFill>
          <a:blip r:embed="rId2"/>
          <a:stretch>
            <a:fillRect/>
          </a:stretch>
        </p:blipFill>
        <p:spPr>
          <a:xfrm>
            <a:off x="4754880" y="2194560"/>
            <a:ext cx="274320" cy="274320"/>
          </a:xfrm>
          <a:prstGeom prst="rect">
            <a:avLst/>
          </a:prstGeom>
        </p:spPr>
      </p:pic>
      <p:sp>
        <p:nvSpPr>
          <p:cNvPr id="19" name="Text 15"/>
          <p:cNvSpPr/>
          <p:nvPr/>
        </p:nvSpPr>
        <p:spPr>
          <a:xfrm>
            <a:off x="5212080" y="201168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$90K-$275K/mo</a:t>
            </a:r>
            <a:endParaRPr lang="en-US" sz="1400" dirty="0"/>
          </a:p>
        </p:txBody>
      </p:sp>
      <p:sp>
        <p:nvSpPr>
          <p:cNvPr id="20" name="Shape 16"/>
          <p:cNvSpPr/>
          <p:nvPr/>
        </p:nvSpPr>
        <p:spPr>
          <a:xfrm>
            <a:off x="548640" y="2834640"/>
            <a:ext cx="8046720" cy="685800"/>
          </a:xfrm>
          <a:prstGeom prst="rect">
            <a:avLst/>
          </a:prstGeom>
          <a:solidFill>
            <a:srgbClr val="FFFFFF"/>
          </a:solidFill>
          <a:ln w="12700">
            <a:solidFill>
              <a:srgbClr val="D4C5B2"/>
            </a:solidFill>
            <a:prstDash val="solid"/>
          </a:ln>
        </p:spPr>
        <p:txBody>
          <a:bodyPr/>
          <a:p/>
        </p:txBody>
      </p:sp>
      <p:sp>
        <p:nvSpPr>
          <p:cNvPr id="21" name="Shape 17"/>
          <p:cNvSpPr/>
          <p:nvPr/>
        </p:nvSpPr>
        <p:spPr>
          <a:xfrm>
            <a:off x="548640" y="2834640"/>
            <a:ext cx="73152" cy="685800"/>
          </a:xfrm>
          <a:prstGeom prst="rect">
            <a:avLst/>
          </a:prstGeom>
          <a:solidFill>
            <a:srgbClr val="CD853F"/>
          </a:solidFill>
          <a:ln/>
        </p:spPr>
        <p:txBody>
          <a:bodyPr/>
          <a:p/>
        </p:txBody>
      </p:sp>
      <p:sp>
        <p:nvSpPr>
          <p:cNvPr id="22" name="Text 18"/>
          <p:cNvSpPr/>
          <p:nvPr/>
        </p:nvSpPr>
        <p:spPr>
          <a:xfrm>
            <a:off x="777240" y="283464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3: Copper Line</a:t>
            </a:r>
            <a:endParaRPr lang="en-US" sz="1100" dirty="0"/>
          </a:p>
        </p:txBody>
      </p:sp>
      <p:sp>
        <p:nvSpPr>
          <p:cNvPr id="23" name="Text 19"/>
          <p:cNvSpPr/>
          <p:nvPr/>
        </p:nvSpPr>
        <p:spPr>
          <a:xfrm>
            <a:off x="777240" y="320040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Rectifiers + tanks</a:t>
            </a:r>
            <a:endParaRPr lang="en-US" sz="800" dirty="0"/>
          </a:p>
        </p:txBody>
      </p:sp>
      <p:sp>
        <p:nvSpPr>
          <p:cNvPr id="24" name="Text 20"/>
          <p:cNvSpPr/>
          <p:nvPr/>
        </p:nvSpPr>
        <p:spPr>
          <a:xfrm>
            <a:off x="2926080" y="2834640"/>
            <a:ext cx="1645920" cy="685800"/>
          </a:xfrm>
          <a:prstGeom prst="rect">
            <a:avLst/>
          </a:prstGeom>
          <a:noFill/>
          <a:ln/>
        </p:spPr>
        <p:txBody>
          <a:bodyPr wrap="square" lIns="0" tIns="0" rIns="0" bIns="0" rtlCol="0" anchor="ctr"/>
          <a:lstStyle/>
          <a:p>
            <a:pPr algn="ctr" indent="0" marL="0">
              <a:buNone/>
            </a:pPr>
            <a:r>
              <a:rPr lang="en-US" sz="1600" b="1" dirty="0">
                <a:solidFill>
                  <a:srgbClr val="CD853F"/>
                </a:solidFill>
                <a:latin typeface="Georgia" pitchFamily="34" charset="0"/>
                <a:ea typeface="Georgia" pitchFamily="34" charset="-122"/>
                <a:cs typeface="Georgia" pitchFamily="34" charset="-120"/>
              </a:rPr>
              <a:t>$52,500</a:t>
            </a:r>
            <a:endParaRPr lang="en-US" sz="1600" dirty="0"/>
          </a:p>
        </p:txBody>
      </p:sp>
      <p:pic>
        <p:nvPicPr>
          <p:cNvPr id="25" name="Image 2" descr="preencoded.png"/>
          <p:cNvPicPr>
            <a:picLocks noChangeAspect="1"/>
          </p:cNvPicPr>
          <p:nvPr/>
        </p:nvPicPr>
        <p:blipFill>
          <a:blip r:embed="rId3"/>
          <a:stretch>
            <a:fillRect/>
          </a:stretch>
        </p:blipFill>
        <p:spPr>
          <a:xfrm>
            <a:off x="4754880" y="3017520"/>
            <a:ext cx="274320" cy="274320"/>
          </a:xfrm>
          <a:prstGeom prst="rect">
            <a:avLst/>
          </a:prstGeom>
        </p:spPr>
      </p:pic>
      <p:sp>
        <p:nvSpPr>
          <p:cNvPr id="26" name="Text 21"/>
          <p:cNvSpPr/>
          <p:nvPr/>
        </p:nvSpPr>
        <p:spPr>
          <a:xfrm>
            <a:off x="5212080" y="283464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+$30K-$56K/mo</a:t>
            </a:r>
            <a:endParaRPr lang="en-US" sz="1400" dirty="0"/>
          </a:p>
        </p:txBody>
      </p:sp>
      <p:sp>
        <p:nvSpPr>
          <p:cNvPr id="27" name="Shape 22"/>
          <p:cNvSpPr/>
          <p:nvPr/>
        </p:nvSpPr>
        <p:spPr>
          <a:xfrm>
            <a:off x="548640" y="3657600"/>
            <a:ext cx="8046720" cy="685800"/>
          </a:xfrm>
          <a:prstGeom prst="rect">
            <a:avLst/>
          </a:prstGeom>
          <a:solidFill>
            <a:srgbClr val="FFFFFF"/>
          </a:solidFill>
          <a:ln w="12700">
            <a:solidFill>
              <a:srgbClr val="D4C5B2"/>
            </a:solidFill>
            <a:prstDash val="solid"/>
          </a:ln>
        </p:spPr>
        <p:txBody>
          <a:bodyPr/>
          <a:p/>
        </p:txBody>
      </p:sp>
      <p:sp>
        <p:nvSpPr>
          <p:cNvPr id="28" name="Shape 23"/>
          <p:cNvSpPr/>
          <p:nvPr/>
        </p:nvSpPr>
        <p:spPr>
          <a:xfrm>
            <a:off x="548640" y="3657600"/>
            <a:ext cx="73152" cy="685800"/>
          </a:xfrm>
          <a:prstGeom prst="rect">
            <a:avLst/>
          </a:prstGeom>
          <a:solidFill>
            <a:srgbClr val="DAA520"/>
          </a:solidFill>
          <a:ln/>
        </p:spPr>
        <p:txBody>
          <a:bodyPr/>
          <a:p/>
        </p:txBody>
      </p:sp>
      <p:sp>
        <p:nvSpPr>
          <p:cNvPr id="29" name="Text 24"/>
          <p:cNvSpPr/>
          <p:nvPr/>
        </p:nvSpPr>
        <p:spPr>
          <a:xfrm>
            <a:off x="777240" y="3657600"/>
            <a:ext cx="2011680" cy="411480"/>
          </a:xfrm>
          <a:prstGeom prst="rect">
            <a:avLst/>
          </a:prstGeom>
          <a:noFill/>
          <a:ln/>
        </p:spPr>
        <p:txBody>
          <a:bodyPr wrap="square" lIns="0" tIns="0" rIns="0" bIns="0" rtlCol="0" anchor="b"/>
          <a:lstStyle/>
          <a:p>
            <a:pPr indent="0" marL="0">
              <a:buNone/>
            </a:pPr>
            <a:r>
              <a:rPr lang="en-US" sz="1100" b="1" dirty="0">
                <a:solidFill>
                  <a:srgbClr val="3E2C1C"/>
                </a:solidFill>
                <a:latin typeface="Calibri" pitchFamily="34" charset="0"/>
                <a:ea typeface="Calibri" pitchFamily="34" charset="-122"/>
                <a:cs typeface="Calibri" pitchFamily="34" charset="-120"/>
              </a:rPr>
              <a:t>Phase 4: 9m Kettle</a:t>
            </a:r>
            <a:endParaRPr lang="en-US" sz="1100" dirty="0"/>
          </a:p>
        </p:txBody>
      </p:sp>
      <p:sp>
        <p:nvSpPr>
          <p:cNvPr id="30" name="Text 25"/>
          <p:cNvSpPr/>
          <p:nvPr/>
        </p:nvSpPr>
        <p:spPr>
          <a:xfrm>
            <a:off x="777240" y="4023360"/>
            <a:ext cx="2011680" cy="274320"/>
          </a:xfrm>
          <a:prstGeom prst="rect">
            <a:avLst/>
          </a:prstGeom>
          <a:noFill/>
          <a:ln/>
        </p:spPr>
        <p:txBody>
          <a:bodyPr wrap="square" lIns="0" tIns="0" rIns="0" bIns="0" rtlCol="0" anchor="t"/>
          <a:lstStyle/>
          <a:p>
            <a:pPr indent="0" marL="0">
              <a:buNone/>
            </a:pPr>
            <a:r>
              <a:rPr lang="en-US" sz="800" dirty="0">
                <a:solidFill>
                  <a:srgbClr val="7A6555"/>
                </a:solidFill>
                <a:latin typeface="Calibri" pitchFamily="34" charset="0"/>
                <a:ea typeface="Calibri" pitchFamily="34" charset="-122"/>
                <a:cs typeface="Calibri" pitchFamily="34" charset="-120"/>
              </a:rPr>
              <a:t>Installation + zinc</a:t>
            </a:r>
            <a:endParaRPr lang="en-US" sz="800" dirty="0"/>
          </a:p>
        </p:txBody>
      </p:sp>
      <p:sp>
        <p:nvSpPr>
          <p:cNvPr id="31" name="Text 26"/>
          <p:cNvSpPr/>
          <p:nvPr/>
        </p:nvSpPr>
        <p:spPr>
          <a:xfrm>
            <a:off x="2926080" y="3657600"/>
            <a:ext cx="1645920" cy="685800"/>
          </a:xfrm>
          <a:prstGeom prst="rect">
            <a:avLst/>
          </a:prstGeom>
          <a:noFill/>
          <a:ln/>
        </p:spPr>
        <p:txBody>
          <a:bodyPr wrap="square" lIns="0" tIns="0" rIns="0" bIns="0" rtlCol="0" anchor="ctr"/>
          <a:lstStyle/>
          <a:p>
            <a:pPr algn="ctr" indent="0" marL="0">
              <a:buNone/>
            </a:pPr>
            <a:r>
              <a:rPr lang="en-US" sz="1600" b="1" dirty="0">
                <a:solidFill>
                  <a:srgbClr val="DAA520"/>
                </a:solidFill>
                <a:latin typeface="Georgia" pitchFamily="34" charset="0"/>
                <a:ea typeface="Georgia" pitchFamily="34" charset="-122"/>
                <a:cs typeface="Georgia" pitchFamily="34" charset="-120"/>
              </a:rPr>
              <a:t>TBD</a:t>
            </a:r>
            <a:endParaRPr lang="en-US" sz="1600" dirty="0"/>
          </a:p>
        </p:txBody>
      </p:sp>
      <p:pic>
        <p:nvPicPr>
          <p:cNvPr id="32" name="Image 3" descr="preencoded.png"/>
          <p:cNvPicPr>
            <a:picLocks noChangeAspect="1"/>
          </p:cNvPicPr>
          <p:nvPr/>
        </p:nvPicPr>
        <p:blipFill>
          <a:blip r:embed="rId4"/>
          <a:stretch>
            <a:fillRect/>
          </a:stretch>
        </p:blipFill>
        <p:spPr>
          <a:xfrm>
            <a:off x="4754880" y="3840480"/>
            <a:ext cx="274320" cy="274320"/>
          </a:xfrm>
          <a:prstGeom prst="rect">
            <a:avLst/>
          </a:prstGeom>
        </p:spPr>
      </p:pic>
      <p:sp>
        <p:nvSpPr>
          <p:cNvPr id="33" name="Text 27"/>
          <p:cNvSpPr/>
          <p:nvPr/>
        </p:nvSpPr>
        <p:spPr>
          <a:xfrm>
            <a:off x="5212080" y="3657600"/>
            <a:ext cx="3200400" cy="685800"/>
          </a:xfrm>
          <a:prstGeom prst="rect">
            <a:avLst/>
          </a:prstGeom>
          <a:noFill/>
          <a:ln/>
        </p:spPr>
        <p:txBody>
          <a:bodyPr wrap="square" lIns="0" tIns="0" rIns="0" bIns="0" rtlCol="0" anchor="ctr"/>
          <a:lstStyle/>
          <a:p>
            <a:pPr indent="0" marL="0">
              <a:buNone/>
            </a:pPr>
            <a:r>
              <a:rPr lang="en-US" sz="1400" b="1" dirty="0">
                <a:solidFill>
                  <a:srgbClr val="2D7D46"/>
                </a:solidFill>
                <a:latin typeface="Calibri" pitchFamily="34" charset="0"/>
                <a:ea typeface="Calibri" pitchFamily="34" charset="-122"/>
                <a:cs typeface="Calibri" pitchFamily="34" charset="-120"/>
              </a:rPr>
              <a:t>Future capacity</a:t>
            </a:r>
            <a:endParaRPr lang="en-US" sz="1400" dirty="0"/>
          </a:p>
        </p:txBody>
      </p:sp>
      <p:sp>
        <p:nvSpPr>
          <p:cNvPr id="34" name="Shape 28"/>
          <p:cNvSpPr/>
          <p:nvPr/>
        </p:nvSpPr>
        <p:spPr>
          <a:xfrm>
            <a:off x="548640" y="4526280"/>
            <a:ext cx="8046720" cy="457200"/>
          </a:xfrm>
          <a:prstGeom prst="rect">
            <a:avLst/>
          </a:prstGeom>
          <a:solidFill>
            <a:srgbClr val="EDE8E0"/>
          </a:solidFill>
          <a:ln w="19050">
            <a:solidFill>
              <a:srgbClr val="B87333"/>
            </a:solidFill>
            <a:prstDash val="solid"/>
          </a:ln>
        </p:spPr>
        <p:txBody>
          <a:bodyPr/>
          <a:p/>
        </p:txBody>
      </p:sp>
      <p:sp>
        <p:nvSpPr>
          <p:cNvPr id="35" name="Text 29"/>
          <p:cNvSpPr/>
          <p:nvPr/>
        </p:nvSpPr>
        <p:spPr>
          <a:xfrm>
            <a:off x="731520" y="4526280"/>
            <a:ext cx="7680960" cy="457200"/>
          </a:xfrm>
          <a:prstGeom prst="rect">
            <a:avLst/>
          </a:prstGeom>
          <a:noFill/>
          <a:ln/>
        </p:spPr>
        <p:txBody>
          <a:bodyPr wrap="square" rtlCol="0" anchor="ctr"/>
          <a:lstStyle/>
          <a:p>
            <a:pPr algn="ctr" indent="0" marL="0">
              <a:buNone/>
            </a:pPr>
            <a:r>
              <a:rPr lang="en-US" sz="1100" dirty="0">
                <a:solidFill>
                  <a:srgbClr val="5C4033"/>
                </a:solidFill>
                <a:latin typeface="Calibri" pitchFamily="34" charset="0"/>
                <a:ea typeface="Calibri" pitchFamily="34" charset="-122"/>
                <a:cs typeface="Calibri" pitchFamily="34" charset="-120"/>
              </a:rPr>
              <a:t xml:space="preserve">Minimum investment (Phases 1-2): </a:t>
            </a:r>
            <a:pPr algn="ctr" indent="0" marL="0">
              <a:buNone/>
            </a:pPr>
            <a:r>
              <a:rPr lang="en-US" sz="1400" b="1" dirty="0">
                <a:solidFill>
                  <a:srgbClr val="8B5A2B"/>
                </a:solidFill>
                <a:latin typeface="Georgia" pitchFamily="34" charset="0"/>
                <a:ea typeface="Georgia" pitchFamily="34" charset="-122"/>
                <a:cs typeface="Georgia" pitchFamily="34" charset="-120"/>
              </a:rPr>
              <a:t>$336K</a:t>
            </a:r>
            <a:pPr algn="ctr" indent="0" marL="0">
              <a:buNone/>
            </a:pPr>
            <a:r>
              <a:rPr lang="en-US" sz="1100" dirty="0">
                <a:solidFill>
                  <a:srgbClr val="5C4033"/>
                </a:solidFill>
                <a:latin typeface="Calibri" pitchFamily="34" charset="0"/>
                <a:ea typeface="Calibri" pitchFamily="34" charset="-122"/>
                <a:cs typeface="Calibri" pitchFamily="34" charset="-120"/>
              </a:rPr>
              <a:t xml:space="preserve">  →  Potential: </a:t>
            </a:r>
            <a:pPr algn="ctr" indent="0" marL="0">
              <a:buNone/>
            </a:pPr>
            <a:r>
              <a:rPr lang="en-US" sz="1400" b="1" dirty="0">
                <a:solidFill>
                  <a:srgbClr val="2D7D46"/>
                </a:solidFill>
                <a:latin typeface="Georgia" pitchFamily="34" charset="0"/>
                <a:ea typeface="Georgia" pitchFamily="34" charset="-122"/>
                <a:cs typeface="Georgia" pitchFamily="34" charset="-120"/>
              </a:rPr>
              <a:t>$90K-$275K/mo</a:t>
            </a:r>
            <a:pPr algn="ctr" indent="0" marL="0">
              <a:buNone/>
            </a:pPr>
            <a:r>
              <a:rPr lang="en-US" sz="1000" i="1" dirty="0">
                <a:solidFill>
                  <a:srgbClr val="7A6555"/>
                </a:solidFill>
                <a:latin typeface="Calibri" pitchFamily="34" charset="0"/>
                <a:ea typeface="Calibri" pitchFamily="34" charset="-122"/>
                <a:cs typeface="Calibri" pitchFamily="34" charset="-120"/>
              </a:rPr>
              <a:t xml:space="preserve"> (depends on volume)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24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ASSET VALUATION</a:t>
            </a:r>
            <a:endParaRPr lang="en-US" sz="2800" dirty="0"/>
          </a:p>
        </p:txBody>
      </p:sp>
      <p:sp>
        <p:nvSpPr>
          <p:cNvPr id="5" name="Text 3"/>
          <p:cNvSpPr/>
          <p:nvPr/>
        </p:nvSpPr>
        <p:spPr>
          <a:xfrm>
            <a:off x="548640" y="731520"/>
            <a:ext cx="8046720" cy="274320"/>
          </a:xfrm>
          <a:prstGeom prst="rect">
            <a:avLst/>
          </a:prstGeom>
          <a:noFill/>
          <a:ln/>
        </p:spPr>
        <p:txBody>
          <a:bodyPr wrap="square" lIns="0" tIns="0" rIns="0" bIns="0" rtlCol="0" anchor="ctr"/>
          <a:lstStyle/>
          <a:p>
            <a:pPr indent="0" marL="0">
              <a:buNone/>
            </a:pPr>
            <a:r>
              <a:rPr lang="en-US" sz="1200" i="1" dirty="0">
                <a:solidFill>
                  <a:srgbClr val="8B5A2B"/>
                </a:solidFill>
                <a:latin typeface="Calibri" pitchFamily="34" charset="0"/>
                <a:ea typeface="Calibri" pitchFamily="34" charset="-122"/>
                <a:cs typeface="Calibri" pitchFamily="34" charset="-120"/>
              </a:rPr>
              <a:t>Replacement cost — what it would cost to build from scratch</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5029200"/>
                <a:gridCol w="301752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Value Range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Terreno + 2 galpones (3,640 m2)</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$692K - $990K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Pilling kettles (7m + 9m + 3.5m + centrifuge)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$1,140K - $1,340K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Copper line (6 rectifiers, 10 tanks)</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$100K - $200K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Cranes, forklifts, industrial scale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Chemical processing + infrastructure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$90K - $180K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Permits, installation, commissioning</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8B5A2B"/>
                          </a:solidFill>
                          <a:latin typeface="Calibri" pitchFamily="34" charset="0"/>
                          <a:ea typeface="Calibri" pitchFamily="34" charset="-122"/>
                          <a:cs typeface="Calibri" pitchFamily="34" charset="-120"/>
                        </a:rPr>
                        <a:t>$72K - $140K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TOTAL REPLACEMENT COST</a:t>
                      </a:r>
                      <a:endParaRPr lang="en-US" sz="11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$2.2M - $3.0M</a:t>
                      </a:r>
                      <a:endParaRPr lang="en-US" sz="1300" dirty="0">
                        <a:latin typeface="Georgia" charset="0"/>
                        <a:ea typeface="Georgia" charset="0"/>
                        <a:cs typeface="Georgia"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bl>
          </a:graphicData>
        </a:graphic>
      </p:graphicFrame>
      <p:sp>
        <p:nvSpPr>
          <p:cNvPr id="7" name="Text 4"/>
          <p:cNvSpPr/>
          <p:nvPr/>
        </p:nvSpPr>
        <p:spPr>
          <a:xfrm>
            <a:off x="548640" y="4297680"/>
            <a:ext cx="8046720" cy="320040"/>
          </a:xfrm>
          <a:prstGeom prst="rect">
            <a:avLst/>
          </a:prstGeom>
          <a:noFill/>
          <a:ln/>
        </p:spPr>
        <p:txBody>
          <a:bodyPr wrap="square" lIns="0" tIns="0" rIns="0" bIns="0" rtlCol="0" anchor="ctr"/>
          <a:lstStyle/>
          <a:p>
            <a:pPr algn="ctr" indent="0" marL="0">
              <a:buNone/>
            </a:pPr>
            <a:r>
              <a:rPr lang="en-US" sz="1100" i="1" dirty="0">
                <a:solidFill>
                  <a:srgbClr val="7A6555"/>
                </a:solidFill>
                <a:latin typeface="Calibri" pitchFamily="34" charset="0"/>
                <a:ea typeface="Calibri" pitchFamily="34" charset="-122"/>
                <a:cs typeface="Calibri" pitchFamily="34" charset="-120"/>
              </a:rPr>
              <a:t>Una nueva planta toma 18-36 meses de construccion. PYGLARA esta lista en 3 meses.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25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600" b="1" dirty="0">
                <a:solidFill>
                  <a:srgbClr val="3E2C1C"/>
                </a:solidFill>
                <a:latin typeface="Georgia" pitchFamily="34" charset="0"/>
                <a:ea typeface="Georgia" pitchFamily="34" charset="-122"/>
                <a:cs typeface="Georgia" pitchFamily="34" charset="-120"/>
              </a:rPr>
              <a:t>WHAT THE ACQUISITION INCLUDES</a:t>
            </a:r>
            <a:endParaRPr lang="en-US" sz="2600" dirty="0"/>
          </a:p>
        </p:txBody>
      </p:sp>
      <p:sp>
        <p:nvSpPr>
          <p:cNvPr id="5" name="Shape 3"/>
          <p:cNvSpPr/>
          <p:nvPr/>
        </p:nvSpPr>
        <p:spPr>
          <a:xfrm>
            <a:off x="457200" y="1005840"/>
            <a:ext cx="4114800" cy="548640"/>
          </a:xfrm>
          <a:prstGeom prst="rect">
            <a:avLst/>
          </a:prstGeom>
          <a:solidFill>
            <a:srgbClr val="FFFFFF"/>
          </a:solidFill>
          <a:ln w="6350">
            <a:solidFill>
              <a:srgbClr val="D4C5B2"/>
            </a:solidFill>
            <a:prstDash val="solid"/>
          </a:ln>
        </p:spPr>
        <p:txBody>
          <a:bodyPr/>
          <a:p/>
        </p:txBody>
      </p:sp>
      <p:pic>
        <p:nvPicPr>
          <p:cNvPr id="6" name="Image 0" descr="preencoded.png"/>
          <p:cNvPicPr>
            <a:picLocks noChangeAspect="1"/>
          </p:cNvPicPr>
          <p:nvPr/>
        </p:nvPicPr>
        <p:blipFill>
          <a:blip r:embed="rId1"/>
          <a:stretch>
            <a:fillRect/>
          </a:stretch>
        </p:blipFill>
        <p:spPr>
          <a:xfrm>
            <a:off x="548640" y="1115568"/>
            <a:ext cx="274320" cy="274320"/>
          </a:xfrm>
          <a:prstGeom prst="rect">
            <a:avLst/>
          </a:prstGeom>
        </p:spPr>
      </p:pic>
      <p:sp>
        <p:nvSpPr>
          <p:cNvPr id="7" name="Text 4"/>
          <p:cNvSpPr/>
          <p:nvPr/>
        </p:nvSpPr>
        <p:spPr>
          <a:xfrm>
            <a:off x="96012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100% equity ownership (Sociedad Anonima)</a:t>
            </a:r>
            <a:endParaRPr lang="en-US" sz="1000" dirty="0"/>
          </a:p>
        </p:txBody>
      </p:sp>
      <p:sp>
        <p:nvSpPr>
          <p:cNvPr id="8" name="Shape 5"/>
          <p:cNvSpPr/>
          <p:nvPr/>
        </p:nvSpPr>
        <p:spPr>
          <a:xfrm>
            <a:off x="457200" y="1691640"/>
            <a:ext cx="4114800" cy="548640"/>
          </a:xfrm>
          <a:prstGeom prst="rect">
            <a:avLst/>
          </a:prstGeom>
          <a:solidFill>
            <a:srgbClr val="FFFFFF"/>
          </a:solidFill>
          <a:ln w="6350">
            <a:solidFill>
              <a:srgbClr val="D4C5B2"/>
            </a:solidFill>
            <a:prstDash val="solid"/>
          </a:ln>
        </p:spPr>
        <p:txBody>
          <a:bodyPr/>
          <a:p/>
        </p:txBody>
      </p:sp>
      <p:pic>
        <p:nvPicPr>
          <p:cNvPr id="9" name="Image 1" descr="preencoded.png"/>
          <p:cNvPicPr>
            <a:picLocks noChangeAspect="1"/>
          </p:cNvPicPr>
          <p:nvPr/>
        </p:nvPicPr>
        <p:blipFill>
          <a:blip r:embed="rId2"/>
          <a:stretch>
            <a:fillRect/>
          </a:stretch>
        </p:blipFill>
        <p:spPr>
          <a:xfrm>
            <a:off x="548640" y="1801368"/>
            <a:ext cx="274320" cy="274320"/>
          </a:xfrm>
          <a:prstGeom prst="rect">
            <a:avLst/>
          </a:prstGeom>
        </p:spPr>
      </p:pic>
      <p:sp>
        <p:nvSpPr>
          <p:cNvPr id="10" name="Text 6"/>
          <p:cNvSpPr/>
          <p:nvPr/>
        </p:nvSpPr>
        <p:spPr>
          <a:xfrm>
            <a:off x="96012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industrial warehouses with clean title (3,640 m2)</a:t>
            </a:r>
            <a:endParaRPr lang="en-US" sz="1000" dirty="0"/>
          </a:p>
        </p:txBody>
      </p:sp>
      <p:sp>
        <p:nvSpPr>
          <p:cNvPr id="11" name="Shape 7"/>
          <p:cNvSpPr/>
          <p:nvPr/>
        </p:nvSpPr>
        <p:spPr>
          <a:xfrm>
            <a:off x="457200" y="2377440"/>
            <a:ext cx="4114800" cy="548640"/>
          </a:xfrm>
          <a:prstGeom prst="rect">
            <a:avLst/>
          </a:prstGeom>
          <a:solidFill>
            <a:srgbClr val="FFFFFF"/>
          </a:solidFill>
          <a:ln w="6350">
            <a:solidFill>
              <a:srgbClr val="D4C5B2"/>
            </a:solidFill>
            <a:prstDash val="solid"/>
          </a:ln>
        </p:spPr>
        <p:txBody>
          <a:bodyPr/>
          <a:p/>
        </p:txBody>
      </p:sp>
      <p:pic>
        <p:nvPicPr>
          <p:cNvPr id="12" name="Image 2" descr="preencoded.png"/>
          <p:cNvPicPr>
            <a:picLocks noChangeAspect="1"/>
          </p:cNvPicPr>
          <p:nvPr/>
        </p:nvPicPr>
        <p:blipFill>
          <a:blip r:embed="rId3"/>
          <a:stretch>
            <a:fillRect/>
          </a:stretch>
        </p:blipFill>
        <p:spPr>
          <a:xfrm>
            <a:off x="548640" y="2487168"/>
            <a:ext cx="274320" cy="274320"/>
          </a:xfrm>
          <a:prstGeom prst="rect">
            <a:avLst/>
          </a:prstGeom>
        </p:spPr>
      </p:pic>
      <p:sp>
        <p:nvSpPr>
          <p:cNvPr id="13" name="Text 8"/>
          <p:cNvSpPr/>
          <p:nvPr/>
        </p:nvSpPr>
        <p:spPr>
          <a:xfrm>
            <a:off x="96012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4 Pilling kettles (Germany) + furnaces and burners</a:t>
            </a:r>
            <a:endParaRPr lang="en-US" sz="1000" dirty="0"/>
          </a:p>
        </p:txBody>
      </p:sp>
      <p:sp>
        <p:nvSpPr>
          <p:cNvPr id="14" name="Shape 9"/>
          <p:cNvSpPr/>
          <p:nvPr/>
        </p:nvSpPr>
        <p:spPr>
          <a:xfrm>
            <a:off x="457200" y="3063240"/>
            <a:ext cx="4114800" cy="548640"/>
          </a:xfrm>
          <a:prstGeom prst="rect">
            <a:avLst/>
          </a:prstGeom>
          <a:solidFill>
            <a:srgbClr val="FFFFFF"/>
          </a:solidFill>
          <a:ln w="6350">
            <a:solidFill>
              <a:srgbClr val="D4C5B2"/>
            </a:solidFill>
            <a:prstDash val="solid"/>
          </a:ln>
        </p:spPr>
        <p:txBody>
          <a:bodyPr/>
          <a:p/>
        </p:txBody>
      </p:sp>
      <p:pic>
        <p:nvPicPr>
          <p:cNvPr id="15" name="Image 3" descr="preencoded.png"/>
          <p:cNvPicPr>
            <a:picLocks noChangeAspect="1"/>
          </p:cNvPicPr>
          <p:nvPr/>
        </p:nvPicPr>
        <p:blipFill>
          <a:blip r:embed="rId4"/>
          <a:stretch>
            <a:fillRect/>
          </a:stretch>
        </p:blipFill>
        <p:spPr>
          <a:xfrm>
            <a:off x="548640" y="3172968"/>
            <a:ext cx="274320" cy="274320"/>
          </a:xfrm>
          <a:prstGeom prst="rect">
            <a:avLst/>
          </a:prstGeom>
        </p:spPr>
      </p:pic>
      <p:sp>
        <p:nvSpPr>
          <p:cNvPr id="16" name="Text 10"/>
          <p:cNvSpPr/>
          <p:nvPr/>
        </p:nvSpPr>
        <p:spPr>
          <a:xfrm>
            <a:off x="96012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Complete copper electroplating line</a:t>
            </a:r>
            <a:endParaRPr lang="en-US" sz="1000" dirty="0"/>
          </a:p>
        </p:txBody>
      </p:sp>
      <p:sp>
        <p:nvSpPr>
          <p:cNvPr id="17" name="Shape 11"/>
          <p:cNvSpPr/>
          <p:nvPr/>
        </p:nvSpPr>
        <p:spPr>
          <a:xfrm>
            <a:off x="457200" y="3749040"/>
            <a:ext cx="4114800" cy="548640"/>
          </a:xfrm>
          <a:prstGeom prst="rect">
            <a:avLst/>
          </a:prstGeom>
          <a:solidFill>
            <a:srgbClr val="FFFFFF"/>
          </a:solidFill>
          <a:ln w="6350">
            <a:solidFill>
              <a:srgbClr val="D4C5B2"/>
            </a:solidFill>
            <a:prstDash val="solid"/>
          </a:ln>
        </p:spPr>
        <p:txBody>
          <a:bodyPr/>
          <a:p/>
        </p:txBody>
      </p:sp>
      <p:pic>
        <p:nvPicPr>
          <p:cNvPr id="18" name="Image 4" descr="preencoded.png"/>
          <p:cNvPicPr>
            <a:picLocks noChangeAspect="1"/>
          </p:cNvPicPr>
          <p:nvPr/>
        </p:nvPicPr>
        <p:blipFill>
          <a:blip r:embed="rId5"/>
          <a:stretch>
            <a:fillRect/>
          </a:stretch>
        </p:blipFill>
        <p:spPr>
          <a:xfrm>
            <a:off x="548640" y="3858768"/>
            <a:ext cx="274320" cy="274320"/>
          </a:xfrm>
          <a:prstGeom prst="rect">
            <a:avLst/>
          </a:prstGeom>
        </p:spPr>
      </p:pic>
      <p:sp>
        <p:nvSpPr>
          <p:cNvPr id="19" name="Text 12"/>
          <p:cNvSpPr/>
          <p:nvPr/>
        </p:nvSpPr>
        <p:spPr>
          <a:xfrm>
            <a:off x="960120" y="37490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2 overhead cranes + 3 Clark forklifts + industrial scale</a:t>
            </a:r>
            <a:endParaRPr lang="en-US" sz="1000" dirty="0"/>
          </a:p>
        </p:txBody>
      </p:sp>
      <p:sp>
        <p:nvSpPr>
          <p:cNvPr id="20" name="Shape 13"/>
          <p:cNvSpPr/>
          <p:nvPr/>
        </p:nvSpPr>
        <p:spPr>
          <a:xfrm>
            <a:off x="4846320" y="1005840"/>
            <a:ext cx="4114800" cy="548640"/>
          </a:xfrm>
          <a:prstGeom prst="rect">
            <a:avLst/>
          </a:prstGeom>
          <a:solidFill>
            <a:srgbClr val="FFFFFF"/>
          </a:solidFill>
          <a:ln w="6350">
            <a:solidFill>
              <a:srgbClr val="D4C5B2"/>
            </a:solidFill>
            <a:prstDash val="solid"/>
          </a:ln>
        </p:spPr>
        <p:txBody>
          <a:bodyPr/>
          <a:p/>
        </p:txBody>
      </p:sp>
      <p:pic>
        <p:nvPicPr>
          <p:cNvPr id="21" name="Image 5" descr="preencoded.png"/>
          <p:cNvPicPr>
            <a:picLocks noChangeAspect="1"/>
          </p:cNvPicPr>
          <p:nvPr/>
        </p:nvPicPr>
        <p:blipFill>
          <a:blip r:embed="rId6"/>
          <a:stretch>
            <a:fillRect/>
          </a:stretch>
        </p:blipFill>
        <p:spPr>
          <a:xfrm>
            <a:off x="4937760" y="1115568"/>
            <a:ext cx="274320" cy="274320"/>
          </a:xfrm>
          <a:prstGeom prst="rect">
            <a:avLst/>
          </a:prstGeom>
        </p:spPr>
      </p:pic>
      <p:sp>
        <p:nvSpPr>
          <p:cNvPr id="22" name="Text 14"/>
          <p:cNvSpPr/>
          <p:nvPr/>
        </p:nvSpPr>
        <p:spPr>
          <a:xfrm>
            <a:off x="5349240" y="10058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PYGLARA brand + 50 years of reputation</a:t>
            </a:r>
            <a:endParaRPr lang="en-US" sz="1000" dirty="0"/>
          </a:p>
        </p:txBody>
      </p:sp>
      <p:sp>
        <p:nvSpPr>
          <p:cNvPr id="23" name="Shape 15"/>
          <p:cNvSpPr/>
          <p:nvPr/>
        </p:nvSpPr>
        <p:spPr>
          <a:xfrm>
            <a:off x="4846320" y="1691640"/>
            <a:ext cx="4114800" cy="548640"/>
          </a:xfrm>
          <a:prstGeom prst="rect">
            <a:avLst/>
          </a:prstGeom>
          <a:solidFill>
            <a:srgbClr val="FFFFFF"/>
          </a:solidFill>
          <a:ln w="6350">
            <a:solidFill>
              <a:srgbClr val="D4C5B2"/>
            </a:solidFill>
            <a:prstDash val="solid"/>
          </a:ln>
        </p:spPr>
        <p:txBody>
          <a:bodyPr/>
          <a:p/>
        </p:txBody>
      </p:sp>
      <p:pic>
        <p:nvPicPr>
          <p:cNvPr id="24" name="Image 6" descr="preencoded.png"/>
          <p:cNvPicPr>
            <a:picLocks noChangeAspect="1"/>
          </p:cNvPicPr>
          <p:nvPr/>
        </p:nvPicPr>
        <p:blipFill>
          <a:blip r:embed="rId7"/>
          <a:stretch>
            <a:fillRect/>
          </a:stretch>
        </p:blipFill>
        <p:spPr>
          <a:xfrm>
            <a:off x="4937760" y="1801368"/>
            <a:ext cx="274320" cy="274320"/>
          </a:xfrm>
          <a:prstGeom prst="rect">
            <a:avLst/>
          </a:prstGeom>
        </p:spPr>
      </p:pic>
      <p:sp>
        <p:nvSpPr>
          <p:cNvPr id="25" name="Text 16"/>
          <p:cNvSpPr/>
          <p:nvPr/>
        </p:nvSpPr>
        <p:spPr>
          <a:xfrm>
            <a:off x="5349240" y="16916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34 documented historical clients</a:t>
            </a:r>
            <a:endParaRPr lang="en-US" sz="1000" dirty="0"/>
          </a:p>
        </p:txBody>
      </p:sp>
      <p:sp>
        <p:nvSpPr>
          <p:cNvPr id="26" name="Shape 17"/>
          <p:cNvSpPr/>
          <p:nvPr/>
        </p:nvSpPr>
        <p:spPr>
          <a:xfrm>
            <a:off x="4846320" y="2377440"/>
            <a:ext cx="4114800" cy="548640"/>
          </a:xfrm>
          <a:prstGeom prst="rect">
            <a:avLst/>
          </a:prstGeom>
          <a:solidFill>
            <a:srgbClr val="FFFFFF"/>
          </a:solidFill>
          <a:ln w="6350">
            <a:solidFill>
              <a:srgbClr val="D4C5B2"/>
            </a:solidFill>
            <a:prstDash val="solid"/>
          </a:ln>
        </p:spPr>
        <p:txBody>
          <a:bodyPr/>
          <a:p/>
        </p:txBody>
      </p:sp>
      <p:pic>
        <p:nvPicPr>
          <p:cNvPr id="27" name="Image 7" descr="preencoded.png"/>
          <p:cNvPicPr>
            <a:picLocks noChangeAspect="1"/>
          </p:cNvPicPr>
          <p:nvPr/>
        </p:nvPicPr>
        <p:blipFill>
          <a:blip r:embed="rId8"/>
          <a:stretch>
            <a:fillRect/>
          </a:stretch>
        </p:blipFill>
        <p:spPr>
          <a:xfrm>
            <a:off x="4937760" y="2487168"/>
            <a:ext cx="274320" cy="274320"/>
          </a:xfrm>
          <a:prstGeom prst="rect">
            <a:avLst/>
          </a:prstGeom>
        </p:spPr>
      </p:pic>
      <p:sp>
        <p:nvSpPr>
          <p:cNvPr id="28" name="Text 18"/>
          <p:cNvSpPr/>
          <p:nvPr/>
        </p:nvSpPr>
        <p:spPr>
          <a:xfrm>
            <a:off x="5349240" y="23774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Active permits: RIF, license, PDVSA Gas contract</a:t>
            </a:r>
            <a:endParaRPr lang="en-US" sz="1000" dirty="0"/>
          </a:p>
        </p:txBody>
      </p:sp>
      <p:sp>
        <p:nvSpPr>
          <p:cNvPr id="29" name="Shape 19"/>
          <p:cNvSpPr/>
          <p:nvPr/>
        </p:nvSpPr>
        <p:spPr>
          <a:xfrm>
            <a:off x="4846320" y="3063240"/>
            <a:ext cx="4114800" cy="548640"/>
          </a:xfrm>
          <a:prstGeom prst="rect">
            <a:avLst/>
          </a:prstGeom>
          <a:solidFill>
            <a:srgbClr val="FFFFFF"/>
          </a:solidFill>
          <a:ln w="6350">
            <a:solidFill>
              <a:srgbClr val="D4C5B2"/>
            </a:solidFill>
            <a:prstDash val="solid"/>
          </a:ln>
        </p:spPr>
        <p:txBody>
          <a:bodyPr/>
          <a:p/>
        </p:txBody>
      </p:sp>
      <p:pic>
        <p:nvPicPr>
          <p:cNvPr id="30" name="Image 8" descr="preencoded.png"/>
          <p:cNvPicPr>
            <a:picLocks noChangeAspect="1"/>
          </p:cNvPicPr>
          <p:nvPr/>
        </p:nvPicPr>
        <p:blipFill>
          <a:blip r:embed="rId9"/>
          <a:stretch>
            <a:fillRect/>
          </a:stretch>
        </p:blipFill>
        <p:spPr>
          <a:xfrm>
            <a:off x="4937760" y="3172968"/>
            <a:ext cx="274320" cy="274320"/>
          </a:xfrm>
          <a:prstGeom prst="rect">
            <a:avLst/>
          </a:prstGeom>
        </p:spPr>
      </p:pic>
      <p:sp>
        <p:nvSpPr>
          <p:cNvPr id="31" name="Text 20"/>
          <p:cNvSpPr/>
          <p:nvPr/>
        </p:nvSpPr>
        <p:spPr>
          <a:xfrm>
            <a:off x="5349240" y="3063240"/>
            <a:ext cx="3474720" cy="54864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Personnel with 36+ years of technical experience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26 / 30</a:t>
            </a:r>
            <a:endParaRPr lang="en-US" sz="800" dirty="0"/>
          </a:p>
        </p:txBody>
      </p:sp>
      <p:sp>
        <p:nvSpPr>
          <p:cNvPr id="4" name="Text 2"/>
          <p:cNvSpPr/>
          <p:nvPr/>
        </p:nvSpPr>
        <p:spPr>
          <a:xfrm>
            <a:off x="548640" y="274320"/>
            <a:ext cx="8046720" cy="594360"/>
          </a:xfrm>
          <a:prstGeom prst="rect">
            <a:avLst/>
          </a:prstGeom>
          <a:noFill/>
          <a:ln/>
        </p:spPr>
        <p:txBody>
          <a:bodyPr wrap="square" lIns="0" tIns="0" rIns="0" bIns="0" rtlCol="0" anchor="ctr"/>
          <a:lstStyle/>
          <a:p>
            <a:pPr indent="0" marL="0">
              <a:buNone/>
            </a:pPr>
            <a:r>
              <a:rPr lang="en-US" sz="3400" b="1" dirty="0">
                <a:solidFill>
                  <a:srgbClr val="3E2C1C"/>
                </a:solidFill>
                <a:latin typeface="Georgia" pitchFamily="34" charset="0"/>
                <a:ea typeface="Georgia" pitchFamily="34" charset="-122"/>
                <a:cs typeface="Georgia" pitchFamily="34" charset="-120"/>
              </a:rPr>
              <a:t>NEXT STEPS</a:t>
            </a:r>
            <a:endParaRPr lang="en-US" sz="3400" dirty="0"/>
          </a:p>
        </p:txBody>
      </p:sp>
      <p:sp>
        <p:nvSpPr>
          <p:cNvPr id="5" name="Shape 3"/>
          <p:cNvSpPr/>
          <p:nvPr/>
        </p:nvSpPr>
        <p:spPr>
          <a:xfrm>
            <a:off x="731520" y="1280160"/>
            <a:ext cx="640080" cy="640080"/>
          </a:xfrm>
          <a:prstGeom prst="oval">
            <a:avLst/>
          </a:prstGeom>
          <a:solidFill>
            <a:srgbClr val="B87333"/>
          </a:solidFill>
          <a:ln/>
        </p:spPr>
        <p:txBody>
          <a:bodyPr/>
          <a:p/>
        </p:txBody>
      </p:sp>
      <p:sp>
        <p:nvSpPr>
          <p:cNvPr id="6" name="Text 4"/>
          <p:cNvSpPr/>
          <p:nvPr/>
        </p:nvSpPr>
        <p:spPr>
          <a:xfrm>
            <a:off x="731520" y="1280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01</a:t>
            </a:r>
            <a:endParaRPr lang="en-US" sz="1800" dirty="0"/>
          </a:p>
        </p:txBody>
      </p:sp>
      <p:sp>
        <p:nvSpPr>
          <p:cNvPr id="7" name="Text 5"/>
          <p:cNvSpPr/>
          <p:nvPr/>
        </p:nvSpPr>
        <p:spPr>
          <a:xfrm>
            <a:off x="1645920" y="1188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Visit the plant</a:t>
            </a:r>
            <a:endParaRPr lang="en-US" sz="1800" dirty="0"/>
          </a:p>
        </p:txBody>
      </p:sp>
      <p:sp>
        <p:nvSpPr>
          <p:cNvPr id="8" name="Text 6"/>
          <p:cNvSpPr/>
          <p:nvPr/>
        </p:nvSpPr>
        <p:spPr>
          <a:xfrm>
            <a:off x="1645920" y="1645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See the Pilling equipment firsthand</a:t>
            </a:r>
            <a:endParaRPr lang="en-US" sz="1200" dirty="0"/>
          </a:p>
        </p:txBody>
      </p:sp>
      <p:sp>
        <p:nvSpPr>
          <p:cNvPr id="9" name="Shape 7"/>
          <p:cNvSpPr/>
          <p:nvPr/>
        </p:nvSpPr>
        <p:spPr>
          <a:xfrm>
            <a:off x="731520" y="2423160"/>
            <a:ext cx="640080" cy="640080"/>
          </a:xfrm>
          <a:prstGeom prst="oval">
            <a:avLst/>
          </a:prstGeom>
          <a:solidFill>
            <a:srgbClr val="B87333"/>
          </a:solidFill>
          <a:ln/>
        </p:spPr>
        <p:txBody>
          <a:bodyPr/>
          <a:p/>
        </p:txBody>
      </p:sp>
      <p:sp>
        <p:nvSpPr>
          <p:cNvPr id="10" name="Text 8"/>
          <p:cNvSpPr/>
          <p:nvPr/>
        </p:nvSpPr>
        <p:spPr>
          <a:xfrm>
            <a:off x="731520" y="2423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02</a:t>
            </a:r>
            <a:endParaRPr lang="en-US" sz="1800" dirty="0"/>
          </a:p>
        </p:txBody>
      </p:sp>
      <p:sp>
        <p:nvSpPr>
          <p:cNvPr id="11" name="Text 9"/>
          <p:cNvSpPr/>
          <p:nvPr/>
        </p:nvSpPr>
        <p:spPr>
          <a:xfrm>
            <a:off x="1645920" y="2331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Review the full document</a:t>
            </a:r>
            <a:endParaRPr lang="en-US" sz="1800" dirty="0"/>
          </a:p>
        </p:txBody>
      </p:sp>
      <p:sp>
        <p:nvSpPr>
          <p:cNvPr id="12" name="Text 10"/>
          <p:cNvSpPr/>
          <p:nvPr/>
        </p:nvSpPr>
        <p:spPr>
          <a:xfrm>
            <a:off x="1645920" y="2788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25-35 page investment document with all the details</a:t>
            </a:r>
            <a:endParaRPr lang="en-US" sz="1200" dirty="0"/>
          </a:p>
        </p:txBody>
      </p:sp>
      <p:sp>
        <p:nvSpPr>
          <p:cNvPr id="13" name="Shape 11"/>
          <p:cNvSpPr/>
          <p:nvPr/>
        </p:nvSpPr>
        <p:spPr>
          <a:xfrm>
            <a:off x="731520" y="3566160"/>
            <a:ext cx="640080" cy="640080"/>
          </a:xfrm>
          <a:prstGeom prst="oval">
            <a:avLst/>
          </a:prstGeom>
          <a:solidFill>
            <a:srgbClr val="B87333"/>
          </a:solidFill>
          <a:ln/>
        </p:spPr>
        <p:txBody>
          <a:bodyPr/>
          <a:p/>
        </p:txBody>
      </p:sp>
      <p:sp>
        <p:nvSpPr>
          <p:cNvPr id="14" name="Text 12"/>
          <p:cNvSpPr/>
          <p:nvPr/>
        </p:nvSpPr>
        <p:spPr>
          <a:xfrm>
            <a:off x="731520" y="35661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03</a:t>
            </a:r>
            <a:endParaRPr lang="en-US" sz="1800" dirty="0"/>
          </a:p>
        </p:txBody>
      </p:sp>
      <p:sp>
        <p:nvSpPr>
          <p:cNvPr id="15" name="Text 13"/>
          <p:cNvSpPr/>
          <p:nvPr/>
        </p:nvSpPr>
        <p:spPr>
          <a:xfrm>
            <a:off x="1645920" y="3474720"/>
            <a:ext cx="6858000" cy="411480"/>
          </a:xfrm>
          <a:prstGeom prst="rect">
            <a:avLst/>
          </a:prstGeom>
          <a:noFill/>
          <a:ln/>
        </p:spPr>
        <p:txBody>
          <a:bodyPr wrap="square" lIns="0" tIns="0" rIns="0" bIns="0" rtlCol="0" anchor="b"/>
          <a:lstStyle/>
          <a:p>
            <a:pPr indent="0" marL="0">
              <a:buNone/>
            </a:pPr>
            <a:r>
              <a:rPr lang="en-US" sz="1800" b="1" dirty="0">
                <a:solidFill>
                  <a:srgbClr val="8B5A2B"/>
                </a:solidFill>
                <a:latin typeface="Georgia" pitchFamily="34" charset="0"/>
                <a:ea typeface="Georgia" pitchFamily="34" charset="-122"/>
                <a:cs typeface="Georgia" pitchFamily="34" charset="-120"/>
              </a:rPr>
              <a:t>Discuss terms</a:t>
            </a:r>
            <a:endParaRPr lang="en-US" sz="1800" dirty="0"/>
          </a:p>
        </p:txBody>
      </p:sp>
      <p:sp>
        <p:nvSpPr>
          <p:cNvPr id="16" name="Text 14"/>
          <p:cNvSpPr/>
          <p:nvPr/>
        </p:nvSpPr>
        <p:spPr>
          <a:xfrm>
            <a:off x="1645920" y="3931920"/>
            <a:ext cx="6858000" cy="320040"/>
          </a:xfrm>
          <a:prstGeom prst="rect">
            <a:avLst/>
          </a:prstGeom>
          <a:noFill/>
          <a:ln/>
        </p:spPr>
        <p:txBody>
          <a:bodyPr wrap="square" lIns="0" tIns="0" rIns="0" bIns="0" rtlCol="0" anchor="ctr"/>
          <a:lstStyle/>
          <a:p>
            <a:pPr indent="0" marL="0">
              <a:buNone/>
            </a:pPr>
            <a:r>
              <a:rPr lang="en-US" sz="1200" dirty="0">
                <a:solidFill>
                  <a:srgbClr val="7A6555"/>
                </a:solidFill>
                <a:latin typeface="Calibri" pitchFamily="34" charset="0"/>
                <a:ea typeface="Calibri" pitchFamily="34" charset="-122"/>
                <a:cs typeface="Calibri" pitchFamily="34" charset="-120"/>
              </a:rPr>
              <a:t>Due diligence process and negotiation</a:t>
            </a:r>
            <a:endParaRPr lang="en-US" sz="1200" dirty="0"/>
          </a:p>
        </p:txBody>
      </p:sp>
      <p:sp>
        <p:nvSpPr>
          <p:cNvPr id="17" name="Shape 15"/>
          <p:cNvSpPr/>
          <p:nvPr/>
        </p:nvSpPr>
        <p:spPr>
          <a:xfrm>
            <a:off x="548640" y="4434840"/>
            <a:ext cx="8046720" cy="502920"/>
          </a:xfrm>
          <a:prstGeom prst="rect">
            <a:avLst/>
          </a:prstGeom>
          <a:solidFill>
            <a:srgbClr val="EDE8E0"/>
          </a:solidFill>
          <a:ln w="25400">
            <a:solidFill>
              <a:srgbClr val="B87333"/>
            </a:solidFill>
            <a:prstDash val="solid"/>
          </a:ln>
        </p:spPr>
        <p:txBody>
          <a:bodyPr/>
          <a:p/>
        </p:txBody>
      </p:sp>
      <p:sp>
        <p:nvSpPr>
          <p:cNvPr id="18" name="Text 16"/>
          <p:cNvSpPr/>
          <p:nvPr/>
        </p:nvSpPr>
        <p:spPr>
          <a:xfrm>
            <a:off x="731520" y="4434840"/>
            <a:ext cx="7680960" cy="502920"/>
          </a:xfrm>
          <a:prstGeom prst="rect">
            <a:avLst/>
          </a:prstGeom>
          <a:noFill/>
          <a:ln/>
        </p:spPr>
        <p:txBody>
          <a:bodyPr wrap="square" rtlCol="0" anchor="ctr"/>
          <a:lstStyle/>
          <a:p>
            <a:pPr algn="ctr" indent="0" marL="0">
              <a:buNone/>
            </a:pPr>
            <a:r>
              <a:rPr lang="en-US" sz="1300" b="1" i="1" dirty="0">
                <a:solidFill>
                  <a:srgbClr val="8B5A2B"/>
                </a:solidFill>
                <a:latin typeface="Calibri" pitchFamily="34" charset="0"/>
                <a:ea typeface="Calibri" pitchFamily="34" charset="-122"/>
                <a:cs typeface="Calibri" pitchFamily="34" charset="-120"/>
              </a:rPr>
              <a:t>"This plant is ready. The clients are waiting. All it needs is zinc."</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2A1F10"/>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731520" y="365760"/>
            <a:ext cx="4572000" cy="548640"/>
          </a:xfrm>
          <a:prstGeom prst="rect">
            <a:avLst/>
          </a:prstGeom>
          <a:noFill/>
          <a:ln/>
        </p:spPr>
        <p:txBody>
          <a:bodyPr wrap="square" lIns="0" tIns="0" rIns="0" bIns="0" rtlCol="0" anchor="ctr"/>
          <a:lstStyle/>
          <a:p>
            <a:pPr indent="0" marL="0">
              <a:buNone/>
            </a:pPr>
            <a:r>
              <a:rPr lang="en-US" sz="3600" b="1" spc="600" kern="0" dirty="0">
                <a:solidFill>
                  <a:srgbClr val="FFFFFF"/>
                </a:solidFill>
                <a:latin typeface="Georgia" pitchFamily="34" charset="0"/>
                <a:ea typeface="Georgia" pitchFamily="34" charset="-122"/>
                <a:cs typeface="Georgia" pitchFamily="34" charset="-120"/>
              </a:rPr>
              <a:t>PYGLARA</a:t>
            </a:r>
            <a:endParaRPr lang="en-US" sz="3600" dirty="0"/>
          </a:p>
        </p:txBody>
      </p:sp>
      <p:sp>
        <p:nvSpPr>
          <p:cNvPr id="4" name="Text 2"/>
          <p:cNvSpPr/>
          <p:nvPr/>
        </p:nvSpPr>
        <p:spPr>
          <a:xfrm>
            <a:off x="731520" y="914400"/>
            <a:ext cx="4572000" cy="274320"/>
          </a:xfrm>
          <a:prstGeom prst="rect">
            <a:avLst/>
          </a:prstGeom>
          <a:noFill/>
          <a:ln/>
        </p:spPr>
        <p:txBody>
          <a:bodyPr wrap="square" lIns="0" tIns="0" rIns="0" bIns="0" rtlCol="0" anchor="ctr"/>
          <a:lstStyle/>
          <a:p>
            <a:pPr indent="0" marL="0">
              <a:buNone/>
            </a:pPr>
            <a:r>
              <a:rPr lang="en-US" sz="1200" dirty="0">
                <a:solidFill>
                  <a:srgbClr val="D4954A"/>
                </a:solidFill>
                <a:latin typeface="Calibri" pitchFamily="34" charset="0"/>
                <a:ea typeface="Calibri" pitchFamily="34" charset="-122"/>
                <a:cs typeface="Calibri" pitchFamily="34" charset="-120"/>
              </a:rPr>
              <a:t>Prensados y Galvanizados de Lara, S.A.</a:t>
            </a:r>
            <a:endParaRPr lang="en-US" sz="1200" dirty="0"/>
          </a:p>
        </p:txBody>
      </p:sp>
      <p:sp>
        <p:nvSpPr>
          <p:cNvPr id="5" name="Shape 3"/>
          <p:cNvSpPr/>
          <p:nvPr/>
        </p:nvSpPr>
        <p:spPr>
          <a:xfrm>
            <a:off x="731520" y="1463040"/>
            <a:ext cx="4572000" cy="3017520"/>
          </a:xfrm>
          <a:prstGeom prst="rect">
            <a:avLst/>
          </a:prstGeom>
          <a:solidFill>
            <a:srgbClr val="2A2015"/>
          </a:solidFill>
          <a:ln w="12700">
            <a:solidFill>
              <a:srgbClr val="B87333"/>
            </a:solidFill>
            <a:prstDash val="solid"/>
          </a:ln>
        </p:spPr>
        <p:txBody>
          <a:bodyPr/>
          <a:p/>
        </p:txBody>
      </p:sp>
      <p:sp>
        <p:nvSpPr>
          <p:cNvPr id="6" name="Text 4"/>
          <p:cNvSpPr/>
          <p:nvPr/>
        </p:nvSpPr>
        <p:spPr>
          <a:xfrm>
            <a:off x="914400" y="1600200"/>
            <a:ext cx="4206240" cy="36576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Andres Montbrun</a:t>
            </a:r>
            <a:endParaRPr lang="en-US" sz="1800" dirty="0"/>
          </a:p>
        </p:txBody>
      </p:sp>
      <p:sp>
        <p:nvSpPr>
          <p:cNvPr id="7" name="Text 5"/>
          <p:cNvSpPr/>
          <p:nvPr/>
        </p:nvSpPr>
        <p:spPr>
          <a:xfrm>
            <a:off x="914400" y="1965960"/>
            <a:ext cx="4206240" cy="228600"/>
          </a:xfrm>
          <a:prstGeom prst="rect">
            <a:avLst/>
          </a:prstGeom>
          <a:noFill/>
          <a:ln/>
        </p:spPr>
        <p:txBody>
          <a:bodyPr wrap="square" lIns="0" tIns="0" rIns="0" bIns="0" rtlCol="0" anchor="ctr"/>
          <a:lstStyle/>
          <a:p>
            <a:pPr indent="0" marL="0">
              <a:buNone/>
            </a:pPr>
            <a:r>
              <a:rPr lang="en-US" sz="1100" dirty="0">
                <a:solidFill>
                  <a:srgbClr val="D4954A"/>
                </a:solidFill>
                <a:latin typeface="Calibri" pitchFamily="34" charset="0"/>
                <a:ea typeface="Calibri" pitchFamily="34" charset="-122"/>
                <a:cs typeface="Calibri" pitchFamily="34" charset="-120"/>
              </a:rPr>
              <a:t>Commercial Representative</a:t>
            </a:r>
            <a:endParaRPr lang="en-US" sz="1100" dirty="0"/>
          </a:p>
        </p:txBody>
      </p:sp>
      <p:pic>
        <p:nvPicPr>
          <p:cNvPr id="8" name="Image 0" descr="preencoded.png"/>
          <p:cNvPicPr>
            <a:picLocks noChangeAspect="1"/>
          </p:cNvPicPr>
          <p:nvPr/>
        </p:nvPicPr>
        <p:blipFill>
          <a:blip r:embed="rId1"/>
          <a:stretch>
            <a:fillRect/>
          </a:stretch>
        </p:blipFill>
        <p:spPr>
          <a:xfrm>
            <a:off x="1005840" y="2423160"/>
            <a:ext cx="228600" cy="228600"/>
          </a:xfrm>
          <a:prstGeom prst="rect">
            <a:avLst/>
          </a:prstGeom>
        </p:spPr>
      </p:pic>
      <p:sp>
        <p:nvSpPr>
          <p:cNvPr id="9" name="Text 6"/>
          <p:cNvSpPr/>
          <p:nvPr/>
        </p:nvSpPr>
        <p:spPr>
          <a:xfrm>
            <a:off x="1371600" y="237744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+1 786 354 6586</a:t>
            </a:r>
            <a:endParaRPr lang="en-US" sz="1000" dirty="0"/>
          </a:p>
        </p:txBody>
      </p:sp>
      <p:pic>
        <p:nvPicPr>
          <p:cNvPr id="10" name="Image 1" descr="preencoded.png"/>
          <p:cNvPicPr>
            <a:picLocks noChangeAspect="1"/>
          </p:cNvPicPr>
          <p:nvPr/>
        </p:nvPicPr>
        <p:blipFill>
          <a:blip r:embed="rId2"/>
          <a:stretch>
            <a:fillRect/>
          </a:stretch>
        </p:blipFill>
        <p:spPr>
          <a:xfrm>
            <a:off x="1005840" y="3063240"/>
            <a:ext cx="228600" cy="228600"/>
          </a:xfrm>
          <a:prstGeom prst="rect">
            <a:avLst/>
          </a:prstGeom>
        </p:spPr>
      </p:pic>
      <p:sp>
        <p:nvSpPr>
          <p:cNvPr id="11" name="Text 7"/>
          <p:cNvSpPr/>
          <p:nvPr/>
        </p:nvSpPr>
        <p:spPr>
          <a:xfrm>
            <a:off x="1371600" y="3017520"/>
            <a:ext cx="3657600" cy="32004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andymontbrun@propozl.com</a:t>
            </a:r>
            <a:endParaRPr lang="en-US" sz="1000" dirty="0"/>
          </a:p>
        </p:txBody>
      </p:sp>
      <p:pic>
        <p:nvPicPr>
          <p:cNvPr id="12" name="Image 2" descr="preencoded.png"/>
          <p:cNvPicPr>
            <a:picLocks noChangeAspect="1"/>
          </p:cNvPicPr>
          <p:nvPr/>
        </p:nvPicPr>
        <p:blipFill>
          <a:blip r:embed="rId3"/>
          <a:stretch>
            <a:fillRect/>
          </a:stretch>
        </p:blipFill>
        <p:spPr>
          <a:xfrm>
            <a:off x="1005840" y="3703320"/>
            <a:ext cx="228600" cy="228600"/>
          </a:xfrm>
          <a:prstGeom prst="rect">
            <a:avLst/>
          </a:prstGeom>
        </p:spPr>
      </p:pic>
      <p:sp>
        <p:nvSpPr>
          <p:cNvPr id="13" name="Text 8"/>
          <p:cNvSpPr/>
          <p:nvPr/>
        </p:nvSpPr>
        <p:spPr>
          <a:xfrm>
            <a:off x="1371600" y="3657600"/>
            <a:ext cx="3657600" cy="685800"/>
          </a:xfrm>
          <a:prstGeom prst="rect">
            <a:avLst/>
          </a:prstGeom>
          <a:noFill/>
          <a:ln/>
        </p:spPr>
        <p:txBody>
          <a:bodyPr wrap="square" lIns="0" tIns="0" rIns="0" bIns="0" rtlCol="0" anchor="ctr"/>
          <a:lstStyle/>
          <a:p>
            <a:pPr indent="0" marL="0">
              <a:buNone/>
            </a:pPr>
            <a:r>
              <a:rPr lang="en-US" sz="1000" dirty="0">
                <a:solidFill>
                  <a:srgbClr val="C0B0A0"/>
                </a:solidFill>
                <a:latin typeface="Calibri" pitchFamily="34" charset="0"/>
                <a:ea typeface="Calibri" pitchFamily="34" charset="-122"/>
                <a:cs typeface="Calibri" pitchFamily="34" charset="-120"/>
              </a:rPr>
              <a:t>Calle 26, entre Av. 1ra y 2da</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Galpon 25-90, Zona Industrial I</a:t>
            </a:r>
            <a:endParaRPr lang="en-US" sz="1000" dirty="0"/>
          </a:p>
          <a:p>
            <a:pPr indent="0" marL="0">
              <a:buNone/>
            </a:pPr>
            <a:r>
              <a:rPr lang="en-US" sz="1000" dirty="0">
                <a:solidFill>
                  <a:srgbClr val="C0B0A0"/>
                </a:solidFill>
                <a:latin typeface="Calibri" pitchFamily="34" charset="0"/>
                <a:ea typeface="Calibri" pitchFamily="34" charset="-122"/>
                <a:cs typeface="Calibri" pitchFamily="34" charset="-120"/>
              </a:rPr>
              <a:t>Barquisimeto 3001, Venezuela</a:t>
            </a:r>
            <a:endParaRPr lang="en-US" sz="1000" dirty="0"/>
          </a:p>
        </p:txBody>
      </p:sp>
      <p:pic>
        <p:nvPicPr>
          <p:cNvPr id="14" name="Image 3" descr="/sessions/sweet-gallant-wright/pyglara-deck/qr_whatsapp.png"/>
          <p:cNvPicPr>
            <a:picLocks noChangeAspect="1"/>
          </p:cNvPicPr>
          <p:nvPr/>
        </p:nvPicPr>
        <p:blipFill>
          <a:blip r:embed="rId4"/>
          <a:stretch>
            <a:fillRect/>
          </a:stretch>
        </p:blipFill>
        <p:spPr>
          <a:xfrm>
            <a:off x="6217920" y="1463040"/>
            <a:ext cx="2011680" cy="2011680"/>
          </a:xfrm>
          <a:prstGeom prst="rect">
            <a:avLst/>
          </a:prstGeom>
        </p:spPr>
      </p:pic>
      <p:sp>
        <p:nvSpPr>
          <p:cNvPr id="15" name="Text 9"/>
          <p:cNvSpPr/>
          <p:nvPr/>
        </p:nvSpPr>
        <p:spPr>
          <a:xfrm>
            <a:off x="6217920" y="3520440"/>
            <a:ext cx="2011680" cy="228600"/>
          </a:xfrm>
          <a:prstGeom prst="rect">
            <a:avLst/>
          </a:prstGeom>
          <a:noFill/>
          <a:ln/>
        </p:spPr>
        <p:txBody>
          <a:bodyPr wrap="square" lIns="0" tIns="0" rIns="0" bIns="0" rtlCol="0" anchor="ctr"/>
          <a:lstStyle/>
          <a:p>
            <a:pPr algn="ctr" indent="0" marL="0">
              <a:buNone/>
            </a:pPr>
            <a:r>
              <a:rPr lang="en-US" sz="1100" b="1" dirty="0">
                <a:solidFill>
                  <a:srgbClr val="D4954A"/>
                </a:solidFill>
                <a:latin typeface="Calibri" pitchFamily="34" charset="0"/>
                <a:ea typeface="Calibri" pitchFamily="34" charset="-122"/>
                <a:cs typeface="Calibri" pitchFamily="34" charset="-120"/>
              </a:rPr>
              <a:t>WhatsApp</a:t>
            </a:r>
            <a:endParaRPr lang="en-US" sz="1100" dirty="0"/>
          </a:p>
        </p:txBody>
      </p:sp>
      <p:sp>
        <p:nvSpPr>
          <p:cNvPr id="16" name="Text 10"/>
          <p:cNvSpPr/>
          <p:nvPr/>
        </p:nvSpPr>
        <p:spPr>
          <a:xfrm>
            <a:off x="6217920" y="3749040"/>
            <a:ext cx="2011680" cy="182880"/>
          </a:xfrm>
          <a:prstGeom prst="rect">
            <a:avLst/>
          </a:prstGeom>
          <a:noFill/>
          <a:ln/>
        </p:spPr>
        <p:txBody>
          <a:bodyPr wrap="square" lIns="0" tIns="0" rIns="0" bIns="0" rtlCol="0" anchor="ctr"/>
          <a:lstStyle/>
          <a:p>
            <a:pPr algn="ctr" indent="0" marL="0">
              <a:buNone/>
            </a:pPr>
            <a:r>
              <a:rPr lang="en-US" sz="900" dirty="0">
                <a:solidFill>
                  <a:srgbClr val="8B7B6B"/>
                </a:solidFill>
                <a:latin typeface="Calibri" pitchFamily="34" charset="0"/>
                <a:ea typeface="Calibri" pitchFamily="34" charset="-122"/>
                <a:cs typeface="Calibri" pitchFamily="34" charset="-120"/>
              </a:rPr>
              <a:t>Scan to contact</a:t>
            </a:r>
            <a:endParaRPr lang="en-US" sz="900" dirty="0"/>
          </a:p>
        </p:txBody>
      </p:sp>
      <p:sp>
        <p:nvSpPr>
          <p:cNvPr id="17" name="Shape 11"/>
          <p:cNvSpPr/>
          <p:nvPr/>
        </p:nvSpPr>
        <p:spPr>
          <a:xfrm>
            <a:off x="0" y="4754880"/>
            <a:ext cx="9144000" cy="388620"/>
          </a:xfrm>
          <a:prstGeom prst="rect">
            <a:avLst/>
          </a:prstGeom>
          <a:solidFill>
            <a:srgbClr val="1E1508"/>
          </a:solidFill>
          <a:ln/>
        </p:spPr>
        <p:txBody>
          <a:bodyPr/>
          <a:p/>
        </p:txBody>
      </p:sp>
      <p:sp>
        <p:nvSpPr>
          <p:cNvPr id="18" name="Text 12"/>
          <p:cNvSpPr/>
          <p:nvPr/>
        </p:nvSpPr>
        <p:spPr>
          <a:xfrm>
            <a:off x="731520" y="4754880"/>
            <a:ext cx="7680960" cy="365760"/>
          </a:xfrm>
          <a:prstGeom prst="rect">
            <a:avLst/>
          </a:prstGeom>
          <a:noFill/>
          <a:ln/>
        </p:spPr>
        <p:txBody>
          <a:bodyPr wrap="square" rtlCol="0" anchor="ctr"/>
          <a:lstStyle/>
          <a:p>
            <a:pPr algn="ctr" indent="0" marL="0">
              <a:buNone/>
            </a:pPr>
            <a:r>
              <a:rPr lang="en-US" sz="900" spc="400" kern="0" dirty="0">
                <a:solidFill>
                  <a:srgbClr val="B87333"/>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28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OFAC COMPLIANCE FRAMEWORK</a:t>
            </a:r>
            <a:endParaRPr lang="en-US" sz="2800" dirty="0"/>
          </a:p>
        </p:txBody>
      </p:sp>
      <p:sp>
        <p:nvSpPr>
          <p:cNvPr id="5" name="Shape 3"/>
          <p:cNvSpPr/>
          <p:nvPr/>
        </p:nvSpPr>
        <p:spPr>
          <a:xfrm>
            <a:off x="548640" y="1005840"/>
            <a:ext cx="8046720" cy="640080"/>
          </a:xfrm>
          <a:prstGeom prst="rect">
            <a:avLst/>
          </a:prstGeom>
          <a:solidFill>
            <a:srgbClr val="FFFFFF"/>
          </a:solidFill>
          <a:ln w="6350">
            <a:solidFill>
              <a:srgbClr val="D4C5B2"/>
            </a:solidFill>
            <a:prstDash val="solid"/>
          </a:ln>
        </p:spPr>
        <p:txBody>
          <a:bodyPr/>
          <a:p/>
        </p:txBody>
      </p:sp>
      <p:sp>
        <p:nvSpPr>
          <p:cNvPr id="6" name="Shape 4"/>
          <p:cNvSpPr/>
          <p:nvPr/>
        </p:nvSpPr>
        <p:spPr>
          <a:xfrm>
            <a:off x="548640" y="1005840"/>
            <a:ext cx="54864" cy="640080"/>
          </a:xfrm>
          <a:prstGeom prst="rect">
            <a:avLst/>
          </a:prstGeom>
          <a:solidFill>
            <a:srgbClr val="B87333"/>
          </a:solidFill>
          <a:ln/>
        </p:spPr>
        <p:txBody>
          <a:bodyPr/>
          <a:p/>
        </p:txBody>
      </p:sp>
      <p:pic>
        <p:nvPicPr>
          <p:cNvPr id="7" name="Image 0" descr="preencoded.png"/>
          <p:cNvPicPr>
            <a:picLocks noChangeAspect="1"/>
          </p:cNvPicPr>
          <p:nvPr/>
        </p:nvPicPr>
        <p:blipFill>
          <a:blip r:embed="rId1"/>
          <a:stretch>
            <a:fillRect/>
          </a:stretch>
        </p:blipFill>
        <p:spPr>
          <a:xfrm>
            <a:off x="777240" y="1143000"/>
            <a:ext cx="320040" cy="320040"/>
          </a:xfrm>
          <a:prstGeom prst="rect">
            <a:avLst/>
          </a:prstGeom>
        </p:spPr>
      </p:pic>
      <p:sp>
        <p:nvSpPr>
          <p:cNvPr id="8" name="Text 5"/>
          <p:cNvSpPr/>
          <p:nvPr/>
        </p:nvSpPr>
        <p:spPr>
          <a:xfrm>
            <a:off x="1280160" y="100584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General License 50A</a:t>
            </a:r>
            <a:endParaRPr lang="en-US" sz="1200" dirty="0"/>
          </a:p>
        </p:txBody>
      </p:sp>
      <p:sp>
        <p:nvSpPr>
          <p:cNvPr id="9" name="Text 6"/>
          <p:cNvSpPr/>
          <p:nvPr/>
        </p:nvSpPr>
        <p:spPr>
          <a:xfrm>
            <a:off x="3931920" y="100584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Permits certain transactions related to Venezuela</a:t>
            </a:r>
            <a:endParaRPr lang="en-US" sz="1000" dirty="0"/>
          </a:p>
        </p:txBody>
      </p:sp>
      <p:sp>
        <p:nvSpPr>
          <p:cNvPr id="10" name="Shape 7"/>
          <p:cNvSpPr/>
          <p:nvPr/>
        </p:nvSpPr>
        <p:spPr>
          <a:xfrm>
            <a:off x="548640" y="1783080"/>
            <a:ext cx="8046720" cy="640080"/>
          </a:xfrm>
          <a:prstGeom prst="rect">
            <a:avLst/>
          </a:prstGeom>
          <a:solidFill>
            <a:srgbClr val="EDE8E0"/>
          </a:solidFill>
          <a:ln w="6350">
            <a:solidFill>
              <a:srgbClr val="D4C5B2"/>
            </a:solidFill>
            <a:prstDash val="solid"/>
          </a:ln>
        </p:spPr>
        <p:txBody>
          <a:bodyPr/>
          <a:p/>
        </p:txBody>
      </p:sp>
      <p:sp>
        <p:nvSpPr>
          <p:cNvPr id="11" name="Shape 8"/>
          <p:cNvSpPr/>
          <p:nvPr/>
        </p:nvSpPr>
        <p:spPr>
          <a:xfrm>
            <a:off x="548640" y="1783080"/>
            <a:ext cx="54864" cy="640080"/>
          </a:xfrm>
          <a:prstGeom prst="rect">
            <a:avLst/>
          </a:prstGeom>
          <a:solidFill>
            <a:srgbClr val="B87333"/>
          </a:solidFill>
          <a:ln/>
        </p:spPr>
        <p:txBody>
          <a:bodyPr/>
          <a:p/>
        </p:txBody>
      </p:sp>
      <p:pic>
        <p:nvPicPr>
          <p:cNvPr id="12" name="Image 1" descr="preencoded.png"/>
          <p:cNvPicPr>
            <a:picLocks noChangeAspect="1"/>
          </p:cNvPicPr>
          <p:nvPr/>
        </p:nvPicPr>
        <p:blipFill>
          <a:blip r:embed="rId2"/>
          <a:stretch>
            <a:fillRect/>
          </a:stretch>
        </p:blipFill>
        <p:spPr>
          <a:xfrm>
            <a:off x="777240" y="1920240"/>
            <a:ext cx="320040" cy="320040"/>
          </a:xfrm>
          <a:prstGeom prst="rect">
            <a:avLst/>
          </a:prstGeom>
        </p:spPr>
      </p:pic>
      <p:sp>
        <p:nvSpPr>
          <p:cNvPr id="13" name="Text 9"/>
          <p:cNvSpPr/>
          <p:nvPr/>
        </p:nvSpPr>
        <p:spPr>
          <a:xfrm>
            <a:off x="1280160" y="178308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Non-Sanctioned Activity</a:t>
            </a:r>
            <a:endParaRPr lang="en-US" sz="1200" dirty="0"/>
          </a:p>
        </p:txBody>
      </p:sp>
      <p:sp>
        <p:nvSpPr>
          <p:cNvPr id="14" name="Text 10"/>
          <p:cNvSpPr/>
          <p:nvPr/>
        </p:nvSpPr>
        <p:spPr>
          <a:xfrm>
            <a:off x="3931920" y="178308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Industrial galvanizing services are NOT sanctioned</a:t>
            </a:r>
            <a:endParaRPr lang="en-US" sz="1000" dirty="0"/>
          </a:p>
        </p:txBody>
      </p:sp>
      <p:sp>
        <p:nvSpPr>
          <p:cNvPr id="15" name="Shape 11"/>
          <p:cNvSpPr/>
          <p:nvPr/>
        </p:nvSpPr>
        <p:spPr>
          <a:xfrm>
            <a:off x="548640" y="2560320"/>
            <a:ext cx="8046720" cy="640080"/>
          </a:xfrm>
          <a:prstGeom prst="rect">
            <a:avLst/>
          </a:prstGeom>
          <a:solidFill>
            <a:srgbClr val="FFFFFF"/>
          </a:solidFill>
          <a:ln w="6350">
            <a:solidFill>
              <a:srgbClr val="D4C5B2"/>
            </a:solidFill>
            <a:prstDash val="solid"/>
          </a:ln>
        </p:spPr>
        <p:txBody>
          <a:bodyPr/>
          <a:p/>
        </p:txBody>
      </p:sp>
      <p:sp>
        <p:nvSpPr>
          <p:cNvPr id="16" name="Shape 12"/>
          <p:cNvSpPr/>
          <p:nvPr/>
        </p:nvSpPr>
        <p:spPr>
          <a:xfrm>
            <a:off x="548640" y="2560320"/>
            <a:ext cx="54864" cy="640080"/>
          </a:xfrm>
          <a:prstGeom prst="rect">
            <a:avLst/>
          </a:prstGeom>
          <a:solidFill>
            <a:srgbClr val="B87333"/>
          </a:solidFill>
          <a:ln/>
        </p:spPr>
        <p:txBody>
          <a:bodyPr/>
          <a:p/>
        </p:txBody>
      </p:sp>
      <p:pic>
        <p:nvPicPr>
          <p:cNvPr id="17" name="Image 2" descr="preencoded.png"/>
          <p:cNvPicPr>
            <a:picLocks noChangeAspect="1"/>
          </p:cNvPicPr>
          <p:nvPr/>
        </p:nvPicPr>
        <p:blipFill>
          <a:blip r:embed="rId3"/>
          <a:stretch>
            <a:fillRect/>
          </a:stretch>
        </p:blipFill>
        <p:spPr>
          <a:xfrm>
            <a:off x="777240" y="2697480"/>
            <a:ext cx="320040" cy="320040"/>
          </a:xfrm>
          <a:prstGeom prst="rect">
            <a:avLst/>
          </a:prstGeom>
        </p:spPr>
      </p:pic>
      <p:sp>
        <p:nvSpPr>
          <p:cNvPr id="18" name="Text 13"/>
          <p:cNvSpPr/>
          <p:nvPr/>
        </p:nvSpPr>
        <p:spPr>
          <a:xfrm>
            <a:off x="1280160" y="256032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100% Private Capital</a:t>
            </a:r>
            <a:endParaRPr lang="en-US" sz="1200" dirty="0"/>
          </a:p>
        </p:txBody>
      </p:sp>
      <p:sp>
        <p:nvSpPr>
          <p:cNvPr id="19" name="Text 14"/>
          <p:cNvSpPr/>
          <p:nvPr/>
        </p:nvSpPr>
        <p:spPr>
          <a:xfrm>
            <a:off x="3931920" y="256032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government ownership whatsoever</a:t>
            </a:r>
            <a:endParaRPr lang="en-US" sz="1000" dirty="0"/>
          </a:p>
        </p:txBody>
      </p:sp>
      <p:sp>
        <p:nvSpPr>
          <p:cNvPr id="20" name="Shape 15"/>
          <p:cNvSpPr/>
          <p:nvPr/>
        </p:nvSpPr>
        <p:spPr>
          <a:xfrm>
            <a:off x="548640" y="3337560"/>
            <a:ext cx="8046720" cy="640080"/>
          </a:xfrm>
          <a:prstGeom prst="rect">
            <a:avLst/>
          </a:prstGeom>
          <a:solidFill>
            <a:srgbClr val="EDE8E0"/>
          </a:solidFill>
          <a:ln w="6350">
            <a:solidFill>
              <a:srgbClr val="D4C5B2"/>
            </a:solidFill>
            <a:prstDash val="solid"/>
          </a:ln>
        </p:spPr>
        <p:txBody>
          <a:bodyPr/>
          <a:p/>
        </p:txBody>
      </p:sp>
      <p:sp>
        <p:nvSpPr>
          <p:cNvPr id="21" name="Shape 16"/>
          <p:cNvSpPr/>
          <p:nvPr/>
        </p:nvSpPr>
        <p:spPr>
          <a:xfrm>
            <a:off x="548640" y="3337560"/>
            <a:ext cx="54864" cy="640080"/>
          </a:xfrm>
          <a:prstGeom prst="rect">
            <a:avLst/>
          </a:prstGeom>
          <a:solidFill>
            <a:srgbClr val="B87333"/>
          </a:solidFill>
          <a:ln/>
        </p:spPr>
        <p:txBody>
          <a:bodyPr/>
          <a:p/>
        </p:txBody>
      </p:sp>
      <p:pic>
        <p:nvPicPr>
          <p:cNvPr id="22" name="Image 3" descr="preencoded.png"/>
          <p:cNvPicPr>
            <a:picLocks noChangeAspect="1"/>
          </p:cNvPicPr>
          <p:nvPr/>
        </p:nvPicPr>
        <p:blipFill>
          <a:blip r:embed="rId4"/>
          <a:stretch>
            <a:fillRect/>
          </a:stretch>
        </p:blipFill>
        <p:spPr>
          <a:xfrm>
            <a:off x="777240" y="3474720"/>
            <a:ext cx="320040" cy="320040"/>
          </a:xfrm>
          <a:prstGeom prst="rect">
            <a:avLst/>
          </a:prstGeom>
        </p:spPr>
      </p:pic>
      <p:sp>
        <p:nvSpPr>
          <p:cNvPr id="23" name="Text 17"/>
          <p:cNvSpPr/>
          <p:nvPr/>
        </p:nvSpPr>
        <p:spPr>
          <a:xfrm>
            <a:off x="1280160" y="333756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No Sanctioned Entities</a:t>
            </a:r>
            <a:endParaRPr lang="en-US" sz="1200" dirty="0"/>
          </a:p>
        </p:txBody>
      </p:sp>
      <p:sp>
        <p:nvSpPr>
          <p:cNvPr id="24" name="Text 18"/>
          <p:cNvSpPr/>
          <p:nvPr/>
        </p:nvSpPr>
        <p:spPr>
          <a:xfrm>
            <a:off x="3931920" y="333756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No involvement with PDVSA beyond standard gas utility</a:t>
            </a:r>
            <a:endParaRPr lang="en-US" sz="1000" dirty="0"/>
          </a:p>
        </p:txBody>
      </p:sp>
      <p:sp>
        <p:nvSpPr>
          <p:cNvPr id="25" name="Shape 19"/>
          <p:cNvSpPr/>
          <p:nvPr/>
        </p:nvSpPr>
        <p:spPr>
          <a:xfrm>
            <a:off x="548640" y="4114800"/>
            <a:ext cx="8046720" cy="640080"/>
          </a:xfrm>
          <a:prstGeom prst="rect">
            <a:avLst/>
          </a:prstGeom>
          <a:solidFill>
            <a:srgbClr val="FFFFFF"/>
          </a:solidFill>
          <a:ln w="6350">
            <a:solidFill>
              <a:srgbClr val="D4C5B2"/>
            </a:solidFill>
            <a:prstDash val="solid"/>
          </a:ln>
        </p:spPr>
        <p:txBody>
          <a:bodyPr/>
          <a:p/>
        </p:txBody>
      </p:sp>
      <p:sp>
        <p:nvSpPr>
          <p:cNvPr id="26" name="Shape 20"/>
          <p:cNvSpPr/>
          <p:nvPr/>
        </p:nvSpPr>
        <p:spPr>
          <a:xfrm>
            <a:off x="548640" y="4114800"/>
            <a:ext cx="54864" cy="640080"/>
          </a:xfrm>
          <a:prstGeom prst="rect">
            <a:avLst/>
          </a:prstGeom>
          <a:solidFill>
            <a:srgbClr val="B87333"/>
          </a:solidFill>
          <a:ln/>
        </p:spPr>
        <p:txBody>
          <a:bodyPr/>
          <a:p/>
        </p:txBody>
      </p:sp>
      <p:pic>
        <p:nvPicPr>
          <p:cNvPr id="27" name="Image 4" descr="preencoded.png"/>
          <p:cNvPicPr>
            <a:picLocks noChangeAspect="1"/>
          </p:cNvPicPr>
          <p:nvPr/>
        </p:nvPicPr>
        <p:blipFill>
          <a:blip r:embed="rId5"/>
          <a:stretch>
            <a:fillRect/>
          </a:stretch>
        </p:blipFill>
        <p:spPr>
          <a:xfrm>
            <a:off x="777240" y="4251960"/>
            <a:ext cx="320040" cy="320040"/>
          </a:xfrm>
          <a:prstGeom prst="rect">
            <a:avLst/>
          </a:prstGeom>
        </p:spPr>
      </p:pic>
      <p:sp>
        <p:nvSpPr>
          <p:cNvPr id="28" name="Text 21"/>
          <p:cNvSpPr/>
          <p:nvPr/>
        </p:nvSpPr>
        <p:spPr>
          <a:xfrm>
            <a:off x="1280160" y="4114800"/>
            <a:ext cx="2560320" cy="640080"/>
          </a:xfrm>
          <a:prstGeom prst="rect">
            <a:avLst/>
          </a:prstGeom>
          <a:noFill/>
          <a:ln/>
        </p:spPr>
        <p:txBody>
          <a:bodyPr wrap="square" lIns="0" tIns="0" rIns="0" bIns="0" rtlCol="0" anchor="ctr"/>
          <a:lstStyle/>
          <a:p>
            <a:pPr indent="0" marL="0">
              <a:buNone/>
            </a:pPr>
            <a:r>
              <a:rPr lang="en-US" sz="1200" b="1" dirty="0">
                <a:solidFill>
                  <a:srgbClr val="8B5A2B"/>
                </a:solidFill>
                <a:latin typeface="Calibri" pitchFamily="34" charset="0"/>
                <a:ea typeface="Calibri" pitchFamily="34" charset="-122"/>
                <a:cs typeface="Calibri" pitchFamily="34" charset="-120"/>
              </a:rPr>
              <a:t>Legal Counsel</a:t>
            </a:r>
            <a:endParaRPr lang="en-US" sz="1200" dirty="0"/>
          </a:p>
        </p:txBody>
      </p:sp>
      <p:sp>
        <p:nvSpPr>
          <p:cNvPr id="29" name="Text 22"/>
          <p:cNvSpPr/>
          <p:nvPr/>
        </p:nvSpPr>
        <p:spPr>
          <a:xfrm>
            <a:off x="3931920" y="4114800"/>
            <a:ext cx="4572000" cy="64008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Consult Venezuela-experienced counsel for specific guidance</a:t>
            </a:r>
            <a:endParaRPr lang="en-US" sz="1000" dirty="0"/>
          </a:p>
        </p:txBody>
      </p:sp>
      <p:sp>
        <p:nvSpPr>
          <p:cNvPr id="30" name="Text 23"/>
          <p:cNvSpPr/>
          <p:nvPr/>
        </p:nvSpPr>
        <p:spPr>
          <a:xfrm>
            <a:off x="548640" y="4754880"/>
            <a:ext cx="8046720" cy="228600"/>
          </a:xfrm>
          <a:prstGeom prst="rect">
            <a:avLst/>
          </a:prstGeom>
          <a:noFill/>
          <a:ln/>
        </p:spPr>
        <p:txBody>
          <a:bodyPr wrap="square" lIns="0" tIns="0" rIns="0" bIns="0" rtlCol="0" anchor="ctr"/>
          <a:lstStyle/>
          <a:p>
            <a:pPr algn="ctr" indent="0" marL="0">
              <a:buNone/>
            </a:pPr>
            <a:r>
              <a:rPr lang="en-US" sz="900" i="1" dirty="0">
                <a:solidFill>
                  <a:srgbClr val="8C8C8C"/>
                </a:solidFill>
                <a:latin typeface="Calibri" pitchFamily="34" charset="0"/>
                <a:ea typeface="Calibri" pitchFamily="34" charset="-122"/>
                <a:cs typeface="Calibri" pitchFamily="34" charset="-120"/>
              </a:rPr>
              <a:t>This presentation does not constitute legal advice.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2EDE6"/>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29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USD REPATRIATION MECHANISM</a:t>
            </a:r>
            <a:endParaRPr lang="en-US" sz="2800" dirty="0"/>
          </a:p>
        </p:txBody>
      </p:sp>
      <p:sp>
        <p:nvSpPr>
          <p:cNvPr id="5" name="Shape 3"/>
          <p:cNvSpPr/>
          <p:nvPr/>
        </p:nvSpPr>
        <p:spPr>
          <a:xfrm>
            <a:off x="54864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6" name="Text 4"/>
          <p:cNvSpPr/>
          <p:nvPr/>
        </p:nvSpPr>
        <p:spPr>
          <a:xfrm>
            <a:off x="54864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Revenue</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(USD-equivalent)</a:t>
            </a:r>
            <a:endParaRPr lang="en-US" sz="1200" dirty="0"/>
          </a:p>
        </p:txBody>
      </p:sp>
      <p:sp>
        <p:nvSpPr>
          <p:cNvPr id="7" name="Text 5"/>
          <p:cNvSpPr/>
          <p:nvPr/>
        </p:nvSpPr>
        <p:spPr>
          <a:xfrm>
            <a:off x="64008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Clients pay based</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on exchange rate</a:t>
            </a:r>
            <a:endParaRPr lang="en-US" sz="900" dirty="0"/>
          </a:p>
        </p:txBody>
      </p:sp>
      <p:pic>
        <p:nvPicPr>
          <p:cNvPr id="8" name="Image 0" descr="preencoded.png"/>
          <p:cNvPicPr>
            <a:picLocks noChangeAspect="1"/>
          </p:cNvPicPr>
          <p:nvPr/>
        </p:nvPicPr>
        <p:blipFill>
          <a:blip r:embed="rId1"/>
          <a:stretch>
            <a:fillRect/>
          </a:stretch>
        </p:blipFill>
        <p:spPr>
          <a:xfrm>
            <a:off x="3017520" y="1554480"/>
            <a:ext cx="365760" cy="365760"/>
          </a:xfrm>
          <a:prstGeom prst="rect">
            <a:avLst/>
          </a:prstGeom>
        </p:spPr>
      </p:pic>
      <p:sp>
        <p:nvSpPr>
          <p:cNvPr id="9" name="Shape 6"/>
          <p:cNvSpPr/>
          <p:nvPr/>
        </p:nvSpPr>
        <p:spPr>
          <a:xfrm>
            <a:off x="347472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0" name="Text 7"/>
          <p:cNvSpPr/>
          <p:nvPr/>
        </p:nvSpPr>
        <p:spPr>
          <a:xfrm>
            <a:off x="347472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Casa de Cambio</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or Mercantil Panama</a:t>
            </a:r>
            <a:endParaRPr lang="en-US" sz="1200" dirty="0"/>
          </a:p>
        </p:txBody>
      </p:sp>
      <p:sp>
        <p:nvSpPr>
          <p:cNvPr id="11" name="Text 8"/>
          <p:cNvSpPr/>
          <p:nvPr/>
        </p:nvSpPr>
        <p:spPr>
          <a:xfrm>
            <a:off x="356616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~1.5% fee normally</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standard FX channel</a:t>
            </a:r>
            <a:endParaRPr lang="en-US" sz="900" dirty="0"/>
          </a:p>
        </p:txBody>
      </p:sp>
      <p:pic>
        <p:nvPicPr>
          <p:cNvPr id="12" name="Image 1" descr="preencoded.png"/>
          <p:cNvPicPr>
            <a:picLocks noChangeAspect="1"/>
          </p:cNvPicPr>
          <p:nvPr/>
        </p:nvPicPr>
        <p:blipFill>
          <a:blip r:embed="rId2"/>
          <a:stretch>
            <a:fillRect/>
          </a:stretch>
        </p:blipFill>
        <p:spPr>
          <a:xfrm>
            <a:off x="5943600" y="1554480"/>
            <a:ext cx="365760" cy="365760"/>
          </a:xfrm>
          <a:prstGeom prst="rect">
            <a:avLst/>
          </a:prstGeom>
        </p:spPr>
      </p:pic>
      <p:sp>
        <p:nvSpPr>
          <p:cNvPr id="13" name="Shape 9"/>
          <p:cNvSpPr/>
          <p:nvPr/>
        </p:nvSpPr>
        <p:spPr>
          <a:xfrm>
            <a:off x="6400800" y="1097280"/>
            <a:ext cx="2286000" cy="1371600"/>
          </a:xfrm>
          <a:prstGeom prst="rect">
            <a:avLst/>
          </a:prstGeom>
          <a:solidFill>
            <a:srgbClr val="FFFFFF"/>
          </a:solidFill>
          <a:ln w="19050">
            <a:solidFill>
              <a:srgbClr val="B87333"/>
            </a:solidFill>
            <a:prstDash val="solid"/>
          </a:ln>
          <a:effectLst>
            <a:outerShdw sx="100000" sy="100000" kx="0" ky="0" algn="bl" rotWithShape="0" blurRad="50800" dist="25400" dir="8100000">
              <a:srgbClr val="000000">
                <a:alpha val="8000"/>
              </a:srgbClr>
            </a:outerShdw>
          </a:effectLst>
        </p:spPr>
        <p:txBody>
          <a:bodyPr/>
          <a:p/>
        </p:txBody>
      </p:sp>
      <p:sp>
        <p:nvSpPr>
          <p:cNvPr id="14" name="Text 10"/>
          <p:cNvSpPr/>
          <p:nvPr/>
        </p:nvSpPr>
        <p:spPr>
          <a:xfrm>
            <a:off x="6400800" y="1143000"/>
            <a:ext cx="2286000" cy="777240"/>
          </a:xfrm>
          <a:prstGeom prst="rect">
            <a:avLst/>
          </a:prstGeom>
          <a:noFill/>
          <a:ln/>
        </p:spPr>
        <p:txBody>
          <a:bodyPr wrap="square" lIns="0" tIns="0" rIns="0" bIns="0" rtlCol="0" anchor="ctr"/>
          <a:lstStyle/>
          <a:p>
            <a:pPr algn="ctr" indent="0" marL="0">
              <a:buNone/>
            </a:pPr>
            <a:r>
              <a:rPr lang="en-US" sz="1200" b="1" dirty="0">
                <a:solidFill>
                  <a:srgbClr val="8B5A2B"/>
                </a:solidFill>
                <a:latin typeface="Georgia" pitchFamily="34" charset="0"/>
                <a:ea typeface="Georgia" pitchFamily="34" charset="-122"/>
                <a:cs typeface="Georgia" pitchFamily="34" charset="-120"/>
              </a:rPr>
              <a:t>International</a:t>
            </a:r>
            <a:endParaRPr lang="en-US" sz="1200" dirty="0"/>
          </a:p>
          <a:p>
            <a:pPr algn="ctr" indent="0" marL="0">
              <a:buNone/>
            </a:pPr>
            <a:r>
              <a:rPr lang="en-US" sz="1200" b="1" dirty="0">
                <a:solidFill>
                  <a:srgbClr val="8B5A2B"/>
                </a:solidFill>
                <a:latin typeface="Georgia" pitchFamily="34" charset="0"/>
                <a:ea typeface="Georgia" pitchFamily="34" charset="-122"/>
                <a:cs typeface="Georgia" pitchFamily="34" charset="-120"/>
              </a:rPr>
              <a:t>Transfer</a:t>
            </a:r>
            <a:endParaRPr lang="en-US" sz="1200" dirty="0"/>
          </a:p>
        </p:txBody>
      </p:sp>
      <p:sp>
        <p:nvSpPr>
          <p:cNvPr id="15" name="Text 11"/>
          <p:cNvSpPr/>
          <p:nvPr/>
        </p:nvSpPr>
        <p:spPr>
          <a:xfrm>
            <a:off x="6492240" y="1920240"/>
            <a:ext cx="2103120" cy="457200"/>
          </a:xfrm>
          <a:prstGeom prst="rect">
            <a:avLst/>
          </a:prstGeom>
          <a:noFill/>
          <a:ln/>
        </p:spPr>
        <p:txBody>
          <a:bodyPr wrap="square" lIns="0" tIns="0" rIns="0" bIns="0" rtlCol="0" anchor="t"/>
          <a:lstStyle/>
          <a:p>
            <a:pPr algn="ctr" indent="0" marL="0">
              <a:buNone/>
            </a:pPr>
            <a:r>
              <a:rPr lang="en-US" sz="900" dirty="0">
                <a:solidFill>
                  <a:srgbClr val="7A6555"/>
                </a:solidFill>
                <a:latin typeface="Calibri" pitchFamily="34" charset="0"/>
                <a:ea typeface="Calibri" pitchFamily="34" charset="-122"/>
                <a:cs typeface="Calibri" pitchFamily="34" charset="-120"/>
              </a:rPr>
              <a:t>USD repatriation</a:t>
            </a:r>
            <a:endParaRPr lang="en-US" sz="900" dirty="0"/>
          </a:p>
          <a:p>
            <a:pPr algn="ctr" indent="0" marL="0">
              <a:buNone/>
            </a:pPr>
            <a:r>
              <a:rPr lang="en-US" sz="900" dirty="0">
                <a:solidFill>
                  <a:srgbClr val="7A6555"/>
                </a:solidFill>
                <a:latin typeface="Calibri" pitchFamily="34" charset="0"/>
                <a:ea typeface="Calibri" pitchFamily="34" charset="-122"/>
                <a:cs typeface="Calibri" pitchFamily="34" charset="-120"/>
              </a:rPr>
              <a:t>to investor</a:t>
            </a:r>
            <a:endParaRPr lang="en-US" sz="900" dirty="0"/>
          </a:p>
        </p:txBody>
      </p:sp>
      <p:pic>
        <p:nvPicPr>
          <p:cNvPr id="16" name="Image 2" descr="preencoded.png"/>
          <p:cNvPicPr>
            <a:picLocks noChangeAspect="1"/>
          </p:cNvPicPr>
          <p:nvPr/>
        </p:nvPicPr>
        <p:blipFill>
          <a:blip r:embed="rId3"/>
          <a:stretch>
            <a:fillRect/>
          </a:stretch>
        </p:blipFill>
        <p:spPr>
          <a:xfrm>
            <a:off x="731520" y="2971800"/>
            <a:ext cx="228600" cy="228600"/>
          </a:xfrm>
          <a:prstGeom prst="rect">
            <a:avLst/>
          </a:prstGeom>
        </p:spPr>
      </p:pic>
      <p:sp>
        <p:nvSpPr>
          <p:cNvPr id="17" name="Text 12"/>
          <p:cNvSpPr/>
          <p:nvPr/>
        </p:nvSpPr>
        <p:spPr>
          <a:xfrm>
            <a:off x="1097280" y="29260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Revenue denominated in USD-equivalent pricing</a:t>
            </a:r>
            <a:endParaRPr lang="en-US" sz="1000" dirty="0"/>
          </a:p>
        </p:txBody>
      </p:sp>
      <p:pic>
        <p:nvPicPr>
          <p:cNvPr id="18" name="Image 3" descr="preencoded.png"/>
          <p:cNvPicPr>
            <a:picLocks noChangeAspect="1"/>
          </p:cNvPicPr>
          <p:nvPr/>
        </p:nvPicPr>
        <p:blipFill>
          <a:blip r:embed="rId4"/>
          <a:stretch>
            <a:fillRect/>
          </a:stretch>
        </p:blipFill>
        <p:spPr>
          <a:xfrm>
            <a:off x="731520" y="3429000"/>
            <a:ext cx="228600" cy="228600"/>
          </a:xfrm>
          <a:prstGeom prst="rect">
            <a:avLst/>
          </a:prstGeom>
        </p:spPr>
      </p:pic>
      <p:sp>
        <p:nvSpPr>
          <p:cNvPr id="19" name="Text 13"/>
          <p:cNvSpPr/>
          <p:nvPr/>
        </p:nvSpPr>
        <p:spPr>
          <a:xfrm>
            <a:off x="1097280" y="33832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Casa de cambio or Mercantil Panama — ~1.5% fee (standard)</a:t>
            </a:r>
            <a:endParaRPr lang="en-US" sz="1000" dirty="0"/>
          </a:p>
        </p:txBody>
      </p:sp>
      <p:pic>
        <p:nvPicPr>
          <p:cNvPr id="20" name="Image 4" descr="preencoded.png"/>
          <p:cNvPicPr>
            <a:picLocks noChangeAspect="1"/>
          </p:cNvPicPr>
          <p:nvPr/>
        </p:nvPicPr>
        <p:blipFill>
          <a:blip r:embed="rId5"/>
          <a:stretch>
            <a:fillRect/>
          </a:stretch>
        </p:blipFill>
        <p:spPr>
          <a:xfrm>
            <a:off x="731520" y="3886200"/>
            <a:ext cx="228600" cy="228600"/>
          </a:xfrm>
          <a:prstGeom prst="rect">
            <a:avLst/>
          </a:prstGeom>
        </p:spPr>
      </p:pic>
      <p:sp>
        <p:nvSpPr>
          <p:cNvPr id="21" name="Text 14"/>
          <p:cNvSpPr/>
          <p:nvPr/>
        </p:nvSpPr>
        <p:spPr>
          <a:xfrm>
            <a:off x="1097280" y="38404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Post-January 2026 government has normalized foreign exchange</a:t>
            </a:r>
            <a:endParaRPr lang="en-US" sz="1000" dirty="0"/>
          </a:p>
        </p:txBody>
      </p:sp>
      <p:pic>
        <p:nvPicPr>
          <p:cNvPr id="22" name="Image 5" descr="preencoded.png"/>
          <p:cNvPicPr>
            <a:picLocks noChangeAspect="1"/>
          </p:cNvPicPr>
          <p:nvPr/>
        </p:nvPicPr>
        <p:blipFill>
          <a:blip r:embed="rId6"/>
          <a:stretch>
            <a:fillRect/>
          </a:stretch>
        </p:blipFill>
        <p:spPr>
          <a:xfrm>
            <a:off x="731520" y="4343400"/>
            <a:ext cx="228600" cy="228600"/>
          </a:xfrm>
          <a:prstGeom prst="rect">
            <a:avLst/>
          </a:prstGeom>
        </p:spPr>
      </p:pic>
      <p:sp>
        <p:nvSpPr>
          <p:cNvPr id="23" name="Text 15"/>
          <p:cNvSpPr/>
          <p:nvPr/>
        </p:nvSpPr>
        <p:spPr>
          <a:xfrm>
            <a:off x="1097280" y="4297680"/>
            <a:ext cx="7315200" cy="365760"/>
          </a:xfrm>
          <a:prstGeom prst="rect">
            <a:avLst/>
          </a:prstGeom>
          <a:noFill/>
          <a:ln/>
        </p:spPr>
        <p:txBody>
          <a:bodyPr wrap="square" lIns="0" tIns="0" rIns="0" bIns="0" rtlCol="0" anchor="ctr"/>
          <a:lstStyle/>
          <a:p>
            <a:pPr indent="0" marL="0">
              <a:buNone/>
            </a:pPr>
            <a:r>
              <a:rPr lang="en-US" sz="1000" dirty="0">
                <a:solidFill>
                  <a:srgbClr val="5C4033"/>
                </a:solidFill>
                <a:latin typeface="Calibri" pitchFamily="34" charset="0"/>
                <a:ea typeface="Calibri" pitchFamily="34" charset="-122"/>
                <a:cs typeface="Calibri" pitchFamily="34" charset="-120"/>
              </a:rPr>
              <a:t>Multiple private companies currently repatriating profits via same channels</a:t>
            </a:r>
            <a:endParaRPr lang="en-US" sz="1000" dirty="0"/>
          </a:p>
        </p:txBody>
      </p:sp>
      <p:sp>
        <p:nvSpPr>
          <p:cNvPr id="24" name="Text 16"/>
          <p:cNvSpPr/>
          <p:nvPr/>
        </p:nvSpPr>
        <p:spPr>
          <a:xfrm>
            <a:off x="548640" y="4709160"/>
            <a:ext cx="8046720" cy="228600"/>
          </a:xfrm>
          <a:prstGeom prst="rect">
            <a:avLst/>
          </a:prstGeom>
          <a:noFill/>
          <a:ln/>
        </p:spPr>
        <p:txBody>
          <a:bodyPr wrap="square" lIns="0" tIns="0" rIns="0" bIns="0" rtlCol="0" anchor="ctr"/>
          <a:lstStyle/>
          <a:p>
            <a:pPr algn="ctr" indent="0" marL="0">
              <a:buNone/>
            </a:pPr>
            <a:r>
              <a:rPr lang="en-US" sz="900" i="1" dirty="0">
                <a:solidFill>
                  <a:srgbClr val="C47F17"/>
                </a:solidFill>
                <a:latin typeface="Calibri" pitchFamily="34" charset="0"/>
                <a:ea typeface="Calibri" pitchFamily="34" charset="-122"/>
                <a:cs typeface="Calibri" pitchFamily="34" charset="-120"/>
              </a:rPr>
              <a:t>Currency volatility exists but is mitigated by USD-equivalent pricing model.</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AF6F1"/>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87333"/>
          </a:solidFill>
          <a:ln/>
        </p:spPr>
        <p:txBody>
          <a:bodyPr/>
          <a:p/>
        </p:txBody>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800" dirty="0">
                <a:solidFill>
                  <a:srgbClr val="7A6555"/>
                </a:solidFill>
                <a:latin typeface="Calibri" pitchFamily="34" charset="0"/>
                <a:ea typeface="Calibri" pitchFamily="34" charset="-122"/>
                <a:cs typeface="Calibri" pitchFamily="34" charset="-120"/>
              </a:rPr>
              <a:t>30 / 30</a:t>
            </a:r>
            <a:endParaRPr lang="en-US" sz="800" dirty="0"/>
          </a:p>
        </p:txBody>
      </p:sp>
      <p:sp>
        <p:nvSpPr>
          <p:cNvPr id="4" name="Text 2"/>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3E2C1C"/>
                </a:solidFill>
                <a:latin typeface="Georgia" pitchFamily="34" charset="0"/>
                <a:ea typeface="Georgia" pitchFamily="34" charset="-122"/>
                <a:cs typeface="Georgia" pitchFamily="34" charset="-120"/>
              </a:rPr>
              <a:t>KEY RISKS AND MITIGATION</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914400"/>
        </p:xfrm>
        <a:graphic>
          <a:graphicData uri="http://schemas.openxmlformats.org/drawingml/2006/table">
            <a:tbl>
              <a:tblPr/>
              <a:tblGrid>
                <a:gridCol w="2011680"/>
                <a:gridCol w="914400"/>
                <a:gridCol w="5120640"/>
              </a:tblGrid>
              <a:tr h="32004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8B5A2B"/>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Zinc price volatility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Pass-through cost — client pays based on absorption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Regulatory margin cap (30%)</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Market achieves ~50% actual. 30% is legal floor.</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Political/regulatory change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Infrastructure is bipartisan. Post-Jan 2026 govt is oil-friendly.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Client volume below forecast</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Break-even at 14 TM/month (4.5% of proven capacity).</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Equipment failure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D7D4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$25-50K maint. budget. 36+ years of technical expertise on staff.</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Currency/exchange risk</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ctr" indent="0" marL="0">
                        <a:buNone/>
                      </a:pPr>
                      <a:r>
                        <a:rPr lang="en-US" sz="1000" b="1" dirty="0">
                          <a:solidFill>
                            <a:srgbClr val="C47F17"/>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c>
                  <a:txBody>
                    <a:bodyPr/>
                    <a:lstStyle/>
                    <a:p>
                      <a:pPr algn="l" indent="0" marL="0">
                        <a:buNone/>
                      </a:pPr>
                      <a:r>
                        <a:rPr lang="en-US" sz="1000" dirty="0">
                          <a:solidFill>
                            <a:srgbClr val="5C4033"/>
                          </a:solidFill>
                          <a:latin typeface="Calibri" pitchFamily="34" charset="0"/>
                          <a:ea typeface="Calibri" pitchFamily="34" charset="-122"/>
                          <a:cs typeface="Calibri" pitchFamily="34" charset="-120"/>
                        </a:rPr>
                        <a:t>USD-equivalent pricing. Revenue follows exchange rate.</a:t>
                      </a:r>
                      <a:endParaRPr lang="en-US" sz="1000" dirty="0">
                        <a:latin typeface="Calibri" charset="0"/>
                        <a:ea typeface="Calibri" charset="0"/>
                        <a:cs typeface="Calibri" charset="0"/>
                      </a:endParaRPr>
                    </a:p>
                  </a:txBody>
                  <a:tcPr marL="91440" marR="91440" marT="45720" marB="45720">
                    <a:lnL w="6350" cap="flat" cmpd="sng" algn="ctr">
                      <a:solidFill>
                        <a:srgbClr val="D4C5B2"/>
                      </a:solidFill>
                      <a:prstDash val="solid"/>
                      <a:round/>
                      <a:headEnd type="none" w="med" len="med"/>
                      <a:tailEnd type="none" w="med" len="med"/>
                    </a:lnL>
                    <a:lnR w="6350" cap="flat" cmpd="sng" algn="ctr">
                      <a:solidFill>
                        <a:srgbClr val="D4C5B2"/>
                      </a:solidFill>
                      <a:prstDash val="solid"/>
                      <a:round/>
                      <a:headEnd type="none" w="med" len="med"/>
                      <a:tailEnd type="none" w="med" len="med"/>
                    </a:lnR>
                    <a:lnT w="6350" cap="flat" cmpd="sng" algn="ctr">
                      <a:solidFill>
                        <a:srgbClr val="D4C5B2"/>
                      </a:solidFill>
                      <a:prstDash val="solid"/>
                      <a:round/>
                      <a:headEnd type="none" w="med" len="med"/>
                      <a:tailEnd type="none" w="med" len="med"/>
                    </a:lnT>
                    <a:lnB w="6350" cap="flat" cmpd="sng" algn="ctr">
                      <a:solidFill>
                        <a:srgbClr val="D4C5B2"/>
                      </a:solidFill>
                      <a:prstDash val="solid"/>
                      <a:round/>
                      <a:headEnd type="none" w="med" len="med"/>
                      <a:tailEnd type="none" w="med" len="med"/>
                    </a:lnB>
                    <a:solidFill>
                      <a:srgbClr val="EDE8E0"/>
                    </a:solidFill>
                  </a:tcPr>
                </a:tc>
              </a:tr>
            </a:tbl>
          </a:graphicData>
        </a:graphic>
      </p:graphicFrame>
      <p:sp>
        <p:nvSpPr>
          <p:cNvPr id="6" name="Shape 3"/>
          <p:cNvSpPr/>
          <p:nvPr/>
        </p:nvSpPr>
        <p:spPr>
          <a:xfrm>
            <a:off x="548640" y="4251960"/>
            <a:ext cx="8046720" cy="594360"/>
          </a:xfrm>
          <a:prstGeom prst="rect">
            <a:avLst/>
          </a:prstGeom>
          <a:solidFill>
            <a:srgbClr val="EDE8E0"/>
          </a:solidFill>
          <a:ln w="12700">
            <a:solidFill>
              <a:srgbClr val="B87333"/>
            </a:solidFill>
            <a:prstDash val="solid"/>
          </a:ln>
        </p:spPr>
        <p:txBody>
          <a:bodyPr/>
          <a:p/>
        </p:txBody>
      </p:sp>
      <p:sp>
        <p:nvSpPr>
          <p:cNvPr id="7" name="Text 4"/>
          <p:cNvSpPr/>
          <p:nvPr/>
        </p:nvSpPr>
        <p:spPr>
          <a:xfrm>
            <a:off x="731520" y="4251960"/>
            <a:ext cx="7680960" cy="594360"/>
          </a:xfrm>
          <a:prstGeom prst="rect">
            <a:avLst/>
          </a:prstGeom>
          <a:noFill/>
          <a:ln/>
        </p:spPr>
        <p:txBody>
          <a:bodyPr wrap="square" rtlCol="0" anchor="ctr"/>
          <a:lstStyle/>
          <a:p>
            <a:pPr algn="ctr" indent="0" marL="0">
              <a:buNone/>
            </a:pPr>
            <a:r>
              <a:rPr lang="en-US" sz="1000" i="1" dirty="0">
                <a:solidFill>
                  <a:srgbClr val="8B5A2B"/>
                </a:solidFill>
                <a:latin typeface="Calibri" pitchFamily="34" charset="0"/>
                <a:ea typeface="Calibri" pitchFamily="34" charset="-122"/>
                <a:cs typeface="Calibri" pitchFamily="34" charset="-120"/>
              </a:rPr>
              <a:t>The core risk is macro. The core mitigation is that PYGLARA is an infrastructure play — whoever governs needs galvanized steel.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PYGLARA - Investment Opportunity</dc:title>
  <dc:subject>PptxGenJS Presentation</dc:subject>
  <dc:creator>Andres Montbrun</dc:creator>
  <cp:lastModifiedBy>Andres Montbrun</cp:lastModifiedBy>
  <cp:revision>1</cp:revision>
  <dcterms:created xsi:type="dcterms:W3CDTF">2026-04-06T16:08:58Z</dcterms:created>
  <dcterms:modified xsi:type="dcterms:W3CDTF">2026-04-06T16:08:58Z</dcterms:modified>
</cp:coreProperties>
</file>